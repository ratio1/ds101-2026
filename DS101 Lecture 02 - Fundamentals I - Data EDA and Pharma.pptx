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Theme: turn transactions into defensible features and interpretations. Connect to L01: problem framing precedes modeling. This is a review edition, not a replacement claim about the historical Pharma dataset. Synthetic fixtures illustrate commercial accounts, not patients. Do not infer the original customer type without its data dictionary.
Delivery: live teaching; 100-minute session. Practice is formative, not a new graded assignment.
Data: all new numeric examples and charts in this deck use the supplied synthetic teaching fixture or a labeled toy example. They are not historical Pharma results.
[Sources]
https://github.com/Ratio1/DS101-template/blob/35d3f0652a7a1ead0b33189c5e496fd0d0fc2745/scripts/lecture_2026_content.py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Preserve the 100-minute envelope: 0-20 NumPy/pandas including opening and exercise start; 20-35 data quality and leakage; 35-55 Pharma/RFM; 55-75 k-means/t-SNE; 75-90 feature engineering, recommendation and embeddings preview; 90-95 exercise review/recap; 95-100 contingency. Slides 3 and 23 open and close the same practice, not two labs. Plot detail can be inspected as preparation; do not narrate every symbol.
Delivery: live teaching; 100-minute session. Practice is formative, not a new graded assignment.
Data: all new numeric examples and charts in this deck use the supplied synthetic teaching fixture or a labeled toy example. They are not historical Pharma results.
[Sources]
https://github.com/Ratio1/DS101-template/blob/35d3f0652a7a1ead0b33189c5e496fd0d0fc2745/scripts/lecture_2026_content.py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inspection section of practice.ipynb. Input: data/transactions_raw.csv in the source bundle. 1109 rows and 7 columns are computed values, including one exact duplicate and two quarantinable rows. O002 has two different product lines; both are valid. An ndarray supplies numeric values and shape; the DataFrame retains labels and mixed column types. Raw input is never overwritten. Expected inspection outputs are stored in computed/qa_results.json.
Delivery: live teaching; 100-minute session. Practice is formative, not a new graded assignment.
Data: all new numeric examples and charts in this deck use the supplied synthetic teaching fixture or a labeled toy example. They are not historical Pharma results.
[Sources]
https://github.com/Ratio1/DS101-template/blob/35d3f0652a7a1ead0b33189c5e496fd0d0fc2745/scripts/lecture_2026_content.py
https://pandas.pydata.org/docs/user_guide/groupby.html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class what would be lost by removing all negative amounts. Here the -40 row is explicitly labeled credit and kept in net monetary value. Do not assume that interpretation in real data. Conflicting repeated line IDs raise an error in clean_transactions; only identical copies are deduplicated. Seventeen legitimate credits remain. Missing accounts and invalid dates are quarantined with reasons, not silently imputed. Relate missingness and outliers to the process that produced them.
Delivery: live teaching; 100-minute session. Practice is formative, not a new graded assignment.
Data: all new numeric examples and charts in this deck use the supplied synthetic teaching fixture or a labeled toy example. They are not historical Pharma results.
[Sources]
https://github.com/Ratio1/DS101-template/blob/35d3f0652a7a1ead0b33189c5e496fd0d0fc2745/scripts/lecture_2026_content.py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existing real-estate starter contains Price and Price/Surface and an intentional TODO for feature selection. For total-price prediction, Price/Surface is target-derived and is not an independent available predictor. This does not make it forbidden for descriptive analysis or as a separate target. Proxy risk is different: an available field may encode sensitive information. A causal claim is different again and needs evidence beyond association. Fit learned preprocessing only on the training subset when evaluating predictive models. Purely descriptive clustering of this fixed fixture does not claim unseen-data performance.
Delivery: live teaching; 100-minute session. Practice is formative, not a new graded assignment.
Data: all new numeric examples and charts in this deck use the supplied synthetic teaching fixture or a labeled toy example. They are not historical Pharma results.
[Sources]
https://github.com/Ratio1/DS101-template/blob/35d3f0652a7a1ead0b33189c5e496fd0d0fc2745/scripts/lecture_2026_content.py
https://github.com/Ratio1/DS101-template/blob/35d3f0652a7a1ead0b33189c5e496fd0d0fc2745/scripts/01_real_estate_models_base.ipynb
https://scikit-learn.org/stable/common_pitfalls.html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historical Pharma case describes commercial transaction/accounting fields. The fixture explicitly chooses fictional business accounts and avoids clinical inference. One order can contain multiple product lines. A credit changes monetary value but does not become another purchase. Our population consists of 84 accounts with at least one positive purchase in the observation window; accounts with no purchases need a separately defined policy in real analysis. Distinguish the historical field context from the fictional values here.
Delivery: live teaching; 100-minute session. Practice is formative, not a new graded assignment.
Data: all new numeric examples and charts in this deck use the supplied synthetic teaching fixture or a labeled toy example. They are not historical Pharma results.
[Sources]
https://github.com/Ratio1/DS101-template/blob/35d3f0652a7a1ead0b33189c5e496fd0d0fc2745/scripts/lecture_2026_content.py
https://pandas.pydata.org/docs/user_guide/groupby.html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calculate all three features before revealing the answers. Snapshot 2026-04-01 minus 2026-03-22 equals 10 days. F uses distinct positive-purchase order IDs O001,O002,O003, not four purchase lines or five events. M sums signed values in the window, including the credit: 460 CU. Last positive purchase, not last event, defines R. These are explicit teaching definitions, not a claim about the original dataset scoring rules. The timeline spacing is schematic. Credit attribution across windows would need a policy in a production system.
Delivery: live teaching; 100-minute session. Practice is formative, not a new graded assignment.
Data: all new numeric examples and charts in this deck use the supplied synthetic teaching fixture or a labeled toy example. They are not historical Pharma results.
[Sources]
https://github.com/Ratio1/DS101-template/blob/35d3f0652a7a1ead0b33189c5e496fd0d0fc2745/scripts/lecture_2026_content.py
https://pandas.pydata.org/docs/reference/api/pandas.core.groupby.DataFrameGroupBy.nunique.html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number is taken from data/customer_rfm.csv. Explain that different windows can change F and M without any change in the feature formula. Recent/frequent are descriptive only; churn, loyalty and risk need additional definitions and evidence. The historical R-score definition was not verified, so do not transfer its numeric direction to these raw-day examples. Monetary values displayed here are rounded for legibility.
Delivery: live teaching; 100-minute session. Practice is formative, not a new graded assignment.
Data: all new numeric examples and charts in this deck use the supplied synthetic teaching fixture or a labeled toy example. They are not historical Pharma results.
Historical evidence: D3S08. These links preserve the source references. The original image bytes were not retrievable in this session; exact visual inheritance is not certified.
[Sources]
https://github.com/Ratio1/DS101-template/blob/35d3f0652a7a1ead0b33189c5e496fd0d0fc2745/scripts/lecture_2026_content.py
https://github.com/Ratio1/DS101-template/blob/35d3f0652a7a1ead0b33189c5e496fd0d0fc2745/_lectures_archives/2025/visuals/D3S08.jpg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plot uses the reproducible synthetic fixture, not a digitization of the historical chart. Ask a student to locate A001 using its R and F coordinates. All marks use the same color because clustering has not yet been introduced. Frequency is discrete and points may coincide. Do not interpret apparent density as an unbiased population estimate; the fixture was generated for teaching. Historical source remains linked for comparison.
Delivery: live teaching; 100-minute session. Practice is formative, not a new graded assignment.
Data: all new numeric examples and charts in this deck use the supplied synthetic teaching fixture or a labeled toy example. They are not historical Pharma results.
Historical evidence: D3S08. These links preserve the source references. The original image bytes were not retrievable in this session; exact visual inheritance is not certified.
[Sources]
https://github.com/Ratio1/DS101-template/blob/35d3f0652a7a1ead0b33189c5e496fd0d0fc2745/scripts/lecture_2026_content.py
https://github.com/Ratio1/DS101-template/blob/35d3f0652a7a1ead0b33189c5e496fd0d0fc2745/_lectures_archives/2025/visuals/D3S08.jpg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Preserves the three-variable comparison intent of D3S09, using a separately labeled new fixture. Original R-score charts must not be presented as these raw-day plots. All coordinates can be recreated from customer_rfm.csv. Ask which relationships are built into the observation process and which hypotheses would require additional data. These descriptive plots do not establish causality. Do not claim faithful numeric reproduction of the original Pharma projections.
Delivery: live teaching; 100-minute session. Practice is formative, not a new graded assignment.
Data: all new numeric examples and charts in this deck use the supplied synthetic teaching fixture or a labeled toy example. They are not historical Pharma results.
Historical evidence: D3S09. These links preserve the source references. The original image bytes were not retrievable in this session; exact visual inheritance is not certified.
[Sources]
https://github.com/Ratio1/DS101-template/blob/35d3f0652a7a1ead0b33189c5e496fd0d0fc2745/scripts/lecture_2026_content.py
https://github.com/Ratio1/DS101-template/blob/35d3f0652a7a1ead0b33189c5e496fd0d0fc2745/_lectures_archives/2025/visuals/D3S09.jpg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computed/examples.json mini for exact coordinates. Hollow diamonds are centroids; point colors mark the assignment at the start of this update. There are two clusters here only to make one iteration legible. Full RFM example uses a declared k=3. Explain that repeated assignment and mean updates seek a local solution; initialization and feature geometry matter. Avoid suggesting that k-means discovers an objectively correct number of customer types.
Delivery: live teaching; 100-minute session. Practice is formative, not a new graded assignment.
Data: all new numeric examples and charts in this deck use the supplied synthetic teaching fixture or a labeled toy example. They are not historical Pharma results.
[Sources]
https://github.com/Ratio1/DS101-template/blob/35d3f0652a7a1ead0b33189c5e496fd0d0fc2745/scripts/lecture_2026_content.py
https://scikit-learn.org/stable/modules/clustering.html#k-means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distance arithmetic intentionally shows two coordinates only; it illustrates why units matter, not an exact pair drawn from the transaction data. The full demonstration uses all three positive RFM features, log1p, StandardScaler, and KMeans(k=3,n_init=20,random_state=42). Standardization changes feature weighting; it does not validate a Euclidean business geometry. Nonpositive net accounts require a reviewed transformation policy; the fixture raises an error rather than blindly taking logs. For predictive validation, fit transformations within the training boundary. Full-fit use here is descriptive and makes no holdout claim.
Delivery: live teaching; 100-minute session. Practice is formative, not a new graded assignment.
Data: all new numeric examples and charts in this deck use the supplied synthetic teaching fixture or a labeled toy example. They are not historical Pharma results.
Historical evidence: D3S10. These links preserve the source references. The original image bytes were not retrievable in this session; exact visual inheritance is not certified.
[Sources]
https://github.com/Ratio1/DS101-template/blob/35d3f0652a7a1ead0b33189c5e496fd0d0fc2745/scripts/lecture_2026_content.py
https://scikit-learn.org/stable/modules/generated/sklearn.preprocessing.StandardScaler.html
https://scikit-learn.org/stable/modules/generated/sklearn.cluster.KMeans.html
https://scikit-learn.org/stable/common_pitfalls.html
https://github.com/Ratio1/DS101-template/blob/35d3f0652a7a1ead0b33189c5e496fd0d0fc2745/_lectures_archives/2025/visuals/D3S10.jpg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branches use the same transformed RFM rows in the same order. The t-SNE coordinates are not used as the input to this k-means model. Cluster labels color the t-SNE view but do not make visual separation proof of validity. Note the different role of a useful visualization and evidence for business segmentation. Preserve this distinction when students reproduce the examples.
Delivery: live teaching; 100-minute session. Practice is formative, not a new graded assignment.
Data: all new numeric examples and charts in this deck use the supplied synthetic teaching fixture or a labeled toy example. They are not historical Pharma results.
[Sources]
https://github.com/Ratio1/DS101-template/blob/35d3f0652a7a1ead0b33189c5e496fd0d0fc2745/scripts/lecture_2026_content.py
https://www.jmlr.org/papers/v9/vandermaaten08a.html
https://scikit-learn.org/stable/modules/generated/sklearn.cluster.KMeans.html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projections were actually computed with sklearn 1.8.0, n=84, transformed RFM, random_state=42, init=pca, learning_rate=auto, max_iter=1200. Perplexity controls an effective neighborhood size in the probability model; it is not the number of clusters. Only perplexity changes between 5 and 25. Colors and symbols are fixed RFM cluster labels. Axes have arbitrary units and are not comparable physical distances between independently optimized maps. Discuss sensitivity rather than choosing the prettier plot. Global inter-cluster distances and apparent area should not be treated as preserved feature-space measurements.
Delivery: live teaching; 100-minute session. Practice is formative, not a new graded assignment.
Data: all new numeric examples and charts in this deck use the supplied synthetic teaching fixture or a labeled toy example. They are not historical Pharma results.
Historical evidence: D3S11. These links preserve the source references. The original image bytes were not retrievable in this session; exact visual inheritance is not certified.
[Sources]
https://github.com/Ratio1/DS101-template/blob/35d3f0652a7a1ead0b33189c5e496fd0d0fc2745/scripts/lecture_2026_content.py
https://scikit-learn.org/stable/modules/generated/sklearn.manifold.TSNE.html
https://distill.pub/2016/misread-tsne/
https://github.com/Ratio1/DS101-template/blob/35d3f0652a7a1ead0b33189c5e496fd0d0fc2745/_lectures_archives/2025/visuals/D3S11.jpg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one highlight rather than overloading the map with color, size, text and several categorical legends. Trace A001 back to its five rows and original RFM values. Its position alone does not establish why it behaves that way. This is the exact same computed map as the preceding right-hand panel. In real data, a hover or linked record table is preferable to speculative labeling.
Delivery: live teaching; 100-minute session. Practice is formative, not a new graded assignment.
Data: all new numeric examples and charts in this deck use the supplied synthetic teaching fixture or a labeled toy example. They are not historical Pharma results.
Historical evidence: D3S12. These links preserve the source references. The original image bytes were not retrievable in this session; exact visual inheritance is not certified.
[Sources]
https://github.com/Ratio1/DS101-template/blob/35d3f0652a7a1ead0b33189c5e496fd0d0fc2745/scripts/lecture_2026_content.py
https://distill.pub/2016/misread-tsne/
https://github.com/Ratio1/DS101-template/blob/35d3f0652a7a1ead0b33189c5e496fd0d0fc2745/_lectures_archives/2025/visuals/D3S12.jpg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 counts sum to 84. Medians are computed from untransformed R,F,M values and rounded on the slide. The labels C1-C3 are display identifiers, not ordered risk or customer-value tiers. Ask whether the groups remain useful under a different window, feature weighting or seed; no stability study is claimed by this single displayed run. Do not automatically label a group loyal or at risk. The historical augmented view is linked, not reproduced.
Delivery: live teaching; 100-minute session. Practice is formative, not a new graded assignment.
Data: all new numeric examples and charts in this deck use the supplied synthetic teaching fixture or a labeled toy example. They are not historical Pharma results.
Historical evidence: D3S12. These links preserve the source references. The original image bytes were not retrievable in this session; exact visual inheritance is not certified.
[Sources]
https://github.com/Ratio1/DS101-template/blob/35d3f0652a7a1ead0b33189c5e496fd0d0fc2745/scripts/lecture_2026_content.py
https://scikit-learn.org/stable/modules/generated/sklearn.cluster.KMeans.html
https://github.com/Ratio1/DS101-template/blob/35d3f0652a7a1ead0b33189c5e496fd0d0fc2745/_lectures_archives/2025/visuals/D3S12.jpg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candidate counts are an explicit four-row toy example, not outputs from the transaction fixture. No medicine or treatment is recommended. Availability filters the candidate set before ranking. Classification may estimate an event under an evaluated probability model, regression a quantity, and ranking an ordering. A cluster can be a feature or analysis aid, but is not itself a recommendation rule. Model comparison and recommender evaluation are developed later.
Delivery: live teaching; 100-minute session. Practice is formative, not a new graded assignment.
Data: all new numeric examples and charts in this deck use the supplied synthetic teaching fixture or a labeled toy example. They are not historical Pharma results.
[Sources]
https://github.com/Ratio1/DS101-template/blob/35d3f0652a7a1ead0b33189c5e496fd0d0fc2745/scripts/lecture_2026_content.py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vocabulary and counts were computed, not hand-inferred: [cold, pack, sterile, storage]. Bag-of-words ignores order; this is useful for a first representation but may lose distinctions. Tokenization, numbers, identifiers, unknown terms and length treatment are modeling choices. TF-IDF is an extension, not an obligatory new topic here. For evaluated predictive tasks, fit vocabulary/IDF on training data and transform held-out text without refitting.
Delivery: live teaching; 100-minute session. Practice is formative, not a new graded assignment.
Data: all new numeric examples and charts in this deck use the supplied synthetic teaching fixture or a labeled toy example. They are not historical Pharma results.
[Sources]
https://github.com/Ratio1/DS101-template/blob/35d3f0652a7a1ead0b33189c5e496fd0d0fc2745/scripts/lecture_2026_content.py
https://scikit-learn.org/stable/modules/feature_extraction.html#text-feature-extraction
https://scikit-learn.org/stable/common_pitfalls.html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Transfer example only; this is not a newly assigned real-estate project. The existing starter uses mp, nr cam and floor-category features. Room density is proposed here as an illustrative derived feature, not claimed to improve a model. Neighborhood or market attributes require their own source, rights, join key and temporal availability. Do not imply that those enrichment fields already exist in the supplied CSV. Preserve the same definitions between training and serving.
Delivery: live teaching; 100-minute session. Practice is formative, not a new graded assignment.
Data: all new numeric examples and charts in this deck use the supplied synthetic teaching fixture or a labeled toy example. They are not historical Pharma results.
[Sources]
https://github.com/Ratio1/DS101-template/blob/35d3f0652a7a1ead0b33189c5e496fd0d0fc2745/scripts/lecture_2026_content.py
https://github.com/Ratio1/DS101-template/blob/35d3f0652a7a1ead0b33189c5e496fd0d0fc2745/scripts/01_real_estate_models_base.ipynb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prepare_l02.py actually trains an 84-by-4 lookup and a linear decoder on the standardized log-RFM table using NumPy gradient descent. It reconstructs already-observed profiles; this is not a held-out prediction exercise and its near-zero training error is not a quality claim. Parameters and raw vectors are saved in computed/lookup_model.npz. RFM information is not newly discovered by this reconstruction. Unknown IDs require a designed fallback. PyTorch Embedding is cited for the lookup concept; this fixture implements its simple mathematics directly.
Delivery: live teaching; 100-minute session. Practice is formative, not a new graded assignment.
Data: all new numeric examples and charts in this deck use the supplied synthetic teaching fixture or a labeled toy example. They are not historical Pharma results.
[Sources]
https://github.com/Ratio1/DS101-template/blob/35d3f0652a7a1ead0b33189c5e496fd0d0fc2745/scripts/lecture_2026_content.py
https://docs.pytorch.org/docs/stable/generated/torch.nn.Embedding.html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distinct projection from slides 14-15: input is the actually trained four-dimensional lookup, not the three scaled RFM values. t-SNE settings: perplexity=15, init=pca, random_state=42, learning_rate=auto, max_iter=1200. Colors remain the original RFM clusters for a stable reference. Do not imply that the plot proves predictive utility or semantic validity. The original embedding map remains linked; this new chart is not its reconstruction.
Delivery: live teaching; 100-minute session. Practice is formative, not a new graded assignment.
Data: all new numeric examples and charts in this deck use the supplied synthetic teaching fixture or a labeled toy example. They are not historical Pharma results.
Historical evidence: D3S18. These links preserve the source references. The original image bytes were not retrievable in this session; exact visual inheritance is not certified.
[Sources]
https://github.com/Ratio1/DS101-template/blob/35d3f0652a7a1ead0b33189c5e496fd0d0fc2745/scripts/lecture_2026_content.py
https://scikit-learn.org/stable/modules/generated/sklearn.manifold.TSNE.html
https://github.com/Ratio1/DS101-template/blob/35d3f0652a7a1ead0b33189c5e496fd0d0fc2745/_lectures_archives/2025/visuals/D3S18.jpg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Neighbors are actually selected by Euclidean distance on the four-dimensional learned table, excluding A001 itself. Distances and RFM values are computed from the same seeded run and stored in examples.json. Inspect why the lookup objective produced these neighbors; a different objective can produce a different geometry. The fixture only reconstructs known profiles and cannot establish useful unseen-account generalization. Historical task-derived embedding evidence is linked, not reproduced.
Delivery: live teaching; 100-minute session. Practice is formative, not a new graded assignment.
Data: all new numeric examples and charts in this deck use the supplied synthetic teaching fixture or a labeled toy example. They are not historical Pharma results.
Historical evidence: D3S19. These links preserve the source references. The original image bytes were not retrievable in this session; exact visual inheritance is not certified.
[Sources]
https://github.com/Ratio1/DS101-template/blob/35d3f0652a7a1ead0b33189c5e496fd0d0fc2745/scripts/lecture_2026_content.py
https://distill.pub/2016/misread-tsne/
https://github.com/Ratio1/DS101-template/blob/35d3f0652a7a1ead0b33189c5e496fd0d0fc2745/_lectures_archives/2025/visuals/D3S19.jpg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final five-minute review of the exercise started in the opening practical block, not a second 20-minute lab. Input files and runnable starter are in the delivered bundle. Students can choose the R definition, create an R/F view, and explain why it does not establish churn, loyalty or causation. Instructor expected outputs and a completed notebook are included. Use the saved outputs if a laptop cannot run scikit-learn. Do not assign new mandatory project artifacts beyond the approved course contract.
Delivery: live teaching; 100-minute session. Practice is formative, not a new graded assignment.
Data: all new numeric examples and charts in this deck use the supplied synthetic teaching fixture or a labeled toy example. They are not historical Pharma results.
[Sources]
https://github.com/Ratio1/DS101-template/blob/35d3f0652a7a1ead0b33189c5e496fd0d0fc2745/scripts/lecture_2026_content.py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same transactions-to-features-to-patterns route, not a new governance framework. Invite one example of a feature definition and one unsupported claim from the preceding practice. L03 will use model baselines and a fixed validation protocol. The brief neural lookup example here was only a representation preview, not a requirement to train a neural model in L02.
Delivery: live teaching; 100-minute session. Practice is formative, not a new graded assignment.
Data: all new numeric examples and charts in this deck use the supplied synthetic teaching fixture or a labeled toy example. They are not historical Pharma results.
[Sources]
https://github.com/Ratio1/DS101-template/blob/35d3f0652a7a1ead0b33189c5e496fd0d0fc2745/scripts/lecture_2026_content.py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0" y="0"/>
            <a:ext cx="12192000" cy="402336"/>
          </a:xfrm>
          <a:prstGeom prst="rect">
            <a:avLst/>
          </a:prstGeom>
          <a:solidFill>
            <a:srgbClr val="E7EEF7"/>
          </a:solidFill>
          <a:ln w="12700">
            <a:solidFill>
              <a:srgbClr val="E7EEF7">
                <a:alpha val="0"/>
              </a:srgbClr>
            </a:solidFill>
            <a:prstDash val="solid"/>
          </a:ln>
        </p:spPr>
      </p:sp>
      <p:sp>
        <p:nvSpPr>
          <p:cNvPr id="3" name="Shape 1"/>
          <p:cNvSpPr/>
          <p:nvPr/>
        </p:nvSpPr>
        <p:spPr>
          <a:xfrm>
            <a:off x="466344" y="123444"/>
            <a:ext cx="64008" cy="146304"/>
          </a:xfrm>
          <a:prstGeom prst="rect">
            <a:avLst/>
          </a:prstGeom>
          <a:solidFill>
            <a:srgbClr val="176493"/>
          </a:solidFill>
          <a:ln w="12700">
            <a:solidFill>
              <a:srgbClr val="176493">
                <a:alpha val="0"/>
              </a:srgbClr>
            </a:solidFill>
            <a:prstDash val="solid"/>
          </a:ln>
        </p:spPr>
      </p:sp>
      <p:sp>
        <p:nvSpPr>
          <p:cNvPr id="4" name="Text 2"/>
          <p:cNvSpPr/>
          <p:nvPr/>
        </p:nvSpPr>
        <p:spPr>
          <a:xfrm>
            <a:off x="594360" y="100584"/>
            <a:ext cx="731520" cy="201168"/>
          </a:xfrm>
          <a:prstGeom prst="rect">
            <a:avLst/>
          </a:prstGeom>
          <a:noFill/>
          <a:ln/>
        </p:spPr>
        <p:txBody>
          <a:bodyPr wrap="square" lIns="0" tIns="0" rIns="0" bIns="0" rtlCol="0" anchor="ctr"/>
          <a:lstStyle/>
          <a:p>
            <a:pPr algn="l" indent="0" marL="0">
              <a:buNone/>
            </a:pPr>
            <a:r>
              <a:rPr lang="en-US" sz="1100" b="1" dirty="0">
                <a:solidFill>
                  <a:srgbClr val="176493"/>
                </a:solidFill>
                <a:latin typeface="Aptos" pitchFamily="34" charset="0"/>
                <a:ea typeface="Aptos" pitchFamily="34" charset="-122"/>
                <a:cs typeface="Aptos" pitchFamily="34" charset="-120"/>
              </a:rPr>
              <a:t>DS101</a:t>
            </a:r>
            <a:endParaRPr lang="en-US" sz="1100" dirty="0"/>
          </a:p>
        </p:txBody>
      </p:sp>
      <p:sp>
        <p:nvSpPr>
          <p:cNvPr id="5" name="Text 3"/>
          <p:cNvSpPr/>
          <p:nvPr/>
        </p:nvSpPr>
        <p:spPr>
          <a:xfrm>
            <a:off x="1463040" y="100584"/>
            <a:ext cx="1828800" cy="201168"/>
          </a:xfrm>
          <a:prstGeom prst="rect">
            <a:avLst/>
          </a:prstGeom>
          <a:noFill/>
          <a:ln/>
        </p:spPr>
        <p:txBody>
          <a:bodyPr wrap="square" lIns="0" tIns="0" rIns="0" bIns="0" rtlCol="0" anchor="ctr"/>
          <a:lstStyle/>
          <a:p>
            <a:pPr algn="l" indent="0" marL="0">
              <a:buNone/>
            </a:pPr>
            <a:r>
              <a:rPr lang="en-US" sz="1000" dirty="0">
                <a:solidFill>
                  <a:srgbClr val="53657A"/>
                </a:solidFill>
                <a:latin typeface="Aptos" pitchFamily="34" charset="0"/>
                <a:ea typeface="Aptos" pitchFamily="34" charset="-122"/>
                <a:cs typeface="Aptos" pitchFamily="34" charset="-120"/>
              </a:rPr>
              <a:t>LECTURE 02</a:t>
            </a:r>
            <a:endParaRPr lang="en-US" sz="1000" dirty="0"/>
          </a:p>
        </p:txBody>
      </p:sp>
      <p:sp>
        <p:nvSpPr>
          <p:cNvPr id="6" name="Text 4"/>
          <p:cNvSpPr/>
          <p:nvPr/>
        </p:nvSpPr>
        <p:spPr>
          <a:xfrm>
            <a:off x="8321040" y="100584"/>
            <a:ext cx="3264408" cy="201168"/>
          </a:xfrm>
          <a:prstGeom prst="rect">
            <a:avLst/>
          </a:prstGeom>
          <a:noFill/>
          <a:ln/>
        </p:spPr>
        <p:txBody>
          <a:bodyPr wrap="square" lIns="0" tIns="0" rIns="0" bIns="0" rtlCol="0" anchor="ctr"/>
          <a:lstStyle/>
          <a:p>
            <a:pPr algn="r" indent="0" marL="0">
              <a:buNone/>
            </a:pPr>
            <a:r>
              <a:rPr lang="en-US" sz="1000" dirty="0">
                <a:solidFill>
                  <a:srgbClr val="53657A"/>
                </a:solidFill>
                <a:latin typeface="Aptos" pitchFamily="34" charset="0"/>
                <a:ea typeface="Aptos" pitchFamily="34" charset="-122"/>
                <a:cs typeface="Aptos" pitchFamily="34" charset="-120"/>
              </a:rPr>
              <a:t>DATA, EDA AND PHARMA</a:t>
            </a:r>
            <a:endParaRPr lang="en-US" sz="1000" dirty="0"/>
          </a:p>
        </p:txBody>
      </p:sp>
      <p:sp>
        <p:nvSpPr>
          <p:cNvPr id="7" name="Text 5"/>
          <p:cNvSpPr/>
          <p:nvPr/>
        </p:nvSpPr>
        <p:spPr>
          <a:xfrm>
            <a:off x="594360" y="758952"/>
            <a:ext cx="11000232" cy="658368"/>
          </a:xfrm>
          <a:prstGeom prst="rect">
            <a:avLst/>
          </a:prstGeom>
          <a:noFill/>
          <a:ln/>
        </p:spPr>
        <p:txBody>
          <a:bodyPr wrap="square" lIns="0" tIns="0" rIns="0" bIns="0" rtlCol="0" anchor="ctr"/>
          <a:lstStyle/>
          <a:p>
            <a:pPr algn="l" indent="0" marL="0">
              <a:buNone/>
            </a:pPr>
            <a:r>
              <a:rPr lang="en-US" sz="3000" b="1" dirty="0">
                <a:solidFill>
                  <a:srgbClr val="172233"/>
                </a:solidFill>
                <a:latin typeface="Aptos" pitchFamily="34" charset="0"/>
                <a:ea typeface="Aptos" pitchFamily="34" charset="-122"/>
                <a:cs typeface="Aptos" pitchFamily="34" charset="-120"/>
              </a:rPr>
              <a:t>Fundamentals I</a:t>
            </a:r>
            <a:endParaRPr lang="en-US" sz="3000" dirty="0"/>
          </a:p>
        </p:txBody>
      </p:sp>
      <p:sp>
        <p:nvSpPr>
          <p:cNvPr id="8" name="Text 6"/>
          <p:cNvSpPr/>
          <p:nvPr/>
        </p:nvSpPr>
        <p:spPr>
          <a:xfrm>
            <a:off x="594360" y="6510528"/>
            <a:ext cx="3657600" cy="164592"/>
          </a:xfrm>
          <a:prstGeom prst="rect">
            <a:avLst/>
          </a:prstGeom>
          <a:noFill/>
          <a:ln/>
        </p:spPr>
        <p:txBody>
          <a:bodyPr wrap="square" lIns="0" tIns="0" rIns="0" bIns="0" rtlCol="0" anchor="ctr"/>
          <a:lstStyle/>
          <a:p>
            <a:pPr algn="l" indent="0" marL="0">
              <a:buNone/>
            </a:pPr>
            <a:r>
              <a:rPr lang="en-US" sz="900" dirty="0">
                <a:solidFill>
                  <a:srgbClr val="53657A"/>
                </a:solidFill>
                <a:latin typeface="Aptos" pitchFamily="34" charset="0"/>
                <a:ea typeface="Aptos" pitchFamily="34" charset="-122"/>
                <a:cs typeface="Aptos" pitchFamily="34" charset="-120"/>
              </a:rPr>
              <a:t>DS101 | 2026-2027</a:t>
            </a:r>
            <a:endParaRPr lang="en-US" sz="900" dirty="0"/>
          </a:p>
        </p:txBody>
      </p:sp>
      <p:sp>
        <p:nvSpPr>
          <p:cNvPr id="9" name="Text 7"/>
          <p:cNvSpPr/>
          <p:nvPr/>
        </p:nvSpPr>
        <p:spPr>
          <a:xfrm>
            <a:off x="10680192" y="6492240"/>
            <a:ext cx="914400" cy="201168"/>
          </a:xfrm>
          <a:prstGeom prst="rect">
            <a:avLst/>
          </a:prstGeom>
          <a:noFill/>
          <a:ln/>
        </p:spPr>
        <p:txBody>
          <a:bodyPr wrap="square" lIns="0" tIns="0" rIns="0" bIns="0" rtlCol="0" anchor="ctr"/>
          <a:lstStyle/>
          <a:p>
            <a:pPr algn="r" indent="0" marL="0">
              <a:buNone/>
            </a:pPr>
            <a:r>
              <a:rPr lang="en-US" sz="1000" dirty="0">
                <a:solidFill>
                  <a:srgbClr val="53657A"/>
                </a:solidFill>
                <a:latin typeface="Aptos" pitchFamily="34" charset="0"/>
                <a:ea typeface="Aptos" pitchFamily="34" charset="-122"/>
                <a:cs typeface="Aptos" pitchFamily="34" charset="-120"/>
              </a:rPr>
              <a:t>01 / 24</a:t>
            </a:r>
            <a:endParaRPr lang="en-US" sz="1000" dirty="0"/>
          </a:p>
        </p:txBody>
      </p:sp>
      <p:sp>
        <p:nvSpPr>
          <p:cNvPr id="10" name="Text 8"/>
          <p:cNvSpPr/>
          <p:nvPr/>
        </p:nvSpPr>
        <p:spPr>
          <a:xfrm>
            <a:off x="630936" y="1581912"/>
            <a:ext cx="7040880" cy="713232"/>
          </a:xfrm>
          <a:prstGeom prst="rect">
            <a:avLst/>
          </a:prstGeom>
          <a:noFill/>
          <a:ln/>
        </p:spPr>
        <p:txBody>
          <a:bodyPr wrap="square" lIns="0" tIns="0" rIns="0" bIns="0" rtlCol="0" anchor="ctr"/>
          <a:lstStyle/>
          <a:p>
            <a:pPr algn="l" indent="0" marL="0">
              <a:buNone/>
            </a:pPr>
            <a:r>
              <a:rPr lang="en-US" sz="3500" b="1" dirty="0">
                <a:solidFill>
                  <a:srgbClr val="172233"/>
                </a:solidFill>
                <a:latin typeface="Aptos" pitchFamily="34" charset="0"/>
                <a:ea typeface="Aptos" pitchFamily="34" charset="-122"/>
                <a:cs typeface="Aptos" pitchFamily="34" charset="-120"/>
              </a:rPr>
              <a:t>Data, EDA &amp; Pharma</a:t>
            </a:r>
            <a:endParaRPr lang="en-US" sz="3500" dirty="0"/>
          </a:p>
        </p:txBody>
      </p:sp>
      <p:sp>
        <p:nvSpPr>
          <p:cNvPr id="11" name="Text 9"/>
          <p:cNvSpPr/>
          <p:nvPr/>
        </p:nvSpPr>
        <p:spPr>
          <a:xfrm>
            <a:off x="658368" y="2542032"/>
            <a:ext cx="6766560" cy="987552"/>
          </a:xfrm>
          <a:prstGeom prst="rect">
            <a:avLst/>
          </a:prstGeom>
          <a:noFill/>
          <a:ln/>
        </p:spPr>
        <p:txBody>
          <a:bodyPr wrap="square" lIns="0" tIns="0" rIns="0" bIns="0" rtlCol="0" anchor="ctr"/>
          <a:lstStyle/>
          <a:p>
            <a:pPr algn="l" indent="0" marL="0">
              <a:buNone/>
            </a:pPr>
            <a:r>
              <a:rPr lang="en-US" sz="2800" dirty="0">
                <a:solidFill>
                  <a:srgbClr val="53657A"/>
                </a:solidFill>
                <a:latin typeface="Aptos" pitchFamily="34" charset="0"/>
                <a:ea typeface="Aptos" pitchFamily="34" charset="-122"/>
                <a:cs typeface="Aptos" pitchFamily="34" charset="-120"/>
              </a:rPr>
              <a:t>From transaction records</a:t>
            </a:r>
            <a:endParaRPr lang="en-US" sz="2800" dirty="0"/>
          </a:p>
          <a:p>
            <a:pPr algn="l" indent="0" marL="0">
              <a:buNone/>
            </a:pPr>
            <a:r>
              <a:rPr lang="en-US" sz="2800" dirty="0">
                <a:solidFill>
                  <a:srgbClr val="53657A"/>
                </a:solidFill>
                <a:latin typeface="Aptos" pitchFamily="34" charset="0"/>
                <a:ea typeface="Aptos" pitchFamily="34" charset="-122"/>
                <a:cs typeface="Aptos" pitchFamily="34" charset="-120"/>
              </a:rPr>
              <a:t>to meaningful customer features.</a:t>
            </a:r>
            <a:endParaRPr lang="en-US" sz="2800" dirty="0"/>
          </a:p>
        </p:txBody>
      </p:sp>
      <p:sp>
        <p:nvSpPr>
          <p:cNvPr id="12" name="Text 10"/>
          <p:cNvSpPr/>
          <p:nvPr/>
        </p:nvSpPr>
        <p:spPr>
          <a:xfrm>
            <a:off x="777240" y="4078224"/>
            <a:ext cx="1645920" cy="219456"/>
          </a:xfrm>
          <a:prstGeom prst="rect">
            <a:avLst/>
          </a:prstGeom>
          <a:noFill/>
          <a:ln/>
        </p:spPr>
        <p:txBody>
          <a:bodyPr wrap="square" lIns="0" tIns="0" rIns="0" bIns="0" rtlCol="0" anchor="ctr"/>
          <a:lstStyle/>
          <a:p>
            <a:pPr algn="l" indent="0" marL="0">
              <a:buNone/>
            </a:pPr>
            <a:r>
              <a:rPr lang="en-US" sz="1150" b="1" spc="50" kern="0" dirty="0">
                <a:solidFill>
                  <a:srgbClr val="176493"/>
                </a:solidFill>
                <a:latin typeface="Aptos" pitchFamily="34" charset="0"/>
                <a:ea typeface="Aptos" pitchFamily="34" charset="-122"/>
                <a:cs typeface="Aptos" pitchFamily="34" charset="-120"/>
              </a:rPr>
              <a:t>LECTURE 02</a:t>
            </a:r>
            <a:endParaRPr lang="en-US" sz="1150" dirty="0"/>
          </a:p>
        </p:txBody>
      </p:sp>
      <p:sp>
        <p:nvSpPr>
          <p:cNvPr id="13" name="Text 11"/>
          <p:cNvSpPr/>
          <p:nvPr/>
        </p:nvSpPr>
        <p:spPr>
          <a:xfrm>
            <a:off x="2697480" y="4078224"/>
            <a:ext cx="2286000" cy="219456"/>
          </a:xfrm>
          <a:prstGeom prst="rect">
            <a:avLst/>
          </a:prstGeom>
          <a:noFill/>
          <a:ln/>
        </p:spPr>
        <p:txBody>
          <a:bodyPr wrap="square" lIns="0" tIns="0" rIns="0" bIns="0" rtlCol="0" anchor="ctr"/>
          <a:lstStyle/>
          <a:p>
            <a:pPr algn="l" indent="0" marL="0">
              <a:buNone/>
            </a:pPr>
            <a:r>
              <a:rPr lang="en-US" sz="1150" b="1" spc="50" kern="0" dirty="0">
                <a:solidFill>
                  <a:srgbClr val="167C85"/>
                </a:solidFill>
                <a:latin typeface="Aptos" pitchFamily="34" charset="0"/>
                <a:ea typeface="Aptos" pitchFamily="34" charset="-122"/>
                <a:cs typeface="Aptos" pitchFamily="34" charset="-120"/>
              </a:rPr>
              <a:t>FUNDAMENTALS</a:t>
            </a:r>
            <a:endParaRPr lang="en-US" sz="1150" dirty="0"/>
          </a:p>
        </p:txBody>
      </p:sp>
      <p:sp>
        <p:nvSpPr>
          <p:cNvPr id="14" name="Shape 12"/>
          <p:cNvSpPr/>
          <p:nvPr/>
        </p:nvSpPr>
        <p:spPr>
          <a:xfrm>
            <a:off x="8247888" y="2176272"/>
            <a:ext cx="548640" cy="484632"/>
          </a:xfrm>
          <a:prstGeom prst="rect">
            <a:avLst/>
          </a:prstGeom>
          <a:solidFill>
            <a:srgbClr val="FFFFFF"/>
          </a:solidFill>
          <a:ln w="12700">
            <a:solidFill>
              <a:srgbClr val="176493"/>
            </a:solidFill>
            <a:prstDash val="solid"/>
          </a:ln>
        </p:spPr>
      </p:sp>
      <p:sp>
        <p:nvSpPr>
          <p:cNvPr id="15" name="Shape 13"/>
          <p:cNvSpPr/>
          <p:nvPr/>
        </p:nvSpPr>
        <p:spPr>
          <a:xfrm>
            <a:off x="8430768" y="2176272"/>
            <a:ext cx="0" cy="484632"/>
          </a:xfrm>
          <a:prstGeom prst="line">
            <a:avLst/>
          </a:prstGeom>
          <a:noFill/>
          <a:ln w="10160">
            <a:solidFill>
              <a:srgbClr val="176493"/>
            </a:solidFill>
            <a:prstDash val="solid"/>
            <a:headEnd type="none"/>
            <a:tailEnd type="none"/>
          </a:ln>
        </p:spPr>
      </p:sp>
      <p:sp>
        <p:nvSpPr>
          <p:cNvPr id="16" name="Shape 14"/>
          <p:cNvSpPr/>
          <p:nvPr/>
        </p:nvSpPr>
        <p:spPr>
          <a:xfrm>
            <a:off x="8613648" y="2176272"/>
            <a:ext cx="0" cy="484632"/>
          </a:xfrm>
          <a:prstGeom prst="line">
            <a:avLst/>
          </a:prstGeom>
          <a:noFill/>
          <a:ln w="10160">
            <a:solidFill>
              <a:srgbClr val="176493"/>
            </a:solidFill>
            <a:prstDash val="solid"/>
            <a:headEnd type="none"/>
            <a:tailEnd type="none"/>
          </a:ln>
        </p:spPr>
      </p:sp>
      <p:sp>
        <p:nvSpPr>
          <p:cNvPr id="17" name="Shape 15"/>
          <p:cNvSpPr/>
          <p:nvPr/>
        </p:nvSpPr>
        <p:spPr>
          <a:xfrm>
            <a:off x="8247888" y="2338121"/>
            <a:ext cx="548640" cy="0"/>
          </a:xfrm>
          <a:prstGeom prst="line">
            <a:avLst/>
          </a:prstGeom>
          <a:noFill/>
          <a:ln w="10160">
            <a:solidFill>
              <a:srgbClr val="176493"/>
            </a:solidFill>
            <a:prstDash val="solid"/>
            <a:headEnd type="none"/>
            <a:tailEnd type="none"/>
          </a:ln>
        </p:spPr>
      </p:sp>
      <p:sp>
        <p:nvSpPr>
          <p:cNvPr id="18" name="Shape 16"/>
          <p:cNvSpPr/>
          <p:nvPr/>
        </p:nvSpPr>
        <p:spPr>
          <a:xfrm>
            <a:off x="8247888" y="2499970"/>
            <a:ext cx="548640" cy="0"/>
          </a:xfrm>
          <a:prstGeom prst="line">
            <a:avLst/>
          </a:prstGeom>
          <a:noFill/>
          <a:ln w="10160">
            <a:solidFill>
              <a:srgbClr val="176493"/>
            </a:solidFill>
            <a:prstDash val="solid"/>
            <a:headEnd type="none"/>
            <a:tailEnd type="none"/>
          </a:ln>
        </p:spPr>
      </p:sp>
      <p:sp>
        <p:nvSpPr>
          <p:cNvPr id="19" name="Text 17"/>
          <p:cNvSpPr/>
          <p:nvPr/>
        </p:nvSpPr>
        <p:spPr>
          <a:xfrm>
            <a:off x="9107424" y="2157984"/>
            <a:ext cx="2011680" cy="594360"/>
          </a:xfrm>
          <a:prstGeom prst="rect">
            <a:avLst/>
          </a:prstGeom>
          <a:noFill/>
          <a:ln/>
        </p:spPr>
        <p:txBody>
          <a:bodyPr wrap="square" lIns="0" tIns="0" rIns="0" bIns="0" rtlCol="0" anchor="ctr"/>
          <a:lstStyle/>
          <a:p>
            <a:pPr algn="l" indent="0" marL="0">
              <a:buNone/>
            </a:pPr>
            <a:r>
              <a:rPr lang="en-US" sz="2100" b="1" dirty="0">
                <a:solidFill>
                  <a:srgbClr val="172233"/>
                </a:solidFill>
                <a:latin typeface="Aptos" pitchFamily="34" charset="0"/>
                <a:ea typeface="Aptos" pitchFamily="34" charset="-122"/>
                <a:cs typeface="Aptos" pitchFamily="34" charset="-120"/>
              </a:rPr>
              <a:t>Inspect the records</a:t>
            </a:r>
            <a:endParaRPr lang="en-US" sz="2100" dirty="0"/>
          </a:p>
        </p:txBody>
      </p:sp>
      <p:sp>
        <p:nvSpPr>
          <p:cNvPr id="20" name="Shape 18"/>
          <p:cNvSpPr/>
          <p:nvPr/>
        </p:nvSpPr>
        <p:spPr>
          <a:xfrm>
            <a:off x="8247888" y="3355848"/>
            <a:ext cx="0" cy="502920"/>
          </a:xfrm>
          <a:prstGeom prst="line">
            <a:avLst/>
          </a:prstGeom>
          <a:noFill/>
          <a:ln w="15240">
            <a:solidFill>
              <a:srgbClr val="176493"/>
            </a:solidFill>
            <a:prstDash val="solid"/>
            <a:headEnd type="none"/>
            <a:tailEnd type="none"/>
          </a:ln>
        </p:spPr>
      </p:sp>
      <p:sp>
        <p:nvSpPr>
          <p:cNvPr id="21" name="Shape 19"/>
          <p:cNvSpPr/>
          <p:nvPr/>
        </p:nvSpPr>
        <p:spPr>
          <a:xfrm>
            <a:off x="8247888" y="3858768"/>
            <a:ext cx="566928" cy="0"/>
          </a:xfrm>
          <a:prstGeom prst="line">
            <a:avLst/>
          </a:prstGeom>
          <a:noFill/>
          <a:ln w="15240">
            <a:solidFill>
              <a:srgbClr val="176493"/>
            </a:solidFill>
            <a:prstDash val="solid"/>
            <a:headEnd type="none"/>
            <a:tailEnd type="none"/>
          </a:ln>
        </p:spPr>
      </p:sp>
      <p:sp>
        <p:nvSpPr>
          <p:cNvPr id="22" name="Shape 20"/>
          <p:cNvSpPr/>
          <p:nvPr/>
        </p:nvSpPr>
        <p:spPr>
          <a:xfrm>
            <a:off x="8325612" y="3689604"/>
            <a:ext cx="64008" cy="64008"/>
          </a:xfrm>
          <a:prstGeom prst="ellipse">
            <a:avLst/>
          </a:prstGeom>
          <a:solidFill>
            <a:srgbClr val="176493"/>
          </a:solidFill>
          <a:ln w="5080">
            <a:solidFill>
              <a:srgbClr val="176493"/>
            </a:solidFill>
            <a:prstDash val="solid"/>
          </a:ln>
        </p:spPr>
      </p:sp>
      <p:sp>
        <p:nvSpPr>
          <p:cNvPr id="23" name="Shape 21"/>
          <p:cNvSpPr/>
          <p:nvPr/>
        </p:nvSpPr>
        <p:spPr>
          <a:xfrm>
            <a:off x="8435340" y="3570732"/>
            <a:ext cx="64008" cy="64008"/>
          </a:xfrm>
          <a:prstGeom prst="ellipse">
            <a:avLst/>
          </a:prstGeom>
          <a:solidFill>
            <a:srgbClr val="176493"/>
          </a:solidFill>
          <a:ln w="5080">
            <a:solidFill>
              <a:srgbClr val="176493"/>
            </a:solidFill>
            <a:prstDash val="solid"/>
          </a:ln>
        </p:spPr>
      </p:sp>
      <p:sp>
        <p:nvSpPr>
          <p:cNvPr id="24" name="Shape 22"/>
          <p:cNvSpPr/>
          <p:nvPr/>
        </p:nvSpPr>
        <p:spPr>
          <a:xfrm>
            <a:off x="8526780" y="3643884"/>
            <a:ext cx="64008" cy="64008"/>
          </a:xfrm>
          <a:prstGeom prst="ellipse">
            <a:avLst/>
          </a:prstGeom>
          <a:solidFill>
            <a:srgbClr val="176493"/>
          </a:solidFill>
          <a:ln w="5080">
            <a:solidFill>
              <a:srgbClr val="176493"/>
            </a:solidFill>
            <a:prstDash val="solid"/>
          </a:ln>
        </p:spPr>
      </p:sp>
      <p:sp>
        <p:nvSpPr>
          <p:cNvPr id="25" name="Shape 23"/>
          <p:cNvSpPr/>
          <p:nvPr/>
        </p:nvSpPr>
        <p:spPr>
          <a:xfrm>
            <a:off x="8654796" y="3424428"/>
            <a:ext cx="64008" cy="64008"/>
          </a:xfrm>
          <a:prstGeom prst="ellipse">
            <a:avLst/>
          </a:prstGeom>
          <a:solidFill>
            <a:srgbClr val="176493"/>
          </a:solidFill>
          <a:ln w="5080">
            <a:solidFill>
              <a:srgbClr val="176493"/>
            </a:solidFill>
            <a:prstDash val="solid"/>
          </a:ln>
        </p:spPr>
      </p:sp>
      <p:sp>
        <p:nvSpPr>
          <p:cNvPr id="26" name="Text 24"/>
          <p:cNvSpPr/>
          <p:nvPr/>
        </p:nvSpPr>
        <p:spPr>
          <a:xfrm>
            <a:off x="9107424" y="3300984"/>
            <a:ext cx="2011680" cy="640080"/>
          </a:xfrm>
          <a:prstGeom prst="rect">
            <a:avLst/>
          </a:prstGeom>
          <a:noFill/>
          <a:ln/>
        </p:spPr>
        <p:txBody>
          <a:bodyPr wrap="square" lIns="0" tIns="0" rIns="0" bIns="0" rtlCol="0" anchor="ctr"/>
          <a:lstStyle/>
          <a:p>
            <a:pPr algn="l" indent="0" marL="0">
              <a:buNone/>
            </a:pPr>
            <a:r>
              <a:rPr lang="en-US" sz="2100" b="1" dirty="0">
                <a:solidFill>
                  <a:srgbClr val="172233"/>
                </a:solidFill>
                <a:latin typeface="Aptos" pitchFamily="34" charset="0"/>
                <a:ea typeface="Aptos" pitchFamily="34" charset="-122"/>
                <a:cs typeface="Aptos" pitchFamily="34" charset="-120"/>
              </a:rPr>
              <a:t>Explain the pattern</a:t>
            </a:r>
            <a:endParaRPr lang="en-US" sz="2100" dirty="0"/>
          </a:p>
        </p:txBody>
      </p:sp>
      <p:sp>
        <p:nvSpPr>
          <p:cNvPr id="27" name="Shape 25"/>
          <p:cNvSpPr/>
          <p:nvPr/>
        </p:nvSpPr>
        <p:spPr>
          <a:xfrm>
            <a:off x="8247888" y="4553712"/>
            <a:ext cx="548640" cy="484632"/>
          </a:xfrm>
          <a:prstGeom prst="rect">
            <a:avLst/>
          </a:prstGeom>
          <a:solidFill>
            <a:srgbClr val="FFFFFF"/>
          </a:solidFill>
          <a:ln w="12700">
            <a:solidFill>
              <a:srgbClr val="176493"/>
            </a:solidFill>
            <a:prstDash val="solid"/>
          </a:ln>
        </p:spPr>
      </p:sp>
      <p:sp>
        <p:nvSpPr>
          <p:cNvPr id="28" name="Shape 26"/>
          <p:cNvSpPr/>
          <p:nvPr/>
        </p:nvSpPr>
        <p:spPr>
          <a:xfrm>
            <a:off x="8339328" y="4800600"/>
            <a:ext cx="128016" cy="118872"/>
          </a:xfrm>
          <a:prstGeom prst="line">
            <a:avLst/>
          </a:prstGeom>
          <a:noFill/>
          <a:ln w="25400">
            <a:solidFill>
              <a:srgbClr val="176493"/>
            </a:solidFill>
            <a:prstDash val="solid"/>
            <a:headEnd type="none"/>
            <a:tailEnd type="none"/>
          </a:ln>
        </p:spPr>
      </p:sp>
      <p:sp>
        <p:nvSpPr>
          <p:cNvPr id="29" name="Shape 27"/>
          <p:cNvSpPr/>
          <p:nvPr/>
        </p:nvSpPr>
        <p:spPr>
          <a:xfrm flipV="1">
            <a:off x="8467344" y="4645152"/>
            <a:ext cx="228600" cy="274320"/>
          </a:xfrm>
          <a:prstGeom prst="line">
            <a:avLst/>
          </a:prstGeom>
          <a:noFill/>
          <a:ln w="25400">
            <a:solidFill>
              <a:srgbClr val="176493"/>
            </a:solidFill>
            <a:prstDash val="solid"/>
            <a:headEnd type="none"/>
            <a:tailEnd type="none"/>
          </a:ln>
        </p:spPr>
      </p:sp>
      <p:sp>
        <p:nvSpPr>
          <p:cNvPr id="30" name="Text 28"/>
          <p:cNvSpPr/>
          <p:nvPr/>
        </p:nvSpPr>
        <p:spPr>
          <a:xfrm>
            <a:off x="9107424" y="4443984"/>
            <a:ext cx="2011680" cy="640080"/>
          </a:xfrm>
          <a:prstGeom prst="rect">
            <a:avLst/>
          </a:prstGeom>
          <a:noFill/>
          <a:ln/>
        </p:spPr>
        <p:txBody>
          <a:bodyPr wrap="square" lIns="0" tIns="0" rIns="0" bIns="0" rtlCol="0" anchor="ctr"/>
          <a:lstStyle/>
          <a:p>
            <a:pPr algn="l" indent="0" marL="0">
              <a:buNone/>
            </a:pPr>
            <a:r>
              <a:rPr lang="en-US" sz="2100" b="1" dirty="0">
                <a:solidFill>
                  <a:srgbClr val="172233"/>
                </a:solidFill>
                <a:latin typeface="Aptos" pitchFamily="34" charset="0"/>
                <a:ea typeface="Aptos" pitchFamily="34" charset="-122"/>
                <a:cs typeface="Aptos" pitchFamily="34" charset="-120"/>
              </a:rPr>
              <a:t>State the limits</a:t>
            </a:r>
            <a:endParaRPr lang="en-US" sz="2100" dirty="0"/>
          </a:p>
        </p:txBody>
      </p:sp>
      <p:sp>
        <p:nvSpPr>
          <p:cNvPr id="31" name="Text 29"/>
          <p:cNvSpPr/>
          <p:nvPr/>
        </p:nvSpPr>
        <p:spPr>
          <a:xfrm>
            <a:off x="676656" y="5248656"/>
            <a:ext cx="7223760" cy="621792"/>
          </a:xfrm>
          <a:prstGeom prst="rect">
            <a:avLst/>
          </a:prstGeom>
          <a:noFill/>
          <a:ln/>
        </p:spPr>
        <p:txBody>
          <a:bodyPr wrap="square" lIns="0" tIns="0" rIns="0" bIns="0" rtlCol="0" anchor="ctr"/>
          <a:lstStyle/>
          <a:p>
            <a:pPr algn="l" indent="0" marL="0">
              <a:buNone/>
            </a:pPr>
            <a:r>
              <a:rPr lang="en-US" sz="2200" b="1" dirty="0">
                <a:solidFill>
                  <a:srgbClr val="176493"/>
                </a:solidFill>
                <a:latin typeface="Aptos" pitchFamily="34" charset="0"/>
                <a:ea typeface="Aptos" pitchFamily="34" charset="-122"/>
                <a:cs typeface="Aptos" pitchFamily="34" charset="-120"/>
              </a:rPr>
              <a:t>A pattern is a starting point, not a conclusion.</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0" y="0"/>
            <a:ext cx="12192000" cy="402336"/>
          </a:xfrm>
          <a:prstGeom prst="rect">
            <a:avLst/>
          </a:prstGeom>
          <a:solidFill>
            <a:srgbClr val="E7EEF7"/>
          </a:solidFill>
          <a:ln w="12700">
            <a:solidFill>
              <a:srgbClr val="E7EEF7">
                <a:alpha val="0"/>
              </a:srgbClr>
            </a:solidFill>
            <a:prstDash val="solid"/>
          </a:ln>
        </p:spPr>
      </p:sp>
      <p:sp>
        <p:nvSpPr>
          <p:cNvPr id="3" name="Shape 1"/>
          <p:cNvSpPr/>
          <p:nvPr/>
        </p:nvSpPr>
        <p:spPr>
          <a:xfrm>
            <a:off x="466344" y="123444"/>
            <a:ext cx="64008" cy="146304"/>
          </a:xfrm>
          <a:prstGeom prst="rect">
            <a:avLst/>
          </a:prstGeom>
          <a:solidFill>
            <a:srgbClr val="176493"/>
          </a:solidFill>
          <a:ln w="12700">
            <a:solidFill>
              <a:srgbClr val="176493">
                <a:alpha val="0"/>
              </a:srgbClr>
            </a:solidFill>
            <a:prstDash val="solid"/>
          </a:ln>
        </p:spPr>
      </p:sp>
      <p:sp>
        <p:nvSpPr>
          <p:cNvPr id="4" name="Text 2"/>
          <p:cNvSpPr/>
          <p:nvPr/>
        </p:nvSpPr>
        <p:spPr>
          <a:xfrm>
            <a:off x="594360" y="100584"/>
            <a:ext cx="731520" cy="201168"/>
          </a:xfrm>
          <a:prstGeom prst="rect">
            <a:avLst/>
          </a:prstGeom>
          <a:noFill/>
          <a:ln/>
        </p:spPr>
        <p:txBody>
          <a:bodyPr wrap="square" lIns="0" tIns="0" rIns="0" bIns="0" rtlCol="0" anchor="ctr"/>
          <a:lstStyle/>
          <a:p>
            <a:pPr algn="l" indent="0" marL="0">
              <a:buNone/>
            </a:pPr>
            <a:r>
              <a:rPr lang="en-US" sz="1100" b="1" dirty="0">
                <a:solidFill>
                  <a:srgbClr val="176493"/>
                </a:solidFill>
                <a:latin typeface="Aptos" pitchFamily="34" charset="0"/>
                <a:ea typeface="Aptos" pitchFamily="34" charset="-122"/>
                <a:cs typeface="Aptos" pitchFamily="34" charset="-120"/>
              </a:rPr>
              <a:t>DS101</a:t>
            </a:r>
            <a:endParaRPr lang="en-US" sz="1100" dirty="0"/>
          </a:p>
        </p:txBody>
      </p:sp>
      <p:sp>
        <p:nvSpPr>
          <p:cNvPr id="5" name="Text 3"/>
          <p:cNvSpPr/>
          <p:nvPr/>
        </p:nvSpPr>
        <p:spPr>
          <a:xfrm>
            <a:off x="1463040" y="100584"/>
            <a:ext cx="1828800" cy="201168"/>
          </a:xfrm>
          <a:prstGeom prst="rect">
            <a:avLst/>
          </a:prstGeom>
          <a:noFill/>
          <a:ln/>
        </p:spPr>
        <p:txBody>
          <a:bodyPr wrap="square" lIns="0" tIns="0" rIns="0" bIns="0" rtlCol="0" anchor="ctr"/>
          <a:lstStyle/>
          <a:p>
            <a:pPr algn="l" indent="0" marL="0">
              <a:buNone/>
            </a:pPr>
            <a:r>
              <a:rPr lang="en-US" sz="1000" dirty="0">
                <a:solidFill>
                  <a:srgbClr val="53657A"/>
                </a:solidFill>
                <a:latin typeface="Aptos" pitchFamily="34" charset="0"/>
                <a:ea typeface="Aptos" pitchFamily="34" charset="-122"/>
                <a:cs typeface="Aptos" pitchFamily="34" charset="-120"/>
              </a:rPr>
              <a:t>LECTURE 02</a:t>
            </a:r>
            <a:endParaRPr lang="en-US" sz="1000" dirty="0"/>
          </a:p>
        </p:txBody>
      </p:sp>
      <p:sp>
        <p:nvSpPr>
          <p:cNvPr id="6" name="Text 4"/>
          <p:cNvSpPr/>
          <p:nvPr/>
        </p:nvSpPr>
        <p:spPr>
          <a:xfrm>
            <a:off x="8321040" y="100584"/>
            <a:ext cx="3264408" cy="201168"/>
          </a:xfrm>
          <a:prstGeom prst="rect">
            <a:avLst/>
          </a:prstGeom>
          <a:noFill/>
          <a:ln/>
        </p:spPr>
        <p:txBody>
          <a:bodyPr wrap="square" lIns="0" tIns="0" rIns="0" bIns="0" rtlCol="0" anchor="ctr"/>
          <a:lstStyle/>
          <a:p>
            <a:pPr algn="r" indent="0" marL="0">
              <a:buNone/>
            </a:pPr>
            <a:r>
              <a:rPr lang="en-US" sz="1000" dirty="0">
                <a:solidFill>
                  <a:srgbClr val="53657A"/>
                </a:solidFill>
                <a:latin typeface="Aptos" pitchFamily="34" charset="0"/>
                <a:ea typeface="Aptos" pitchFamily="34" charset="-122"/>
                <a:cs typeface="Aptos" pitchFamily="34" charset="-120"/>
              </a:rPr>
              <a:t>LECTURE PLAN</a:t>
            </a:r>
            <a:endParaRPr lang="en-US" sz="1000" dirty="0"/>
          </a:p>
        </p:txBody>
      </p:sp>
      <p:sp>
        <p:nvSpPr>
          <p:cNvPr id="7" name="Text 5"/>
          <p:cNvSpPr/>
          <p:nvPr/>
        </p:nvSpPr>
        <p:spPr>
          <a:xfrm>
            <a:off x="594360" y="758952"/>
            <a:ext cx="11000232" cy="658368"/>
          </a:xfrm>
          <a:prstGeom prst="rect">
            <a:avLst/>
          </a:prstGeom>
          <a:noFill/>
          <a:ln/>
        </p:spPr>
        <p:txBody>
          <a:bodyPr wrap="square" lIns="0" tIns="0" rIns="0" bIns="0" rtlCol="0" anchor="ctr"/>
          <a:lstStyle/>
          <a:p>
            <a:pPr algn="l" indent="0" marL="0">
              <a:buNone/>
            </a:pPr>
            <a:r>
              <a:rPr lang="en-US" sz="3000" b="1" dirty="0">
                <a:solidFill>
                  <a:srgbClr val="172233"/>
                </a:solidFill>
                <a:latin typeface="Aptos" pitchFamily="34" charset="0"/>
                <a:ea typeface="Aptos" pitchFamily="34" charset="-122"/>
                <a:cs typeface="Aptos" pitchFamily="34" charset="-120"/>
              </a:rPr>
              <a:t>Today: records, features, patterns, interpretation</a:t>
            </a:r>
            <a:endParaRPr lang="en-US" sz="3000" dirty="0"/>
          </a:p>
        </p:txBody>
      </p:sp>
      <p:sp>
        <p:nvSpPr>
          <p:cNvPr id="8" name="Text 6"/>
          <p:cNvSpPr/>
          <p:nvPr/>
        </p:nvSpPr>
        <p:spPr>
          <a:xfrm>
            <a:off x="594360" y="6510528"/>
            <a:ext cx="3657600" cy="164592"/>
          </a:xfrm>
          <a:prstGeom prst="rect">
            <a:avLst/>
          </a:prstGeom>
          <a:noFill/>
          <a:ln/>
        </p:spPr>
        <p:txBody>
          <a:bodyPr wrap="square" lIns="0" tIns="0" rIns="0" bIns="0" rtlCol="0" anchor="ctr"/>
          <a:lstStyle/>
          <a:p>
            <a:pPr algn="l" indent="0" marL="0">
              <a:buNone/>
            </a:pPr>
            <a:r>
              <a:rPr lang="en-US" sz="900" dirty="0">
                <a:solidFill>
                  <a:srgbClr val="53657A"/>
                </a:solidFill>
                <a:latin typeface="Aptos" pitchFamily="34" charset="0"/>
                <a:ea typeface="Aptos" pitchFamily="34" charset="-122"/>
                <a:cs typeface="Aptos" pitchFamily="34" charset="-120"/>
              </a:rPr>
              <a:t>DS101 | 2026-2027</a:t>
            </a:r>
            <a:endParaRPr lang="en-US" sz="900" dirty="0"/>
          </a:p>
        </p:txBody>
      </p:sp>
      <p:sp>
        <p:nvSpPr>
          <p:cNvPr id="9" name="Text 7"/>
          <p:cNvSpPr/>
          <p:nvPr/>
        </p:nvSpPr>
        <p:spPr>
          <a:xfrm>
            <a:off x="10680192" y="6492240"/>
            <a:ext cx="914400" cy="201168"/>
          </a:xfrm>
          <a:prstGeom prst="rect">
            <a:avLst/>
          </a:prstGeom>
          <a:noFill/>
          <a:ln/>
        </p:spPr>
        <p:txBody>
          <a:bodyPr wrap="square" lIns="0" tIns="0" rIns="0" bIns="0" rtlCol="0" anchor="ctr"/>
          <a:lstStyle/>
          <a:p>
            <a:pPr algn="r" indent="0" marL="0">
              <a:buNone/>
            </a:pPr>
            <a:r>
              <a:rPr lang="en-US" sz="1000" dirty="0">
                <a:solidFill>
                  <a:srgbClr val="53657A"/>
                </a:solidFill>
                <a:latin typeface="Aptos" pitchFamily="34" charset="0"/>
                <a:ea typeface="Aptos" pitchFamily="34" charset="-122"/>
                <a:cs typeface="Aptos" pitchFamily="34" charset="-120"/>
              </a:rPr>
              <a:t>02 / 24</a:t>
            </a:r>
            <a:endParaRPr lang="en-US" sz="1000" dirty="0"/>
          </a:p>
        </p:txBody>
      </p:sp>
      <p:sp>
        <p:nvSpPr>
          <p:cNvPr id="10" name="Shape 8"/>
          <p:cNvSpPr/>
          <p:nvPr/>
        </p:nvSpPr>
        <p:spPr>
          <a:xfrm>
            <a:off x="594360" y="5852160"/>
            <a:ext cx="11000232" cy="438912"/>
          </a:xfrm>
          <a:prstGeom prst="rect">
            <a:avLst/>
          </a:prstGeom>
          <a:solidFill>
            <a:srgbClr val="E3EFF7"/>
          </a:solidFill>
          <a:ln w="12700">
            <a:solidFill>
              <a:srgbClr val="E3EFF7">
                <a:alpha val="0"/>
              </a:srgbClr>
            </a:solidFill>
            <a:prstDash val="solid"/>
          </a:ln>
        </p:spPr>
      </p:sp>
      <p:sp>
        <p:nvSpPr>
          <p:cNvPr id="11" name="Text 9"/>
          <p:cNvSpPr/>
          <p:nvPr/>
        </p:nvSpPr>
        <p:spPr>
          <a:xfrm>
            <a:off x="795528" y="5943600"/>
            <a:ext cx="10607040" cy="256032"/>
          </a:xfrm>
          <a:prstGeom prst="rect">
            <a:avLst/>
          </a:prstGeom>
          <a:noFill/>
          <a:ln/>
        </p:spPr>
        <p:txBody>
          <a:bodyPr wrap="square" lIns="0" tIns="0" rIns="0" bIns="0" rtlCol="0" anchor="ctr"/>
          <a:lstStyle/>
          <a:p>
            <a:pPr algn="l" indent="0" marL="0">
              <a:buNone/>
            </a:pPr>
            <a:r>
              <a:rPr lang="en-US" sz="1700" b="1" dirty="0">
                <a:solidFill>
                  <a:srgbClr val="176493"/>
                </a:solidFill>
                <a:latin typeface="Aptos" pitchFamily="34" charset="0"/>
                <a:ea typeface="Aptos" pitchFamily="34" charset="-122"/>
                <a:cs typeface="Aptos" pitchFamily="34" charset="-120"/>
              </a:rPr>
              <a:t>Understand the feature. Read the plot. Check the claim.</a:t>
            </a:r>
            <a:endParaRPr lang="en-US" sz="1700" dirty="0"/>
          </a:p>
        </p:txBody>
      </p:sp>
      <p:sp>
        <p:nvSpPr>
          <p:cNvPr id="12" name="Text 10"/>
          <p:cNvSpPr/>
          <p:nvPr/>
        </p:nvSpPr>
        <p:spPr>
          <a:xfrm>
            <a:off x="850392" y="1847088"/>
            <a:ext cx="640080" cy="219456"/>
          </a:xfrm>
          <a:prstGeom prst="rect">
            <a:avLst/>
          </a:prstGeom>
          <a:noFill/>
          <a:ln/>
        </p:spPr>
        <p:txBody>
          <a:bodyPr wrap="square" lIns="0" tIns="0" rIns="0" bIns="0" rtlCol="0" anchor="ctr"/>
          <a:lstStyle/>
          <a:p>
            <a:pPr algn="l" indent="0" marL="0">
              <a:buNone/>
            </a:pPr>
            <a:r>
              <a:rPr lang="en-US" sz="1150" b="1" spc="50" kern="0" dirty="0">
                <a:solidFill>
                  <a:srgbClr val="176493"/>
                </a:solidFill>
                <a:latin typeface="Aptos" pitchFamily="34" charset="0"/>
                <a:ea typeface="Aptos" pitchFamily="34" charset="-122"/>
                <a:cs typeface="Aptos" pitchFamily="34" charset="-120"/>
              </a:rPr>
              <a:t>01</a:t>
            </a:r>
            <a:endParaRPr lang="en-US" sz="1150" dirty="0"/>
          </a:p>
        </p:txBody>
      </p:sp>
      <p:sp>
        <p:nvSpPr>
          <p:cNvPr id="13" name="Shape 11"/>
          <p:cNvSpPr/>
          <p:nvPr/>
        </p:nvSpPr>
        <p:spPr>
          <a:xfrm>
            <a:off x="859536" y="2487168"/>
            <a:ext cx="548640" cy="484632"/>
          </a:xfrm>
          <a:prstGeom prst="rect">
            <a:avLst/>
          </a:prstGeom>
          <a:solidFill>
            <a:srgbClr val="FFFFFF"/>
          </a:solidFill>
          <a:ln w="12700">
            <a:solidFill>
              <a:srgbClr val="176493"/>
            </a:solidFill>
            <a:prstDash val="solid"/>
          </a:ln>
        </p:spPr>
      </p:sp>
      <p:sp>
        <p:nvSpPr>
          <p:cNvPr id="14" name="Shape 12"/>
          <p:cNvSpPr/>
          <p:nvPr/>
        </p:nvSpPr>
        <p:spPr>
          <a:xfrm>
            <a:off x="1042416" y="2487168"/>
            <a:ext cx="0" cy="484632"/>
          </a:xfrm>
          <a:prstGeom prst="line">
            <a:avLst/>
          </a:prstGeom>
          <a:noFill/>
          <a:ln w="10160">
            <a:solidFill>
              <a:srgbClr val="176493"/>
            </a:solidFill>
            <a:prstDash val="solid"/>
            <a:headEnd type="none"/>
            <a:tailEnd type="none"/>
          </a:ln>
        </p:spPr>
      </p:sp>
      <p:sp>
        <p:nvSpPr>
          <p:cNvPr id="15" name="Shape 13"/>
          <p:cNvSpPr/>
          <p:nvPr/>
        </p:nvSpPr>
        <p:spPr>
          <a:xfrm>
            <a:off x="1225296" y="2487168"/>
            <a:ext cx="0" cy="484632"/>
          </a:xfrm>
          <a:prstGeom prst="line">
            <a:avLst/>
          </a:prstGeom>
          <a:noFill/>
          <a:ln w="10160">
            <a:solidFill>
              <a:srgbClr val="176493"/>
            </a:solidFill>
            <a:prstDash val="solid"/>
            <a:headEnd type="none"/>
            <a:tailEnd type="none"/>
          </a:ln>
        </p:spPr>
      </p:sp>
      <p:sp>
        <p:nvSpPr>
          <p:cNvPr id="16" name="Shape 14"/>
          <p:cNvSpPr/>
          <p:nvPr/>
        </p:nvSpPr>
        <p:spPr>
          <a:xfrm>
            <a:off x="859536" y="2649017"/>
            <a:ext cx="548640" cy="0"/>
          </a:xfrm>
          <a:prstGeom prst="line">
            <a:avLst/>
          </a:prstGeom>
          <a:noFill/>
          <a:ln w="10160">
            <a:solidFill>
              <a:srgbClr val="176493"/>
            </a:solidFill>
            <a:prstDash val="solid"/>
            <a:headEnd type="none"/>
            <a:tailEnd type="none"/>
          </a:ln>
        </p:spPr>
      </p:sp>
      <p:sp>
        <p:nvSpPr>
          <p:cNvPr id="17" name="Shape 15"/>
          <p:cNvSpPr/>
          <p:nvPr/>
        </p:nvSpPr>
        <p:spPr>
          <a:xfrm>
            <a:off x="859536" y="2810866"/>
            <a:ext cx="548640" cy="0"/>
          </a:xfrm>
          <a:prstGeom prst="line">
            <a:avLst/>
          </a:prstGeom>
          <a:noFill/>
          <a:ln w="10160">
            <a:solidFill>
              <a:srgbClr val="176493"/>
            </a:solidFill>
            <a:prstDash val="solid"/>
            <a:headEnd type="none"/>
            <a:tailEnd type="none"/>
          </a:ln>
        </p:spPr>
      </p:sp>
      <p:sp>
        <p:nvSpPr>
          <p:cNvPr id="18" name="Text 16"/>
          <p:cNvSpPr/>
          <p:nvPr/>
        </p:nvSpPr>
        <p:spPr>
          <a:xfrm>
            <a:off x="850392" y="3319272"/>
            <a:ext cx="2377440" cy="594360"/>
          </a:xfrm>
          <a:prstGeom prst="rect">
            <a:avLst/>
          </a:prstGeom>
          <a:noFill/>
          <a:ln/>
        </p:spPr>
        <p:txBody>
          <a:bodyPr wrap="square" lIns="0" tIns="0" rIns="0" bIns="0" rtlCol="0" anchor="ctr"/>
          <a:lstStyle/>
          <a:p>
            <a:pPr algn="l" indent="0" marL="0">
              <a:buNone/>
            </a:pPr>
            <a:r>
              <a:rPr lang="en-US" sz="2500" b="1" dirty="0">
                <a:solidFill>
                  <a:srgbClr val="172233"/>
                </a:solidFill>
                <a:latin typeface="Aptos" pitchFamily="34" charset="0"/>
                <a:ea typeface="Aptos" pitchFamily="34" charset="-122"/>
                <a:cs typeface="Aptos" pitchFamily="34" charset="-120"/>
              </a:rPr>
              <a:t>Inspect</a:t>
            </a:r>
            <a:endParaRPr lang="en-US" sz="2500" dirty="0"/>
          </a:p>
        </p:txBody>
      </p:sp>
      <p:sp>
        <p:nvSpPr>
          <p:cNvPr id="19" name="Text 17"/>
          <p:cNvSpPr/>
          <p:nvPr/>
        </p:nvSpPr>
        <p:spPr>
          <a:xfrm>
            <a:off x="850392" y="4123944"/>
            <a:ext cx="2286000" cy="832104"/>
          </a:xfrm>
          <a:prstGeom prst="rect">
            <a:avLst/>
          </a:prstGeom>
          <a:noFill/>
          <a:ln/>
        </p:spPr>
        <p:txBody>
          <a:bodyPr wrap="square" lIns="0" tIns="0" rIns="0" bIns="0" rtlCol="0" anchor="ctr"/>
          <a:lstStyle/>
          <a:p>
            <a:pPr algn="l" indent="0" marL="0">
              <a:buNone/>
            </a:pPr>
            <a:r>
              <a:rPr lang="en-US" sz="2000" dirty="0">
                <a:solidFill>
                  <a:srgbClr val="53657A"/>
                </a:solidFill>
                <a:latin typeface="Aptos" pitchFamily="34" charset="0"/>
                <a:ea typeface="Aptos" pitchFamily="34" charset="-122"/>
                <a:cs typeface="Aptos" pitchFamily="34" charset="-120"/>
              </a:rPr>
              <a:t>What does each row mean?</a:t>
            </a:r>
            <a:endParaRPr lang="en-US" sz="2000" dirty="0"/>
          </a:p>
        </p:txBody>
      </p:sp>
      <p:sp>
        <p:nvSpPr>
          <p:cNvPr id="20" name="Text 18"/>
          <p:cNvSpPr/>
          <p:nvPr/>
        </p:nvSpPr>
        <p:spPr>
          <a:xfrm>
            <a:off x="3639312" y="1847088"/>
            <a:ext cx="640080" cy="219456"/>
          </a:xfrm>
          <a:prstGeom prst="rect">
            <a:avLst/>
          </a:prstGeom>
          <a:noFill/>
          <a:ln/>
        </p:spPr>
        <p:txBody>
          <a:bodyPr wrap="square" lIns="0" tIns="0" rIns="0" bIns="0" rtlCol="0" anchor="ctr"/>
          <a:lstStyle/>
          <a:p>
            <a:pPr algn="l" indent="0" marL="0">
              <a:buNone/>
            </a:pPr>
            <a:r>
              <a:rPr lang="en-US" sz="1150" b="1" spc="50" kern="0" dirty="0">
                <a:solidFill>
                  <a:srgbClr val="176493"/>
                </a:solidFill>
                <a:latin typeface="Aptos" pitchFamily="34" charset="0"/>
                <a:ea typeface="Aptos" pitchFamily="34" charset="-122"/>
                <a:cs typeface="Aptos" pitchFamily="34" charset="-120"/>
              </a:rPr>
              <a:t>02</a:t>
            </a:r>
            <a:endParaRPr lang="en-US" sz="1150" dirty="0"/>
          </a:p>
        </p:txBody>
      </p:sp>
      <p:sp>
        <p:nvSpPr>
          <p:cNvPr id="21" name="Shape 19"/>
          <p:cNvSpPr/>
          <p:nvPr/>
        </p:nvSpPr>
        <p:spPr>
          <a:xfrm>
            <a:off x="3648456" y="2487168"/>
            <a:ext cx="548640" cy="484632"/>
          </a:xfrm>
          <a:prstGeom prst="rect">
            <a:avLst/>
          </a:prstGeom>
          <a:solidFill>
            <a:srgbClr val="FFFFFF"/>
          </a:solidFill>
          <a:ln w="12700">
            <a:solidFill>
              <a:srgbClr val="176493"/>
            </a:solidFill>
            <a:prstDash val="solid"/>
          </a:ln>
        </p:spPr>
      </p:sp>
      <p:sp>
        <p:nvSpPr>
          <p:cNvPr id="22" name="Shape 20"/>
          <p:cNvSpPr/>
          <p:nvPr/>
        </p:nvSpPr>
        <p:spPr>
          <a:xfrm>
            <a:off x="3831336" y="2487168"/>
            <a:ext cx="0" cy="484632"/>
          </a:xfrm>
          <a:prstGeom prst="line">
            <a:avLst/>
          </a:prstGeom>
          <a:noFill/>
          <a:ln w="10160">
            <a:solidFill>
              <a:srgbClr val="176493"/>
            </a:solidFill>
            <a:prstDash val="solid"/>
            <a:headEnd type="none"/>
            <a:tailEnd type="none"/>
          </a:ln>
        </p:spPr>
      </p:sp>
      <p:sp>
        <p:nvSpPr>
          <p:cNvPr id="23" name="Shape 21"/>
          <p:cNvSpPr/>
          <p:nvPr/>
        </p:nvSpPr>
        <p:spPr>
          <a:xfrm>
            <a:off x="4014216" y="2487168"/>
            <a:ext cx="0" cy="484632"/>
          </a:xfrm>
          <a:prstGeom prst="line">
            <a:avLst/>
          </a:prstGeom>
          <a:noFill/>
          <a:ln w="10160">
            <a:solidFill>
              <a:srgbClr val="176493"/>
            </a:solidFill>
            <a:prstDash val="solid"/>
            <a:headEnd type="none"/>
            <a:tailEnd type="none"/>
          </a:ln>
        </p:spPr>
      </p:sp>
      <p:sp>
        <p:nvSpPr>
          <p:cNvPr id="24" name="Shape 22"/>
          <p:cNvSpPr/>
          <p:nvPr/>
        </p:nvSpPr>
        <p:spPr>
          <a:xfrm>
            <a:off x="3648456" y="2649017"/>
            <a:ext cx="548640" cy="0"/>
          </a:xfrm>
          <a:prstGeom prst="line">
            <a:avLst/>
          </a:prstGeom>
          <a:noFill/>
          <a:ln w="10160">
            <a:solidFill>
              <a:srgbClr val="176493"/>
            </a:solidFill>
            <a:prstDash val="solid"/>
            <a:headEnd type="none"/>
            <a:tailEnd type="none"/>
          </a:ln>
        </p:spPr>
      </p:sp>
      <p:sp>
        <p:nvSpPr>
          <p:cNvPr id="25" name="Shape 23"/>
          <p:cNvSpPr/>
          <p:nvPr/>
        </p:nvSpPr>
        <p:spPr>
          <a:xfrm>
            <a:off x="3648456" y="2810866"/>
            <a:ext cx="548640" cy="0"/>
          </a:xfrm>
          <a:prstGeom prst="line">
            <a:avLst/>
          </a:prstGeom>
          <a:noFill/>
          <a:ln w="10160">
            <a:solidFill>
              <a:srgbClr val="176493"/>
            </a:solidFill>
            <a:prstDash val="solid"/>
            <a:headEnd type="none"/>
            <a:tailEnd type="none"/>
          </a:ln>
        </p:spPr>
      </p:sp>
      <p:sp>
        <p:nvSpPr>
          <p:cNvPr id="26" name="Text 24"/>
          <p:cNvSpPr/>
          <p:nvPr/>
        </p:nvSpPr>
        <p:spPr>
          <a:xfrm>
            <a:off x="3639312" y="3319272"/>
            <a:ext cx="2377440" cy="594360"/>
          </a:xfrm>
          <a:prstGeom prst="rect">
            <a:avLst/>
          </a:prstGeom>
          <a:noFill/>
          <a:ln/>
        </p:spPr>
        <p:txBody>
          <a:bodyPr wrap="square" lIns="0" tIns="0" rIns="0" bIns="0" rtlCol="0" anchor="ctr"/>
          <a:lstStyle/>
          <a:p>
            <a:pPr algn="l" indent="0" marL="0">
              <a:buNone/>
            </a:pPr>
            <a:r>
              <a:rPr lang="en-US" sz="2500" b="1" dirty="0">
                <a:solidFill>
                  <a:srgbClr val="172233"/>
                </a:solidFill>
                <a:latin typeface="Aptos" pitchFamily="34" charset="0"/>
                <a:ea typeface="Aptos" pitchFamily="34" charset="-122"/>
                <a:cs typeface="Aptos" pitchFamily="34" charset="-120"/>
              </a:rPr>
              <a:t>Represent</a:t>
            </a:r>
            <a:endParaRPr lang="en-US" sz="2500" dirty="0"/>
          </a:p>
        </p:txBody>
      </p:sp>
      <p:sp>
        <p:nvSpPr>
          <p:cNvPr id="27" name="Text 25"/>
          <p:cNvSpPr/>
          <p:nvPr/>
        </p:nvSpPr>
        <p:spPr>
          <a:xfrm>
            <a:off x="3639312" y="4123944"/>
            <a:ext cx="2286000" cy="832104"/>
          </a:xfrm>
          <a:prstGeom prst="rect">
            <a:avLst/>
          </a:prstGeom>
          <a:noFill/>
          <a:ln/>
        </p:spPr>
        <p:txBody>
          <a:bodyPr wrap="square" lIns="0" tIns="0" rIns="0" bIns="0" rtlCol="0" anchor="ctr"/>
          <a:lstStyle/>
          <a:p>
            <a:pPr algn="l" indent="0" marL="0">
              <a:buNone/>
            </a:pPr>
            <a:r>
              <a:rPr lang="en-US" sz="2000" dirty="0">
                <a:solidFill>
                  <a:srgbClr val="53657A"/>
                </a:solidFill>
                <a:latin typeface="Aptos" pitchFamily="34" charset="0"/>
                <a:ea typeface="Aptos" pitchFamily="34" charset="-122"/>
                <a:cs typeface="Aptos" pitchFamily="34" charset="-120"/>
              </a:rPr>
              <a:t>How do records become features?</a:t>
            </a:r>
            <a:endParaRPr lang="en-US" sz="2000" dirty="0"/>
          </a:p>
        </p:txBody>
      </p:sp>
      <p:sp>
        <p:nvSpPr>
          <p:cNvPr id="28" name="Text 26"/>
          <p:cNvSpPr/>
          <p:nvPr/>
        </p:nvSpPr>
        <p:spPr>
          <a:xfrm>
            <a:off x="6428232" y="1847088"/>
            <a:ext cx="640080" cy="219456"/>
          </a:xfrm>
          <a:prstGeom prst="rect">
            <a:avLst/>
          </a:prstGeom>
          <a:noFill/>
          <a:ln/>
        </p:spPr>
        <p:txBody>
          <a:bodyPr wrap="square" lIns="0" tIns="0" rIns="0" bIns="0" rtlCol="0" anchor="ctr"/>
          <a:lstStyle/>
          <a:p>
            <a:pPr algn="l" indent="0" marL="0">
              <a:buNone/>
            </a:pPr>
            <a:r>
              <a:rPr lang="en-US" sz="1150" b="1" spc="50" kern="0" dirty="0">
                <a:solidFill>
                  <a:srgbClr val="176493"/>
                </a:solidFill>
                <a:latin typeface="Aptos" pitchFamily="34" charset="0"/>
                <a:ea typeface="Aptos" pitchFamily="34" charset="-122"/>
                <a:cs typeface="Aptos" pitchFamily="34" charset="-120"/>
              </a:rPr>
              <a:t>03</a:t>
            </a:r>
            <a:endParaRPr lang="en-US" sz="1150" dirty="0"/>
          </a:p>
        </p:txBody>
      </p:sp>
      <p:sp>
        <p:nvSpPr>
          <p:cNvPr id="29" name="Shape 27"/>
          <p:cNvSpPr/>
          <p:nvPr/>
        </p:nvSpPr>
        <p:spPr>
          <a:xfrm>
            <a:off x="6437376" y="2487168"/>
            <a:ext cx="0" cy="502920"/>
          </a:xfrm>
          <a:prstGeom prst="line">
            <a:avLst/>
          </a:prstGeom>
          <a:noFill/>
          <a:ln w="15240">
            <a:solidFill>
              <a:srgbClr val="176493"/>
            </a:solidFill>
            <a:prstDash val="solid"/>
            <a:headEnd type="none"/>
            <a:tailEnd type="none"/>
          </a:ln>
        </p:spPr>
      </p:sp>
      <p:sp>
        <p:nvSpPr>
          <p:cNvPr id="30" name="Shape 28"/>
          <p:cNvSpPr/>
          <p:nvPr/>
        </p:nvSpPr>
        <p:spPr>
          <a:xfrm>
            <a:off x="6437376" y="2990088"/>
            <a:ext cx="566928" cy="0"/>
          </a:xfrm>
          <a:prstGeom prst="line">
            <a:avLst/>
          </a:prstGeom>
          <a:noFill/>
          <a:ln w="15240">
            <a:solidFill>
              <a:srgbClr val="176493"/>
            </a:solidFill>
            <a:prstDash val="solid"/>
            <a:headEnd type="none"/>
            <a:tailEnd type="none"/>
          </a:ln>
        </p:spPr>
      </p:sp>
      <p:sp>
        <p:nvSpPr>
          <p:cNvPr id="31" name="Shape 29"/>
          <p:cNvSpPr/>
          <p:nvPr/>
        </p:nvSpPr>
        <p:spPr>
          <a:xfrm>
            <a:off x="6515100" y="2820924"/>
            <a:ext cx="64008" cy="64008"/>
          </a:xfrm>
          <a:prstGeom prst="ellipse">
            <a:avLst/>
          </a:prstGeom>
          <a:solidFill>
            <a:srgbClr val="176493"/>
          </a:solidFill>
          <a:ln w="5080">
            <a:solidFill>
              <a:srgbClr val="176493"/>
            </a:solidFill>
            <a:prstDash val="solid"/>
          </a:ln>
        </p:spPr>
      </p:sp>
      <p:sp>
        <p:nvSpPr>
          <p:cNvPr id="32" name="Shape 30"/>
          <p:cNvSpPr/>
          <p:nvPr/>
        </p:nvSpPr>
        <p:spPr>
          <a:xfrm>
            <a:off x="6624828" y="2702052"/>
            <a:ext cx="64008" cy="64008"/>
          </a:xfrm>
          <a:prstGeom prst="ellipse">
            <a:avLst/>
          </a:prstGeom>
          <a:solidFill>
            <a:srgbClr val="176493"/>
          </a:solidFill>
          <a:ln w="5080">
            <a:solidFill>
              <a:srgbClr val="176493"/>
            </a:solidFill>
            <a:prstDash val="solid"/>
          </a:ln>
        </p:spPr>
      </p:sp>
      <p:sp>
        <p:nvSpPr>
          <p:cNvPr id="33" name="Shape 31"/>
          <p:cNvSpPr/>
          <p:nvPr/>
        </p:nvSpPr>
        <p:spPr>
          <a:xfrm>
            <a:off x="6716268" y="2775204"/>
            <a:ext cx="64008" cy="64008"/>
          </a:xfrm>
          <a:prstGeom prst="ellipse">
            <a:avLst/>
          </a:prstGeom>
          <a:solidFill>
            <a:srgbClr val="176493"/>
          </a:solidFill>
          <a:ln w="5080">
            <a:solidFill>
              <a:srgbClr val="176493"/>
            </a:solidFill>
            <a:prstDash val="solid"/>
          </a:ln>
        </p:spPr>
      </p:sp>
      <p:sp>
        <p:nvSpPr>
          <p:cNvPr id="34" name="Shape 32"/>
          <p:cNvSpPr/>
          <p:nvPr/>
        </p:nvSpPr>
        <p:spPr>
          <a:xfrm>
            <a:off x="6844284" y="2555748"/>
            <a:ext cx="64008" cy="64008"/>
          </a:xfrm>
          <a:prstGeom prst="ellipse">
            <a:avLst/>
          </a:prstGeom>
          <a:solidFill>
            <a:srgbClr val="176493"/>
          </a:solidFill>
          <a:ln w="5080">
            <a:solidFill>
              <a:srgbClr val="176493"/>
            </a:solidFill>
            <a:prstDash val="solid"/>
          </a:ln>
        </p:spPr>
      </p:sp>
      <p:sp>
        <p:nvSpPr>
          <p:cNvPr id="35" name="Text 33"/>
          <p:cNvSpPr/>
          <p:nvPr/>
        </p:nvSpPr>
        <p:spPr>
          <a:xfrm>
            <a:off x="6428232" y="3319272"/>
            <a:ext cx="2377440" cy="594360"/>
          </a:xfrm>
          <a:prstGeom prst="rect">
            <a:avLst/>
          </a:prstGeom>
          <a:noFill/>
          <a:ln/>
        </p:spPr>
        <p:txBody>
          <a:bodyPr wrap="square" lIns="0" tIns="0" rIns="0" bIns="0" rtlCol="0" anchor="ctr"/>
          <a:lstStyle/>
          <a:p>
            <a:pPr algn="l" indent="0" marL="0">
              <a:buNone/>
            </a:pPr>
            <a:r>
              <a:rPr lang="en-US" sz="2500" b="1" dirty="0">
                <a:solidFill>
                  <a:srgbClr val="172233"/>
                </a:solidFill>
                <a:latin typeface="Aptos" pitchFamily="34" charset="0"/>
                <a:ea typeface="Aptos" pitchFamily="34" charset="-122"/>
                <a:cs typeface="Aptos" pitchFamily="34" charset="-120"/>
              </a:rPr>
              <a:t>Explore</a:t>
            </a:r>
            <a:endParaRPr lang="en-US" sz="2500" dirty="0"/>
          </a:p>
        </p:txBody>
      </p:sp>
      <p:sp>
        <p:nvSpPr>
          <p:cNvPr id="36" name="Text 34"/>
          <p:cNvSpPr/>
          <p:nvPr/>
        </p:nvSpPr>
        <p:spPr>
          <a:xfrm>
            <a:off x="6428232" y="4123944"/>
            <a:ext cx="2286000" cy="832104"/>
          </a:xfrm>
          <a:prstGeom prst="rect">
            <a:avLst/>
          </a:prstGeom>
          <a:noFill/>
          <a:ln/>
        </p:spPr>
        <p:txBody>
          <a:bodyPr wrap="square" lIns="0" tIns="0" rIns="0" bIns="0" rtlCol="0" anchor="ctr"/>
          <a:lstStyle/>
          <a:p>
            <a:pPr algn="l" indent="0" marL="0">
              <a:buNone/>
            </a:pPr>
            <a:r>
              <a:rPr lang="en-US" sz="2000" dirty="0">
                <a:solidFill>
                  <a:srgbClr val="53657A"/>
                </a:solidFill>
                <a:latin typeface="Aptos" pitchFamily="34" charset="0"/>
                <a:ea typeface="Aptos" pitchFamily="34" charset="-122"/>
                <a:cs typeface="Aptos" pitchFamily="34" charset="-120"/>
              </a:rPr>
              <a:t>What patterns depend on our choices?</a:t>
            </a:r>
            <a:endParaRPr lang="en-US" sz="2000" dirty="0"/>
          </a:p>
        </p:txBody>
      </p:sp>
      <p:sp>
        <p:nvSpPr>
          <p:cNvPr id="37" name="Text 35"/>
          <p:cNvSpPr/>
          <p:nvPr/>
        </p:nvSpPr>
        <p:spPr>
          <a:xfrm>
            <a:off x="9217152" y="1847088"/>
            <a:ext cx="640080" cy="219456"/>
          </a:xfrm>
          <a:prstGeom prst="rect">
            <a:avLst/>
          </a:prstGeom>
          <a:noFill/>
          <a:ln/>
        </p:spPr>
        <p:txBody>
          <a:bodyPr wrap="square" lIns="0" tIns="0" rIns="0" bIns="0" rtlCol="0" anchor="ctr"/>
          <a:lstStyle/>
          <a:p>
            <a:pPr algn="l" indent="0" marL="0">
              <a:buNone/>
            </a:pPr>
            <a:r>
              <a:rPr lang="en-US" sz="1150" b="1" spc="50" kern="0" dirty="0">
                <a:solidFill>
                  <a:srgbClr val="176493"/>
                </a:solidFill>
                <a:latin typeface="Aptos" pitchFamily="34" charset="0"/>
                <a:ea typeface="Aptos" pitchFamily="34" charset="-122"/>
                <a:cs typeface="Aptos" pitchFamily="34" charset="-120"/>
              </a:rPr>
              <a:t>04</a:t>
            </a:r>
            <a:endParaRPr lang="en-US" sz="1150" dirty="0"/>
          </a:p>
        </p:txBody>
      </p:sp>
      <p:sp>
        <p:nvSpPr>
          <p:cNvPr id="38" name="Shape 36"/>
          <p:cNvSpPr/>
          <p:nvPr/>
        </p:nvSpPr>
        <p:spPr>
          <a:xfrm>
            <a:off x="9226296" y="2487168"/>
            <a:ext cx="548640" cy="484632"/>
          </a:xfrm>
          <a:prstGeom prst="rect">
            <a:avLst/>
          </a:prstGeom>
          <a:solidFill>
            <a:srgbClr val="FFFFFF"/>
          </a:solidFill>
          <a:ln w="12700">
            <a:solidFill>
              <a:srgbClr val="176493"/>
            </a:solidFill>
            <a:prstDash val="solid"/>
          </a:ln>
        </p:spPr>
      </p:sp>
      <p:sp>
        <p:nvSpPr>
          <p:cNvPr id="39" name="Shape 37"/>
          <p:cNvSpPr/>
          <p:nvPr/>
        </p:nvSpPr>
        <p:spPr>
          <a:xfrm>
            <a:off x="9317736" y="2734056"/>
            <a:ext cx="128016" cy="118872"/>
          </a:xfrm>
          <a:prstGeom prst="line">
            <a:avLst/>
          </a:prstGeom>
          <a:noFill/>
          <a:ln w="25400">
            <a:solidFill>
              <a:srgbClr val="176493"/>
            </a:solidFill>
            <a:prstDash val="solid"/>
            <a:headEnd type="none"/>
            <a:tailEnd type="none"/>
          </a:ln>
        </p:spPr>
      </p:sp>
      <p:sp>
        <p:nvSpPr>
          <p:cNvPr id="40" name="Shape 38"/>
          <p:cNvSpPr/>
          <p:nvPr/>
        </p:nvSpPr>
        <p:spPr>
          <a:xfrm flipV="1">
            <a:off x="9445752" y="2578608"/>
            <a:ext cx="228600" cy="274320"/>
          </a:xfrm>
          <a:prstGeom prst="line">
            <a:avLst/>
          </a:prstGeom>
          <a:noFill/>
          <a:ln w="25400">
            <a:solidFill>
              <a:srgbClr val="176493"/>
            </a:solidFill>
            <a:prstDash val="solid"/>
            <a:headEnd type="none"/>
            <a:tailEnd type="none"/>
          </a:ln>
        </p:spPr>
      </p:sp>
      <p:sp>
        <p:nvSpPr>
          <p:cNvPr id="41" name="Text 39"/>
          <p:cNvSpPr/>
          <p:nvPr/>
        </p:nvSpPr>
        <p:spPr>
          <a:xfrm>
            <a:off x="9217152" y="3319272"/>
            <a:ext cx="2377440" cy="594360"/>
          </a:xfrm>
          <a:prstGeom prst="rect">
            <a:avLst/>
          </a:prstGeom>
          <a:noFill/>
          <a:ln/>
        </p:spPr>
        <p:txBody>
          <a:bodyPr wrap="square" lIns="0" tIns="0" rIns="0" bIns="0" rtlCol="0" anchor="ctr"/>
          <a:lstStyle/>
          <a:p>
            <a:pPr algn="l" indent="0" marL="0">
              <a:buNone/>
            </a:pPr>
            <a:r>
              <a:rPr lang="en-US" sz="2500" b="1" dirty="0">
                <a:solidFill>
                  <a:srgbClr val="172233"/>
                </a:solidFill>
                <a:latin typeface="Aptos" pitchFamily="34" charset="0"/>
                <a:ea typeface="Aptos" pitchFamily="34" charset="-122"/>
                <a:cs typeface="Aptos" pitchFamily="34" charset="-120"/>
              </a:rPr>
              <a:t>Interpret</a:t>
            </a:r>
            <a:endParaRPr lang="en-US" sz="2500" dirty="0"/>
          </a:p>
        </p:txBody>
      </p:sp>
      <p:sp>
        <p:nvSpPr>
          <p:cNvPr id="42" name="Text 40"/>
          <p:cNvSpPr/>
          <p:nvPr/>
        </p:nvSpPr>
        <p:spPr>
          <a:xfrm>
            <a:off x="9217152" y="4123944"/>
            <a:ext cx="2286000" cy="832104"/>
          </a:xfrm>
          <a:prstGeom prst="rect">
            <a:avLst/>
          </a:prstGeom>
          <a:noFill/>
          <a:ln/>
        </p:spPr>
        <p:txBody>
          <a:bodyPr wrap="square" lIns="0" tIns="0" rIns="0" bIns="0" rtlCol="0" anchor="ctr"/>
          <a:lstStyle/>
          <a:p>
            <a:pPr algn="l" indent="0" marL="0">
              <a:buNone/>
            </a:pPr>
            <a:r>
              <a:rPr lang="en-US" sz="2000" dirty="0">
                <a:solidFill>
                  <a:srgbClr val="53657A"/>
                </a:solidFill>
                <a:latin typeface="Aptos" pitchFamily="34" charset="0"/>
                <a:ea typeface="Aptos" pitchFamily="34" charset="-122"/>
                <a:cs typeface="Aptos" pitchFamily="34" charset="-120"/>
              </a:rPr>
              <a:t>What can the evidence support?</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0" y="0"/>
            <a:ext cx="12192000" cy="402336"/>
          </a:xfrm>
          <a:prstGeom prst="rect">
            <a:avLst/>
          </a:prstGeom>
          <a:solidFill>
            <a:srgbClr val="E7EEF7"/>
          </a:solidFill>
          <a:ln w="12700">
            <a:solidFill>
              <a:srgbClr val="E7EEF7">
                <a:alpha val="0"/>
              </a:srgbClr>
            </a:solidFill>
            <a:prstDash val="solid"/>
          </a:ln>
        </p:spPr>
      </p:sp>
      <p:sp>
        <p:nvSpPr>
          <p:cNvPr id="3" name="Shape 1"/>
          <p:cNvSpPr/>
          <p:nvPr/>
        </p:nvSpPr>
        <p:spPr>
          <a:xfrm>
            <a:off x="466344" y="123444"/>
            <a:ext cx="64008" cy="146304"/>
          </a:xfrm>
          <a:prstGeom prst="rect">
            <a:avLst/>
          </a:prstGeom>
          <a:solidFill>
            <a:srgbClr val="176493"/>
          </a:solidFill>
          <a:ln w="12700">
            <a:solidFill>
              <a:srgbClr val="176493">
                <a:alpha val="0"/>
              </a:srgbClr>
            </a:solidFill>
            <a:prstDash val="solid"/>
          </a:ln>
        </p:spPr>
      </p:sp>
      <p:sp>
        <p:nvSpPr>
          <p:cNvPr id="4" name="Text 2"/>
          <p:cNvSpPr/>
          <p:nvPr/>
        </p:nvSpPr>
        <p:spPr>
          <a:xfrm>
            <a:off x="594360" y="100584"/>
            <a:ext cx="731520" cy="201168"/>
          </a:xfrm>
          <a:prstGeom prst="rect">
            <a:avLst/>
          </a:prstGeom>
          <a:noFill/>
          <a:ln/>
        </p:spPr>
        <p:txBody>
          <a:bodyPr wrap="square" lIns="0" tIns="0" rIns="0" bIns="0" rtlCol="0" anchor="ctr"/>
          <a:lstStyle/>
          <a:p>
            <a:pPr algn="l" indent="0" marL="0">
              <a:buNone/>
            </a:pPr>
            <a:r>
              <a:rPr lang="en-US" sz="1100" b="1" dirty="0">
                <a:solidFill>
                  <a:srgbClr val="176493"/>
                </a:solidFill>
                <a:latin typeface="Aptos" pitchFamily="34" charset="0"/>
                <a:ea typeface="Aptos" pitchFamily="34" charset="-122"/>
                <a:cs typeface="Aptos" pitchFamily="34" charset="-120"/>
              </a:rPr>
              <a:t>DS101</a:t>
            </a:r>
            <a:endParaRPr lang="en-US" sz="1100" dirty="0"/>
          </a:p>
        </p:txBody>
      </p:sp>
      <p:sp>
        <p:nvSpPr>
          <p:cNvPr id="5" name="Text 3"/>
          <p:cNvSpPr/>
          <p:nvPr/>
        </p:nvSpPr>
        <p:spPr>
          <a:xfrm>
            <a:off x="1463040" y="100584"/>
            <a:ext cx="1828800" cy="201168"/>
          </a:xfrm>
          <a:prstGeom prst="rect">
            <a:avLst/>
          </a:prstGeom>
          <a:noFill/>
          <a:ln/>
        </p:spPr>
        <p:txBody>
          <a:bodyPr wrap="square" lIns="0" tIns="0" rIns="0" bIns="0" rtlCol="0" anchor="ctr"/>
          <a:lstStyle/>
          <a:p>
            <a:pPr algn="l" indent="0" marL="0">
              <a:buNone/>
            </a:pPr>
            <a:r>
              <a:rPr lang="en-US" sz="1000" dirty="0">
                <a:solidFill>
                  <a:srgbClr val="53657A"/>
                </a:solidFill>
                <a:latin typeface="Aptos" pitchFamily="34" charset="0"/>
                <a:ea typeface="Aptos" pitchFamily="34" charset="-122"/>
                <a:cs typeface="Aptos" pitchFamily="34" charset="-120"/>
              </a:rPr>
              <a:t>LECTURE 02</a:t>
            </a:r>
            <a:endParaRPr lang="en-US" sz="1000" dirty="0"/>
          </a:p>
        </p:txBody>
      </p:sp>
      <p:sp>
        <p:nvSpPr>
          <p:cNvPr id="6" name="Text 4"/>
          <p:cNvSpPr/>
          <p:nvPr/>
        </p:nvSpPr>
        <p:spPr>
          <a:xfrm>
            <a:off x="8321040" y="100584"/>
            <a:ext cx="3264408" cy="201168"/>
          </a:xfrm>
          <a:prstGeom prst="rect">
            <a:avLst/>
          </a:prstGeom>
          <a:noFill/>
          <a:ln/>
        </p:spPr>
        <p:txBody>
          <a:bodyPr wrap="square" lIns="0" tIns="0" rIns="0" bIns="0" rtlCol="0" anchor="ctr"/>
          <a:lstStyle/>
          <a:p>
            <a:pPr algn="r" indent="0" marL="0">
              <a:buNone/>
            </a:pPr>
            <a:r>
              <a:rPr lang="en-US" sz="1000" dirty="0">
                <a:solidFill>
                  <a:srgbClr val="53657A"/>
                </a:solidFill>
                <a:latin typeface="Aptos" pitchFamily="34" charset="0"/>
                <a:ea typeface="Aptos" pitchFamily="34" charset="-122"/>
                <a:cs typeface="Aptos" pitchFamily="34" charset="-120"/>
              </a:rPr>
              <a:t>DATA INSPECTION</a:t>
            </a:r>
            <a:endParaRPr lang="en-US" sz="1000" dirty="0"/>
          </a:p>
        </p:txBody>
      </p:sp>
      <p:sp>
        <p:nvSpPr>
          <p:cNvPr id="7" name="Text 5"/>
          <p:cNvSpPr/>
          <p:nvPr/>
        </p:nvSpPr>
        <p:spPr>
          <a:xfrm>
            <a:off x="594360" y="758952"/>
            <a:ext cx="11000232" cy="658368"/>
          </a:xfrm>
          <a:prstGeom prst="rect">
            <a:avLst/>
          </a:prstGeom>
          <a:noFill/>
          <a:ln/>
        </p:spPr>
        <p:txBody>
          <a:bodyPr wrap="square" lIns="0" tIns="0" rIns="0" bIns="0" rtlCol="0" anchor="ctr"/>
          <a:lstStyle/>
          <a:p>
            <a:pPr algn="l" indent="0" marL="0">
              <a:buNone/>
            </a:pPr>
            <a:r>
              <a:rPr lang="en-US" sz="3000" b="1" dirty="0">
                <a:solidFill>
                  <a:srgbClr val="172233"/>
                </a:solidFill>
                <a:latin typeface="Aptos" pitchFamily="34" charset="0"/>
                <a:ea typeface="Aptos" pitchFamily="34" charset="-122"/>
                <a:cs typeface="Aptos" pitchFamily="34" charset="-120"/>
              </a:rPr>
              <a:t>What is actually in this dataset?</a:t>
            </a:r>
            <a:endParaRPr lang="en-US" sz="3000" dirty="0"/>
          </a:p>
        </p:txBody>
      </p:sp>
      <p:sp>
        <p:nvSpPr>
          <p:cNvPr id="8" name="Text 6"/>
          <p:cNvSpPr/>
          <p:nvPr/>
        </p:nvSpPr>
        <p:spPr>
          <a:xfrm>
            <a:off x="594360" y="6510528"/>
            <a:ext cx="3657600" cy="164592"/>
          </a:xfrm>
          <a:prstGeom prst="rect">
            <a:avLst/>
          </a:prstGeom>
          <a:noFill/>
          <a:ln/>
        </p:spPr>
        <p:txBody>
          <a:bodyPr wrap="square" lIns="0" tIns="0" rIns="0" bIns="0" rtlCol="0" anchor="ctr"/>
          <a:lstStyle/>
          <a:p>
            <a:pPr algn="l" indent="0" marL="0">
              <a:buNone/>
            </a:pPr>
            <a:r>
              <a:rPr lang="en-US" sz="900" dirty="0">
                <a:solidFill>
                  <a:srgbClr val="53657A"/>
                </a:solidFill>
                <a:latin typeface="Aptos" pitchFamily="34" charset="0"/>
                <a:ea typeface="Aptos" pitchFamily="34" charset="-122"/>
                <a:cs typeface="Aptos" pitchFamily="34" charset="-120"/>
              </a:rPr>
              <a:t>DS101 | 2026-2027</a:t>
            </a:r>
            <a:endParaRPr lang="en-US" sz="900" dirty="0"/>
          </a:p>
        </p:txBody>
      </p:sp>
      <p:sp>
        <p:nvSpPr>
          <p:cNvPr id="9" name="Text 7"/>
          <p:cNvSpPr/>
          <p:nvPr/>
        </p:nvSpPr>
        <p:spPr>
          <a:xfrm>
            <a:off x="10680192" y="6492240"/>
            <a:ext cx="914400" cy="201168"/>
          </a:xfrm>
          <a:prstGeom prst="rect">
            <a:avLst/>
          </a:prstGeom>
          <a:noFill/>
          <a:ln/>
        </p:spPr>
        <p:txBody>
          <a:bodyPr wrap="square" lIns="0" tIns="0" rIns="0" bIns="0" rtlCol="0" anchor="ctr"/>
          <a:lstStyle/>
          <a:p>
            <a:pPr algn="r" indent="0" marL="0">
              <a:buNone/>
            </a:pPr>
            <a:r>
              <a:rPr lang="en-US" sz="1000" dirty="0">
                <a:solidFill>
                  <a:srgbClr val="53657A"/>
                </a:solidFill>
                <a:latin typeface="Aptos" pitchFamily="34" charset="0"/>
                <a:ea typeface="Aptos" pitchFamily="34" charset="-122"/>
                <a:cs typeface="Aptos" pitchFamily="34" charset="-120"/>
              </a:rPr>
              <a:t>03 / 24</a:t>
            </a:r>
            <a:endParaRPr lang="en-US" sz="1000" dirty="0"/>
          </a:p>
        </p:txBody>
      </p:sp>
      <p:sp>
        <p:nvSpPr>
          <p:cNvPr id="10" name="Shape 8"/>
          <p:cNvSpPr/>
          <p:nvPr/>
        </p:nvSpPr>
        <p:spPr>
          <a:xfrm>
            <a:off x="594360" y="5852160"/>
            <a:ext cx="11000232" cy="438912"/>
          </a:xfrm>
          <a:prstGeom prst="rect">
            <a:avLst/>
          </a:prstGeom>
          <a:solidFill>
            <a:srgbClr val="E3EFF7"/>
          </a:solidFill>
          <a:ln w="12700">
            <a:solidFill>
              <a:srgbClr val="E3EFF7">
                <a:alpha val="0"/>
              </a:srgbClr>
            </a:solidFill>
            <a:prstDash val="solid"/>
          </a:ln>
        </p:spPr>
      </p:sp>
      <p:sp>
        <p:nvSpPr>
          <p:cNvPr id="11" name="Text 9"/>
          <p:cNvSpPr/>
          <p:nvPr/>
        </p:nvSpPr>
        <p:spPr>
          <a:xfrm>
            <a:off x="795528" y="5943600"/>
            <a:ext cx="10607040" cy="256032"/>
          </a:xfrm>
          <a:prstGeom prst="rect">
            <a:avLst/>
          </a:prstGeom>
          <a:noFill/>
          <a:ln/>
        </p:spPr>
        <p:txBody>
          <a:bodyPr wrap="square" lIns="0" tIns="0" rIns="0" bIns="0" rtlCol="0" anchor="ctr"/>
          <a:lstStyle/>
          <a:p>
            <a:pPr algn="l" indent="0" marL="0">
              <a:buNone/>
            </a:pPr>
            <a:r>
              <a:rPr lang="en-US" sz="1700" b="1" dirty="0">
                <a:solidFill>
                  <a:srgbClr val="176493"/>
                </a:solidFill>
                <a:latin typeface="Aptos" pitchFamily="34" charset="0"/>
                <a:ea typeface="Aptos" pitchFamily="34" charset="-122"/>
                <a:cs typeface="Aptos" pitchFamily="34" charset="-120"/>
              </a:rPr>
              <a:t>Inspect types, identity, missingness and ranges before transforming.</a:t>
            </a:r>
            <a:endParaRPr lang="en-US" sz="1700" dirty="0"/>
          </a:p>
        </p:txBody>
      </p:sp>
      <p:sp>
        <p:nvSpPr>
          <p:cNvPr id="12" name="Text 10"/>
          <p:cNvSpPr/>
          <p:nvPr/>
        </p:nvSpPr>
        <p:spPr>
          <a:xfrm>
            <a:off x="749808" y="1664208"/>
            <a:ext cx="6492240" cy="219456"/>
          </a:xfrm>
          <a:prstGeom prst="rect">
            <a:avLst/>
          </a:prstGeom>
          <a:noFill/>
          <a:ln/>
        </p:spPr>
        <p:txBody>
          <a:bodyPr wrap="square" lIns="0" tIns="0" rIns="0" bIns="0" rtlCol="0" anchor="ctr"/>
          <a:lstStyle/>
          <a:p>
            <a:pPr algn="l" indent="0" marL="0">
              <a:buNone/>
            </a:pPr>
            <a:r>
              <a:rPr lang="en-US" sz="1150" b="1" spc="50" kern="0" dirty="0">
                <a:solidFill>
                  <a:srgbClr val="176493"/>
                </a:solidFill>
                <a:latin typeface="Aptos" pitchFamily="34" charset="0"/>
                <a:ea typeface="Aptos" pitchFamily="34" charset="-122"/>
                <a:cs typeface="Aptos" pitchFamily="34" charset="-120"/>
              </a:rPr>
              <a:t>SYNTHETIC FIXTURE | CU = CURRENCY UNITS</a:t>
            </a:r>
            <a:endParaRPr lang="en-US" sz="1150" dirty="0"/>
          </a:p>
        </p:txBody>
      </p:sp>
      <p:sp>
        <p:nvSpPr>
          <p:cNvPr id="13" name="Shape 11"/>
          <p:cNvSpPr/>
          <p:nvPr/>
        </p:nvSpPr>
        <p:spPr>
          <a:xfrm>
            <a:off x="731520" y="2084832"/>
            <a:ext cx="6446520" cy="457200"/>
          </a:xfrm>
          <a:prstGeom prst="rect">
            <a:avLst/>
          </a:prstGeom>
          <a:solidFill>
            <a:srgbClr val="263142"/>
          </a:solidFill>
          <a:ln w="12700">
            <a:solidFill>
              <a:srgbClr val="263142">
                <a:alpha val="0"/>
              </a:srgbClr>
            </a:solidFill>
            <a:prstDash val="solid"/>
          </a:ln>
        </p:spPr>
      </p:sp>
      <p:sp>
        <p:nvSpPr>
          <p:cNvPr id="14" name="Text 12"/>
          <p:cNvSpPr/>
          <p:nvPr/>
        </p:nvSpPr>
        <p:spPr>
          <a:xfrm>
            <a:off x="841248" y="2121408"/>
            <a:ext cx="923544" cy="384048"/>
          </a:xfrm>
          <a:prstGeom prst="rect">
            <a:avLst/>
          </a:prstGeom>
          <a:noFill/>
          <a:ln/>
        </p:spPr>
        <p:txBody>
          <a:bodyPr wrap="square" lIns="0" tIns="0" rIns="0" bIns="0" rtlCol="0" anchor="ctr"/>
          <a:lstStyle/>
          <a:p>
            <a:pPr algn="l" indent="0" marL="0">
              <a:buNone/>
            </a:pPr>
            <a:r>
              <a:rPr lang="en-US" sz="1500" b="1" dirty="0">
                <a:solidFill>
                  <a:srgbClr val="FFFFFF"/>
                </a:solidFill>
                <a:latin typeface="Aptos" pitchFamily="34" charset="0"/>
                <a:ea typeface="Aptos" pitchFamily="34" charset="-122"/>
                <a:cs typeface="Aptos" pitchFamily="34" charset="-120"/>
              </a:rPr>
              <a:t>Account</a:t>
            </a:r>
            <a:endParaRPr lang="en-US" sz="1500" dirty="0"/>
          </a:p>
        </p:txBody>
      </p:sp>
      <p:sp>
        <p:nvSpPr>
          <p:cNvPr id="15" name="Text 13"/>
          <p:cNvSpPr/>
          <p:nvPr/>
        </p:nvSpPr>
        <p:spPr>
          <a:xfrm>
            <a:off x="1984248" y="2121408"/>
            <a:ext cx="923544" cy="384048"/>
          </a:xfrm>
          <a:prstGeom prst="rect">
            <a:avLst/>
          </a:prstGeom>
          <a:noFill/>
          <a:ln/>
        </p:spPr>
        <p:txBody>
          <a:bodyPr wrap="square" lIns="0" tIns="0" rIns="0" bIns="0" rtlCol="0" anchor="ctr"/>
          <a:lstStyle/>
          <a:p>
            <a:pPr algn="l" indent="0" marL="0">
              <a:buNone/>
            </a:pPr>
            <a:r>
              <a:rPr lang="en-US" sz="1500" b="1" dirty="0">
                <a:solidFill>
                  <a:srgbClr val="FFFFFF"/>
                </a:solidFill>
                <a:latin typeface="Aptos" pitchFamily="34" charset="0"/>
                <a:ea typeface="Aptos" pitchFamily="34" charset="-122"/>
                <a:cs typeface="Aptos" pitchFamily="34" charset="-120"/>
              </a:rPr>
              <a:t>Order</a:t>
            </a:r>
            <a:endParaRPr lang="en-US" sz="1500" dirty="0"/>
          </a:p>
        </p:txBody>
      </p:sp>
      <p:sp>
        <p:nvSpPr>
          <p:cNvPr id="16" name="Text 14"/>
          <p:cNvSpPr/>
          <p:nvPr/>
        </p:nvSpPr>
        <p:spPr>
          <a:xfrm>
            <a:off x="3127248" y="2121408"/>
            <a:ext cx="1929384" cy="384048"/>
          </a:xfrm>
          <a:prstGeom prst="rect">
            <a:avLst/>
          </a:prstGeom>
          <a:noFill/>
          <a:ln/>
        </p:spPr>
        <p:txBody>
          <a:bodyPr wrap="square" lIns="0" tIns="0" rIns="0" bIns="0" rtlCol="0" anchor="ctr"/>
          <a:lstStyle/>
          <a:p>
            <a:pPr algn="l" indent="0" marL="0">
              <a:buNone/>
            </a:pPr>
            <a:r>
              <a:rPr lang="en-US" sz="1500" b="1" dirty="0">
                <a:solidFill>
                  <a:srgbClr val="FFFFFF"/>
                </a:solidFill>
                <a:latin typeface="Aptos" pitchFamily="34" charset="0"/>
                <a:ea typeface="Aptos" pitchFamily="34" charset="-122"/>
                <a:cs typeface="Aptos" pitchFamily="34" charset="-120"/>
              </a:rPr>
              <a:t>Date</a:t>
            </a:r>
            <a:endParaRPr lang="en-US" sz="1500" dirty="0"/>
          </a:p>
        </p:txBody>
      </p:sp>
      <p:sp>
        <p:nvSpPr>
          <p:cNvPr id="17" name="Text 15"/>
          <p:cNvSpPr/>
          <p:nvPr/>
        </p:nvSpPr>
        <p:spPr>
          <a:xfrm>
            <a:off x="5276088" y="2121408"/>
            <a:ext cx="1792224" cy="384048"/>
          </a:xfrm>
          <a:prstGeom prst="rect">
            <a:avLst/>
          </a:prstGeom>
          <a:noFill/>
          <a:ln/>
        </p:spPr>
        <p:txBody>
          <a:bodyPr wrap="square" lIns="0" tIns="0" rIns="0" bIns="0" rtlCol="0" anchor="ctr"/>
          <a:lstStyle/>
          <a:p>
            <a:pPr algn="l" indent="0" marL="0">
              <a:buNone/>
            </a:pPr>
            <a:r>
              <a:rPr lang="en-US" sz="1500" b="1" dirty="0">
                <a:solidFill>
                  <a:srgbClr val="FFFFFF"/>
                </a:solidFill>
                <a:latin typeface="Aptos" pitchFamily="34" charset="0"/>
                <a:ea typeface="Aptos" pitchFamily="34" charset="-122"/>
                <a:cs typeface="Aptos" pitchFamily="34" charset="-120"/>
              </a:rPr>
              <a:t>Value (CU)</a:t>
            </a:r>
            <a:endParaRPr lang="en-US" sz="1500" dirty="0"/>
          </a:p>
        </p:txBody>
      </p:sp>
      <p:sp>
        <p:nvSpPr>
          <p:cNvPr id="18" name="Shape 16"/>
          <p:cNvSpPr/>
          <p:nvPr/>
        </p:nvSpPr>
        <p:spPr>
          <a:xfrm>
            <a:off x="731520" y="2542032"/>
            <a:ext cx="6446520" cy="475488"/>
          </a:xfrm>
          <a:prstGeom prst="rect">
            <a:avLst/>
          </a:prstGeom>
          <a:solidFill>
            <a:srgbClr val="FFFFFF"/>
          </a:solidFill>
          <a:ln w="12700">
            <a:solidFill>
              <a:srgbClr val="FFFFFF">
                <a:alpha val="0"/>
              </a:srgbClr>
            </a:solidFill>
            <a:prstDash val="solid"/>
          </a:ln>
        </p:spPr>
      </p:sp>
      <p:sp>
        <p:nvSpPr>
          <p:cNvPr id="19" name="Text 17"/>
          <p:cNvSpPr/>
          <p:nvPr/>
        </p:nvSpPr>
        <p:spPr>
          <a:xfrm>
            <a:off x="841248" y="2596896"/>
            <a:ext cx="923544" cy="365760"/>
          </a:xfrm>
          <a:prstGeom prst="rect">
            <a:avLst/>
          </a:prstGeom>
          <a:noFill/>
          <a:ln/>
        </p:spPr>
        <p:txBody>
          <a:bodyPr wrap="square" lIns="0" tIns="0" rIns="0" bIns="0" rtlCol="0" anchor="ctr"/>
          <a:lstStyle/>
          <a:p>
            <a:pPr algn="l" indent="0" marL="0">
              <a:buNone/>
            </a:pPr>
            <a:r>
              <a:rPr lang="en-US" sz="1800" dirty="0">
                <a:solidFill>
                  <a:srgbClr val="172233"/>
                </a:solidFill>
                <a:latin typeface="Aptos" pitchFamily="34" charset="0"/>
                <a:ea typeface="Aptos" pitchFamily="34" charset="-122"/>
                <a:cs typeface="Aptos" pitchFamily="34" charset="-120"/>
              </a:rPr>
              <a:t>A001</a:t>
            </a:r>
            <a:endParaRPr lang="en-US" sz="1800" dirty="0"/>
          </a:p>
        </p:txBody>
      </p:sp>
      <p:sp>
        <p:nvSpPr>
          <p:cNvPr id="20" name="Text 18"/>
          <p:cNvSpPr/>
          <p:nvPr/>
        </p:nvSpPr>
        <p:spPr>
          <a:xfrm>
            <a:off x="1984248" y="2596896"/>
            <a:ext cx="923544" cy="365760"/>
          </a:xfrm>
          <a:prstGeom prst="rect">
            <a:avLst/>
          </a:prstGeom>
          <a:noFill/>
          <a:ln/>
        </p:spPr>
        <p:txBody>
          <a:bodyPr wrap="square" lIns="0" tIns="0" rIns="0" bIns="0" rtlCol="0" anchor="ctr"/>
          <a:lstStyle/>
          <a:p>
            <a:pPr algn="l" indent="0" marL="0">
              <a:buNone/>
            </a:pPr>
            <a:r>
              <a:rPr lang="en-US" sz="1800" dirty="0">
                <a:solidFill>
                  <a:srgbClr val="172233"/>
                </a:solidFill>
                <a:latin typeface="Aptos" pitchFamily="34" charset="0"/>
                <a:ea typeface="Aptos" pitchFamily="34" charset="-122"/>
                <a:cs typeface="Aptos" pitchFamily="34" charset="-120"/>
              </a:rPr>
              <a:t>O001</a:t>
            </a:r>
            <a:endParaRPr lang="en-US" sz="1800" dirty="0"/>
          </a:p>
        </p:txBody>
      </p:sp>
      <p:sp>
        <p:nvSpPr>
          <p:cNvPr id="21" name="Text 19"/>
          <p:cNvSpPr/>
          <p:nvPr/>
        </p:nvSpPr>
        <p:spPr>
          <a:xfrm>
            <a:off x="3127248" y="2596896"/>
            <a:ext cx="1929384" cy="365760"/>
          </a:xfrm>
          <a:prstGeom prst="rect">
            <a:avLst/>
          </a:prstGeom>
          <a:noFill/>
          <a:ln/>
        </p:spPr>
        <p:txBody>
          <a:bodyPr wrap="square" lIns="0" tIns="0" rIns="0" bIns="0" rtlCol="0" anchor="ctr"/>
          <a:lstStyle/>
          <a:p>
            <a:pPr algn="l" indent="0" marL="0">
              <a:buNone/>
            </a:pPr>
            <a:r>
              <a:rPr lang="en-US" sz="1800" dirty="0">
                <a:solidFill>
                  <a:srgbClr val="172233"/>
                </a:solidFill>
                <a:latin typeface="Aptos" pitchFamily="34" charset="0"/>
                <a:ea typeface="Aptos" pitchFamily="34" charset="-122"/>
                <a:cs typeface="Aptos" pitchFamily="34" charset="-120"/>
              </a:rPr>
              <a:t>2026-01-10</a:t>
            </a:r>
            <a:endParaRPr lang="en-US" sz="1800" dirty="0"/>
          </a:p>
        </p:txBody>
      </p:sp>
      <p:sp>
        <p:nvSpPr>
          <p:cNvPr id="22" name="Text 20"/>
          <p:cNvSpPr/>
          <p:nvPr/>
        </p:nvSpPr>
        <p:spPr>
          <a:xfrm>
            <a:off x="5276088" y="2596896"/>
            <a:ext cx="1792224" cy="365760"/>
          </a:xfrm>
          <a:prstGeom prst="rect">
            <a:avLst/>
          </a:prstGeom>
          <a:noFill/>
          <a:ln/>
        </p:spPr>
        <p:txBody>
          <a:bodyPr wrap="square" lIns="0" tIns="0" rIns="0" bIns="0" rtlCol="0" anchor="ctr"/>
          <a:lstStyle/>
          <a:p>
            <a:pPr algn="l" indent="0" marL="0">
              <a:buNone/>
            </a:pPr>
            <a:r>
              <a:rPr lang="en-US" sz="1800" dirty="0">
                <a:solidFill>
                  <a:srgbClr val="172233"/>
                </a:solidFill>
                <a:latin typeface="Aptos" pitchFamily="34" charset="0"/>
                <a:ea typeface="Aptos" pitchFamily="34" charset="-122"/>
                <a:cs typeface="Aptos" pitchFamily="34" charset="-120"/>
              </a:rPr>
              <a:t>100</a:t>
            </a:r>
            <a:endParaRPr lang="en-US" sz="1800" dirty="0"/>
          </a:p>
        </p:txBody>
      </p:sp>
      <p:sp>
        <p:nvSpPr>
          <p:cNvPr id="23" name="Shape 21"/>
          <p:cNvSpPr/>
          <p:nvPr/>
        </p:nvSpPr>
        <p:spPr>
          <a:xfrm>
            <a:off x="731520" y="3017520"/>
            <a:ext cx="6446520" cy="475488"/>
          </a:xfrm>
          <a:prstGeom prst="rect">
            <a:avLst/>
          </a:prstGeom>
          <a:solidFill>
            <a:srgbClr val="E3EFF7"/>
          </a:solidFill>
          <a:ln w="12700">
            <a:solidFill>
              <a:srgbClr val="E3EFF7">
                <a:alpha val="0"/>
              </a:srgbClr>
            </a:solidFill>
            <a:prstDash val="solid"/>
          </a:ln>
        </p:spPr>
      </p:sp>
      <p:sp>
        <p:nvSpPr>
          <p:cNvPr id="24" name="Text 22"/>
          <p:cNvSpPr/>
          <p:nvPr/>
        </p:nvSpPr>
        <p:spPr>
          <a:xfrm>
            <a:off x="841248" y="3072384"/>
            <a:ext cx="923544" cy="365760"/>
          </a:xfrm>
          <a:prstGeom prst="rect">
            <a:avLst/>
          </a:prstGeom>
          <a:noFill/>
          <a:ln/>
        </p:spPr>
        <p:txBody>
          <a:bodyPr wrap="square" lIns="0" tIns="0" rIns="0" bIns="0" rtlCol="0" anchor="ctr"/>
          <a:lstStyle/>
          <a:p>
            <a:pPr algn="l" indent="0" marL="0">
              <a:buNone/>
            </a:pPr>
            <a:r>
              <a:rPr lang="en-US" sz="1800" dirty="0">
                <a:solidFill>
                  <a:srgbClr val="172233"/>
                </a:solidFill>
                <a:latin typeface="Aptos" pitchFamily="34" charset="0"/>
                <a:ea typeface="Aptos" pitchFamily="34" charset="-122"/>
                <a:cs typeface="Aptos" pitchFamily="34" charset="-120"/>
              </a:rPr>
              <a:t>A001</a:t>
            </a:r>
            <a:endParaRPr lang="en-US" sz="1800" dirty="0"/>
          </a:p>
        </p:txBody>
      </p:sp>
      <p:sp>
        <p:nvSpPr>
          <p:cNvPr id="25" name="Text 23"/>
          <p:cNvSpPr/>
          <p:nvPr/>
        </p:nvSpPr>
        <p:spPr>
          <a:xfrm>
            <a:off x="1984248" y="3072384"/>
            <a:ext cx="923544" cy="365760"/>
          </a:xfrm>
          <a:prstGeom prst="rect">
            <a:avLst/>
          </a:prstGeom>
          <a:noFill/>
          <a:ln/>
        </p:spPr>
        <p:txBody>
          <a:bodyPr wrap="square" lIns="0" tIns="0" rIns="0" bIns="0" rtlCol="0" anchor="ctr"/>
          <a:lstStyle/>
          <a:p>
            <a:pPr algn="l" indent="0" marL="0">
              <a:buNone/>
            </a:pPr>
            <a:r>
              <a:rPr lang="en-US" sz="1800" dirty="0">
                <a:solidFill>
                  <a:srgbClr val="172233"/>
                </a:solidFill>
                <a:latin typeface="Aptos" pitchFamily="34" charset="0"/>
                <a:ea typeface="Aptos" pitchFamily="34" charset="-122"/>
                <a:cs typeface="Aptos" pitchFamily="34" charset="-120"/>
              </a:rPr>
              <a:t>O002</a:t>
            </a:r>
            <a:endParaRPr lang="en-US" sz="1800" dirty="0"/>
          </a:p>
        </p:txBody>
      </p:sp>
      <p:sp>
        <p:nvSpPr>
          <p:cNvPr id="26" name="Text 24"/>
          <p:cNvSpPr/>
          <p:nvPr/>
        </p:nvSpPr>
        <p:spPr>
          <a:xfrm>
            <a:off x="3127248" y="3072384"/>
            <a:ext cx="1929384" cy="365760"/>
          </a:xfrm>
          <a:prstGeom prst="rect">
            <a:avLst/>
          </a:prstGeom>
          <a:noFill/>
          <a:ln/>
        </p:spPr>
        <p:txBody>
          <a:bodyPr wrap="square" lIns="0" tIns="0" rIns="0" bIns="0" rtlCol="0" anchor="ctr"/>
          <a:lstStyle/>
          <a:p>
            <a:pPr algn="l" indent="0" marL="0">
              <a:buNone/>
            </a:pPr>
            <a:r>
              <a:rPr lang="en-US" sz="1800" dirty="0">
                <a:solidFill>
                  <a:srgbClr val="172233"/>
                </a:solidFill>
                <a:latin typeface="Aptos" pitchFamily="34" charset="0"/>
                <a:ea typeface="Aptos" pitchFamily="34" charset="-122"/>
                <a:cs typeface="Aptos" pitchFamily="34" charset="-120"/>
              </a:rPr>
              <a:t>2026-02-20</a:t>
            </a:r>
            <a:endParaRPr lang="en-US" sz="1800" dirty="0"/>
          </a:p>
        </p:txBody>
      </p:sp>
      <p:sp>
        <p:nvSpPr>
          <p:cNvPr id="27" name="Text 25"/>
          <p:cNvSpPr/>
          <p:nvPr/>
        </p:nvSpPr>
        <p:spPr>
          <a:xfrm>
            <a:off x="5276088" y="3072384"/>
            <a:ext cx="1792224" cy="365760"/>
          </a:xfrm>
          <a:prstGeom prst="rect">
            <a:avLst/>
          </a:prstGeom>
          <a:noFill/>
          <a:ln/>
        </p:spPr>
        <p:txBody>
          <a:bodyPr wrap="square" lIns="0" tIns="0" rIns="0" bIns="0" rtlCol="0" anchor="ctr"/>
          <a:lstStyle/>
          <a:p>
            <a:pPr algn="l" indent="0" marL="0">
              <a:buNone/>
            </a:pPr>
            <a:r>
              <a:rPr lang="en-US" sz="1800" dirty="0">
                <a:solidFill>
                  <a:srgbClr val="172233"/>
                </a:solidFill>
                <a:latin typeface="Aptos" pitchFamily="34" charset="0"/>
                <a:ea typeface="Aptos" pitchFamily="34" charset="-122"/>
                <a:cs typeface="Aptos" pitchFamily="34" charset="-120"/>
              </a:rPr>
              <a:t>150</a:t>
            </a:r>
            <a:endParaRPr lang="en-US" sz="1800" dirty="0"/>
          </a:p>
        </p:txBody>
      </p:sp>
      <p:sp>
        <p:nvSpPr>
          <p:cNvPr id="28" name="Shape 26"/>
          <p:cNvSpPr/>
          <p:nvPr/>
        </p:nvSpPr>
        <p:spPr>
          <a:xfrm>
            <a:off x="731520" y="3493008"/>
            <a:ext cx="6446520" cy="475488"/>
          </a:xfrm>
          <a:prstGeom prst="rect">
            <a:avLst/>
          </a:prstGeom>
          <a:solidFill>
            <a:srgbClr val="FFFFFF"/>
          </a:solidFill>
          <a:ln w="12700">
            <a:solidFill>
              <a:srgbClr val="FFFFFF">
                <a:alpha val="0"/>
              </a:srgbClr>
            </a:solidFill>
            <a:prstDash val="solid"/>
          </a:ln>
        </p:spPr>
      </p:sp>
      <p:sp>
        <p:nvSpPr>
          <p:cNvPr id="29" name="Text 27"/>
          <p:cNvSpPr/>
          <p:nvPr/>
        </p:nvSpPr>
        <p:spPr>
          <a:xfrm>
            <a:off x="841248" y="3547872"/>
            <a:ext cx="923544" cy="365760"/>
          </a:xfrm>
          <a:prstGeom prst="rect">
            <a:avLst/>
          </a:prstGeom>
          <a:noFill/>
          <a:ln/>
        </p:spPr>
        <p:txBody>
          <a:bodyPr wrap="square" lIns="0" tIns="0" rIns="0" bIns="0" rtlCol="0" anchor="ctr"/>
          <a:lstStyle/>
          <a:p>
            <a:pPr algn="l" indent="0" marL="0">
              <a:buNone/>
            </a:pPr>
            <a:r>
              <a:rPr lang="en-US" sz="1800" dirty="0">
                <a:solidFill>
                  <a:srgbClr val="172233"/>
                </a:solidFill>
                <a:latin typeface="Aptos" pitchFamily="34" charset="0"/>
                <a:ea typeface="Aptos" pitchFamily="34" charset="-122"/>
                <a:cs typeface="Aptos" pitchFamily="34" charset="-120"/>
              </a:rPr>
              <a:t>A001</a:t>
            </a:r>
            <a:endParaRPr lang="en-US" sz="1800" dirty="0"/>
          </a:p>
        </p:txBody>
      </p:sp>
      <p:sp>
        <p:nvSpPr>
          <p:cNvPr id="30" name="Text 28"/>
          <p:cNvSpPr/>
          <p:nvPr/>
        </p:nvSpPr>
        <p:spPr>
          <a:xfrm>
            <a:off x="1984248" y="3547872"/>
            <a:ext cx="923544" cy="365760"/>
          </a:xfrm>
          <a:prstGeom prst="rect">
            <a:avLst/>
          </a:prstGeom>
          <a:noFill/>
          <a:ln/>
        </p:spPr>
        <p:txBody>
          <a:bodyPr wrap="square" lIns="0" tIns="0" rIns="0" bIns="0" rtlCol="0" anchor="ctr"/>
          <a:lstStyle/>
          <a:p>
            <a:pPr algn="l" indent="0" marL="0">
              <a:buNone/>
            </a:pPr>
            <a:r>
              <a:rPr lang="en-US" sz="1800" dirty="0">
                <a:solidFill>
                  <a:srgbClr val="172233"/>
                </a:solidFill>
                <a:latin typeface="Aptos" pitchFamily="34" charset="0"/>
                <a:ea typeface="Aptos" pitchFamily="34" charset="-122"/>
                <a:cs typeface="Aptos" pitchFamily="34" charset="-120"/>
              </a:rPr>
              <a:t>O002</a:t>
            </a:r>
            <a:endParaRPr lang="en-US" sz="1800" dirty="0"/>
          </a:p>
        </p:txBody>
      </p:sp>
      <p:sp>
        <p:nvSpPr>
          <p:cNvPr id="31" name="Text 29"/>
          <p:cNvSpPr/>
          <p:nvPr/>
        </p:nvSpPr>
        <p:spPr>
          <a:xfrm>
            <a:off x="3127248" y="3547872"/>
            <a:ext cx="1929384" cy="365760"/>
          </a:xfrm>
          <a:prstGeom prst="rect">
            <a:avLst/>
          </a:prstGeom>
          <a:noFill/>
          <a:ln/>
        </p:spPr>
        <p:txBody>
          <a:bodyPr wrap="square" lIns="0" tIns="0" rIns="0" bIns="0" rtlCol="0" anchor="ctr"/>
          <a:lstStyle/>
          <a:p>
            <a:pPr algn="l" indent="0" marL="0">
              <a:buNone/>
            </a:pPr>
            <a:r>
              <a:rPr lang="en-US" sz="1800" dirty="0">
                <a:solidFill>
                  <a:srgbClr val="172233"/>
                </a:solidFill>
                <a:latin typeface="Aptos" pitchFamily="34" charset="0"/>
                <a:ea typeface="Aptos" pitchFamily="34" charset="-122"/>
                <a:cs typeface="Aptos" pitchFamily="34" charset="-120"/>
              </a:rPr>
              <a:t>2026-02-20</a:t>
            </a:r>
            <a:endParaRPr lang="en-US" sz="1800" dirty="0"/>
          </a:p>
        </p:txBody>
      </p:sp>
      <p:sp>
        <p:nvSpPr>
          <p:cNvPr id="32" name="Text 30"/>
          <p:cNvSpPr/>
          <p:nvPr/>
        </p:nvSpPr>
        <p:spPr>
          <a:xfrm>
            <a:off x="5276088" y="3547872"/>
            <a:ext cx="1792224" cy="365760"/>
          </a:xfrm>
          <a:prstGeom prst="rect">
            <a:avLst/>
          </a:prstGeom>
          <a:noFill/>
          <a:ln/>
        </p:spPr>
        <p:txBody>
          <a:bodyPr wrap="square" lIns="0" tIns="0" rIns="0" bIns="0" rtlCol="0" anchor="ctr"/>
          <a:lstStyle/>
          <a:p>
            <a:pPr algn="l" indent="0" marL="0">
              <a:buNone/>
            </a:pPr>
            <a:r>
              <a:rPr lang="en-US" sz="1800" dirty="0">
                <a:solidFill>
                  <a:srgbClr val="172233"/>
                </a:solidFill>
                <a:latin typeface="Aptos" pitchFamily="34" charset="0"/>
                <a:ea typeface="Aptos" pitchFamily="34" charset="-122"/>
                <a:cs typeface="Aptos" pitchFamily="34" charset="-120"/>
              </a:rPr>
              <a:t>50</a:t>
            </a:r>
            <a:endParaRPr lang="en-US" sz="1800" dirty="0"/>
          </a:p>
        </p:txBody>
      </p:sp>
      <p:sp>
        <p:nvSpPr>
          <p:cNvPr id="33" name="Shape 31"/>
          <p:cNvSpPr/>
          <p:nvPr/>
        </p:nvSpPr>
        <p:spPr>
          <a:xfrm>
            <a:off x="731520" y="3968496"/>
            <a:ext cx="6446520" cy="475488"/>
          </a:xfrm>
          <a:prstGeom prst="rect">
            <a:avLst/>
          </a:prstGeom>
          <a:solidFill>
            <a:srgbClr val="E3EFF7"/>
          </a:solidFill>
          <a:ln w="12700">
            <a:solidFill>
              <a:srgbClr val="E3EFF7">
                <a:alpha val="0"/>
              </a:srgbClr>
            </a:solidFill>
            <a:prstDash val="solid"/>
          </a:ln>
        </p:spPr>
      </p:sp>
      <p:sp>
        <p:nvSpPr>
          <p:cNvPr id="34" name="Text 32"/>
          <p:cNvSpPr/>
          <p:nvPr/>
        </p:nvSpPr>
        <p:spPr>
          <a:xfrm>
            <a:off x="841248" y="4023360"/>
            <a:ext cx="923544" cy="365760"/>
          </a:xfrm>
          <a:prstGeom prst="rect">
            <a:avLst/>
          </a:prstGeom>
          <a:noFill/>
          <a:ln/>
        </p:spPr>
        <p:txBody>
          <a:bodyPr wrap="square" lIns="0" tIns="0" rIns="0" bIns="0" rtlCol="0" anchor="ctr"/>
          <a:lstStyle/>
          <a:p>
            <a:pPr algn="l" indent="0" marL="0">
              <a:buNone/>
            </a:pPr>
            <a:r>
              <a:rPr lang="en-US" sz="1800" dirty="0">
                <a:solidFill>
                  <a:srgbClr val="172233"/>
                </a:solidFill>
                <a:latin typeface="Aptos" pitchFamily="34" charset="0"/>
                <a:ea typeface="Aptos" pitchFamily="34" charset="-122"/>
                <a:cs typeface="Aptos" pitchFamily="34" charset="-120"/>
              </a:rPr>
              <a:t>A001</a:t>
            </a:r>
            <a:endParaRPr lang="en-US" sz="1800" dirty="0"/>
          </a:p>
        </p:txBody>
      </p:sp>
      <p:sp>
        <p:nvSpPr>
          <p:cNvPr id="35" name="Text 33"/>
          <p:cNvSpPr/>
          <p:nvPr/>
        </p:nvSpPr>
        <p:spPr>
          <a:xfrm>
            <a:off x="1984248" y="4023360"/>
            <a:ext cx="923544" cy="365760"/>
          </a:xfrm>
          <a:prstGeom prst="rect">
            <a:avLst/>
          </a:prstGeom>
          <a:noFill/>
          <a:ln/>
        </p:spPr>
        <p:txBody>
          <a:bodyPr wrap="square" lIns="0" tIns="0" rIns="0" bIns="0" rtlCol="0" anchor="ctr"/>
          <a:lstStyle/>
          <a:p>
            <a:pPr algn="l" indent="0" marL="0">
              <a:buNone/>
            </a:pPr>
            <a:r>
              <a:rPr lang="en-US" sz="1800" dirty="0">
                <a:solidFill>
                  <a:srgbClr val="172233"/>
                </a:solidFill>
                <a:latin typeface="Aptos" pitchFamily="34" charset="0"/>
                <a:ea typeface="Aptos" pitchFamily="34" charset="-122"/>
                <a:cs typeface="Aptos" pitchFamily="34" charset="-120"/>
              </a:rPr>
              <a:t>O003</a:t>
            </a:r>
            <a:endParaRPr lang="en-US" sz="1800" dirty="0"/>
          </a:p>
        </p:txBody>
      </p:sp>
      <p:sp>
        <p:nvSpPr>
          <p:cNvPr id="36" name="Text 34"/>
          <p:cNvSpPr/>
          <p:nvPr/>
        </p:nvSpPr>
        <p:spPr>
          <a:xfrm>
            <a:off x="3127248" y="4023360"/>
            <a:ext cx="1929384" cy="365760"/>
          </a:xfrm>
          <a:prstGeom prst="rect">
            <a:avLst/>
          </a:prstGeom>
          <a:noFill/>
          <a:ln/>
        </p:spPr>
        <p:txBody>
          <a:bodyPr wrap="square" lIns="0" tIns="0" rIns="0" bIns="0" rtlCol="0" anchor="ctr"/>
          <a:lstStyle/>
          <a:p>
            <a:pPr algn="l" indent="0" marL="0">
              <a:buNone/>
            </a:pPr>
            <a:r>
              <a:rPr lang="en-US" sz="1800" dirty="0">
                <a:solidFill>
                  <a:srgbClr val="172233"/>
                </a:solidFill>
                <a:latin typeface="Aptos" pitchFamily="34" charset="0"/>
                <a:ea typeface="Aptos" pitchFamily="34" charset="-122"/>
                <a:cs typeface="Aptos" pitchFamily="34" charset="-120"/>
              </a:rPr>
              <a:t>2026-03-22</a:t>
            </a:r>
            <a:endParaRPr lang="en-US" sz="1800" dirty="0"/>
          </a:p>
        </p:txBody>
      </p:sp>
      <p:sp>
        <p:nvSpPr>
          <p:cNvPr id="37" name="Text 35"/>
          <p:cNvSpPr/>
          <p:nvPr/>
        </p:nvSpPr>
        <p:spPr>
          <a:xfrm>
            <a:off x="5276088" y="4023360"/>
            <a:ext cx="1792224" cy="365760"/>
          </a:xfrm>
          <a:prstGeom prst="rect">
            <a:avLst/>
          </a:prstGeom>
          <a:noFill/>
          <a:ln/>
        </p:spPr>
        <p:txBody>
          <a:bodyPr wrap="square" lIns="0" tIns="0" rIns="0" bIns="0" rtlCol="0" anchor="ctr"/>
          <a:lstStyle/>
          <a:p>
            <a:pPr algn="l" indent="0" marL="0">
              <a:buNone/>
            </a:pPr>
            <a:r>
              <a:rPr lang="en-US" sz="1800" dirty="0">
                <a:solidFill>
                  <a:srgbClr val="172233"/>
                </a:solidFill>
                <a:latin typeface="Aptos" pitchFamily="34" charset="0"/>
                <a:ea typeface="Aptos" pitchFamily="34" charset="-122"/>
                <a:cs typeface="Aptos" pitchFamily="34" charset="-120"/>
              </a:rPr>
              <a:t>200</a:t>
            </a:r>
            <a:endParaRPr lang="en-US" sz="1800" dirty="0"/>
          </a:p>
        </p:txBody>
      </p:sp>
      <p:sp>
        <p:nvSpPr>
          <p:cNvPr id="38" name="Shape 36"/>
          <p:cNvSpPr/>
          <p:nvPr/>
        </p:nvSpPr>
        <p:spPr>
          <a:xfrm>
            <a:off x="731520" y="4443984"/>
            <a:ext cx="6446520" cy="475488"/>
          </a:xfrm>
          <a:prstGeom prst="rect">
            <a:avLst/>
          </a:prstGeom>
          <a:solidFill>
            <a:srgbClr val="FFFFFF"/>
          </a:solidFill>
          <a:ln w="12700">
            <a:solidFill>
              <a:srgbClr val="FFFFFF">
                <a:alpha val="0"/>
              </a:srgbClr>
            </a:solidFill>
            <a:prstDash val="solid"/>
          </a:ln>
        </p:spPr>
      </p:sp>
      <p:sp>
        <p:nvSpPr>
          <p:cNvPr id="39" name="Text 37"/>
          <p:cNvSpPr/>
          <p:nvPr/>
        </p:nvSpPr>
        <p:spPr>
          <a:xfrm>
            <a:off x="841248" y="4498848"/>
            <a:ext cx="923544" cy="365760"/>
          </a:xfrm>
          <a:prstGeom prst="rect">
            <a:avLst/>
          </a:prstGeom>
          <a:noFill/>
          <a:ln/>
        </p:spPr>
        <p:txBody>
          <a:bodyPr wrap="square" lIns="0" tIns="0" rIns="0" bIns="0" rtlCol="0" anchor="ctr"/>
          <a:lstStyle/>
          <a:p>
            <a:pPr algn="l" indent="0" marL="0">
              <a:buNone/>
            </a:pPr>
            <a:r>
              <a:rPr lang="en-US" sz="1800" dirty="0">
                <a:solidFill>
                  <a:srgbClr val="172233"/>
                </a:solidFill>
                <a:latin typeface="Aptos" pitchFamily="34" charset="0"/>
                <a:ea typeface="Aptos" pitchFamily="34" charset="-122"/>
                <a:cs typeface="Aptos" pitchFamily="34" charset="-120"/>
              </a:rPr>
              <a:t>A001</a:t>
            </a:r>
            <a:endParaRPr lang="en-US" sz="1800" dirty="0"/>
          </a:p>
        </p:txBody>
      </p:sp>
      <p:sp>
        <p:nvSpPr>
          <p:cNvPr id="40" name="Text 38"/>
          <p:cNvSpPr/>
          <p:nvPr/>
        </p:nvSpPr>
        <p:spPr>
          <a:xfrm>
            <a:off x="1984248" y="4498848"/>
            <a:ext cx="923544" cy="365760"/>
          </a:xfrm>
          <a:prstGeom prst="rect">
            <a:avLst/>
          </a:prstGeom>
          <a:noFill/>
          <a:ln/>
        </p:spPr>
        <p:txBody>
          <a:bodyPr wrap="square" lIns="0" tIns="0" rIns="0" bIns="0" rtlCol="0" anchor="ctr"/>
          <a:lstStyle/>
          <a:p>
            <a:pPr algn="l" indent="0" marL="0">
              <a:buNone/>
            </a:pPr>
            <a:r>
              <a:rPr lang="en-US" sz="1800" dirty="0">
                <a:solidFill>
                  <a:srgbClr val="172233"/>
                </a:solidFill>
                <a:latin typeface="Aptos" pitchFamily="34" charset="0"/>
                <a:ea typeface="Aptos" pitchFamily="34" charset="-122"/>
                <a:cs typeface="Aptos" pitchFamily="34" charset="-120"/>
              </a:rPr>
              <a:t>C001</a:t>
            </a:r>
            <a:endParaRPr lang="en-US" sz="1800" dirty="0"/>
          </a:p>
        </p:txBody>
      </p:sp>
      <p:sp>
        <p:nvSpPr>
          <p:cNvPr id="41" name="Text 39"/>
          <p:cNvSpPr/>
          <p:nvPr/>
        </p:nvSpPr>
        <p:spPr>
          <a:xfrm>
            <a:off x="3127248" y="4498848"/>
            <a:ext cx="1929384" cy="365760"/>
          </a:xfrm>
          <a:prstGeom prst="rect">
            <a:avLst/>
          </a:prstGeom>
          <a:noFill/>
          <a:ln/>
        </p:spPr>
        <p:txBody>
          <a:bodyPr wrap="square" lIns="0" tIns="0" rIns="0" bIns="0" rtlCol="0" anchor="ctr"/>
          <a:lstStyle/>
          <a:p>
            <a:pPr algn="l" indent="0" marL="0">
              <a:buNone/>
            </a:pPr>
            <a:r>
              <a:rPr lang="en-US" sz="1800" dirty="0">
                <a:solidFill>
                  <a:srgbClr val="172233"/>
                </a:solidFill>
                <a:latin typeface="Aptos" pitchFamily="34" charset="0"/>
                <a:ea typeface="Aptos" pitchFamily="34" charset="-122"/>
                <a:cs typeface="Aptos" pitchFamily="34" charset="-120"/>
              </a:rPr>
              <a:t>2026-03-25</a:t>
            </a:r>
            <a:endParaRPr lang="en-US" sz="1800" dirty="0"/>
          </a:p>
        </p:txBody>
      </p:sp>
      <p:sp>
        <p:nvSpPr>
          <p:cNvPr id="42" name="Text 40"/>
          <p:cNvSpPr/>
          <p:nvPr/>
        </p:nvSpPr>
        <p:spPr>
          <a:xfrm>
            <a:off x="5276088" y="4498848"/>
            <a:ext cx="1792224" cy="365760"/>
          </a:xfrm>
          <a:prstGeom prst="rect">
            <a:avLst/>
          </a:prstGeom>
          <a:noFill/>
          <a:ln/>
        </p:spPr>
        <p:txBody>
          <a:bodyPr wrap="square" lIns="0" tIns="0" rIns="0" bIns="0" rtlCol="0" anchor="ctr"/>
          <a:lstStyle/>
          <a:p>
            <a:pPr algn="l" indent="0" marL="0">
              <a:buNone/>
            </a:pPr>
            <a:r>
              <a:rPr lang="en-US" sz="1800" dirty="0">
                <a:solidFill>
                  <a:srgbClr val="172233"/>
                </a:solidFill>
                <a:latin typeface="Aptos" pitchFamily="34" charset="0"/>
                <a:ea typeface="Aptos" pitchFamily="34" charset="-122"/>
                <a:cs typeface="Aptos" pitchFamily="34" charset="-120"/>
              </a:rPr>
              <a:t>-40</a:t>
            </a:r>
            <a:endParaRPr lang="en-US" sz="1800" dirty="0"/>
          </a:p>
        </p:txBody>
      </p:sp>
      <p:sp>
        <p:nvSpPr>
          <p:cNvPr id="43" name="Shape 41"/>
          <p:cNvSpPr/>
          <p:nvPr/>
        </p:nvSpPr>
        <p:spPr>
          <a:xfrm>
            <a:off x="7516368" y="2084832"/>
            <a:ext cx="3931920" cy="2468880"/>
          </a:xfrm>
          <a:prstGeom prst="rect">
            <a:avLst/>
          </a:prstGeom>
          <a:solidFill>
            <a:srgbClr val="263142"/>
          </a:solidFill>
          <a:ln w="12700">
            <a:solidFill>
              <a:srgbClr val="263142">
                <a:alpha val="0"/>
              </a:srgbClr>
            </a:solidFill>
            <a:prstDash val="solid"/>
          </a:ln>
        </p:spPr>
      </p:sp>
      <p:sp>
        <p:nvSpPr>
          <p:cNvPr id="44" name="Text 42"/>
          <p:cNvSpPr/>
          <p:nvPr/>
        </p:nvSpPr>
        <p:spPr>
          <a:xfrm>
            <a:off x="7717536" y="2240280"/>
            <a:ext cx="3529584" cy="2157984"/>
          </a:xfrm>
          <a:prstGeom prst="rect">
            <a:avLst/>
          </a:prstGeom>
          <a:noFill/>
          <a:ln/>
        </p:spPr>
        <p:txBody>
          <a:bodyPr wrap="square" lIns="0" tIns="0" rIns="0" bIns="0" rtlCol="0" anchor="t"/>
          <a:lstStyle/>
          <a:p>
            <a:pPr algn="l" indent="0" marL="0">
              <a:buNone/>
            </a:pPr>
            <a:r>
              <a:rPr lang="en-US" sz="1800" dirty="0">
                <a:solidFill>
                  <a:srgbClr val="FFFFFF"/>
                </a:solidFill>
                <a:latin typeface="DejaVu Sans Mono" pitchFamily="34" charset="0"/>
                <a:ea typeface="DejaVu Sans Mono" pitchFamily="34" charset="-122"/>
                <a:cs typeface="DejaVu Sans Mono" pitchFamily="34" charset="-120"/>
              </a:rPr>
              <a:t>raw.shape</a:t>
            </a:r>
            <a:endParaRPr lang="en-US" sz="1800" dirty="0"/>
          </a:p>
          <a:p>
            <a:pPr algn="l" indent="0" marL="0">
              <a:buNone/>
            </a:pPr>
            <a:r>
              <a:rPr lang="en-US" sz="1800" dirty="0">
                <a:solidFill>
                  <a:srgbClr val="FFFFFF"/>
                </a:solidFill>
                <a:latin typeface="DejaVu Sans Mono" pitchFamily="34" charset="0"/>
                <a:ea typeface="DejaVu Sans Mono" pitchFamily="34" charset="-122"/>
                <a:cs typeface="DejaVu Sans Mono" pitchFamily="34" charset="-120"/>
              </a:rPr>
              <a:t># (1109, 7)</a:t>
            </a:r>
            <a:endParaRPr lang="en-US" sz="1800" dirty="0"/>
          </a:p>
          <a:p>
            <a:pPr algn="l" indent="0" marL="0">
              <a:buNone/>
            </a:pPr>
            <a:endParaRPr lang="en-US" sz="1800" dirty="0"/>
          </a:p>
          <a:p>
            <a:pPr algn="l" indent="0" marL="0">
              <a:buNone/>
            </a:pPr>
            <a:r>
              <a:rPr lang="en-US" sz="1800" dirty="0">
                <a:solidFill>
                  <a:srgbClr val="FFFFFF"/>
                </a:solidFill>
                <a:latin typeface="DejaVu Sans Mono" pitchFamily="34" charset="0"/>
                <a:ea typeface="DejaVu Sans Mono" pitchFamily="34" charset="-122"/>
                <a:cs typeface="DejaVu Sans Mono" pitchFamily="34" charset="-120"/>
              </a:rPr>
              <a:t>ids = raw["line_id"]</a:t>
            </a:r>
            <a:endParaRPr lang="en-US" sz="1800" dirty="0"/>
          </a:p>
          <a:p>
            <a:pPr algn="l" indent="0" marL="0">
              <a:buNone/>
            </a:pPr>
            <a:r>
              <a:rPr lang="en-US" sz="1800" dirty="0">
                <a:solidFill>
                  <a:srgbClr val="FFFFFF"/>
                </a:solidFill>
                <a:latin typeface="DejaVu Sans Mono" pitchFamily="34" charset="0"/>
                <a:ea typeface="DejaVu Sans Mono" pitchFamily="34" charset="-122"/>
                <a:cs typeface="DejaVu Sans Mono" pitchFamily="34" charset="-120"/>
              </a:rPr>
              <a:t>ids.duplicated().sum()</a:t>
            </a:r>
            <a:endParaRPr lang="en-US" sz="1800" dirty="0"/>
          </a:p>
          <a:p>
            <a:pPr algn="l" indent="0" marL="0">
              <a:buNone/>
            </a:pPr>
            <a:r>
              <a:rPr lang="en-US" sz="1800" dirty="0">
                <a:solidFill>
                  <a:srgbClr val="FFFFFF"/>
                </a:solidFill>
                <a:latin typeface="DejaVu Sans Mono" pitchFamily="34" charset="0"/>
                <a:ea typeface="DejaVu Sans Mono" pitchFamily="34" charset="-122"/>
                <a:cs typeface="DejaVu Sans Mono" pitchFamily="34" charset="-120"/>
              </a:rPr>
              <a:t># 1</a:t>
            </a:r>
            <a:endParaRPr lang="en-US" sz="1800" dirty="0"/>
          </a:p>
        </p:txBody>
      </p:sp>
      <p:sp>
        <p:nvSpPr>
          <p:cNvPr id="45" name="Text 43"/>
          <p:cNvSpPr/>
          <p:nvPr/>
        </p:nvSpPr>
        <p:spPr>
          <a:xfrm>
            <a:off x="7571232" y="4791456"/>
            <a:ext cx="3840480" cy="685800"/>
          </a:xfrm>
          <a:prstGeom prst="rect">
            <a:avLst/>
          </a:prstGeom>
          <a:noFill/>
          <a:ln/>
        </p:spPr>
        <p:txBody>
          <a:bodyPr wrap="square" lIns="0" tIns="0" rIns="0" bIns="0" rtlCol="0" anchor="ctr"/>
          <a:lstStyle/>
          <a:p>
            <a:pPr algn="l" indent="0" marL="0">
              <a:buNone/>
            </a:pPr>
            <a:r>
              <a:rPr lang="en-US" sz="2100" b="1" dirty="0">
                <a:solidFill>
                  <a:srgbClr val="176493"/>
                </a:solidFill>
                <a:latin typeface="Aptos" pitchFamily="34" charset="0"/>
                <a:ea typeface="Aptos" pitchFamily="34" charset="-122"/>
                <a:cs typeface="Aptos" pitchFamily="34" charset="-120"/>
              </a:rPr>
              <a:t>A repeated order is not</a:t>
            </a:r>
            <a:endParaRPr lang="en-US" sz="2100" dirty="0"/>
          </a:p>
          <a:p>
            <a:pPr algn="l" indent="0" marL="0">
              <a:buNone/>
            </a:pPr>
            <a:r>
              <a:rPr lang="en-US" sz="2100" b="1" dirty="0">
                <a:solidFill>
                  <a:srgbClr val="176493"/>
                </a:solidFill>
                <a:latin typeface="Aptos" pitchFamily="34" charset="0"/>
                <a:ea typeface="Aptos" pitchFamily="34" charset="-122"/>
                <a:cs typeface="Aptos" pitchFamily="34" charset="-120"/>
              </a:rPr>
              <a:t>necessarily a repeated row.</a:t>
            </a:r>
            <a:endParaRPr lang="en-US" sz="2100" dirty="0"/>
          </a:p>
        </p:txBody>
      </p:sp>
      <p:sp>
        <p:nvSpPr>
          <p:cNvPr id="46" name="Text 44"/>
          <p:cNvSpPr/>
          <p:nvPr/>
        </p:nvSpPr>
        <p:spPr>
          <a:xfrm>
            <a:off x="777240" y="5303520"/>
            <a:ext cx="3657600" cy="219456"/>
          </a:xfrm>
          <a:prstGeom prst="rect">
            <a:avLst/>
          </a:prstGeom>
          <a:noFill/>
          <a:ln/>
        </p:spPr>
        <p:txBody>
          <a:bodyPr wrap="square" lIns="0" tIns="0" rIns="0" bIns="0" rtlCol="0" anchor="ctr"/>
          <a:lstStyle/>
          <a:p>
            <a:pPr algn="l" indent="0" marL="0">
              <a:buNone/>
            </a:pPr>
            <a:r>
              <a:rPr lang="en-US" sz="1150" b="1" spc="50" kern="0" dirty="0">
                <a:solidFill>
                  <a:srgbClr val="53657A"/>
                </a:solidFill>
                <a:latin typeface="Aptos" pitchFamily="34" charset="0"/>
                <a:ea typeface="Aptos" pitchFamily="34" charset="-122"/>
                <a:cs typeface="Aptos" pitchFamily="34" charset="-120"/>
              </a:rPr>
              <a:t>PANDAS: LABELED RECORDS</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0" y="0"/>
            <a:ext cx="12192000" cy="402336"/>
          </a:xfrm>
          <a:prstGeom prst="rect">
            <a:avLst/>
          </a:prstGeom>
          <a:solidFill>
            <a:srgbClr val="E7EEF7"/>
          </a:solidFill>
          <a:ln w="12700">
            <a:solidFill>
              <a:srgbClr val="E7EEF7">
                <a:alpha val="0"/>
              </a:srgbClr>
            </a:solidFill>
            <a:prstDash val="solid"/>
          </a:ln>
        </p:spPr>
      </p:sp>
      <p:sp>
        <p:nvSpPr>
          <p:cNvPr id="3" name="Shape 1"/>
          <p:cNvSpPr/>
          <p:nvPr/>
        </p:nvSpPr>
        <p:spPr>
          <a:xfrm>
            <a:off x="466344" y="123444"/>
            <a:ext cx="64008" cy="146304"/>
          </a:xfrm>
          <a:prstGeom prst="rect">
            <a:avLst/>
          </a:prstGeom>
          <a:solidFill>
            <a:srgbClr val="176493"/>
          </a:solidFill>
          <a:ln w="12700">
            <a:solidFill>
              <a:srgbClr val="176493">
                <a:alpha val="0"/>
              </a:srgbClr>
            </a:solidFill>
            <a:prstDash val="solid"/>
          </a:ln>
        </p:spPr>
      </p:sp>
      <p:sp>
        <p:nvSpPr>
          <p:cNvPr id="4" name="Text 2"/>
          <p:cNvSpPr/>
          <p:nvPr/>
        </p:nvSpPr>
        <p:spPr>
          <a:xfrm>
            <a:off x="594360" y="100584"/>
            <a:ext cx="731520" cy="201168"/>
          </a:xfrm>
          <a:prstGeom prst="rect">
            <a:avLst/>
          </a:prstGeom>
          <a:noFill/>
          <a:ln/>
        </p:spPr>
        <p:txBody>
          <a:bodyPr wrap="square" lIns="0" tIns="0" rIns="0" bIns="0" rtlCol="0" anchor="ctr"/>
          <a:lstStyle/>
          <a:p>
            <a:pPr algn="l" indent="0" marL="0">
              <a:buNone/>
            </a:pPr>
            <a:r>
              <a:rPr lang="en-US" sz="1100" b="1" dirty="0">
                <a:solidFill>
                  <a:srgbClr val="176493"/>
                </a:solidFill>
                <a:latin typeface="Aptos" pitchFamily="34" charset="0"/>
                <a:ea typeface="Aptos" pitchFamily="34" charset="-122"/>
                <a:cs typeface="Aptos" pitchFamily="34" charset="-120"/>
              </a:rPr>
              <a:t>DS101</a:t>
            </a:r>
            <a:endParaRPr lang="en-US" sz="1100" dirty="0"/>
          </a:p>
        </p:txBody>
      </p:sp>
      <p:sp>
        <p:nvSpPr>
          <p:cNvPr id="5" name="Text 3"/>
          <p:cNvSpPr/>
          <p:nvPr/>
        </p:nvSpPr>
        <p:spPr>
          <a:xfrm>
            <a:off x="1463040" y="100584"/>
            <a:ext cx="1828800" cy="201168"/>
          </a:xfrm>
          <a:prstGeom prst="rect">
            <a:avLst/>
          </a:prstGeom>
          <a:noFill/>
          <a:ln/>
        </p:spPr>
        <p:txBody>
          <a:bodyPr wrap="square" lIns="0" tIns="0" rIns="0" bIns="0" rtlCol="0" anchor="ctr"/>
          <a:lstStyle/>
          <a:p>
            <a:pPr algn="l" indent="0" marL="0">
              <a:buNone/>
            </a:pPr>
            <a:r>
              <a:rPr lang="en-US" sz="1000" dirty="0">
                <a:solidFill>
                  <a:srgbClr val="53657A"/>
                </a:solidFill>
                <a:latin typeface="Aptos" pitchFamily="34" charset="0"/>
                <a:ea typeface="Aptos" pitchFamily="34" charset="-122"/>
                <a:cs typeface="Aptos" pitchFamily="34" charset="-120"/>
              </a:rPr>
              <a:t>LECTURE 02</a:t>
            </a:r>
            <a:endParaRPr lang="en-US" sz="1000" dirty="0"/>
          </a:p>
        </p:txBody>
      </p:sp>
      <p:sp>
        <p:nvSpPr>
          <p:cNvPr id="6" name="Text 4"/>
          <p:cNvSpPr/>
          <p:nvPr/>
        </p:nvSpPr>
        <p:spPr>
          <a:xfrm>
            <a:off x="8321040" y="100584"/>
            <a:ext cx="3264408" cy="201168"/>
          </a:xfrm>
          <a:prstGeom prst="rect">
            <a:avLst/>
          </a:prstGeom>
          <a:noFill/>
          <a:ln/>
        </p:spPr>
        <p:txBody>
          <a:bodyPr wrap="square" lIns="0" tIns="0" rIns="0" bIns="0" rtlCol="0" anchor="ctr"/>
          <a:lstStyle/>
          <a:p>
            <a:pPr algn="r" indent="0" marL="0">
              <a:buNone/>
            </a:pPr>
            <a:r>
              <a:rPr lang="en-US" sz="1000" dirty="0">
                <a:solidFill>
                  <a:srgbClr val="53657A"/>
                </a:solidFill>
                <a:latin typeface="Aptos" pitchFamily="34" charset="0"/>
                <a:ea typeface="Aptos" pitchFamily="34" charset="-122"/>
                <a:cs typeface="Aptos" pitchFamily="34" charset="-120"/>
              </a:rPr>
              <a:t>DATA QUALITY</a:t>
            </a:r>
            <a:endParaRPr lang="en-US" sz="1000" dirty="0"/>
          </a:p>
        </p:txBody>
      </p:sp>
      <p:sp>
        <p:nvSpPr>
          <p:cNvPr id="7" name="Text 5"/>
          <p:cNvSpPr/>
          <p:nvPr/>
        </p:nvSpPr>
        <p:spPr>
          <a:xfrm>
            <a:off x="594360" y="758952"/>
            <a:ext cx="11000232" cy="658368"/>
          </a:xfrm>
          <a:prstGeom prst="rect">
            <a:avLst/>
          </a:prstGeom>
          <a:noFill/>
          <a:ln/>
        </p:spPr>
        <p:txBody>
          <a:bodyPr wrap="square" lIns="0" tIns="0" rIns="0" bIns="0" rtlCol="0" anchor="ctr"/>
          <a:lstStyle/>
          <a:p>
            <a:pPr algn="l" indent="0" marL="0">
              <a:buNone/>
            </a:pPr>
            <a:r>
              <a:rPr lang="en-US" sz="3000" b="1" dirty="0">
                <a:solidFill>
                  <a:srgbClr val="172233"/>
                </a:solidFill>
                <a:latin typeface="Aptos" pitchFamily="34" charset="0"/>
                <a:ea typeface="Aptos" pitchFamily="34" charset="-122"/>
                <a:cs typeface="Aptos" pitchFamily="34" charset="-120"/>
              </a:rPr>
              <a:t>A suspicious value is a question</a:t>
            </a:r>
            <a:endParaRPr lang="en-US" sz="3000" dirty="0"/>
          </a:p>
        </p:txBody>
      </p:sp>
      <p:sp>
        <p:nvSpPr>
          <p:cNvPr id="8" name="Text 6"/>
          <p:cNvSpPr/>
          <p:nvPr/>
        </p:nvSpPr>
        <p:spPr>
          <a:xfrm>
            <a:off x="594360" y="6510528"/>
            <a:ext cx="3657600" cy="164592"/>
          </a:xfrm>
          <a:prstGeom prst="rect">
            <a:avLst/>
          </a:prstGeom>
          <a:noFill/>
          <a:ln/>
        </p:spPr>
        <p:txBody>
          <a:bodyPr wrap="square" lIns="0" tIns="0" rIns="0" bIns="0" rtlCol="0" anchor="ctr"/>
          <a:lstStyle/>
          <a:p>
            <a:pPr algn="l" indent="0" marL="0">
              <a:buNone/>
            </a:pPr>
            <a:r>
              <a:rPr lang="en-US" sz="900" dirty="0">
                <a:solidFill>
                  <a:srgbClr val="53657A"/>
                </a:solidFill>
                <a:latin typeface="Aptos" pitchFamily="34" charset="0"/>
                <a:ea typeface="Aptos" pitchFamily="34" charset="-122"/>
                <a:cs typeface="Aptos" pitchFamily="34" charset="-120"/>
              </a:rPr>
              <a:t>DS101 | 2026-2027</a:t>
            </a:r>
            <a:endParaRPr lang="en-US" sz="900" dirty="0"/>
          </a:p>
        </p:txBody>
      </p:sp>
      <p:sp>
        <p:nvSpPr>
          <p:cNvPr id="9" name="Text 7"/>
          <p:cNvSpPr/>
          <p:nvPr/>
        </p:nvSpPr>
        <p:spPr>
          <a:xfrm>
            <a:off x="10680192" y="6492240"/>
            <a:ext cx="914400" cy="201168"/>
          </a:xfrm>
          <a:prstGeom prst="rect">
            <a:avLst/>
          </a:prstGeom>
          <a:noFill/>
          <a:ln/>
        </p:spPr>
        <p:txBody>
          <a:bodyPr wrap="square" lIns="0" tIns="0" rIns="0" bIns="0" rtlCol="0" anchor="ctr"/>
          <a:lstStyle/>
          <a:p>
            <a:pPr algn="r" indent="0" marL="0">
              <a:buNone/>
            </a:pPr>
            <a:r>
              <a:rPr lang="en-US" sz="1000" dirty="0">
                <a:solidFill>
                  <a:srgbClr val="53657A"/>
                </a:solidFill>
                <a:latin typeface="Aptos" pitchFamily="34" charset="0"/>
                <a:ea typeface="Aptos" pitchFamily="34" charset="-122"/>
                <a:cs typeface="Aptos" pitchFamily="34" charset="-120"/>
              </a:rPr>
              <a:t>04 / 24</a:t>
            </a:r>
            <a:endParaRPr lang="en-US" sz="1000" dirty="0"/>
          </a:p>
        </p:txBody>
      </p:sp>
      <p:sp>
        <p:nvSpPr>
          <p:cNvPr id="10" name="Shape 8"/>
          <p:cNvSpPr/>
          <p:nvPr/>
        </p:nvSpPr>
        <p:spPr>
          <a:xfrm>
            <a:off x="594360" y="5852160"/>
            <a:ext cx="11000232" cy="438912"/>
          </a:xfrm>
          <a:prstGeom prst="rect">
            <a:avLst/>
          </a:prstGeom>
          <a:solidFill>
            <a:srgbClr val="E3EFF7"/>
          </a:solidFill>
          <a:ln w="12700">
            <a:solidFill>
              <a:srgbClr val="E3EFF7">
                <a:alpha val="0"/>
              </a:srgbClr>
            </a:solidFill>
            <a:prstDash val="solid"/>
          </a:ln>
        </p:spPr>
      </p:sp>
      <p:sp>
        <p:nvSpPr>
          <p:cNvPr id="11" name="Text 9"/>
          <p:cNvSpPr/>
          <p:nvPr/>
        </p:nvSpPr>
        <p:spPr>
          <a:xfrm>
            <a:off x="795528" y="5943600"/>
            <a:ext cx="10607040" cy="256032"/>
          </a:xfrm>
          <a:prstGeom prst="rect">
            <a:avLst/>
          </a:prstGeom>
          <a:noFill/>
          <a:ln/>
        </p:spPr>
        <p:txBody>
          <a:bodyPr wrap="square" lIns="0" tIns="0" rIns="0" bIns="0" rtlCol="0" anchor="ctr"/>
          <a:lstStyle/>
          <a:p>
            <a:pPr algn="l" indent="0" marL="0">
              <a:buNone/>
            </a:pPr>
            <a:r>
              <a:rPr lang="en-US" sz="1700" b="1" dirty="0">
                <a:solidFill>
                  <a:srgbClr val="176493"/>
                </a:solidFill>
                <a:latin typeface="Aptos" pitchFamily="34" charset="0"/>
                <a:ea typeface="Aptos" pitchFamily="34" charset="-122"/>
                <a:cs typeface="Aptos" pitchFamily="34" charset="-120"/>
              </a:rPr>
              <a:t>Investigate the process before deciding what to remove.</a:t>
            </a:r>
            <a:endParaRPr lang="en-US" sz="1700" dirty="0"/>
          </a:p>
        </p:txBody>
      </p:sp>
      <p:sp>
        <p:nvSpPr>
          <p:cNvPr id="12" name="Shape 10"/>
          <p:cNvSpPr/>
          <p:nvPr/>
        </p:nvSpPr>
        <p:spPr>
          <a:xfrm>
            <a:off x="731520" y="1828800"/>
            <a:ext cx="10744200" cy="457200"/>
          </a:xfrm>
          <a:prstGeom prst="rect">
            <a:avLst/>
          </a:prstGeom>
          <a:solidFill>
            <a:srgbClr val="263142"/>
          </a:solidFill>
          <a:ln w="12700">
            <a:solidFill>
              <a:srgbClr val="263142">
                <a:alpha val="0"/>
              </a:srgbClr>
            </a:solidFill>
            <a:prstDash val="solid"/>
          </a:ln>
        </p:spPr>
      </p:sp>
      <p:sp>
        <p:nvSpPr>
          <p:cNvPr id="13" name="Text 11"/>
          <p:cNvSpPr/>
          <p:nvPr/>
        </p:nvSpPr>
        <p:spPr>
          <a:xfrm>
            <a:off x="841248" y="1865376"/>
            <a:ext cx="2295144" cy="384048"/>
          </a:xfrm>
          <a:prstGeom prst="rect">
            <a:avLst/>
          </a:prstGeom>
          <a:noFill/>
          <a:ln/>
        </p:spPr>
        <p:txBody>
          <a:bodyPr wrap="square" lIns="0" tIns="0" rIns="0" bIns="0" rtlCol="0" anchor="ctr"/>
          <a:lstStyle/>
          <a:p>
            <a:pPr algn="l" indent="0" marL="0">
              <a:buNone/>
            </a:pPr>
            <a:r>
              <a:rPr lang="en-US" sz="1600" b="1" dirty="0">
                <a:solidFill>
                  <a:srgbClr val="FFFFFF"/>
                </a:solidFill>
                <a:latin typeface="Aptos" pitchFamily="34" charset="0"/>
                <a:ea typeface="Aptos" pitchFamily="34" charset="-122"/>
                <a:cs typeface="Aptos" pitchFamily="34" charset="-120"/>
              </a:rPr>
              <a:t>Observation</a:t>
            </a:r>
            <a:endParaRPr lang="en-US" sz="1600" dirty="0"/>
          </a:p>
        </p:txBody>
      </p:sp>
      <p:sp>
        <p:nvSpPr>
          <p:cNvPr id="14" name="Text 12"/>
          <p:cNvSpPr/>
          <p:nvPr/>
        </p:nvSpPr>
        <p:spPr>
          <a:xfrm>
            <a:off x="3355848" y="1865376"/>
            <a:ext cx="3941064" cy="384048"/>
          </a:xfrm>
          <a:prstGeom prst="rect">
            <a:avLst/>
          </a:prstGeom>
          <a:noFill/>
          <a:ln/>
        </p:spPr>
        <p:txBody>
          <a:bodyPr wrap="square" lIns="0" tIns="0" rIns="0" bIns="0" rtlCol="0" anchor="ctr"/>
          <a:lstStyle/>
          <a:p>
            <a:pPr algn="l" indent="0" marL="0">
              <a:buNone/>
            </a:pPr>
            <a:r>
              <a:rPr lang="en-US" sz="1600" b="1" dirty="0">
                <a:solidFill>
                  <a:srgbClr val="FFFFFF"/>
                </a:solidFill>
                <a:latin typeface="Aptos" pitchFamily="34" charset="0"/>
                <a:ea typeface="Aptos" pitchFamily="34" charset="-122"/>
                <a:cs typeface="Aptos" pitchFamily="34" charset="-120"/>
              </a:rPr>
              <a:t>Question</a:t>
            </a:r>
            <a:endParaRPr lang="en-US" sz="1600" dirty="0"/>
          </a:p>
        </p:txBody>
      </p:sp>
      <p:sp>
        <p:nvSpPr>
          <p:cNvPr id="15" name="Text 13"/>
          <p:cNvSpPr/>
          <p:nvPr/>
        </p:nvSpPr>
        <p:spPr>
          <a:xfrm>
            <a:off x="7516368" y="1865376"/>
            <a:ext cx="3849624" cy="384048"/>
          </a:xfrm>
          <a:prstGeom prst="rect">
            <a:avLst/>
          </a:prstGeom>
          <a:noFill/>
          <a:ln/>
        </p:spPr>
        <p:txBody>
          <a:bodyPr wrap="square" lIns="0" tIns="0" rIns="0" bIns="0" rtlCol="0" anchor="ctr"/>
          <a:lstStyle/>
          <a:p>
            <a:pPr algn="l" indent="0" marL="0">
              <a:buNone/>
            </a:pPr>
            <a:r>
              <a:rPr lang="en-US" sz="1600" b="1" dirty="0">
                <a:solidFill>
                  <a:srgbClr val="FFFFFF"/>
                </a:solidFill>
                <a:latin typeface="Aptos" pitchFamily="34" charset="0"/>
                <a:ea typeface="Aptos" pitchFamily="34" charset="-122"/>
                <a:cs typeface="Aptos" pitchFamily="34" charset="-120"/>
              </a:rPr>
              <a:t>Action in this fixture</a:t>
            </a:r>
            <a:endParaRPr lang="en-US" sz="1600" dirty="0"/>
          </a:p>
        </p:txBody>
      </p:sp>
      <p:sp>
        <p:nvSpPr>
          <p:cNvPr id="16" name="Shape 14"/>
          <p:cNvSpPr/>
          <p:nvPr/>
        </p:nvSpPr>
        <p:spPr>
          <a:xfrm>
            <a:off x="731520" y="2286000"/>
            <a:ext cx="10744200" cy="768096"/>
          </a:xfrm>
          <a:prstGeom prst="rect">
            <a:avLst/>
          </a:prstGeom>
          <a:solidFill>
            <a:srgbClr val="FFFFFF"/>
          </a:solidFill>
          <a:ln w="12700">
            <a:solidFill>
              <a:srgbClr val="FFFFFF">
                <a:alpha val="0"/>
              </a:srgbClr>
            </a:solidFill>
            <a:prstDash val="solid"/>
          </a:ln>
        </p:spPr>
      </p:sp>
      <p:sp>
        <p:nvSpPr>
          <p:cNvPr id="17" name="Text 15"/>
          <p:cNvSpPr/>
          <p:nvPr/>
        </p:nvSpPr>
        <p:spPr>
          <a:xfrm>
            <a:off x="841248" y="2340864"/>
            <a:ext cx="2295144" cy="658368"/>
          </a:xfrm>
          <a:prstGeom prst="rect">
            <a:avLst/>
          </a:prstGeom>
          <a:noFill/>
          <a:ln/>
        </p:spPr>
        <p:txBody>
          <a:bodyPr wrap="square" lIns="0" tIns="0" rIns="0" bIns="0" rtlCol="0" anchor="ctr"/>
          <a:lstStyle/>
          <a:p>
            <a:pPr algn="l" indent="0" marL="0">
              <a:buNone/>
            </a:pPr>
            <a:r>
              <a:rPr lang="en-US" sz="2000" dirty="0">
                <a:solidFill>
                  <a:srgbClr val="172233"/>
                </a:solidFill>
                <a:latin typeface="Aptos" pitchFamily="34" charset="0"/>
                <a:ea typeface="Aptos" pitchFamily="34" charset="-122"/>
                <a:cs typeface="Aptos" pitchFamily="34" charset="-120"/>
              </a:rPr>
              <a:t>Repeated line ID</a:t>
            </a:r>
            <a:endParaRPr lang="en-US" sz="2000" dirty="0"/>
          </a:p>
        </p:txBody>
      </p:sp>
      <p:sp>
        <p:nvSpPr>
          <p:cNvPr id="18" name="Text 16"/>
          <p:cNvSpPr/>
          <p:nvPr/>
        </p:nvSpPr>
        <p:spPr>
          <a:xfrm>
            <a:off x="3355848" y="2340864"/>
            <a:ext cx="3941064" cy="658368"/>
          </a:xfrm>
          <a:prstGeom prst="rect">
            <a:avLst/>
          </a:prstGeom>
          <a:noFill/>
          <a:ln/>
        </p:spPr>
        <p:txBody>
          <a:bodyPr wrap="square" lIns="0" tIns="0" rIns="0" bIns="0" rtlCol="0" anchor="ctr"/>
          <a:lstStyle/>
          <a:p>
            <a:pPr algn="l" indent="0" marL="0">
              <a:buNone/>
            </a:pPr>
            <a:r>
              <a:rPr lang="en-US" sz="2000" dirty="0">
                <a:solidFill>
                  <a:srgbClr val="172233"/>
                </a:solidFill>
                <a:latin typeface="Aptos" pitchFamily="34" charset="0"/>
                <a:ea typeface="Aptos" pitchFamily="34" charset="-122"/>
                <a:cs typeface="Aptos" pitchFamily="34" charset="-120"/>
              </a:rPr>
              <a:t>Same content or conflicting values?</a:t>
            </a:r>
            <a:endParaRPr lang="en-US" sz="2000" dirty="0"/>
          </a:p>
        </p:txBody>
      </p:sp>
      <p:sp>
        <p:nvSpPr>
          <p:cNvPr id="19" name="Text 17"/>
          <p:cNvSpPr/>
          <p:nvPr/>
        </p:nvSpPr>
        <p:spPr>
          <a:xfrm>
            <a:off x="7516368" y="2340864"/>
            <a:ext cx="3849624" cy="658368"/>
          </a:xfrm>
          <a:prstGeom prst="rect">
            <a:avLst/>
          </a:prstGeom>
          <a:noFill/>
          <a:ln/>
        </p:spPr>
        <p:txBody>
          <a:bodyPr wrap="square" lIns="0" tIns="0" rIns="0" bIns="0" rtlCol="0" anchor="ctr"/>
          <a:lstStyle/>
          <a:p>
            <a:pPr algn="l" indent="0" marL="0">
              <a:buNone/>
            </a:pPr>
            <a:r>
              <a:rPr lang="en-US" sz="2000" dirty="0">
                <a:solidFill>
                  <a:srgbClr val="172233"/>
                </a:solidFill>
                <a:latin typeface="Aptos" pitchFamily="34" charset="0"/>
                <a:ea typeface="Aptos" pitchFamily="34" charset="-122"/>
                <a:cs typeface="Aptos" pitchFamily="34" charset="-120"/>
              </a:rPr>
              <a:t>Remove one exact copy</a:t>
            </a:r>
            <a:endParaRPr lang="en-US" sz="2000" dirty="0"/>
          </a:p>
        </p:txBody>
      </p:sp>
      <p:sp>
        <p:nvSpPr>
          <p:cNvPr id="20" name="Shape 18"/>
          <p:cNvSpPr/>
          <p:nvPr/>
        </p:nvSpPr>
        <p:spPr>
          <a:xfrm>
            <a:off x="731520" y="3054096"/>
            <a:ext cx="10744200" cy="768096"/>
          </a:xfrm>
          <a:prstGeom prst="rect">
            <a:avLst/>
          </a:prstGeom>
          <a:solidFill>
            <a:srgbClr val="E3EFF7"/>
          </a:solidFill>
          <a:ln w="12700">
            <a:solidFill>
              <a:srgbClr val="E3EFF7">
                <a:alpha val="0"/>
              </a:srgbClr>
            </a:solidFill>
            <a:prstDash val="solid"/>
          </a:ln>
        </p:spPr>
      </p:sp>
      <p:sp>
        <p:nvSpPr>
          <p:cNvPr id="21" name="Text 19"/>
          <p:cNvSpPr/>
          <p:nvPr/>
        </p:nvSpPr>
        <p:spPr>
          <a:xfrm>
            <a:off x="841248" y="3108960"/>
            <a:ext cx="2295144" cy="658368"/>
          </a:xfrm>
          <a:prstGeom prst="rect">
            <a:avLst/>
          </a:prstGeom>
          <a:noFill/>
          <a:ln/>
        </p:spPr>
        <p:txBody>
          <a:bodyPr wrap="square" lIns="0" tIns="0" rIns="0" bIns="0" rtlCol="0" anchor="ctr"/>
          <a:lstStyle/>
          <a:p>
            <a:pPr algn="l" indent="0" marL="0">
              <a:buNone/>
            </a:pPr>
            <a:r>
              <a:rPr lang="en-US" sz="2000" dirty="0">
                <a:solidFill>
                  <a:srgbClr val="172233"/>
                </a:solidFill>
                <a:latin typeface="Aptos" pitchFamily="34" charset="0"/>
                <a:ea typeface="Aptos" pitchFamily="34" charset="-122"/>
                <a:cs typeface="Aptos" pitchFamily="34" charset="-120"/>
              </a:rPr>
              <a:t>Unparseable date</a:t>
            </a:r>
            <a:endParaRPr lang="en-US" sz="2000" dirty="0"/>
          </a:p>
        </p:txBody>
      </p:sp>
      <p:sp>
        <p:nvSpPr>
          <p:cNvPr id="22" name="Text 20"/>
          <p:cNvSpPr/>
          <p:nvPr/>
        </p:nvSpPr>
        <p:spPr>
          <a:xfrm>
            <a:off x="3355848" y="3108960"/>
            <a:ext cx="3941064" cy="658368"/>
          </a:xfrm>
          <a:prstGeom prst="rect">
            <a:avLst/>
          </a:prstGeom>
          <a:noFill/>
          <a:ln/>
        </p:spPr>
        <p:txBody>
          <a:bodyPr wrap="square" lIns="0" tIns="0" rIns="0" bIns="0" rtlCol="0" anchor="ctr"/>
          <a:lstStyle/>
          <a:p>
            <a:pPr algn="l" indent="0" marL="0">
              <a:buNone/>
            </a:pPr>
            <a:r>
              <a:rPr lang="en-US" sz="2000" dirty="0">
                <a:solidFill>
                  <a:srgbClr val="172233"/>
                </a:solidFill>
                <a:latin typeface="Aptos" pitchFamily="34" charset="0"/>
                <a:ea typeface="Aptos" pitchFamily="34" charset="-122"/>
                <a:cs typeface="Aptos" pitchFamily="34" charset="-120"/>
              </a:rPr>
              <a:t>Can we recover the source date?</a:t>
            </a:r>
            <a:endParaRPr lang="en-US" sz="2000" dirty="0"/>
          </a:p>
        </p:txBody>
      </p:sp>
      <p:sp>
        <p:nvSpPr>
          <p:cNvPr id="23" name="Text 21"/>
          <p:cNvSpPr/>
          <p:nvPr/>
        </p:nvSpPr>
        <p:spPr>
          <a:xfrm>
            <a:off x="7516368" y="3108960"/>
            <a:ext cx="3849624" cy="658368"/>
          </a:xfrm>
          <a:prstGeom prst="rect">
            <a:avLst/>
          </a:prstGeom>
          <a:noFill/>
          <a:ln/>
        </p:spPr>
        <p:txBody>
          <a:bodyPr wrap="square" lIns="0" tIns="0" rIns="0" bIns="0" rtlCol="0" anchor="ctr"/>
          <a:lstStyle/>
          <a:p>
            <a:pPr algn="l" indent="0" marL="0">
              <a:buNone/>
            </a:pPr>
            <a:r>
              <a:rPr lang="en-US" sz="2000" dirty="0">
                <a:solidFill>
                  <a:srgbClr val="172233"/>
                </a:solidFill>
                <a:latin typeface="Aptos" pitchFamily="34" charset="0"/>
                <a:ea typeface="Aptos" pitchFamily="34" charset="-122"/>
                <a:cs typeface="Aptos" pitchFamily="34" charset="-120"/>
              </a:rPr>
              <a:t>Quarantine; do not guess</a:t>
            </a:r>
            <a:endParaRPr lang="en-US" sz="2000" dirty="0"/>
          </a:p>
        </p:txBody>
      </p:sp>
      <p:sp>
        <p:nvSpPr>
          <p:cNvPr id="24" name="Shape 22"/>
          <p:cNvSpPr/>
          <p:nvPr/>
        </p:nvSpPr>
        <p:spPr>
          <a:xfrm>
            <a:off x="731520" y="3822192"/>
            <a:ext cx="10744200" cy="768096"/>
          </a:xfrm>
          <a:prstGeom prst="rect">
            <a:avLst/>
          </a:prstGeom>
          <a:solidFill>
            <a:srgbClr val="FFFFFF"/>
          </a:solidFill>
          <a:ln w="12700">
            <a:solidFill>
              <a:srgbClr val="FFFFFF">
                <a:alpha val="0"/>
              </a:srgbClr>
            </a:solidFill>
            <a:prstDash val="solid"/>
          </a:ln>
        </p:spPr>
      </p:sp>
      <p:sp>
        <p:nvSpPr>
          <p:cNvPr id="25" name="Text 23"/>
          <p:cNvSpPr/>
          <p:nvPr/>
        </p:nvSpPr>
        <p:spPr>
          <a:xfrm>
            <a:off x="841248" y="3877056"/>
            <a:ext cx="2295144" cy="658368"/>
          </a:xfrm>
          <a:prstGeom prst="rect">
            <a:avLst/>
          </a:prstGeom>
          <a:noFill/>
          <a:ln/>
        </p:spPr>
        <p:txBody>
          <a:bodyPr wrap="square" lIns="0" tIns="0" rIns="0" bIns="0" rtlCol="0" anchor="ctr"/>
          <a:lstStyle/>
          <a:p>
            <a:pPr algn="l" indent="0" marL="0">
              <a:buNone/>
            </a:pPr>
            <a:r>
              <a:rPr lang="en-US" sz="2000" dirty="0">
                <a:solidFill>
                  <a:srgbClr val="172233"/>
                </a:solidFill>
                <a:latin typeface="Aptos" pitchFamily="34" charset="0"/>
                <a:ea typeface="Aptos" pitchFamily="34" charset="-122"/>
                <a:cs typeface="Aptos" pitchFamily="34" charset="-120"/>
              </a:rPr>
              <a:t>Value = -40 CU</a:t>
            </a:r>
            <a:endParaRPr lang="en-US" sz="2000" dirty="0"/>
          </a:p>
        </p:txBody>
      </p:sp>
      <p:sp>
        <p:nvSpPr>
          <p:cNvPr id="26" name="Text 24"/>
          <p:cNvSpPr/>
          <p:nvPr/>
        </p:nvSpPr>
        <p:spPr>
          <a:xfrm>
            <a:off x="3355848" y="3877056"/>
            <a:ext cx="3941064" cy="658368"/>
          </a:xfrm>
          <a:prstGeom prst="rect">
            <a:avLst/>
          </a:prstGeom>
          <a:noFill/>
          <a:ln/>
        </p:spPr>
        <p:txBody>
          <a:bodyPr wrap="square" lIns="0" tIns="0" rIns="0" bIns="0" rtlCol="0" anchor="ctr"/>
          <a:lstStyle/>
          <a:p>
            <a:pPr algn="l" indent="0" marL="0">
              <a:buNone/>
            </a:pPr>
            <a:r>
              <a:rPr lang="en-US" sz="2000" dirty="0">
                <a:solidFill>
                  <a:srgbClr val="172233"/>
                </a:solidFill>
                <a:latin typeface="Aptos" pitchFamily="34" charset="0"/>
                <a:ea typeface="Aptos" pitchFamily="34" charset="-122"/>
                <a:cs typeface="Aptos" pitchFamily="34" charset="-120"/>
              </a:rPr>
              <a:t>Credit, correction or error?</a:t>
            </a:r>
            <a:endParaRPr lang="en-US" sz="2000" dirty="0"/>
          </a:p>
        </p:txBody>
      </p:sp>
      <p:sp>
        <p:nvSpPr>
          <p:cNvPr id="27" name="Text 25"/>
          <p:cNvSpPr/>
          <p:nvPr/>
        </p:nvSpPr>
        <p:spPr>
          <a:xfrm>
            <a:off x="7516368" y="3877056"/>
            <a:ext cx="3849624" cy="658368"/>
          </a:xfrm>
          <a:prstGeom prst="rect">
            <a:avLst/>
          </a:prstGeom>
          <a:noFill/>
          <a:ln/>
        </p:spPr>
        <p:txBody>
          <a:bodyPr wrap="square" lIns="0" tIns="0" rIns="0" bIns="0" rtlCol="0" anchor="ctr"/>
          <a:lstStyle/>
          <a:p>
            <a:pPr algn="l" indent="0" marL="0">
              <a:buNone/>
            </a:pPr>
            <a:r>
              <a:rPr lang="en-US" sz="2000" dirty="0">
                <a:solidFill>
                  <a:srgbClr val="172233"/>
                </a:solidFill>
                <a:latin typeface="Aptos" pitchFamily="34" charset="0"/>
                <a:ea typeface="Aptos" pitchFamily="34" charset="-122"/>
                <a:cs typeface="Aptos" pitchFamily="34" charset="-120"/>
              </a:rPr>
              <a:t>Keep the documented credit</a:t>
            </a:r>
            <a:endParaRPr lang="en-US" sz="2000" dirty="0"/>
          </a:p>
        </p:txBody>
      </p:sp>
      <p:sp>
        <p:nvSpPr>
          <p:cNvPr id="28" name="Shape 26"/>
          <p:cNvSpPr/>
          <p:nvPr/>
        </p:nvSpPr>
        <p:spPr>
          <a:xfrm>
            <a:off x="731520" y="4572000"/>
            <a:ext cx="2423160" cy="1033272"/>
          </a:xfrm>
          <a:prstGeom prst="rect">
            <a:avLst/>
          </a:prstGeom>
          <a:solidFill>
            <a:srgbClr val="FFFFFF"/>
          </a:solidFill>
          <a:ln w="12700">
            <a:solidFill>
              <a:srgbClr val="FFFFFF">
                <a:alpha val="0"/>
              </a:srgbClr>
            </a:solidFill>
            <a:prstDash val="solid"/>
          </a:ln>
        </p:spPr>
      </p:sp>
      <p:sp>
        <p:nvSpPr>
          <p:cNvPr id="29" name="Text 27"/>
          <p:cNvSpPr/>
          <p:nvPr/>
        </p:nvSpPr>
        <p:spPr>
          <a:xfrm>
            <a:off x="886968" y="4681728"/>
            <a:ext cx="2112264" cy="448056"/>
          </a:xfrm>
          <a:prstGeom prst="rect">
            <a:avLst/>
          </a:prstGeom>
          <a:noFill/>
          <a:ln/>
        </p:spPr>
        <p:txBody>
          <a:bodyPr wrap="square" lIns="0" tIns="0" rIns="0" bIns="0" rtlCol="0" anchor="ctr"/>
          <a:lstStyle/>
          <a:p>
            <a:pPr algn="l" indent="0" marL="0">
              <a:buNone/>
            </a:pPr>
            <a:r>
              <a:rPr lang="en-US" sz="3000" b="1" dirty="0">
                <a:solidFill>
                  <a:srgbClr val="176493"/>
                </a:solidFill>
                <a:latin typeface="Aptos" pitchFamily="34" charset="0"/>
                <a:ea typeface="Aptos" pitchFamily="34" charset="-122"/>
                <a:cs typeface="Aptos" pitchFamily="34" charset="-120"/>
              </a:rPr>
              <a:t>1,109</a:t>
            </a:r>
            <a:endParaRPr lang="en-US" sz="3000" dirty="0"/>
          </a:p>
        </p:txBody>
      </p:sp>
      <p:sp>
        <p:nvSpPr>
          <p:cNvPr id="30" name="Text 28"/>
          <p:cNvSpPr/>
          <p:nvPr/>
        </p:nvSpPr>
        <p:spPr>
          <a:xfrm>
            <a:off x="886968" y="5212080"/>
            <a:ext cx="2112264" cy="228600"/>
          </a:xfrm>
          <a:prstGeom prst="rect">
            <a:avLst/>
          </a:prstGeom>
          <a:noFill/>
          <a:ln/>
        </p:spPr>
        <p:txBody>
          <a:bodyPr wrap="square" lIns="0" tIns="0" rIns="0" bIns="0" rtlCol="0" anchor="ctr"/>
          <a:lstStyle/>
          <a:p>
            <a:pPr algn="l" indent="0" marL="0">
              <a:buNone/>
            </a:pPr>
            <a:r>
              <a:rPr lang="en-US" sz="1600" dirty="0">
                <a:solidFill>
                  <a:srgbClr val="53657A"/>
                </a:solidFill>
                <a:latin typeface="Aptos" pitchFamily="34" charset="0"/>
                <a:ea typeface="Aptos" pitchFamily="34" charset="-122"/>
                <a:cs typeface="Aptos" pitchFamily="34" charset="-120"/>
              </a:rPr>
              <a:t>raw rows</a:t>
            </a:r>
            <a:endParaRPr lang="en-US" sz="1600" dirty="0"/>
          </a:p>
        </p:txBody>
      </p:sp>
      <p:sp>
        <p:nvSpPr>
          <p:cNvPr id="31" name="Shape 29"/>
          <p:cNvSpPr/>
          <p:nvPr/>
        </p:nvSpPr>
        <p:spPr>
          <a:xfrm>
            <a:off x="3493008" y="4572000"/>
            <a:ext cx="2423160" cy="1033272"/>
          </a:xfrm>
          <a:prstGeom prst="rect">
            <a:avLst/>
          </a:prstGeom>
          <a:solidFill>
            <a:srgbClr val="FFFFFF"/>
          </a:solidFill>
          <a:ln w="12700">
            <a:solidFill>
              <a:srgbClr val="FFFFFF">
                <a:alpha val="0"/>
              </a:srgbClr>
            </a:solidFill>
            <a:prstDash val="solid"/>
          </a:ln>
        </p:spPr>
      </p:sp>
      <p:sp>
        <p:nvSpPr>
          <p:cNvPr id="32" name="Text 30"/>
          <p:cNvSpPr/>
          <p:nvPr/>
        </p:nvSpPr>
        <p:spPr>
          <a:xfrm>
            <a:off x="3648456" y="4681728"/>
            <a:ext cx="2112264" cy="448056"/>
          </a:xfrm>
          <a:prstGeom prst="rect">
            <a:avLst/>
          </a:prstGeom>
          <a:noFill/>
          <a:ln/>
        </p:spPr>
        <p:txBody>
          <a:bodyPr wrap="square" lIns="0" tIns="0" rIns="0" bIns="0" rtlCol="0" anchor="ctr"/>
          <a:lstStyle/>
          <a:p>
            <a:pPr algn="l" indent="0" marL="0">
              <a:buNone/>
            </a:pPr>
            <a:r>
              <a:rPr lang="en-US" sz="3000" b="1" dirty="0">
                <a:solidFill>
                  <a:srgbClr val="B33B43"/>
                </a:solidFill>
                <a:latin typeface="Aptos" pitchFamily="34" charset="0"/>
                <a:ea typeface="Aptos" pitchFamily="34" charset="-122"/>
                <a:cs typeface="Aptos" pitchFamily="34" charset="-120"/>
              </a:rPr>
              <a:t>1</a:t>
            </a:r>
            <a:endParaRPr lang="en-US" sz="3000" dirty="0"/>
          </a:p>
        </p:txBody>
      </p:sp>
      <p:sp>
        <p:nvSpPr>
          <p:cNvPr id="33" name="Text 31"/>
          <p:cNvSpPr/>
          <p:nvPr/>
        </p:nvSpPr>
        <p:spPr>
          <a:xfrm>
            <a:off x="3648456" y="5212080"/>
            <a:ext cx="2112264" cy="228600"/>
          </a:xfrm>
          <a:prstGeom prst="rect">
            <a:avLst/>
          </a:prstGeom>
          <a:noFill/>
          <a:ln/>
        </p:spPr>
        <p:txBody>
          <a:bodyPr wrap="square" lIns="0" tIns="0" rIns="0" bIns="0" rtlCol="0" anchor="ctr"/>
          <a:lstStyle/>
          <a:p>
            <a:pPr algn="l" indent="0" marL="0">
              <a:buNone/>
            </a:pPr>
            <a:r>
              <a:rPr lang="en-US" sz="1600" dirty="0">
                <a:solidFill>
                  <a:srgbClr val="53657A"/>
                </a:solidFill>
                <a:latin typeface="Aptos" pitchFamily="34" charset="0"/>
                <a:ea typeface="Aptos" pitchFamily="34" charset="-122"/>
                <a:cs typeface="Aptos" pitchFamily="34" charset="-120"/>
              </a:rPr>
              <a:t>duplicate copy</a:t>
            </a:r>
            <a:endParaRPr lang="en-US" sz="1600" dirty="0"/>
          </a:p>
        </p:txBody>
      </p:sp>
      <p:sp>
        <p:nvSpPr>
          <p:cNvPr id="34" name="Shape 32"/>
          <p:cNvSpPr/>
          <p:nvPr/>
        </p:nvSpPr>
        <p:spPr>
          <a:xfrm>
            <a:off x="6254496" y="4572000"/>
            <a:ext cx="2423160" cy="1033272"/>
          </a:xfrm>
          <a:prstGeom prst="rect">
            <a:avLst/>
          </a:prstGeom>
          <a:solidFill>
            <a:srgbClr val="FFFFFF"/>
          </a:solidFill>
          <a:ln w="12700">
            <a:solidFill>
              <a:srgbClr val="FFFFFF">
                <a:alpha val="0"/>
              </a:srgbClr>
            </a:solidFill>
            <a:prstDash val="solid"/>
          </a:ln>
        </p:spPr>
      </p:sp>
      <p:sp>
        <p:nvSpPr>
          <p:cNvPr id="35" name="Text 33"/>
          <p:cNvSpPr/>
          <p:nvPr/>
        </p:nvSpPr>
        <p:spPr>
          <a:xfrm>
            <a:off x="6409944" y="4681728"/>
            <a:ext cx="2112264" cy="448056"/>
          </a:xfrm>
          <a:prstGeom prst="rect">
            <a:avLst/>
          </a:prstGeom>
          <a:noFill/>
          <a:ln/>
        </p:spPr>
        <p:txBody>
          <a:bodyPr wrap="square" lIns="0" tIns="0" rIns="0" bIns="0" rtlCol="0" anchor="ctr"/>
          <a:lstStyle/>
          <a:p>
            <a:pPr algn="l" indent="0" marL="0">
              <a:buNone/>
            </a:pPr>
            <a:r>
              <a:rPr lang="en-US" sz="3000" b="1" dirty="0">
                <a:solidFill>
                  <a:srgbClr val="B33B43"/>
                </a:solidFill>
                <a:latin typeface="Aptos" pitchFamily="34" charset="0"/>
                <a:ea typeface="Aptos" pitchFamily="34" charset="-122"/>
                <a:cs typeface="Aptos" pitchFamily="34" charset="-120"/>
              </a:rPr>
              <a:t>2</a:t>
            </a:r>
            <a:endParaRPr lang="en-US" sz="3000" dirty="0"/>
          </a:p>
        </p:txBody>
      </p:sp>
      <p:sp>
        <p:nvSpPr>
          <p:cNvPr id="36" name="Text 34"/>
          <p:cNvSpPr/>
          <p:nvPr/>
        </p:nvSpPr>
        <p:spPr>
          <a:xfrm>
            <a:off x="6409944" y="5212080"/>
            <a:ext cx="2112264" cy="228600"/>
          </a:xfrm>
          <a:prstGeom prst="rect">
            <a:avLst/>
          </a:prstGeom>
          <a:noFill/>
          <a:ln/>
        </p:spPr>
        <p:txBody>
          <a:bodyPr wrap="square" lIns="0" tIns="0" rIns="0" bIns="0" rtlCol="0" anchor="ctr"/>
          <a:lstStyle/>
          <a:p>
            <a:pPr algn="l" indent="0" marL="0">
              <a:buNone/>
            </a:pPr>
            <a:r>
              <a:rPr lang="en-US" sz="1600" dirty="0">
                <a:solidFill>
                  <a:srgbClr val="53657A"/>
                </a:solidFill>
                <a:latin typeface="Aptos" pitchFamily="34" charset="0"/>
                <a:ea typeface="Aptos" pitchFamily="34" charset="-122"/>
                <a:cs typeface="Aptos" pitchFamily="34" charset="-120"/>
              </a:rPr>
              <a:t>quarantined rows</a:t>
            </a:r>
            <a:endParaRPr lang="en-US" sz="1600" dirty="0"/>
          </a:p>
        </p:txBody>
      </p:sp>
      <p:sp>
        <p:nvSpPr>
          <p:cNvPr id="37" name="Shape 35"/>
          <p:cNvSpPr/>
          <p:nvPr/>
        </p:nvSpPr>
        <p:spPr>
          <a:xfrm>
            <a:off x="9015984" y="4572000"/>
            <a:ext cx="2423160" cy="1033272"/>
          </a:xfrm>
          <a:prstGeom prst="rect">
            <a:avLst/>
          </a:prstGeom>
          <a:solidFill>
            <a:srgbClr val="FFFFFF"/>
          </a:solidFill>
          <a:ln w="12700">
            <a:solidFill>
              <a:srgbClr val="FFFFFF">
                <a:alpha val="0"/>
              </a:srgbClr>
            </a:solidFill>
            <a:prstDash val="solid"/>
          </a:ln>
        </p:spPr>
      </p:sp>
      <p:sp>
        <p:nvSpPr>
          <p:cNvPr id="38" name="Text 36"/>
          <p:cNvSpPr/>
          <p:nvPr/>
        </p:nvSpPr>
        <p:spPr>
          <a:xfrm>
            <a:off x="9171432" y="4681728"/>
            <a:ext cx="2112264" cy="448056"/>
          </a:xfrm>
          <a:prstGeom prst="rect">
            <a:avLst/>
          </a:prstGeom>
          <a:noFill/>
          <a:ln/>
        </p:spPr>
        <p:txBody>
          <a:bodyPr wrap="square" lIns="0" tIns="0" rIns="0" bIns="0" rtlCol="0" anchor="ctr"/>
          <a:lstStyle/>
          <a:p>
            <a:pPr algn="l" indent="0" marL="0">
              <a:buNone/>
            </a:pPr>
            <a:r>
              <a:rPr lang="en-US" sz="3000" b="1" dirty="0">
                <a:solidFill>
                  <a:srgbClr val="167C85"/>
                </a:solidFill>
                <a:latin typeface="Aptos" pitchFamily="34" charset="0"/>
                <a:ea typeface="Aptos" pitchFamily="34" charset="-122"/>
                <a:cs typeface="Aptos" pitchFamily="34" charset="-120"/>
              </a:rPr>
              <a:t>1,106</a:t>
            </a:r>
            <a:endParaRPr lang="en-US" sz="3000" dirty="0"/>
          </a:p>
        </p:txBody>
      </p:sp>
      <p:sp>
        <p:nvSpPr>
          <p:cNvPr id="39" name="Text 37"/>
          <p:cNvSpPr/>
          <p:nvPr/>
        </p:nvSpPr>
        <p:spPr>
          <a:xfrm>
            <a:off x="9171432" y="5212080"/>
            <a:ext cx="2112264" cy="228600"/>
          </a:xfrm>
          <a:prstGeom prst="rect">
            <a:avLst/>
          </a:prstGeom>
          <a:noFill/>
          <a:ln/>
        </p:spPr>
        <p:txBody>
          <a:bodyPr wrap="square" lIns="0" tIns="0" rIns="0" bIns="0" rtlCol="0" anchor="ctr"/>
          <a:lstStyle/>
          <a:p>
            <a:pPr algn="l" indent="0" marL="0">
              <a:buNone/>
            </a:pPr>
            <a:r>
              <a:rPr lang="en-US" sz="1600" dirty="0">
                <a:solidFill>
                  <a:srgbClr val="53657A"/>
                </a:solidFill>
                <a:latin typeface="Aptos" pitchFamily="34" charset="0"/>
                <a:ea typeface="Aptos" pitchFamily="34" charset="-122"/>
                <a:cs typeface="Aptos" pitchFamily="34" charset="-120"/>
              </a:rPr>
              <a:t>clean rows</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0" y="0"/>
            <a:ext cx="12192000" cy="402336"/>
          </a:xfrm>
          <a:prstGeom prst="rect">
            <a:avLst/>
          </a:prstGeom>
          <a:solidFill>
            <a:srgbClr val="E7EEF7"/>
          </a:solidFill>
          <a:ln w="12700">
            <a:solidFill>
              <a:srgbClr val="E7EEF7">
                <a:alpha val="0"/>
              </a:srgbClr>
            </a:solidFill>
            <a:prstDash val="solid"/>
          </a:ln>
        </p:spPr>
      </p:sp>
      <p:sp>
        <p:nvSpPr>
          <p:cNvPr id="3" name="Shape 1"/>
          <p:cNvSpPr/>
          <p:nvPr/>
        </p:nvSpPr>
        <p:spPr>
          <a:xfrm>
            <a:off x="466344" y="123444"/>
            <a:ext cx="64008" cy="146304"/>
          </a:xfrm>
          <a:prstGeom prst="rect">
            <a:avLst/>
          </a:prstGeom>
          <a:solidFill>
            <a:srgbClr val="176493"/>
          </a:solidFill>
          <a:ln w="12700">
            <a:solidFill>
              <a:srgbClr val="176493">
                <a:alpha val="0"/>
              </a:srgbClr>
            </a:solidFill>
            <a:prstDash val="solid"/>
          </a:ln>
        </p:spPr>
      </p:sp>
      <p:sp>
        <p:nvSpPr>
          <p:cNvPr id="4" name="Text 2"/>
          <p:cNvSpPr/>
          <p:nvPr/>
        </p:nvSpPr>
        <p:spPr>
          <a:xfrm>
            <a:off x="594360" y="100584"/>
            <a:ext cx="731520" cy="201168"/>
          </a:xfrm>
          <a:prstGeom prst="rect">
            <a:avLst/>
          </a:prstGeom>
          <a:noFill/>
          <a:ln/>
        </p:spPr>
        <p:txBody>
          <a:bodyPr wrap="square" lIns="0" tIns="0" rIns="0" bIns="0" rtlCol="0" anchor="ctr"/>
          <a:lstStyle/>
          <a:p>
            <a:pPr algn="l" indent="0" marL="0">
              <a:buNone/>
            </a:pPr>
            <a:r>
              <a:rPr lang="en-US" sz="1100" b="1" dirty="0">
                <a:solidFill>
                  <a:srgbClr val="176493"/>
                </a:solidFill>
                <a:latin typeface="Aptos" pitchFamily="34" charset="0"/>
                <a:ea typeface="Aptos" pitchFamily="34" charset="-122"/>
                <a:cs typeface="Aptos" pitchFamily="34" charset="-120"/>
              </a:rPr>
              <a:t>DS101</a:t>
            </a:r>
            <a:endParaRPr lang="en-US" sz="1100" dirty="0"/>
          </a:p>
        </p:txBody>
      </p:sp>
      <p:sp>
        <p:nvSpPr>
          <p:cNvPr id="5" name="Text 3"/>
          <p:cNvSpPr/>
          <p:nvPr/>
        </p:nvSpPr>
        <p:spPr>
          <a:xfrm>
            <a:off x="1463040" y="100584"/>
            <a:ext cx="1828800" cy="201168"/>
          </a:xfrm>
          <a:prstGeom prst="rect">
            <a:avLst/>
          </a:prstGeom>
          <a:noFill/>
          <a:ln/>
        </p:spPr>
        <p:txBody>
          <a:bodyPr wrap="square" lIns="0" tIns="0" rIns="0" bIns="0" rtlCol="0" anchor="ctr"/>
          <a:lstStyle/>
          <a:p>
            <a:pPr algn="l" indent="0" marL="0">
              <a:buNone/>
            </a:pPr>
            <a:r>
              <a:rPr lang="en-US" sz="1000" dirty="0">
                <a:solidFill>
                  <a:srgbClr val="53657A"/>
                </a:solidFill>
                <a:latin typeface="Aptos" pitchFamily="34" charset="0"/>
                <a:ea typeface="Aptos" pitchFamily="34" charset="-122"/>
                <a:cs typeface="Aptos" pitchFamily="34" charset="-120"/>
              </a:rPr>
              <a:t>LECTURE 02</a:t>
            </a:r>
            <a:endParaRPr lang="en-US" sz="1000" dirty="0"/>
          </a:p>
        </p:txBody>
      </p:sp>
      <p:sp>
        <p:nvSpPr>
          <p:cNvPr id="6" name="Text 4"/>
          <p:cNvSpPr/>
          <p:nvPr/>
        </p:nvSpPr>
        <p:spPr>
          <a:xfrm>
            <a:off x="8321040" y="100584"/>
            <a:ext cx="3264408" cy="201168"/>
          </a:xfrm>
          <a:prstGeom prst="rect">
            <a:avLst/>
          </a:prstGeom>
          <a:noFill/>
          <a:ln/>
        </p:spPr>
        <p:txBody>
          <a:bodyPr wrap="square" lIns="0" tIns="0" rIns="0" bIns="0" rtlCol="0" anchor="ctr"/>
          <a:lstStyle/>
          <a:p>
            <a:pPr algn="r" indent="0" marL="0">
              <a:buNone/>
            </a:pPr>
            <a:r>
              <a:rPr lang="en-US" sz="1000" dirty="0">
                <a:solidFill>
                  <a:srgbClr val="53657A"/>
                </a:solidFill>
                <a:latin typeface="Aptos" pitchFamily="34" charset="0"/>
                <a:ea typeface="Aptos" pitchFamily="34" charset="-122"/>
                <a:cs typeface="Aptos" pitchFamily="34" charset="-120"/>
              </a:rPr>
              <a:t>LEAKAGE</a:t>
            </a:r>
            <a:endParaRPr lang="en-US" sz="1000" dirty="0"/>
          </a:p>
        </p:txBody>
      </p:sp>
      <p:sp>
        <p:nvSpPr>
          <p:cNvPr id="7" name="Text 5"/>
          <p:cNvSpPr/>
          <p:nvPr/>
        </p:nvSpPr>
        <p:spPr>
          <a:xfrm>
            <a:off x="594360" y="758952"/>
            <a:ext cx="11000232" cy="658368"/>
          </a:xfrm>
          <a:prstGeom prst="rect">
            <a:avLst/>
          </a:prstGeom>
          <a:noFill/>
          <a:ln/>
        </p:spPr>
        <p:txBody>
          <a:bodyPr wrap="square" lIns="0" tIns="0" rIns="0" bIns="0" rtlCol="0" anchor="ctr"/>
          <a:lstStyle/>
          <a:p>
            <a:pPr algn="l" indent="0" marL="0">
              <a:buNone/>
            </a:pPr>
            <a:r>
              <a:rPr lang="en-US" sz="3000" b="1" dirty="0">
                <a:solidFill>
                  <a:srgbClr val="172233"/>
                </a:solidFill>
                <a:latin typeface="Aptos" pitchFamily="34" charset="0"/>
                <a:ea typeface="Aptos" pitchFamily="34" charset="-122"/>
                <a:cs typeface="Aptos" pitchFamily="34" charset="-120"/>
              </a:rPr>
              <a:t>Could this feature exist at prediction time?</a:t>
            </a:r>
            <a:endParaRPr lang="en-US" sz="3000" dirty="0"/>
          </a:p>
        </p:txBody>
      </p:sp>
      <p:sp>
        <p:nvSpPr>
          <p:cNvPr id="8" name="Text 6"/>
          <p:cNvSpPr/>
          <p:nvPr/>
        </p:nvSpPr>
        <p:spPr>
          <a:xfrm>
            <a:off x="594360" y="6510528"/>
            <a:ext cx="3657600" cy="164592"/>
          </a:xfrm>
          <a:prstGeom prst="rect">
            <a:avLst/>
          </a:prstGeom>
          <a:noFill/>
          <a:ln/>
        </p:spPr>
        <p:txBody>
          <a:bodyPr wrap="square" lIns="0" tIns="0" rIns="0" bIns="0" rtlCol="0" anchor="ctr"/>
          <a:lstStyle/>
          <a:p>
            <a:pPr algn="l" indent="0" marL="0">
              <a:buNone/>
            </a:pPr>
            <a:r>
              <a:rPr lang="en-US" sz="900" dirty="0">
                <a:solidFill>
                  <a:srgbClr val="53657A"/>
                </a:solidFill>
                <a:latin typeface="Aptos" pitchFamily="34" charset="0"/>
                <a:ea typeface="Aptos" pitchFamily="34" charset="-122"/>
                <a:cs typeface="Aptos" pitchFamily="34" charset="-120"/>
              </a:rPr>
              <a:t>DS101 | 2026-2027</a:t>
            </a:r>
            <a:endParaRPr lang="en-US" sz="900" dirty="0"/>
          </a:p>
        </p:txBody>
      </p:sp>
      <p:sp>
        <p:nvSpPr>
          <p:cNvPr id="9" name="Text 7"/>
          <p:cNvSpPr/>
          <p:nvPr/>
        </p:nvSpPr>
        <p:spPr>
          <a:xfrm>
            <a:off x="10680192" y="6492240"/>
            <a:ext cx="914400" cy="201168"/>
          </a:xfrm>
          <a:prstGeom prst="rect">
            <a:avLst/>
          </a:prstGeom>
          <a:noFill/>
          <a:ln/>
        </p:spPr>
        <p:txBody>
          <a:bodyPr wrap="square" lIns="0" tIns="0" rIns="0" bIns="0" rtlCol="0" anchor="ctr"/>
          <a:lstStyle/>
          <a:p>
            <a:pPr algn="r" indent="0" marL="0">
              <a:buNone/>
            </a:pPr>
            <a:r>
              <a:rPr lang="en-US" sz="1000" dirty="0">
                <a:solidFill>
                  <a:srgbClr val="53657A"/>
                </a:solidFill>
                <a:latin typeface="Aptos" pitchFamily="34" charset="0"/>
                <a:ea typeface="Aptos" pitchFamily="34" charset="-122"/>
                <a:cs typeface="Aptos" pitchFamily="34" charset="-120"/>
              </a:rPr>
              <a:t>05 / 24</a:t>
            </a:r>
            <a:endParaRPr lang="en-US" sz="1000" dirty="0"/>
          </a:p>
        </p:txBody>
      </p:sp>
      <p:sp>
        <p:nvSpPr>
          <p:cNvPr id="10" name="Shape 8"/>
          <p:cNvSpPr/>
          <p:nvPr/>
        </p:nvSpPr>
        <p:spPr>
          <a:xfrm>
            <a:off x="594360" y="5852160"/>
            <a:ext cx="11000232" cy="438912"/>
          </a:xfrm>
          <a:prstGeom prst="rect">
            <a:avLst/>
          </a:prstGeom>
          <a:solidFill>
            <a:srgbClr val="E3EFF7"/>
          </a:solidFill>
          <a:ln w="12700">
            <a:solidFill>
              <a:srgbClr val="E3EFF7">
                <a:alpha val="0"/>
              </a:srgbClr>
            </a:solidFill>
            <a:prstDash val="solid"/>
          </a:ln>
        </p:spPr>
      </p:sp>
      <p:sp>
        <p:nvSpPr>
          <p:cNvPr id="11" name="Text 9"/>
          <p:cNvSpPr/>
          <p:nvPr/>
        </p:nvSpPr>
        <p:spPr>
          <a:xfrm>
            <a:off x="795528" y="5943600"/>
            <a:ext cx="10607040" cy="256032"/>
          </a:xfrm>
          <a:prstGeom prst="rect">
            <a:avLst/>
          </a:prstGeom>
          <a:noFill/>
          <a:ln/>
        </p:spPr>
        <p:txBody>
          <a:bodyPr wrap="square" lIns="0" tIns="0" rIns="0" bIns="0" rtlCol="0" anchor="ctr"/>
          <a:lstStyle/>
          <a:p>
            <a:pPr algn="l" indent="0" marL="0">
              <a:buNone/>
            </a:pPr>
            <a:r>
              <a:rPr lang="en-US" sz="1700" b="1" dirty="0">
                <a:solidFill>
                  <a:srgbClr val="176493"/>
                </a:solidFill>
                <a:latin typeface="Aptos" pitchFamily="34" charset="0"/>
                <a:ea typeface="Aptos" pitchFamily="34" charset="-122"/>
                <a:cs typeface="Aptos" pitchFamily="34" charset="-120"/>
              </a:rPr>
              <a:t>Do not hide the unknown price inside an input feature.</a:t>
            </a:r>
            <a:endParaRPr lang="en-US" sz="1700" dirty="0"/>
          </a:p>
        </p:txBody>
      </p:sp>
      <p:sp>
        <p:nvSpPr>
          <p:cNvPr id="12" name="Text 10"/>
          <p:cNvSpPr/>
          <p:nvPr/>
        </p:nvSpPr>
        <p:spPr>
          <a:xfrm>
            <a:off x="749808" y="1673352"/>
            <a:ext cx="6400800" cy="219456"/>
          </a:xfrm>
          <a:prstGeom prst="rect">
            <a:avLst/>
          </a:prstGeom>
          <a:noFill/>
          <a:ln/>
        </p:spPr>
        <p:txBody>
          <a:bodyPr wrap="square" lIns="0" tIns="0" rIns="0" bIns="0" rtlCol="0" anchor="ctr"/>
          <a:lstStyle/>
          <a:p>
            <a:pPr algn="l" indent="0" marL="0">
              <a:buNone/>
            </a:pPr>
            <a:r>
              <a:rPr lang="en-US" sz="1150" b="1" spc="50" kern="0" dirty="0">
                <a:solidFill>
                  <a:srgbClr val="176493"/>
                </a:solidFill>
                <a:latin typeface="Aptos" pitchFamily="34" charset="0"/>
                <a:ea typeface="Aptos" pitchFamily="34" charset="-122"/>
                <a:cs typeface="Aptos" pitchFamily="34" charset="-120"/>
              </a:rPr>
              <a:t>TASK: ESTIMATE TOTAL PROPERTY PRICE</a:t>
            </a:r>
            <a:endParaRPr lang="en-US" sz="1150" dirty="0"/>
          </a:p>
        </p:txBody>
      </p:sp>
      <p:sp>
        <p:nvSpPr>
          <p:cNvPr id="13" name="Shape 11"/>
          <p:cNvSpPr/>
          <p:nvPr/>
        </p:nvSpPr>
        <p:spPr>
          <a:xfrm>
            <a:off x="749808" y="2148840"/>
            <a:ext cx="5074920" cy="2377440"/>
          </a:xfrm>
          <a:prstGeom prst="rect">
            <a:avLst/>
          </a:prstGeom>
          <a:solidFill>
            <a:srgbClr val="FFFFFF"/>
          </a:solidFill>
          <a:ln w="12700">
            <a:solidFill>
              <a:srgbClr val="FFFFFF">
                <a:alpha val="0"/>
              </a:srgbClr>
            </a:solidFill>
            <a:prstDash val="solid"/>
          </a:ln>
        </p:spPr>
      </p:sp>
      <p:sp>
        <p:nvSpPr>
          <p:cNvPr id="14" name="Shape 12"/>
          <p:cNvSpPr/>
          <p:nvPr/>
        </p:nvSpPr>
        <p:spPr>
          <a:xfrm>
            <a:off x="749808" y="2148840"/>
            <a:ext cx="5074920" cy="64008"/>
          </a:xfrm>
          <a:prstGeom prst="rect">
            <a:avLst/>
          </a:prstGeom>
          <a:solidFill>
            <a:srgbClr val="167C85"/>
          </a:solidFill>
          <a:ln w="12700">
            <a:solidFill>
              <a:srgbClr val="167C85">
                <a:alpha val="0"/>
              </a:srgbClr>
            </a:solidFill>
            <a:prstDash val="solid"/>
          </a:ln>
        </p:spPr>
      </p:sp>
      <p:sp>
        <p:nvSpPr>
          <p:cNvPr id="15" name="Text 13"/>
          <p:cNvSpPr/>
          <p:nvPr/>
        </p:nvSpPr>
        <p:spPr>
          <a:xfrm>
            <a:off x="932688" y="2423160"/>
            <a:ext cx="4709160" cy="502920"/>
          </a:xfrm>
          <a:prstGeom prst="rect">
            <a:avLst/>
          </a:prstGeom>
          <a:noFill/>
          <a:ln/>
        </p:spPr>
        <p:txBody>
          <a:bodyPr wrap="square" lIns="0" tIns="0" rIns="0" bIns="0" rtlCol="0" anchor="ctr"/>
          <a:lstStyle/>
          <a:p>
            <a:pPr algn="l" indent="0" marL="0">
              <a:buNone/>
            </a:pPr>
            <a:r>
              <a:rPr lang="en-US" sz="2300" b="1" dirty="0">
                <a:solidFill>
                  <a:srgbClr val="167C85"/>
                </a:solidFill>
                <a:latin typeface="Aptos" pitchFamily="34" charset="0"/>
                <a:ea typeface="Aptos" pitchFamily="34" charset="-122"/>
                <a:cs typeface="Aptos" pitchFamily="34" charset="-120"/>
              </a:rPr>
              <a:t>Available before the price</a:t>
            </a:r>
            <a:endParaRPr lang="en-US" sz="2300" dirty="0"/>
          </a:p>
        </p:txBody>
      </p:sp>
      <p:sp>
        <p:nvSpPr>
          <p:cNvPr id="16" name="Text 14"/>
          <p:cNvSpPr/>
          <p:nvPr/>
        </p:nvSpPr>
        <p:spPr>
          <a:xfrm>
            <a:off x="932688" y="3108960"/>
            <a:ext cx="4709160" cy="1261872"/>
          </a:xfrm>
          <a:prstGeom prst="rect">
            <a:avLst/>
          </a:prstGeom>
          <a:noFill/>
          <a:ln/>
        </p:spPr>
        <p:txBody>
          <a:bodyPr wrap="square" lIns="0" tIns="0" rIns="0" bIns="0" rtlCol="0" anchor="t"/>
          <a:lstStyle/>
          <a:p>
            <a:pPr algn="l" indent="0" marL="0">
              <a:buNone/>
            </a:pPr>
            <a:r>
              <a:rPr lang="en-US" sz="2000" dirty="0">
                <a:solidFill>
                  <a:srgbClr val="53657A"/>
                </a:solidFill>
                <a:latin typeface="Aptos" pitchFamily="34" charset="0"/>
                <a:ea typeface="Aptos" pitchFamily="34" charset="-122"/>
                <a:cs typeface="Aptos" pitchFamily="34" charset="-120"/>
              </a:rPr>
              <a:t>Area in square metres</a:t>
            </a:r>
            <a:endParaRPr lang="en-US" sz="2000" dirty="0"/>
          </a:p>
          <a:p>
            <a:pPr algn="l" indent="0" marL="0">
              <a:buNone/>
            </a:pPr>
            <a:r>
              <a:rPr lang="en-US" sz="2000" dirty="0">
                <a:solidFill>
                  <a:srgbClr val="53657A"/>
                </a:solidFill>
                <a:latin typeface="Aptos" pitchFamily="34" charset="0"/>
                <a:ea typeface="Aptos" pitchFamily="34" charset="-122"/>
                <a:cs typeface="Aptos" pitchFamily="34" charset="-120"/>
              </a:rPr>
              <a:t>Number of rooms</a:t>
            </a:r>
            <a:endParaRPr lang="en-US" sz="2000" dirty="0"/>
          </a:p>
        </p:txBody>
      </p:sp>
      <p:sp>
        <p:nvSpPr>
          <p:cNvPr id="17" name="Shape 15"/>
          <p:cNvSpPr/>
          <p:nvPr/>
        </p:nvSpPr>
        <p:spPr>
          <a:xfrm>
            <a:off x="6144768" y="2148840"/>
            <a:ext cx="5303520" cy="2377440"/>
          </a:xfrm>
          <a:prstGeom prst="rect">
            <a:avLst/>
          </a:prstGeom>
          <a:solidFill>
            <a:srgbClr val="FFFFFF"/>
          </a:solidFill>
          <a:ln w="12700">
            <a:solidFill>
              <a:srgbClr val="FFFFFF">
                <a:alpha val="0"/>
              </a:srgbClr>
            </a:solidFill>
            <a:prstDash val="solid"/>
          </a:ln>
        </p:spPr>
      </p:sp>
      <p:sp>
        <p:nvSpPr>
          <p:cNvPr id="18" name="Shape 16"/>
          <p:cNvSpPr/>
          <p:nvPr/>
        </p:nvSpPr>
        <p:spPr>
          <a:xfrm>
            <a:off x="6144768" y="2148840"/>
            <a:ext cx="5303520" cy="64008"/>
          </a:xfrm>
          <a:prstGeom prst="rect">
            <a:avLst/>
          </a:prstGeom>
          <a:solidFill>
            <a:srgbClr val="B33B43"/>
          </a:solidFill>
          <a:ln w="12700">
            <a:solidFill>
              <a:srgbClr val="B33B43">
                <a:alpha val="0"/>
              </a:srgbClr>
            </a:solidFill>
            <a:prstDash val="solid"/>
          </a:ln>
        </p:spPr>
      </p:sp>
      <p:sp>
        <p:nvSpPr>
          <p:cNvPr id="19" name="Text 17"/>
          <p:cNvSpPr/>
          <p:nvPr/>
        </p:nvSpPr>
        <p:spPr>
          <a:xfrm>
            <a:off x="6327648" y="2423160"/>
            <a:ext cx="4937760" cy="502920"/>
          </a:xfrm>
          <a:prstGeom prst="rect">
            <a:avLst/>
          </a:prstGeom>
          <a:noFill/>
          <a:ln/>
        </p:spPr>
        <p:txBody>
          <a:bodyPr wrap="square" lIns="0" tIns="0" rIns="0" bIns="0" rtlCol="0" anchor="ctr"/>
          <a:lstStyle/>
          <a:p>
            <a:pPr algn="l" indent="0" marL="0">
              <a:buNone/>
            </a:pPr>
            <a:r>
              <a:rPr lang="en-US" sz="2300" b="1" dirty="0">
                <a:solidFill>
                  <a:srgbClr val="B33B43"/>
                </a:solidFill>
                <a:latin typeface="Aptos" pitchFamily="34" charset="0"/>
                <a:ea typeface="Aptos" pitchFamily="34" charset="-122"/>
                <a:cs typeface="Aptos" pitchFamily="34" charset="-120"/>
              </a:rPr>
              <a:t>Derived from the target</a:t>
            </a:r>
            <a:endParaRPr lang="en-US" sz="2300" dirty="0"/>
          </a:p>
        </p:txBody>
      </p:sp>
      <p:sp>
        <p:nvSpPr>
          <p:cNvPr id="20" name="Text 18"/>
          <p:cNvSpPr/>
          <p:nvPr/>
        </p:nvSpPr>
        <p:spPr>
          <a:xfrm>
            <a:off x="6327648" y="3108960"/>
            <a:ext cx="4937760" cy="1261872"/>
          </a:xfrm>
          <a:prstGeom prst="rect">
            <a:avLst/>
          </a:prstGeom>
          <a:noFill/>
          <a:ln/>
        </p:spPr>
        <p:txBody>
          <a:bodyPr wrap="square" lIns="0" tIns="0" rIns="0" bIns="0" rtlCol="0" anchor="t"/>
          <a:lstStyle/>
          <a:p>
            <a:pPr algn="l" indent="0" marL="0">
              <a:buNone/>
            </a:pPr>
            <a:r>
              <a:rPr lang="en-US" sz="2000" dirty="0">
                <a:solidFill>
                  <a:srgbClr val="53657A"/>
                </a:solidFill>
                <a:latin typeface="Aptos" pitchFamily="34" charset="0"/>
                <a:ea typeface="Aptos" pitchFamily="34" charset="-122"/>
                <a:cs typeface="Aptos" pitchFamily="34" charset="-120"/>
              </a:rPr>
              <a:t>Price / Surface</a:t>
            </a:r>
            <a:endParaRPr lang="en-US" sz="2000" dirty="0"/>
          </a:p>
          <a:p>
            <a:pPr algn="l" indent="0" marL="0">
              <a:buNone/>
            </a:pPr>
            <a:r>
              <a:rPr lang="en-US" sz="2000" dirty="0">
                <a:solidFill>
                  <a:srgbClr val="53657A"/>
                </a:solidFill>
                <a:latin typeface="Aptos" pitchFamily="34" charset="0"/>
                <a:ea typeface="Aptos" pitchFamily="34" charset="-122"/>
                <a:cs typeface="Aptos" pitchFamily="34" charset="-120"/>
              </a:rPr>
              <a:t>Uses the price we want to predict</a:t>
            </a:r>
            <a:endParaRPr lang="en-US" sz="2000" dirty="0"/>
          </a:p>
        </p:txBody>
      </p:sp>
      <p:sp>
        <p:nvSpPr>
          <p:cNvPr id="21" name="Text 19"/>
          <p:cNvSpPr/>
          <p:nvPr/>
        </p:nvSpPr>
        <p:spPr>
          <a:xfrm>
            <a:off x="786384" y="4846320"/>
            <a:ext cx="10607040" cy="484632"/>
          </a:xfrm>
          <a:prstGeom prst="rect">
            <a:avLst/>
          </a:prstGeom>
          <a:noFill/>
          <a:ln/>
        </p:spPr>
        <p:txBody>
          <a:bodyPr wrap="square" lIns="0" tIns="0" rIns="0" bIns="0" rtlCol="0" anchor="ctr"/>
          <a:lstStyle/>
          <a:p>
            <a:pPr algn="l" indent="0" marL="0">
              <a:buNone/>
            </a:pPr>
            <a:r>
              <a:rPr lang="en-US" sz="2300" b="1" dirty="0">
                <a:solidFill>
                  <a:srgbClr val="172233"/>
                </a:solidFill>
                <a:latin typeface="Aptos" pitchFamily="34" charset="0"/>
                <a:ea typeface="Aptos" pitchFamily="34" charset="-122"/>
                <a:cs typeface="Aptos" pitchFamily="34" charset="-120"/>
              </a:rPr>
              <a:t>Choose features by meaning and availability, not by column position.</a:t>
            </a:r>
            <a:endParaRPr lang="en-US" sz="2300" dirty="0"/>
          </a:p>
        </p:txBody>
      </p:sp>
      <p:sp>
        <p:nvSpPr>
          <p:cNvPr id="22" name="Text 20"/>
          <p:cNvSpPr/>
          <p:nvPr/>
        </p:nvSpPr>
        <p:spPr>
          <a:xfrm>
            <a:off x="786384" y="5504688"/>
            <a:ext cx="10515600" cy="219456"/>
          </a:xfrm>
          <a:prstGeom prst="rect">
            <a:avLst/>
          </a:prstGeom>
          <a:noFill/>
          <a:ln/>
        </p:spPr>
        <p:txBody>
          <a:bodyPr wrap="square" lIns="0" tIns="0" rIns="0" bIns="0" rtlCol="0" anchor="ctr"/>
          <a:lstStyle/>
          <a:p>
            <a:pPr algn="l" indent="0" marL="0">
              <a:buNone/>
            </a:pPr>
            <a:r>
              <a:rPr lang="en-US" sz="1150" b="1" spc="50" kern="0" dirty="0">
                <a:solidFill>
                  <a:srgbClr val="53657A"/>
                </a:solidFill>
                <a:latin typeface="Aptos" pitchFamily="34" charset="0"/>
                <a:ea typeface="Aptos" pitchFamily="34" charset="-122"/>
                <a:cs typeface="Aptos" pitchFamily="34" charset="-120"/>
              </a:rPr>
              <a:t>SEPARATE QUESTIONS: LEAKAGE / SENSITIVE PROXIES / CAUSAL CLAIMS</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0" y="0"/>
            <a:ext cx="12192000" cy="402336"/>
          </a:xfrm>
          <a:prstGeom prst="rect">
            <a:avLst/>
          </a:prstGeom>
          <a:solidFill>
            <a:srgbClr val="E7EEF7"/>
          </a:solidFill>
          <a:ln w="12700">
            <a:solidFill>
              <a:srgbClr val="E7EEF7">
                <a:alpha val="0"/>
              </a:srgbClr>
            </a:solidFill>
            <a:prstDash val="solid"/>
          </a:ln>
        </p:spPr>
      </p:sp>
      <p:sp>
        <p:nvSpPr>
          <p:cNvPr id="3" name="Shape 1"/>
          <p:cNvSpPr/>
          <p:nvPr/>
        </p:nvSpPr>
        <p:spPr>
          <a:xfrm>
            <a:off x="466344" y="123444"/>
            <a:ext cx="64008" cy="146304"/>
          </a:xfrm>
          <a:prstGeom prst="rect">
            <a:avLst/>
          </a:prstGeom>
          <a:solidFill>
            <a:srgbClr val="176493"/>
          </a:solidFill>
          <a:ln w="12700">
            <a:solidFill>
              <a:srgbClr val="176493">
                <a:alpha val="0"/>
              </a:srgbClr>
            </a:solidFill>
            <a:prstDash val="solid"/>
          </a:ln>
        </p:spPr>
      </p:sp>
      <p:sp>
        <p:nvSpPr>
          <p:cNvPr id="4" name="Text 2"/>
          <p:cNvSpPr/>
          <p:nvPr/>
        </p:nvSpPr>
        <p:spPr>
          <a:xfrm>
            <a:off x="594360" y="100584"/>
            <a:ext cx="731520" cy="201168"/>
          </a:xfrm>
          <a:prstGeom prst="rect">
            <a:avLst/>
          </a:prstGeom>
          <a:noFill/>
          <a:ln/>
        </p:spPr>
        <p:txBody>
          <a:bodyPr wrap="square" lIns="0" tIns="0" rIns="0" bIns="0" rtlCol="0" anchor="ctr"/>
          <a:lstStyle/>
          <a:p>
            <a:pPr algn="l" indent="0" marL="0">
              <a:buNone/>
            </a:pPr>
            <a:r>
              <a:rPr lang="en-US" sz="1100" b="1" dirty="0">
                <a:solidFill>
                  <a:srgbClr val="176493"/>
                </a:solidFill>
                <a:latin typeface="Aptos" pitchFamily="34" charset="0"/>
                <a:ea typeface="Aptos" pitchFamily="34" charset="-122"/>
                <a:cs typeface="Aptos" pitchFamily="34" charset="-120"/>
              </a:rPr>
              <a:t>DS101</a:t>
            </a:r>
            <a:endParaRPr lang="en-US" sz="1100" dirty="0"/>
          </a:p>
        </p:txBody>
      </p:sp>
      <p:sp>
        <p:nvSpPr>
          <p:cNvPr id="5" name="Text 3"/>
          <p:cNvSpPr/>
          <p:nvPr/>
        </p:nvSpPr>
        <p:spPr>
          <a:xfrm>
            <a:off x="1463040" y="100584"/>
            <a:ext cx="1828800" cy="201168"/>
          </a:xfrm>
          <a:prstGeom prst="rect">
            <a:avLst/>
          </a:prstGeom>
          <a:noFill/>
          <a:ln/>
        </p:spPr>
        <p:txBody>
          <a:bodyPr wrap="square" lIns="0" tIns="0" rIns="0" bIns="0" rtlCol="0" anchor="ctr"/>
          <a:lstStyle/>
          <a:p>
            <a:pPr algn="l" indent="0" marL="0">
              <a:buNone/>
            </a:pPr>
            <a:r>
              <a:rPr lang="en-US" sz="1000" dirty="0">
                <a:solidFill>
                  <a:srgbClr val="53657A"/>
                </a:solidFill>
                <a:latin typeface="Aptos" pitchFamily="34" charset="0"/>
                <a:ea typeface="Aptos" pitchFamily="34" charset="-122"/>
                <a:cs typeface="Aptos" pitchFamily="34" charset="-120"/>
              </a:rPr>
              <a:t>LECTURE 02</a:t>
            </a:r>
            <a:endParaRPr lang="en-US" sz="1000" dirty="0"/>
          </a:p>
        </p:txBody>
      </p:sp>
      <p:sp>
        <p:nvSpPr>
          <p:cNvPr id="6" name="Text 4"/>
          <p:cNvSpPr/>
          <p:nvPr/>
        </p:nvSpPr>
        <p:spPr>
          <a:xfrm>
            <a:off x="8321040" y="100584"/>
            <a:ext cx="3264408" cy="201168"/>
          </a:xfrm>
          <a:prstGeom prst="rect">
            <a:avLst/>
          </a:prstGeom>
          <a:noFill/>
          <a:ln/>
        </p:spPr>
        <p:txBody>
          <a:bodyPr wrap="square" lIns="0" tIns="0" rIns="0" bIns="0" rtlCol="0" anchor="ctr"/>
          <a:lstStyle/>
          <a:p>
            <a:pPr algn="r" indent="0" marL="0">
              <a:buNone/>
            </a:pPr>
            <a:r>
              <a:rPr lang="en-US" sz="1000" dirty="0">
                <a:solidFill>
                  <a:srgbClr val="53657A"/>
                </a:solidFill>
                <a:latin typeface="Aptos" pitchFamily="34" charset="0"/>
                <a:ea typeface="Aptos" pitchFamily="34" charset="-122"/>
                <a:cs typeface="Aptos" pitchFamily="34" charset="-120"/>
              </a:rPr>
              <a:t>PHARMA CASE</a:t>
            </a:r>
            <a:endParaRPr lang="en-US" sz="1000" dirty="0"/>
          </a:p>
        </p:txBody>
      </p:sp>
      <p:sp>
        <p:nvSpPr>
          <p:cNvPr id="7" name="Text 5"/>
          <p:cNvSpPr/>
          <p:nvPr/>
        </p:nvSpPr>
        <p:spPr>
          <a:xfrm>
            <a:off x="594360" y="758952"/>
            <a:ext cx="11000232" cy="658368"/>
          </a:xfrm>
          <a:prstGeom prst="rect">
            <a:avLst/>
          </a:prstGeom>
          <a:noFill/>
          <a:ln/>
        </p:spPr>
        <p:txBody>
          <a:bodyPr wrap="square" lIns="0" tIns="0" rIns="0" bIns="0" rtlCol="0" anchor="ctr"/>
          <a:lstStyle/>
          <a:p>
            <a:pPr algn="l" indent="0" marL="0">
              <a:buNone/>
            </a:pPr>
            <a:r>
              <a:rPr lang="en-US" sz="3000" b="1" dirty="0">
                <a:solidFill>
                  <a:srgbClr val="172233"/>
                </a:solidFill>
                <a:latin typeface="Aptos" pitchFamily="34" charset="0"/>
                <a:ea typeface="Aptos" pitchFamily="34" charset="-122"/>
                <a:cs typeface="Aptos" pitchFamily="34" charset="-120"/>
              </a:rPr>
              <a:t>Transactions are not yet customers</a:t>
            </a:r>
            <a:endParaRPr lang="en-US" sz="3000" dirty="0"/>
          </a:p>
        </p:txBody>
      </p:sp>
      <p:sp>
        <p:nvSpPr>
          <p:cNvPr id="8" name="Text 6"/>
          <p:cNvSpPr/>
          <p:nvPr/>
        </p:nvSpPr>
        <p:spPr>
          <a:xfrm>
            <a:off x="594360" y="6510528"/>
            <a:ext cx="3657600" cy="164592"/>
          </a:xfrm>
          <a:prstGeom prst="rect">
            <a:avLst/>
          </a:prstGeom>
          <a:noFill/>
          <a:ln/>
        </p:spPr>
        <p:txBody>
          <a:bodyPr wrap="square" lIns="0" tIns="0" rIns="0" bIns="0" rtlCol="0" anchor="ctr"/>
          <a:lstStyle/>
          <a:p>
            <a:pPr algn="l" indent="0" marL="0">
              <a:buNone/>
            </a:pPr>
            <a:r>
              <a:rPr lang="en-US" sz="900" dirty="0">
                <a:solidFill>
                  <a:srgbClr val="53657A"/>
                </a:solidFill>
                <a:latin typeface="Aptos" pitchFamily="34" charset="0"/>
                <a:ea typeface="Aptos" pitchFamily="34" charset="-122"/>
                <a:cs typeface="Aptos" pitchFamily="34" charset="-120"/>
              </a:rPr>
              <a:t>DS101 | 2026-2027</a:t>
            </a:r>
            <a:endParaRPr lang="en-US" sz="900" dirty="0"/>
          </a:p>
        </p:txBody>
      </p:sp>
      <p:sp>
        <p:nvSpPr>
          <p:cNvPr id="9" name="Text 7"/>
          <p:cNvSpPr/>
          <p:nvPr/>
        </p:nvSpPr>
        <p:spPr>
          <a:xfrm>
            <a:off x="10680192" y="6492240"/>
            <a:ext cx="914400" cy="201168"/>
          </a:xfrm>
          <a:prstGeom prst="rect">
            <a:avLst/>
          </a:prstGeom>
          <a:noFill/>
          <a:ln/>
        </p:spPr>
        <p:txBody>
          <a:bodyPr wrap="square" lIns="0" tIns="0" rIns="0" bIns="0" rtlCol="0" anchor="ctr"/>
          <a:lstStyle/>
          <a:p>
            <a:pPr algn="r" indent="0" marL="0">
              <a:buNone/>
            </a:pPr>
            <a:r>
              <a:rPr lang="en-US" sz="1000" dirty="0">
                <a:solidFill>
                  <a:srgbClr val="53657A"/>
                </a:solidFill>
                <a:latin typeface="Aptos" pitchFamily="34" charset="0"/>
                <a:ea typeface="Aptos" pitchFamily="34" charset="-122"/>
                <a:cs typeface="Aptos" pitchFamily="34" charset="-120"/>
              </a:rPr>
              <a:t>06 / 24</a:t>
            </a:r>
            <a:endParaRPr lang="en-US" sz="1000" dirty="0"/>
          </a:p>
        </p:txBody>
      </p:sp>
      <p:sp>
        <p:nvSpPr>
          <p:cNvPr id="10" name="Shape 8"/>
          <p:cNvSpPr/>
          <p:nvPr/>
        </p:nvSpPr>
        <p:spPr>
          <a:xfrm>
            <a:off x="594360" y="5852160"/>
            <a:ext cx="11000232" cy="438912"/>
          </a:xfrm>
          <a:prstGeom prst="rect">
            <a:avLst/>
          </a:prstGeom>
          <a:solidFill>
            <a:srgbClr val="E3EFF7"/>
          </a:solidFill>
          <a:ln w="12700">
            <a:solidFill>
              <a:srgbClr val="E3EFF7">
                <a:alpha val="0"/>
              </a:srgbClr>
            </a:solidFill>
            <a:prstDash val="solid"/>
          </a:ln>
        </p:spPr>
      </p:sp>
      <p:sp>
        <p:nvSpPr>
          <p:cNvPr id="11" name="Text 9"/>
          <p:cNvSpPr/>
          <p:nvPr/>
        </p:nvSpPr>
        <p:spPr>
          <a:xfrm>
            <a:off x="795528" y="5943600"/>
            <a:ext cx="10607040" cy="256032"/>
          </a:xfrm>
          <a:prstGeom prst="rect">
            <a:avLst/>
          </a:prstGeom>
          <a:noFill/>
          <a:ln/>
        </p:spPr>
        <p:txBody>
          <a:bodyPr wrap="square" lIns="0" tIns="0" rIns="0" bIns="0" rtlCol="0" anchor="ctr"/>
          <a:lstStyle/>
          <a:p>
            <a:pPr algn="l" indent="0" marL="0">
              <a:buNone/>
            </a:pPr>
            <a:r>
              <a:rPr lang="en-US" sz="1700" b="1" dirty="0">
                <a:solidFill>
                  <a:srgbClr val="176493"/>
                </a:solidFill>
                <a:latin typeface="Aptos" pitchFamily="34" charset="0"/>
                <a:ea typeface="Aptos" pitchFamily="34" charset="-122"/>
                <a:cs typeface="Aptos" pitchFamily="34" charset="-120"/>
              </a:rPr>
              <a:t>Choose the unit of analysis before choosing a model.</a:t>
            </a:r>
            <a:endParaRPr lang="en-US" sz="1700" dirty="0"/>
          </a:p>
        </p:txBody>
      </p:sp>
      <p:sp>
        <p:nvSpPr>
          <p:cNvPr id="12" name="Text 10"/>
          <p:cNvSpPr/>
          <p:nvPr/>
        </p:nvSpPr>
        <p:spPr>
          <a:xfrm>
            <a:off x="749808" y="1673352"/>
            <a:ext cx="5486400" cy="219456"/>
          </a:xfrm>
          <a:prstGeom prst="rect">
            <a:avLst/>
          </a:prstGeom>
          <a:noFill/>
          <a:ln/>
        </p:spPr>
        <p:txBody>
          <a:bodyPr wrap="square" lIns="0" tIns="0" rIns="0" bIns="0" rtlCol="0" anchor="ctr"/>
          <a:lstStyle/>
          <a:p>
            <a:pPr algn="l" indent="0" marL="0">
              <a:buNone/>
            </a:pPr>
            <a:r>
              <a:rPr lang="en-US" sz="1150" b="1" spc="50" kern="0" dirty="0">
                <a:solidFill>
                  <a:srgbClr val="176493"/>
                </a:solidFill>
                <a:latin typeface="Aptos" pitchFamily="34" charset="0"/>
                <a:ea typeface="Aptos" pitchFamily="34" charset="-122"/>
                <a:cs typeface="Aptos" pitchFamily="34" charset="-120"/>
              </a:rPr>
              <a:t>ILLUSTRATIVE BUSINESS ACCOUNT A001</a:t>
            </a:r>
            <a:endParaRPr lang="en-US" sz="1150" dirty="0"/>
          </a:p>
        </p:txBody>
      </p:sp>
      <p:sp>
        <p:nvSpPr>
          <p:cNvPr id="13" name="Shape 11"/>
          <p:cNvSpPr/>
          <p:nvPr/>
        </p:nvSpPr>
        <p:spPr>
          <a:xfrm>
            <a:off x="749808" y="2139696"/>
            <a:ext cx="5440680" cy="457200"/>
          </a:xfrm>
          <a:prstGeom prst="rect">
            <a:avLst/>
          </a:prstGeom>
          <a:solidFill>
            <a:srgbClr val="263142"/>
          </a:solidFill>
          <a:ln w="12700">
            <a:solidFill>
              <a:srgbClr val="263142">
                <a:alpha val="0"/>
              </a:srgbClr>
            </a:solidFill>
            <a:prstDash val="solid"/>
          </a:ln>
        </p:spPr>
      </p:sp>
      <p:sp>
        <p:nvSpPr>
          <p:cNvPr id="14" name="Text 12"/>
          <p:cNvSpPr/>
          <p:nvPr/>
        </p:nvSpPr>
        <p:spPr>
          <a:xfrm>
            <a:off x="859536" y="2176272"/>
            <a:ext cx="950976" cy="384048"/>
          </a:xfrm>
          <a:prstGeom prst="rect">
            <a:avLst/>
          </a:prstGeom>
          <a:noFill/>
          <a:ln/>
        </p:spPr>
        <p:txBody>
          <a:bodyPr wrap="square" lIns="0" tIns="0" rIns="0" bIns="0" rtlCol="0" anchor="ctr"/>
          <a:lstStyle/>
          <a:p>
            <a:pPr algn="l" indent="0" marL="0">
              <a:buNone/>
            </a:pPr>
            <a:r>
              <a:rPr lang="en-US" sz="1500" b="1" dirty="0">
                <a:solidFill>
                  <a:srgbClr val="FFFFFF"/>
                </a:solidFill>
                <a:latin typeface="Aptos" pitchFamily="34" charset="0"/>
                <a:ea typeface="Aptos" pitchFamily="34" charset="-122"/>
                <a:cs typeface="Aptos" pitchFamily="34" charset="-120"/>
              </a:rPr>
              <a:t>Order</a:t>
            </a:r>
            <a:endParaRPr lang="en-US" sz="1500" dirty="0"/>
          </a:p>
        </p:txBody>
      </p:sp>
      <p:sp>
        <p:nvSpPr>
          <p:cNvPr id="15" name="Text 13"/>
          <p:cNvSpPr/>
          <p:nvPr/>
        </p:nvSpPr>
        <p:spPr>
          <a:xfrm>
            <a:off x="2029968" y="2176272"/>
            <a:ext cx="1719072" cy="384048"/>
          </a:xfrm>
          <a:prstGeom prst="rect">
            <a:avLst/>
          </a:prstGeom>
          <a:noFill/>
          <a:ln/>
        </p:spPr>
        <p:txBody>
          <a:bodyPr wrap="square" lIns="0" tIns="0" rIns="0" bIns="0" rtlCol="0" anchor="ctr"/>
          <a:lstStyle/>
          <a:p>
            <a:pPr algn="l" indent="0" marL="0">
              <a:buNone/>
            </a:pPr>
            <a:r>
              <a:rPr lang="en-US" sz="1500" b="1" dirty="0">
                <a:solidFill>
                  <a:srgbClr val="FFFFFF"/>
                </a:solidFill>
                <a:latin typeface="Aptos" pitchFamily="34" charset="0"/>
                <a:ea typeface="Aptos" pitchFamily="34" charset="-122"/>
                <a:cs typeface="Aptos" pitchFamily="34" charset="-120"/>
              </a:rPr>
              <a:t>Line value (CU)</a:t>
            </a:r>
            <a:endParaRPr lang="en-US" sz="1500" dirty="0"/>
          </a:p>
        </p:txBody>
      </p:sp>
      <p:sp>
        <p:nvSpPr>
          <p:cNvPr id="16" name="Text 14"/>
          <p:cNvSpPr/>
          <p:nvPr/>
        </p:nvSpPr>
        <p:spPr>
          <a:xfrm>
            <a:off x="3968496" y="2176272"/>
            <a:ext cx="2112264" cy="384048"/>
          </a:xfrm>
          <a:prstGeom prst="rect">
            <a:avLst/>
          </a:prstGeom>
          <a:noFill/>
          <a:ln/>
        </p:spPr>
        <p:txBody>
          <a:bodyPr wrap="square" lIns="0" tIns="0" rIns="0" bIns="0" rtlCol="0" anchor="ctr"/>
          <a:lstStyle/>
          <a:p>
            <a:pPr algn="l" indent="0" marL="0">
              <a:buNone/>
            </a:pPr>
            <a:r>
              <a:rPr lang="en-US" sz="1500" b="1" dirty="0">
                <a:solidFill>
                  <a:srgbClr val="FFFFFF"/>
                </a:solidFill>
                <a:latin typeface="Aptos" pitchFamily="34" charset="0"/>
                <a:ea typeface="Aptos" pitchFamily="34" charset="-122"/>
                <a:cs typeface="Aptos" pitchFamily="34" charset="-120"/>
              </a:rPr>
              <a:t>Event</a:t>
            </a:r>
            <a:endParaRPr lang="en-US" sz="1500" dirty="0"/>
          </a:p>
        </p:txBody>
      </p:sp>
      <p:sp>
        <p:nvSpPr>
          <p:cNvPr id="17" name="Shape 15"/>
          <p:cNvSpPr/>
          <p:nvPr/>
        </p:nvSpPr>
        <p:spPr>
          <a:xfrm>
            <a:off x="749808" y="2596896"/>
            <a:ext cx="5440680" cy="466344"/>
          </a:xfrm>
          <a:prstGeom prst="rect">
            <a:avLst/>
          </a:prstGeom>
          <a:solidFill>
            <a:srgbClr val="FFFFFF"/>
          </a:solidFill>
          <a:ln w="12700">
            <a:solidFill>
              <a:srgbClr val="FFFFFF">
                <a:alpha val="0"/>
              </a:srgbClr>
            </a:solidFill>
            <a:prstDash val="solid"/>
          </a:ln>
        </p:spPr>
      </p:sp>
      <p:sp>
        <p:nvSpPr>
          <p:cNvPr id="18" name="Text 16"/>
          <p:cNvSpPr/>
          <p:nvPr/>
        </p:nvSpPr>
        <p:spPr>
          <a:xfrm>
            <a:off x="859536" y="2651760"/>
            <a:ext cx="950976" cy="356616"/>
          </a:xfrm>
          <a:prstGeom prst="rect">
            <a:avLst/>
          </a:prstGeom>
          <a:noFill/>
          <a:ln/>
        </p:spPr>
        <p:txBody>
          <a:bodyPr wrap="square" lIns="0" tIns="0" rIns="0" bIns="0" rtlCol="0" anchor="ctr"/>
          <a:lstStyle/>
          <a:p>
            <a:pPr algn="l" indent="0" marL="0">
              <a:buNone/>
            </a:pPr>
            <a:r>
              <a:rPr lang="en-US" sz="1900" dirty="0">
                <a:solidFill>
                  <a:srgbClr val="172233"/>
                </a:solidFill>
                <a:latin typeface="Aptos" pitchFamily="34" charset="0"/>
                <a:ea typeface="Aptos" pitchFamily="34" charset="-122"/>
                <a:cs typeface="Aptos" pitchFamily="34" charset="-120"/>
              </a:rPr>
              <a:t>O001</a:t>
            </a:r>
            <a:endParaRPr lang="en-US" sz="1900" dirty="0"/>
          </a:p>
        </p:txBody>
      </p:sp>
      <p:sp>
        <p:nvSpPr>
          <p:cNvPr id="19" name="Text 17"/>
          <p:cNvSpPr/>
          <p:nvPr/>
        </p:nvSpPr>
        <p:spPr>
          <a:xfrm>
            <a:off x="2029968" y="2651760"/>
            <a:ext cx="1719072" cy="356616"/>
          </a:xfrm>
          <a:prstGeom prst="rect">
            <a:avLst/>
          </a:prstGeom>
          <a:noFill/>
          <a:ln/>
        </p:spPr>
        <p:txBody>
          <a:bodyPr wrap="square" lIns="0" tIns="0" rIns="0" bIns="0" rtlCol="0" anchor="ctr"/>
          <a:lstStyle/>
          <a:p>
            <a:pPr algn="l" indent="0" marL="0">
              <a:buNone/>
            </a:pPr>
            <a:r>
              <a:rPr lang="en-US" sz="1900" dirty="0">
                <a:solidFill>
                  <a:srgbClr val="172233"/>
                </a:solidFill>
                <a:latin typeface="Aptos" pitchFamily="34" charset="0"/>
                <a:ea typeface="Aptos" pitchFamily="34" charset="-122"/>
                <a:cs typeface="Aptos" pitchFamily="34" charset="-120"/>
              </a:rPr>
              <a:t>100</a:t>
            </a:r>
            <a:endParaRPr lang="en-US" sz="1900" dirty="0"/>
          </a:p>
        </p:txBody>
      </p:sp>
      <p:sp>
        <p:nvSpPr>
          <p:cNvPr id="20" name="Text 18"/>
          <p:cNvSpPr/>
          <p:nvPr/>
        </p:nvSpPr>
        <p:spPr>
          <a:xfrm>
            <a:off x="3968496" y="2651760"/>
            <a:ext cx="2112264" cy="356616"/>
          </a:xfrm>
          <a:prstGeom prst="rect">
            <a:avLst/>
          </a:prstGeom>
          <a:noFill/>
          <a:ln/>
        </p:spPr>
        <p:txBody>
          <a:bodyPr wrap="square" lIns="0" tIns="0" rIns="0" bIns="0" rtlCol="0" anchor="ctr"/>
          <a:lstStyle/>
          <a:p>
            <a:pPr algn="l" indent="0" marL="0">
              <a:buNone/>
            </a:pPr>
            <a:r>
              <a:rPr lang="en-US" sz="1900" dirty="0">
                <a:solidFill>
                  <a:srgbClr val="172233"/>
                </a:solidFill>
                <a:latin typeface="Aptos" pitchFamily="34" charset="0"/>
                <a:ea typeface="Aptos" pitchFamily="34" charset="-122"/>
                <a:cs typeface="Aptos" pitchFamily="34" charset="-120"/>
              </a:rPr>
              <a:t>purchase</a:t>
            </a:r>
            <a:endParaRPr lang="en-US" sz="1900" dirty="0"/>
          </a:p>
        </p:txBody>
      </p:sp>
      <p:sp>
        <p:nvSpPr>
          <p:cNvPr id="21" name="Shape 19"/>
          <p:cNvSpPr/>
          <p:nvPr/>
        </p:nvSpPr>
        <p:spPr>
          <a:xfrm>
            <a:off x="749808" y="3063240"/>
            <a:ext cx="5440680" cy="466344"/>
          </a:xfrm>
          <a:prstGeom prst="rect">
            <a:avLst/>
          </a:prstGeom>
          <a:solidFill>
            <a:srgbClr val="E3EFF7"/>
          </a:solidFill>
          <a:ln w="12700">
            <a:solidFill>
              <a:srgbClr val="E3EFF7">
                <a:alpha val="0"/>
              </a:srgbClr>
            </a:solidFill>
            <a:prstDash val="solid"/>
          </a:ln>
        </p:spPr>
      </p:sp>
      <p:sp>
        <p:nvSpPr>
          <p:cNvPr id="22" name="Text 20"/>
          <p:cNvSpPr/>
          <p:nvPr/>
        </p:nvSpPr>
        <p:spPr>
          <a:xfrm>
            <a:off x="859536" y="3118104"/>
            <a:ext cx="950976" cy="356616"/>
          </a:xfrm>
          <a:prstGeom prst="rect">
            <a:avLst/>
          </a:prstGeom>
          <a:noFill/>
          <a:ln/>
        </p:spPr>
        <p:txBody>
          <a:bodyPr wrap="square" lIns="0" tIns="0" rIns="0" bIns="0" rtlCol="0" anchor="ctr"/>
          <a:lstStyle/>
          <a:p>
            <a:pPr algn="l" indent="0" marL="0">
              <a:buNone/>
            </a:pPr>
            <a:r>
              <a:rPr lang="en-US" sz="1900" dirty="0">
                <a:solidFill>
                  <a:srgbClr val="172233"/>
                </a:solidFill>
                <a:latin typeface="Aptos" pitchFamily="34" charset="0"/>
                <a:ea typeface="Aptos" pitchFamily="34" charset="-122"/>
                <a:cs typeface="Aptos" pitchFamily="34" charset="-120"/>
              </a:rPr>
              <a:t>O002</a:t>
            </a:r>
            <a:endParaRPr lang="en-US" sz="1900" dirty="0"/>
          </a:p>
        </p:txBody>
      </p:sp>
      <p:sp>
        <p:nvSpPr>
          <p:cNvPr id="23" name="Text 21"/>
          <p:cNvSpPr/>
          <p:nvPr/>
        </p:nvSpPr>
        <p:spPr>
          <a:xfrm>
            <a:off x="2029968" y="3118104"/>
            <a:ext cx="1719072" cy="356616"/>
          </a:xfrm>
          <a:prstGeom prst="rect">
            <a:avLst/>
          </a:prstGeom>
          <a:noFill/>
          <a:ln/>
        </p:spPr>
        <p:txBody>
          <a:bodyPr wrap="square" lIns="0" tIns="0" rIns="0" bIns="0" rtlCol="0" anchor="ctr"/>
          <a:lstStyle/>
          <a:p>
            <a:pPr algn="l" indent="0" marL="0">
              <a:buNone/>
            </a:pPr>
            <a:r>
              <a:rPr lang="en-US" sz="1900" dirty="0">
                <a:solidFill>
                  <a:srgbClr val="172233"/>
                </a:solidFill>
                <a:latin typeface="Aptos" pitchFamily="34" charset="0"/>
                <a:ea typeface="Aptos" pitchFamily="34" charset="-122"/>
                <a:cs typeface="Aptos" pitchFamily="34" charset="-120"/>
              </a:rPr>
              <a:t>150</a:t>
            </a:r>
            <a:endParaRPr lang="en-US" sz="1900" dirty="0"/>
          </a:p>
        </p:txBody>
      </p:sp>
      <p:sp>
        <p:nvSpPr>
          <p:cNvPr id="24" name="Text 22"/>
          <p:cNvSpPr/>
          <p:nvPr/>
        </p:nvSpPr>
        <p:spPr>
          <a:xfrm>
            <a:off x="3968496" y="3118104"/>
            <a:ext cx="2112264" cy="356616"/>
          </a:xfrm>
          <a:prstGeom prst="rect">
            <a:avLst/>
          </a:prstGeom>
          <a:noFill/>
          <a:ln/>
        </p:spPr>
        <p:txBody>
          <a:bodyPr wrap="square" lIns="0" tIns="0" rIns="0" bIns="0" rtlCol="0" anchor="ctr"/>
          <a:lstStyle/>
          <a:p>
            <a:pPr algn="l" indent="0" marL="0">
              <a:buNone/>
            </a:pPr>
            <a:r>
              <a:rPr lang="en-US" sz="1900" dirty="0">
                <a:solidFill>
                  <a:srgbClr val="172233"/>
                </a:solidFill>
                <a:latin typeface="Aptos" pitchFamily="34" charset="0"/>
                <a:ea typeface="Aptos" pitchFamily="34" charset="-122"/>
                <a:cs typeface="Aptos" pitchFamily="34" charset="-120"/>
              </a:rPr>
              <a:t>purchase</a:t>
            </a:r>
            <a:endParaRPr lang="en-US" sz="1900" dirty="0"/>
          </a:p>
        </p:txBody>
      </p:sp>
      <p:sp>
        <p:nvSpPr>
          <p:cNvPr id="25" name="Shape 23"/>
          <p:cNvSpPr/>
          <p:nvPr/>
        </p:nvSpPr>
        <p:spPr>
          <a:xfrm>
            <a:off x="749808" y="3529584"/>
            <a:ext cx="5440680" cy="466344"/>
          </a:xfrm>
          <a:prstGeom prst="rect">
            <a:avLst/>
          </a:prstGeom>
          <a:solidFill>
            <a:srgbClr val="FFFFFF"/>
          </a:solidFill>
          <a:ln w="12700">
            <a:solidFill>
              <a:srgbClr val="FFFFFF">
                <a:alpha val="0"/>
              </a:srgbClr>
            </a:solidFill>
            <a:prstDash val="solid"/>
          </a:ln>
        </p:spPr>
      </p:sp>
      <p:sp>
        <p:nvSpPr>
          <p:cNvPr id="26" name="Text 24"/>
          <p:cNvSpPr/>
          <p:nvPr/>
        </p:nvSpPr>
        <p:spPr>
          <a:xfrm>
            <a:off x="859536" y="3584448"/>
            <a:ext cx="950976" cy="356616"/>
          </a:xfrm>
          <a:prstGeom prst="rect">
            <a:avLst/>
          </a:prstGeom>
          <a:noFill/>
          <a:ln/>
        </p:spPr>
        <p:txBody>
          <a:bodyPr wrap="square" lIns="0" tIns="0" rIns="0" bIns="0" rtlCol="0" anchor="ctr"/>
          <a:lstStyle/>
          <a:p>
            <a:pPr algn="l" indent="0" marL="0">
              <a:buNone/>
            </a:pPr>
            <a:r>
              <a:rPr lang="en-US" sz="1900" dirty="0">
                <a:solidFill>
                  <a:srgbClr val="172233"/>
                </a:solidFill>
                <a:latin typeface="Aptos" pitchFamily="34" charset="0"/>
                <a:ea typeface="Aptos" pitchFamily="34" charset="-122"/>
                <a:cs typeface="Aptos" pitchFamily="34" charset="-120"/>
              </a:rPr>
              <a:t>O002</a:t>
            </a:r>
            <a:endParaRPr lang="en-US" sz="1900" dirty="0"/>
          </a:p>
        </p:txBody>
      </p:sp>
      <p:sp>
        <p:nvSpPr>
          <p:cNvPr id="27" name="Text 25"/>
          <p:cNvSpPr/>
          <p:nvPr/>
        </p:nvSpPr>
        <p:spPr>
          <a:xfrm>
            <a:off x="2029968" y="3584448"/>
            <a:ext cx="1719072" cy="356616"/>
          </a:xfrm>
          <a:prstGeom prst="rect">
            <a:avLst/>
          </a:prstGeom>
          <a:noFill/>
          <a:ln/>
        </p:spPr>
        <p:txBody>
          <a:bodyPr wrap="square" lIns="0" tIns="0" rIns="0" bIns="0" rtlCol="0" anchor="ctr"/>
          <a:lstStyle/>
          <a:p>
            <a:pPr algn="l" indent="0" marL="0">
              <a:buNone/>
            </a:pPr>
            <a:r>
              <a:rPr lang="en-US" sz="1900" dirty="0">
                <a:solidFill>
                  <a:srgbClr val="172233"/>
                </a:solidFill>
                <a:latin typeface="Aptos" pitchFamily="34" charset="0"/>
                <a:ea typeface="Aptos" pitchFamily="34" charset="-122"/>
                <a:cs typeface="Aptos" pitchFamily="34" charset="-120"/>
              </a:rPr>
              <a:t>50</a:t>
            </a:r>
            <a:endParaRPr lang="en-US" sz="1900" dirty="0"/>
          </a:p>
        </p:txBody>
      </p:sp>
      <p:sp>
        <p:nvSpPr>
          <p:cNvPr id="28" name="Text 26"/>
          <p:cNvSpPr/>
          <p:nvPr/>
        </p:nvSpPr>
        <p:spPr>
          <a:xfrm>
            <a:off x="3968496" y="3584448"/>
            <a:ext cx="2112264" cy="356616"/>
          </a:xfrm>
          <a:prstGeom prst="rect">
            <a:avLst/>
          </a:prstGeom>
          <a:noFill/>
          <a:ln/>
        </p:spPr>
        <p:txBody>
          <a:bodyPr wrap="square" lIns="0" tIns="0" rIns="0" bIns="0" rtlCol="0" anchor="ctr"/>
          <a:lstStyle/>
          <a:p>
            <a:pPr algn="l" indent="0" marL="0">
              <a:buNone/>
            </a:pPr>
            <a:r>
              <a:rPr lang="en-US" sz="1900" dirty="0">
                <a:solidFill>
                  <a:srgbClr val="172233"/>
                </a:solidFill>
                <a:latin typeface="Aptos" pitchFamily="34" charset="0"/>
                <a:ea typeface="Aptos" pitchFamily="34" charset="-122"/>
                <a:cs typeface="Aptos" pitchFamily="34" charset="-120"/>
              </a:rPr>
              <a:t>purchase</a:t>
            </a:r>
            <a:endParaRPr lang="en-US" sz="1900" dirty="0"/>
          </a:p>
        </p:txBody>
      </p:sp>
      <p:sp>
        <p:nvSpPr>
          <p:cNvPr id="29" name="Shape 27"/>
          <p:cNvSpPr/>
          <p:nvPr/>
        </p:nvSpPr>
        <p:spPr>
          <a:xfrm>
            <a:off x="749808" y="3995928"/>
            <a:ext cx="5440680" cy="466344"/>
          </a:xfrm>
          <a:prstGeom prst="rect">
            <a:avLst/>
          </a:prstGeom>
          <a:solidFill>
            <a:srgbClr val="E3EFF7"/>
          </a:solidFill>
          <a:ln w="12700">
            <a:solidFill>
              <a:srgbClr val="E3EFF7">
                <a:alpha val="0"/>
              </a:srgbClr>
            </a:solidFill>
            <a:prstDash val="solid"/>
          </a:ln>
        </p:spPr>
      </p:sp>
      <p:sp>
        <p:nvSpPr>
          <p:cNvPr id="30" name="Text 28"/>
          <p:cNvSpPr/>
          <p:nvPr/>
        </p:nvSpPr>
        <p:spPr>
          <a:xfrm>
            <a:off x="859536" y="4050792"/>
            <a:ext cx="950976" cy="356616"/>
          </a:xfrm>
          <a:prstGeom prst="rect">
            <a:avLst/>
          </a:prstGeom>
          <a:noFill/>
          <a:ln/>
        </p:spPr>
        <p:txBody>
          <a:bodyPr wrap="square" lIns="0" tIns="0" rIns="0" bIns="0" rtlCol="0" anchor="ctr"/>
          <a:lstStyle/>
          <a:p>
            <a:pPr algn="l" indent="0" marL="0">
              <a:buNone/>
            </a:pPr>
            <a:r>
              <a:rPr lang="en-US" sz="1900" dirty="0">
                <a:solidFill>
                  <a:srgbClr val="172233"/>
                </a:solidFill>
                <a:latin typeface="Aptos" pitchFamily="34" charset="0"/>
                <a:ea typeface="Aptos" pitchFamily="34" charset="-122"/>
                <a:cs typeface="Aptos" pitchFamily="34" charset="-120"/>
              </a:rPr>
              <a:t>O003</a:t>
            </a:r>
            <a:endParaRPr lang="en-US" sz="1900" dirty="0"/>
          </a:p>
        </p:txBody>
      </p:sp>
      <p:sp>
        <p:nvSpPr>
          <p:cNvPr id="31" name="Text 29"/>
          <p:cNvSpPr/>
          <p:nvPr/>
        </p:nvSpPr>
        <p:spPr>
          <a:xfrm>
            <a:off x="2029968" y="4050792"/>
            <a:ext cx="1719072" cy="356616"/>
          </a:xfrm>
          <a:prstGeom prst="rect">
            <a:avLst/>
          </a:prstGeom>
          <a:noFill/>
          <a:ln/>
        </p:spPr>
        <p:txBody>
          <a:bodyPr wrap="square" lIns="0" tIns="0" rIns="0" bIns="0" rtlCol="0" anchor="ctr"/>
          <a:lstStyle/>
          <a:p>
            <a:pPr algn="l" indent="0" marL="0">
              <a:buNone/>
            </a:pPr>
            <a:r>
              <a:rPr lang="en-US" sz="1900" dirty="0">
                <a:solidFill>
                  <a:srgbClr val="172233"/>
                </a:solidFill>
                <a:latin typeface="Aptos" pitchFamily="34" charset="0"/>
                <a:ea typeface="Aptos" pitchFamily="34" charset="-122"/>
                <a:cs typeface="Aptos" pitchFamily="34" charset="-120"/>
              </a:rPr>
              <a:t>200</a:t>
            </a:r>
            <a:endParaRPr lang="en-US" sz="1900" dirty="0"/>
          </a:p>
        </p:txBody>
      </p:sp>
      <p:sp>
        <p:nvSpPr>
          <p:cNvPr id="32" name="Text 30"/>
          <p:cNvSpPr/>
          <p:nvPr/>
        </p:nvSpPr>
        <p:spPr>
          <a:xfrm>
            <a:off x="3968496" y="4050792"/>
            <a:ext cx="2112264" cy="356616"/>
          </a:xfrm>
          <a:prstGeom prst="rect">
            <a:avLst/>
          </a:prstGeom>
          <a:noFill/>
          <a:ln/>
        </p:spPr>
        <p:txBody>
          <a:bodyPr wrap="square" lIns="0" tIns="0" rIns="0" bIns="0" rtlCol="0" anchor="ctr"/>
          <a:lstStyle/>
          <a:p>
            <a:pPr algn="l" indent="0" marL="0">
              <a:buNone/>
            </a:pPr>
            <a:r>
              <a:rPr lang="en-US" sz="1900" dirty="0">
                <a:solidFill>
                  <a:srgbClr val="172233"/>
                </a:solidFill>
                <a:latin typeface="Aptos" pitchFamily="34" charset="0"/>
                <a:ea typeface="Aptos" pitchFamily="34" charset="-122"/>
                <a:cs typeface="Aptos" pitchFamily="34" charset="-120"/>
              </a:rPr>
              <a:t>purchase</a:t>
            </a:r>
            <a:endParaRPr lang="en-US" sz="1900" dirty="0"/>
          </a:p>
        </p:txBody>
      </p:sp>
      <p:sp>
        <p:nvSpPr>
          <p:cNvPr id="33" name="Shape 31"/>
          <p:cNvSpPr/>
          <p:nvPr/>
        </p:nvSpPr>
        <p:spPr>
          <a:xfrm>
            <a:off x="749808" y="4462272"/>
            <a:ext cx="5440680" cy="466344"/>
          </a:xfrm>
          <a:prstGeom prst="rect">
            <a:avLst/>
          </a:prstGeom>
          <a:solidFill>
            <a:srgbClr val="FFFFFF"/>
          </a:solidFill>
          <a:ln w="12700">
            <a:solidFill>
              <a:srgbClr val="FFFFFF">
                <a:alpha val="0"/>
              </a:srgbClr>
            </a:solidFill>
            <a:prstDash val="solid"/>
          </a:ln>
        </p:spPr>
      </p:sp>
      <p:sp>
        <p:nvSpPr>
          <p:cNvPr id="34" name="Text 32"/>
          <p:cNvSpPr/>
          <p:nvPr/>
        </p:nvSpPr>
        <p:spPr>
          <a:xfrm>
            <a:off x="859536" y="4517136"/>
            <a:ext cx="950976" cy="356616"/>
          </a:xfrm>
          <a:prstGeom prst="rect">
            <a:avLst/>
          </a:prstGeom>
          <a:noFill/>
          <a:ln/>
        </p:spPr>
        <p:txBody>
          <a:bodyPr wrap="square" lIns="0" tIns="0" rIns="0" bIns="0" rtlCol="0" anchor="ctr"/>
          <a:lstStyle/>
          <a:p>
            <a:pPr algn="l" indent="0" marL="0">
              <a:buNone/>
            </a:pPr>
            <a:r>
              <a:rPr lang="en-US" sz="1900" dirty="0">
                <a:solidFill>
                  <a:srgbClr val="172233"/>
                </a:solidFill>
                <a:latin typeface="Aptos" pitchFamily="34" charset="0"/>
                <a:ea typeface="Aptos" pitchFamily="34" charset="-122"/>
                <a:cs typeface="Aptos" pitchFamily="34" charset="-120"/>
              </a:rPr>
              <a:t>C001</a:t>
            </a:r>
            <a:endParaRPr lang="en-US" sz="1900" dirty="0"/>
          </a:p>
        </p:txBody>
      </p:sp>
      <p:sp>
        <p:nvSpPr>
          <p:cNvPr id="35" name="Text 33"/>
          <p:cNvSpPr/>
          <p:nvPr/>
        </p:nvSpPr>
        <p:spPr>
          <a:xfrm>
            <a:off x="2029968" y="4517136"/>
            <a:ext cx="1719072" cy="356616"/>
          </a:xfrm>
          <a:prstGeom prst="rect">
            <a:avLst/>
          </a:prstGeom>
          <a:noFill/>
          <a:ln/>
        </p:spPr>
        <p:txBody>
          <a:bodyPr wrap="square" lIns="0" tIns="0" rIns="0" bIns="0" rtlCol="0" anchor="ctr"/>
          <a:lstStyle/>
          <a:p>
            <a:pPr algn="l" indent="0" marL="0">
              <a:buNone/>
            </a:pPr>
            <a:r>
              <a:rPr lang="en-US" sz="1900" dirty="0">
                <a:solidFill>
                  <a:srgbClr val="172233"/>
                </a:solidFill>
                <a:latin typeface="Aptos" pitchFamily="34" charset="0"/>
                <a:ea typeface="Aptos" pitchFamily="34" charset="-122"/>
                <a:cs typeface="Aptos" pitchFamily="34" charset="-120"/>
              </a:rPr>
              <a:t>-40</a:t>
            </a:r>
            <a:endParaRPr lang="en-US" sz="1900" dirty="0"/>
          </a:p>
        </p:txBody>
      </p:sp>
      <p:sp>
        <p:nvSpPr>
          <p:cNvPr id="36" name="Text 34"/>
          <p:cNvSpPr/>
          <p:nvPr/>
        </p:nvSpPr>
        <p:spPr>
          <a:xfrm>
            <a:off x="3968496" y="4517136"/>
            <a:ext cx="2112264" cy="356616"/>
          </a:xfrm>
          <a:prstGeom prst="rect">
            <a:avLst/>
          </a:prstGeom>
          <a:noFill/>
          <a:ln/>
        </p:spPr>
        <p:txBody>
          <a:bodyPr wrap="square" lIns="0" tIns="0" rIns="0" bIns="0" rtlCol="0" anchor="ctr"/>
          <a:lstStyle/>
          <a:p>
            <a:pPr algn="l" indent="0" marL="0">
              <a:buNone/>
            </a:pPr>
            <a:r>
              <a:rPr lang="en-US" sz="1900" dirty="0">
                <a:solidFill>
                  <a:srgbClr val="172233"/>
                </a:solidFill>
                <a:latin typeface="Aptos" pitchFamily="34" charset="0"/>
                <a:ea typeface="Aptos" pitchFamily="34" charset="-122"/>
                <a:cs typeface="Aptos" pitchFamily="34" charset="-120"/>
              </a:rPr>
              <a:t>credit</a:t>
            </a:r>
            <a:endParaRPr lang="en-US" sz="1900" dirty="0"/>
          </a:p>
        </p:txBody>
      </p:sp>
      <p:sp>
        <p:nvSpPr>
          <p:cNvPr id="37" name="Shape 35"/>
          <p:cNvSpPr/>
          <p:nvPr/>
        </p:nvSpPr>
        <p:spPr>
          <a:xfrm>
            <a:off x="6446520" y="3310128"/>
            <a:ext cx="777240" cy="0"/>
          </a:xfrm>
          <a:prstGeom prst="line">
            <a:avLst/>
          </a:prstGeom>
          <a:noFill/>
          <a:ln w="25400">
            <a:solidFill>
              <a:srgbClr val="176493"/>
            </a:solidFill>
            <a:prstDash val="solid"/>
            <a:headEnd type="none"/>
            <a:tailEnd type="triangle"/>
          </a:ln>
        </p:spPr>
      </p:sp>
      <p:sp>
        <p:nvSpPr>
          <p:cNvPr id="38" name="Shape 36"/>
          <p:cNvSpPr/>
          <p:nvPr/>
        </p:nvSpPr>
        <p:spPr>
          <a:xfrm>
            <a:off x="7498080" y="2468880"/>
            <a:ext cx="3858768" cy="2532888"/>
          </a:xfrm>
          <a:prstGeom prst="rect">
            <a:avLst/>
          </a:prstGeom>
          <a:solidFill>
            <a:srgbClr val="FFFFFF"/>
          </a:solidFill>
          <a:ln w="12700">
            <a:solidFill>
              <a:srgbClr val="FFFFFF">
                <a:alpha val="0"/>
              </a:srgbClr>
            </a:solidFill>
            <a:prstDash val="solid"/>
          </a:ln>
        </p:spPr>
      </p:sp>
      <p:sp>
        <p:nvSpPr>
          <p:cNvPr id="39" name="Text 37"/>
          <p:cNvSpPr/>
          <p:nvPr/>
        </p:nvSpPr>
        <p:spPr>
          <a:xfrm>
            <a:off x="7708392" y="2697480"/>
            <a:ext cx="3383280" cy="219456"/>
          </a:xfrm>
          <a:prstGeom prst="rect">
            <a:avLst/>
          </a:prstGeom>
          <a:noFill/>
          <a:ln/>
        </p:spPr>
        <p:txBody>
          <a:bodyPr wrap="square" lIns="0" tIns="0" rIns="0" bIns="0" rtlCol="0" anchor="ctr"/>
          <a:lstStyle/>
          <a:p>
            <a:pPr algn="l" indent="0" marL="0">
              <a:buNone/>
            </a:pPr>
            <a:r>
              <a:rPr lang="en-US" sz="1150" b="1" spc="50" kern="0" dirty="0">
                <a:solidFill>
                  <a:srgbClr val="167C85"/>
                </a:solidFill>
                <a:latin typeface="Aptos" pitchFamily="34" charset="0"/>
                <a:ea typeface="Aptos" pitchFamily="34" charset="-122"/>
                <a:cs typeface="Aptos" pitchFamily="34" charset="-120"/>
              </a:rPr>
              <a:t>ONE ACCOUNT PROFILE</a:t>
            </a:r>
            <a:endParaRPr lang="en-US" sz="1150" dirty="0"/>
          </a:p>
        </p:txBody>
      </p:sp>
      <p:sp>
        <p:nvSpPr>
          <p:cNvPr id="40" name="Text 38"/>
          <p:cNvSpPr/>
          <p:nvPr/>
        </p:nvSpPr>
        <p:spPr>
          <a:xfrm>
            <a:off x="7717536" y="3246120"/>
            <a:ext cx="3328416" cy="1234440"/>
          </a:xfrm>
          <a:prstGeom prst="rect">
            <a:avLst/>
          </a:prstGeom>
          <a:noFill/>
          <a:ln/>
        </p:spPr>
        <p:txBody>
          <a:bodyPr wrap="square" lIns="0" tIns="0" rIns="0" bIns="0" rtlCol="0" anchor="ctr"/>
          <a:lstStyle/>
          <a:p>
            <a:pPr algn="l" indent="0" marL="0">
              <a:buNone/>
            </a:pPr>
            <a:r>
              <a:rPr lang="en-US" sz="2500" b="1" dirty="0">
                <a:solidFill>
                  <a:srgbClr val="172233"/>
                </a:solidFill>
                <a:latin typeface="Aptos" pitchFamily="34" charset="0"/>
                <a:ea typeface="Aptos" pitchFamily="34" charset="-122"/>
                <a:cs typeface="Aptos" pitchFamily="34" charset="-120"/>
              </a:rPr>
              <a:t>5 lines</a:t>
            </a:r>
            <a:endParaRPr lang="en-US" sz="2500" dirty="0"/>
          </a:p>
          <a:p>
            <a:pPr algn="l" indent="0" marL="0">
              <a:buNone/>
            </a:pPr>
            <a:r>
              <a:rPr lang="en-US" sz="2500" b="1" dirty="0">
                <a:solidFill>
                  <a:srgbClr val="172233"/>
                </a:solidFill>
                <a:latin typeface="Aptos" pitchFamily="34" charset="0"/>
                <a:ea typeface="Aptos" pitchFamily="34" charset="-122"/>
                <a:cs typeface="Aptos" pitchFamily="34" charset="-120"/>
              </a:rPr>
              <a:t>3 purchase orders</a:t>
            </a:r>
            <a:endParaRPr lang="en-US" sz="2500" dirty="0"/>
          </a:p>
          <a:p>
            <a:pPr algn="l" indent="0" marL="0">
              <a:buNone/>
            </a:pPr>
            <a:r>
              <a:rPr lang="en-US" sz="2500" b="1" dirty="0">
                <a:solidFill>
                  <a:srgbClr val="172233"/>
                </a:solidFill>
                <a:latin typeface="Aptos" pitchFamily="34" charset="0"/>
                <a:ea typeface="Aptos" pitchFamily="34" charset="-122"/>
                <a:cs typeface="Aptos" pitchFamily="34" charset="-120"/>
              </a:rPr>
              <a:t>460 CU net value</a:t>
            </a:r>
            <a:endParaRPr lang="en-US" sz="2500" dirty="0"/>
          </a:p>
        </p:txBody>
      </p:sp>
      <p:sp>
        <p:nvSpPr>
          <p:cNvPr id="41" name="Text 39"/>
          <p:cNvSpPr/>
          <p:nvPr/>
        </p:nvSpPr>
        <p:spPr>
          <a:xfrm>
            <a:off x="777240" y="5340096"/>
            <a:ext cx="10515600" cy="219456"/>
          </a:xfrm>
          <a:prstGeom prst="rect">
            <a:avLst/>
          </a:prstGeom>
          <a:noFill/>
          <a:ln/>
        </p:spPr>
        <p:txBody>
          <a:bodyPr wrap="square" lIns="0" tIns="0" rIns="0" bIns="0" rtlCol="0" anchor="ctr"/>
          <a:lstStyle/>
          <a:p>
            <a:pPr algn="l" indent="0" marL="0">
              <a:buNone/>
            </a:pPr>
            <a:r>
              <a:rPr lang="en-US" sz="1150" b="1" spc="50" kern="0" dirty="0">
                <a:solidFill>
                  <a:srgbClr val="53657A"/>
                </a:solidFill>
                <a:latin typeface="Aptos" pitchFamily="34" charset="0"/>
                <a:ea typeface="Aptos" pitchFamily="34" charset="-122"/>
                <a:cs typeface="Aptos" pitchFamily="34" charset="-120"/>
              </a:rPr>
              <a:t>LINE COUNT, ORDER COUNT AND CUSTOMER COUNT ARE DIFFERENT.</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0" y="0"/>
            <a:ext cx="12192000" cy="402336"/>
          </a:xfrm>
          <a:prstGeom prst="rect">
            <a:avLst/>
          </a:prstGeom>
          <a:solidFill>
            <a:srgbClr val="E7EEF7"/>
          </a:solidFill>
          <a:ln w="12700">
            <a:solidFill>
              <a:srgbClr val="E7EEF7">
                <a:alpha val="0"/>
              </a:srgbClr>
            </a:solidFill>
            <a:prstDash val="solid"/>
          </a:ln>
        </p:spPr>
      </p:sp>
      <p:sp>
        <p:nvSpPr>
          <p:cNvPr id="3" name="Shape 1"/>
          <p:cNvSpPr/>
          <p:nvPr/>
        </p:nvSpPr>
        <p:spPr>
          <a:xfrm>
            <a:off x="466344" y="123444"/>
            <a:ext cx="64008" cy="146304"/>
          </a:xfrm>
          <a:prstGeom prst="rect">
            <a:avLst/>
          </a:prstGeom>
          <a:solidFill>
            <a:srgbClr val="176493"/>
          </a:solidFill>
          <a:ln w="12700">
            <a:solidFill>
              <a:srgbClr val="176493">
                <a:alpha val="0"/>
              </a:srgbClr>
            </a:solidFill>
            <a:prstDash val="solid"/>
          </a:ln>
        </p:spPr>
      </p:sp>
      <p:sp>
        <p:nvSpPr>
          <p:cNvPr id="4" name="Text 2"/>
          <p:cNvSpPr/>
          <p:nvPr/>
        </p:nvSpPr>
        <p:spPr>
          <a:xfrm>
            <a:off x="594360" y="100584"/>
            <a:ext cx="731520" cy="201168"/>
          </a:xfrm>
          <a:prstGeom prst="rect">
            <a:avLst/>
          </a:prstGeom>
          <a:noFill/>
          <a:ln/>
        </p:spPr>
        <p:txBody>
          <a:bodyPr wrap="square" lIns="0" tIns="0" rIns="0" bIns="0" rtlCol="0" anchor="ctr"/>
          <a:lstStyle/>
          <a:p>
            <a:pPr algn="l" indent="0" marL="0">
              <a:buNone/>
            </a:pPr>
            <a:r>
              <a:rPr lang="en-US" sz="1100" b="1" dirty="0">
                <a:solidFill>
                  <a:srgbClr val="176493"/>
                </a:solidFill>
                <a:latin typeface="Aptos" pitchFamily="34" charset="0"/>
                <a:ea typeface="Aptos" pitchFamily="34" charset="-122"/>
                <a:cs typeface="Aptos" pitchFamily="34" charset="-120"/>
              </a:rPr>
              <a:t>DS101</a:t>
            </a:r>
            <a:endParaRPr lang="en-US" sz="1100" dirty="0"/>
          </a:p>
        </p:txBody>
      </p:sp>
      <p:sp>
        <p:nvSpPr>
          <p:cNvPr id="5" name="Text 3"/>
          <p:cNvSpPr/>
          <p:nvPr/>
        </p:nvSpPr>
        <p:spPr>
          <a:xfrm>
            <a:off x="1463040" y="100584"/>
            <a:ext cx="1828800" cy="201168"/>
          </a:xfrm>
          <a:prstGeom prst="rect">
            <a:avLst/>
          </a:prstGeom>
          <a:noFill/>
          <a:ln/>
        </p:spPr>
        <p:txBody>
          <a:bodyPr wrap="square" lIns="0" tIns="0" rIns="0" bIns="0" rtlCol="0" anchor="ctr"/>
          <a:lstStyle/>
          <a:p>
            <a:pPr algn="l" indent="0" marL="0">
              <a:buNone/>
            </a:pPr>
            <a:r>
              <a:rPr lang="en-US" sz="1000" dirty="0">
                <a:solidFill>
                  <a:srgbClr val="53657A"/>
                </a:solidFill>
                <a:latin typeface="Aptos" pitchFamily="34" charset="0"/>
                <a:ea typeface="Aptos" pitchFamily="34" charset="-122"/>
                <a:cs typeface="Aptos" pitchFamily="34" charset="-120"/>
              </a:rPr>
              <a:t>LECTURE 02</a:t>
            </a:r>
            <a:endParaRPr lang="en-US" sz="1000" dirty="0"/>
          </a:p>
        </p:txBody>
      </p:sp>
      <p:sp>
        <p:nvSpPr>
          <p:cNvPr id="6" name="Text 4"/>
          <p:cNvSpPr/>
          <p:nvPr/>
        </p:nvSpPr>
        <p:spPr>
          <a:xfrm>
            <a:off x="8321040" y="100584"/>
            <a:ext cx="3264408" cy="201168"/>
          </a:xfrm>
          <a:prstGeom prst="rect">
            <a:avLst/>
          </a:prstGeom>
          <a:noFill/>
          <a:ln/>
        </p:spPr>
        <p:txBody>
          <a:bodyPr wrap="square" lIns="0" tIns="0" rIns="0" bIns="0" rtlCol="0" anchor="ctr"/>
          <a:lstStyle/>
          <a:p>
            <a:pPr algn="r" indent="0" marL="0">
              <a:buNone/>
            </a:pPr>
            <a:r>
              <a:rPr lang="en-US" sz="1000" dirty="0">
                <a:solidFill>
                  <a:srgbClr val="53657A"/>
                </a:solidFill>
                <a:latin typeface="Aptos" pitchFamily="34" charset="0"/>
                <a:ea typeface="Aptos" pitchFamily="34" charset="-122"/>
                <a:cs typeface="Aptos" pitchFamily="34" charset="-120"/>
              </a:rPr>
              <a:t>RFM</a:t>
            </a:r>
            <a:endParaRPr lang="en-US" sz="1000" dirty="0"/>
          </a:p>
        </p:txBody>
      </p:sp>
      <p:sp>
        <p:nvSpPr>
          <p:cNvPr id="7" name="Text 5"/>
          <p:cNvSpPr/>
          <p:nvPr/>
        </p:nvSpPr>
        <p:spPr>
          <a:xfrm>
            <a:off x="594360" y="758952"/>
            <a:ext cx="11000232" cy="658368"/>
          </a:xfrm>
          <a:prstGeom prst="rect">
            <a:avLst/>
          </a:prstGeom>
          <a:noFill/>
          <a:ln/>
        </p:spPr>
        <p:txBody>
          <a:bodyPr wrap="square" lIns="0" tIns="0" rIns="0" bIns="0" rtlCol="0" anchor="ctr"/>
          <a:lstStyle/>
          <a:p>
            <a:pPr algn="l" indent="0" marL="0">
              <a:buNone/>
            </a:pPr>
            <a:r>
              <a:rPr lang="en-US" sz="3000" b="1" dirty="0">
                <a:solidFill>
                  <a:srgbClr val="172233"/>
                </a:solidFill>
                <a:latin typeface="Aptos" pitchFamily="34" charset="0"/>
                <a:ea typeface="Aptos" pitchFamily="34" charset="-122"/>
                <a:cs typeface="Aptos" pitchFamily="34" charset="-120"/>
              </a:rPr>
              <a:t>RFM needs a clock and a definition</a:t>
            </a:r>
            <a:endParaRPr lang="en-US" sz="3000" dirty="0"/>
          </a:p>
        </p:txBody>
      </p:sp>
      <p:sp>
        <p:nvSpPr>
          <p:cNvPr id="8" name="Text 6"/>
          <p:cNvSpPr/>
          <p:nvPr/>
        </p:nvSpPr>
        <p:spPr>
          <a:xfrm>
            <a:off x="594360" y="6510528"/>
            <a:ext cx="3657600" cy="164592"/>
          </a:xfrm>
          <a:prstGeom prst="rect">
            <a:avLst/>
          </a:prstGeom>
          <a:noFill/>
          <a:ln/>
        </p:spPr>
        <p:txBody>
          <a:bodyPr wrap="square" lIns="0" tIns="0" rIns="0" bIns="0" rtlCol="0" anchor="ctr"/>
          <a:lstStyle/>
          <a:p>
            <a:pPr algn="l" indent="0" marL="0">
              <a:buNone/>
            </a:pPr>
            <a:r>
              <a:rPr lang="en-US" sz="900" dirty="0">
                <a:solidFill>
                  <a:srgbClr val="53657A"/>
                </a:solidFill>
                <a:latin typeface="Aptos" pitchFamily="34" charset="0"/>
                <a:ea typeface="Aptos" pitchFamily="34" charset="-122"/>
                <a:cs typeface="Aptos" pitchFamily="34" charset="-120"/>
              </a:rPr>
              <a:t>DS101 | 2026-2027</a:t>
            </a:r>
            <a:endParaRPr lang="en-US" sz="900" dirty="0"/>
          </a:p>
        </p:txBody>
      </p:sp>
      <p:sp>
        <p:nvSpPr>
          <p:cNvPr id="9" name="Text 7"/>
          <p:cNvSpPr/>
          <p:nvPr/>
        </p:nvSpPr>
        <p:spPr>
          <a:xfrm>
            <a:off x="10680192" y="6492240"/>
            <a:ext cx="914400" cy="201168"/>
          </a:xfrm>
          <a:prstGeom prst="rect">
            <a:avLst/>
          </a:prstGeom>
          <a:noFill/>
          <a:ln/>
        </p:spPr>
        <p:txBody>
          <a:bodyPr wrap="square" lIns="0" tIns="0" rIns="0" bIns="0" rtlCol="0" anchor="ctr"/>
          <a:lstStyle/>
          <a:p>
            <a:pPr algn="r" indent="0" marL="0">
              <a:buNone/>
            </a:pPr>
            <a:r>
              <a:rPr lang="en-US" sz="1000" dirty="0">
                <a:solidFill>
                  <a:srgbClr val="53657A"/>
                </a:solidFill>
                <a:latin typeface="Aptos" pitchFamily="34" charset="0"/>
                <a:ea typeface="Aptos" pitchFamily="34" charset="-122"/>
                <a:cs typeface="Aptos" pitchFamily="34" charset="-120"/>
              </a:rPr>
              <a:t>07 / 24</a:t>
            </a:r>
            <a:endParaRPr lang="en-US" sz="1000" dirty="0"/>
          </a:p>
        </p:txBody>
      </p:sp>
      <p:sp>
        <p:nvSpPr>
          <p:cNvPr id="10" name="Shape 8"/>
          <p:cNvSpPr/>
          <p:nvPr/>
        </p:nvSpPr>
        <p:spPr>
          <a:xfrm>
            <a:off x="594360" y="5852160"/>
            <a:ext cx="11000232" cy="438912"/>
          </a:xfrm>
          <a:prstGeom prst="rect">
            <a:avLst/>
          </a:prstGeom>
          <a:solidFill>
            <a:srgbClr val="E3EFF7"/>
          </a:solidFill>
          <a:ln w="12700">
            <a:solidFill>
              <a:srgbClr val="E3EFF7">
                <a:alpha val="0"/>
              </a:srgbClr>
            </a:solidFill>
            <a:prstDash val="solid"/>
          </a:ln>
        </p:spPr>
      </p:sp>
      <p:sp>
        <p:nvSpPr>
          <p:cNvPr id="11" name="Text 9"/>
          <p:cNvSpPr/>
          <p:nvPr/>
        </p:nvSpPr>
        <p:spPr>
          <a:xfrm>
            <a:off x="795528" y="5943600"/>
            <a:ext cx="10607040" cy="256032"/>
          </a:xfrm>
          <a:prstGeom prst="rect">
            <a:avLst/>
          </a:prstGeom>
          <a:noFill/>
          <a:ln/>
        </p:spPr>
        <p:txBody>
          <a:bodyPr wrap="square" lIns="0" tIns="0" rIns="0" bIns="0" rtlCol="0" anchor="ctr"/>
          <a:lstStyle/>
          <a:p>
            <a:pPr algn="l" indent="0" marL="0">
              <a:buNone/>
            </a:pPr>
            <a:r>
              <a:rPr lang="en-US" sz="1700" b="1" dirty="0">
                <a:solidFill>
                  <a:srgbClr val="176493"/>
                </a:solidFill>
                <a:latin typeface="Aptos" pitchFamily="34" charset="0"/>
                <a:ea typeface="Aptos" pitchFamily="34" charset="-122"/>
                <a:cs typeface="Aptos" pitchFamily="34" charset="-120"/>
              </a:rPr>
              <a:t>Here, the credit changes M but does not reset R or increase F.</a:t>
            </a:r>
            <a:endParaRPr lang="en-US" sz="1700" dirty="0"/>
          </a:p>
        </p:txBody>
      </p:sp>
      <p:sp>
        <p:nvSpPr>
          <p:cNvPr id="12" name="Text 10"/>
          <p:cNvSpPr/>
          <p:nvPr/>
        </p:nvSpPr>
        <p:spPr>
          <a:xfrm>
            <a:off x="749808" y="1673352"/>
            <a:ext cx="10698480" cy="219456"/>
          </a:xfrm>
          <a:prstGeom prst="rect">
            <a:avLst/>
          </a:prstGeom>
          <a:noFill/>
          <a:ln/>
        </p:spPr>
        <p:txBody>
          <a:bodyPr wrap="square" lIns="0" tIns="0" rIns="0" bIns="0" rtlCol="0" anchor="ctr"/>
          <a:lstStyle/>
          <a:p>
            <a:pPr algn="l" indent="0" marL="0">
              <a:buNone/>
            </a:pPr>
            <a:r>
              <a:rPr lang="en-US" sz="1150" b="1" spc="50" kern="0" dirty="0">
                <a:solidFill>
                  <a:srgbClr val="176493"/>
                </a:solidFill>
                <a:latin typeface="Aptos" pitchFamily="34" charset="0"/>
                <a:ea typeface="Aptos" pitchFamily="34" charset="-122"/>
                <a:cs typeface="Aptos" pitchFamily="34" charset="-120"/>
              </a:rPr>
              <a:t>A001 | WINDOW: 1 JAN - 31 MAR 2026 | SNAPSHOT: 1 APR</a:t>
            </a:r>
            <a:endParaRPr lang="en-US" sz="1150" dirty="0"/>
          </a:p>
        </p:txBody>
      </p:sp>
      <p:sp>
        <p:nvSpPr>
          <p:cNvPr id="13" name="Shape 11"/>
          <p:cNvSpPr/>
          <p:nvPr/>
        </p:nvSpPr>
        <p:spPr>
          <a:xfrm>
            <a:off x="1078992" y="2743200"/>
            <a:ext cx="9208008" cy="0"/>
          </a:xfrm>
          <a:prstGeom prst="line">
            <a:avLst/>
          </a:prstGeom>
          <a:noFill/>
          <a:ln w="25400">
            <a:solidFill>
              <a:srgbClr val="C4D2E2"/>
            </a:solidFill>
            <a:prstDash val="solid"/>
            <a:headEnd type="none"/>
            <a:tailEnd type="none"/>
          </a:ln>
        </p:spPr>
      </p:sp>
      <p:sp>
        <p:nvSpPr>
          <p:cNvPr id="14" name="Shape 12"/>
          <p:cNvSpPr/>
          <p:nvPr/>
        </p:nvSpPr>
        <p:spPr>
          <a:xfrm>
            <a:off x="1078992" y="2679192"/>
            <a:ext cx="128016" cy="128016"/>
          </a:xfrm>
          <a:prstGeom prst="ellipse">
            <a:avLst/>
          </a:prstGeom>
          <a:solidFill>
            <a:srgbClr val="176493"/>
          </a:solidFill>
          <a:ln w="5080">
            <a:solidFill>
              <a:srgbClr val="176493"/>
            </a:solidFill>
            <a:prstDash val="solid"/>
          </a:ln>
        </p:spPr>
      </p:sp>
      <p:sp>
        <p:nvSpPr>
          <p:cNvPr id="15" name="Text 13"/>
          <p:cNvSpPr/>
          <p:nvPr/>
        </p:nvSpPr>
        <p:spPr>
          <a:xfrm>
            <a:off x="749808" y="2258568"/>
            <a:ext cx="1325880" cy="292608"/>
          </a:xfrm>
          <a:prstGeom prst="rect">
            <a:avLst/>
          </a:prstGeom>
          <a:noFill/>
          <a:ln/>
        </p:spPr>
        <p:txBody>
          <a:bodyPr wrap="square" lIns="0" tIns="0" rIns="0" bIns="0" rtlCol="0" anchor="ctr"/>
          <a:lstStyle/>
          <a:p>
            <a:pPr algn="l" indent="0" marL="0">
              <a:buNone/>
            </a:pPr>
            <a:r>
              <a:rPr lang="en-US" sz="1800" b="1" dirty="0">
                <a:solidFill>
                  <a:srgbClr val="172233"/>
                </a:solidFill>
                <a:latin typeface="Aptos" pitchFamily="34" charset="0"/>
                <a:ea typeface="Aptos" pitchFamily="34" charset="-122"/>
                <a:cs typeface="Aptos" pitchFamily="34" charset="-120"/>
              </a:rPr>
              <a:t>10 Jan</a:t>
            </a:r>
            <a:endParaRPr lang="en-US" sz="1800" dirty="0"/>
          </a:p>
        </p:txBody>
      </p:sp>
      <p:sp>
        <p:nvSpPr>
          <p:cNvPr id="16" name="Text 14"/>
          <p:cNvSpPr/>
          <p:nvPr/>
        </p:nvSpPr>
        <p:spPr>
          <a:xfrm>
            <a:off x="713232" y="2962656"/>
            <a:ext cx="1645920" cy="548640"/>
          </a:xfrm>
          <a:prstGeom prst="rect">
            <a:avLst/>
          </a:prstGeom>
          <a:noFill/>
          <a:ln/>
        </p:spPr>
        <p:txBody>
          <a:bodyPr wrap="square" lIns="0" tIns="0" rIns="0" bIns="0" rtlCol="0" anchor="ctr"/>
          <a:lstStyle/>
          <a:p>
            <a:pPr algn="l" indent="0" marL="0">
              <a:buNone/>
            </a:pPr>
            <a:r>
              <a:rPr lang="en-US" sz="1800" dirty="0">
                <a:solidFill>
                  <a:srgbClr val="53657A"/>
                </a:solidFill>
                <a:latin typeface="Aptos" pitchFamily="34" charset="0"/>
                <a:ea typeface="Aptos" pitchFamily="34" charset="-122"/>
                <a:cs typeface="Aptos" pitchFamily="34" charset="-120"/>
              </a:rPr>
              <a:t>Order 100</a:t>
            </a:r>
            <a:endParaRPr lang="en-US" sz="1800" dirty="0"/>
          </a:p>
        </p:txBody>
      </p:sp>
      <p:sp>
        <p:nvSpPr>
          <p:cNvPr id="17" name="Shape 15"/>
          <p:cNvSpPr/>
          <p:nvPr/>
        </p:nvSpPr>
        <p:spPr>
          <a:xfrm>
            <a:off x="3364992" y="2679192"/>
            <a:ext cx="128016" cy="128016"/>
          </a:xfrm>
          <a:prstGeom prst="ellipse">
            <a:avLst/>
          </a:prstGeom>
          <a:solidFill>
            <a:srgbClr val="176493"/>
          </a:solidFill>
          <a:ln w="5080">
            <a:solidFill>
              <a:srgbClr val="176493"/>
            </a:solidFill>
            <a:prstDash val="solid"/>
          </a:ln>
        </p:spPr>
      </p:sp>
      <p:sp>
        <p:nvSpPr>
          <p:cNvPr id="18" name="Text 16"/>
          <p:cNvSpPr/>
          <p:nvPr/>
        </p:nvSpPr>
        <p:spPr>
          <a:xfrm>
            <a:off x="3035808" y="2258568"/>
            <a:ext cx="1325880" cy="292608"/>
          </a:xfrm>
          <a:prstGeom prst="rect">
            <a:avLst/>
          </a:prstGeom>
          <a:noFill/>
          <a:ln/>
        </p:spPr>
        <p:txBody>
          <a:bodyPr wrap="square" lIns="0" tIns="0" rIns="0" bIns="0" rtlCol="0" anchor="ctr"/>
          <a:lstStyle/>
          <a:p>
            <a:pPr algn="l" indent="0" marL="0">
              <a:buNone/>
            </a:pPr>
            <a:r>
              <a:rPr lang="en-US" sz="1800" b="1" dirty="0">
                <a:solidFill>
                  <a:srgbClr val="172233"/>
                </a:solidFill>
                <a:latin typeface="Aptos" pitchFamily="34" charset="0"/>
                <a:ea typeface="Aptos" pitchFamily="34" charset="-122"/>
                <a:cs typeface="Aptos" pitchFamily="34" charset="-120"/>
              </a:rPr>
              <a:t>20 Feb</a:t>
            </a:r>
            <a:endParaRPr lang="en-US" sz="1800" dirty="0"/>
          </a:p>
        </p:txBody>
      </p:sp>
      <p:sp>
        <p:nvSpPr>
          <p:cNvPr id="19" name="Text 17"/>
          <p:cNvSpPr/>
          <p:nvPr/>
        </p:nvSpPr>
        <p:spPr>
          <a:xfrm>
            <a:off x="2999232" y="2962656"/>
            <a:ext cx="1645920" cy="548640"/>
          </a:xfrm>
          <a:prstGeom prst="rect">
            <a:avLst/>
          </a:prstGeom>
          <a:noFill/>
          <a:ln/>
        </p:spPr>
        <p:txBody>
          <a:bodyPr wrap="square" lIns="0" tIns="0" rIns="0" bIns="0" rtlCol="0" anchor="ctr"/>
          <a:lstStyle/>
          <a:p>
            <a:pPr algn="l" indent="0" marL="0">
              <a:buNone/>
            </a:pPr>
            <a:r>
              <a:rPr lang="en-US" sz="1800" dirty="0">
                <a:solidFill>
                  <a:srgbClr val="53657A"/>
                </a:solidFill>
                <a:latin typeface="Aptos" pitchFamily="34" charset="0"/>
                <a:ea typeface="Aptos" pitchFamily="34" charset="-122"/>
                <a:cs typeface="Aptos" pitchFamily="34" charset="-120"/>
              </a:rPr>
              <a:t>Order 200</a:t>
            </a:r>
            <a:endParaRPr lang="en-US" sz="1800" dirty="0"/>
          </a:p>
        </p:txBody>
      </p:sp>
      <p:sp>
        <p:nvSpPr>
          <p:cNvPr id="20" name="Shape 18"/>
          <p:cNvSpPr/>
          <p:nvPr/>
        </p:nvSpPr>
        <p:spPr>
          <a:xfrm>
            <a:off x="5650992" y="2679192"/>
            <a:ext cx="128016" cy="128016"/>
          </a:xfrm>
          <a:prstGeom prst="ellipse">
            <a:avLst/>
          </a:prstGeom>
          <a:solidFill>
            <a:srgbClr val="176493"/>
          </a:solidFill>
          <a:ln w="5080">
            <a:solidFill>
              <a:srgbClr val="176493"/>
            </a:solidFill>
            <a:prstDash val="solid"/>
          </a:ln>
        </p:spPr>
      </p:sp>
      <p:sp>
        <p:nvSpPr>
          <p:cNvPr id="21" name="Text 19"/>
          <p:cNvSpPr/>
          <p:nvPr/>
        </p:nvSpPr>
        <p:spPr>
          <a:xfrm>
            <a:off x="5321808" y="2258568"/>
            <a:ext cx="1325880" cy="292608"/>
          </a:xfrm>
          <a:prstGeom prst="rect">
            <a:avLst/>
          </a:prstGeom>
          <a:noFill/>
          <a:ln/>
        </p:spPr>
        <p:txBody>
          <a:bodyPr wrap="square" lIns="0" tIns="0" rIns="0" bIns="0" rtlCol="0" anchor="ctr"/>
          <a:lstStyle/>
          <a:p>
            <a:pPr algn="l" indent="0" marL="0">
              <a:buNone/>
            </a:pPr>
            <a:r>
              <a:rPr lang="en-US" sz="1800" b="1" dirty="0">
                <a:solidFill>
                  <a:srgbClr val="172233"/>
                </a:solidFill>
                <a:latin typeface="Aptos" pitchFamily="34" charset="0"/>
                <a:ea typeface="Aptos" pitchFamily="34" charset="-122"/>
                <a:cs typeface="Aptos" pitchFamily="34" charset="-120"/>
              </a:rPr>
              <a:t>22 Mar</a:t>
            </a:r>
            <a:endParaRPr lang="en-US" sz="1800" dirty="0"/>
          </a:p>
        </p:txBody>
      </p:sp>
      <p:sp>
        <p:nvSpPr>
          <p:cNvPr id="22" name="Text 20"/>
          <p:cNvSpPr/>
          <p:nvPr/>
        </p:nvSpPr>
        <p:spPr>
          <a:xfrm>
            <a:off x="5285232" y="2962656"/>
            <a:ext cx="1645920" cy="548640"/>
          </a:xfrm>
          <a:prstGeom prst="rect">
            <a:avLst/>
          </a:prstGeom>
          <a:noFill/>
          <a:ln/>
        </p:spPr>
        <p:txBody>
          <a:bodyPr wrap="square" lIns="0" tIns="0" rIns="0" bIns="0" rtlCol="0" anchor="ctr"/>
          <a:lstStyle/>
          <a:p>
            <a:pPr algn="l" indent="0" marL="0">
              <a:buNone/>
            </a:pPr>
            <a:r>
              <a:rPr lang="en-US" sz="1800" dirty="0">
                <a:solidFill>
                  <a:srgbClr val="53657A"/>
                </a:solidFill>
                <a:latin typeface="Aptos" pitchFamily="34" charset="0"/>
                <a:ea typeface="Aptos" pitchFamily="34" charset="-122"/>
                <a:cs typeface="Aptos" pitchFamily="34" charset="-120"/>
              </a:rPr>
              <a:t>Order 200</a:t>
            </a:r>
            <a:endParaRPr lang="en-US" sz="1800" dirty="0"/>
          </a:p>
        </p:txBody>
      </p:sp>
      <p:sp>
        <p:nvSpPr>
          <p:cNvPr id="23" name="Shape 21"/>
          <p:cNvSpPr/>
          <p:nvPr/>
        </p:nvSpPr>
        <p:spPr>
          <a:xfrm>
            <a:off x="7936992" y="2679192"/>
            <a:ext cx="128016" cy="128016"/>
          </a:xfrm>
          <a:prstGeom prst="ellipse">
            <a:avLst/>
          </a:prstGeom>
          <a:solidFill>
            <a:srgbClr val="B33B43"/>
          </a:solidFill>
          <a:ln w="5080">
            <a:solidFill>
              <a:srgbClr val="B33B43"/>
            </a:solidFill>
            <a:prstDash val="solid"/>
          </a:ln>
        </p:spPr>
      </p:sp>
      <p:sp>
        <p:nvSpPr>
          <p:cNvPr id="24" name="Text 22"/>
          <p:cNvSpPr/>
          <p:nvPr/>
        </p:nvSpPr>
        <p:spPr>
          <a:xfrm>
            <a:off x="7607808" y="2258568"/>
            <a:ext cx="1325880" cy="292608"/>
          </a:xfrm>
          <a:prstGeom prst="rect">
            <a:avLst/>
          </a:prstGeom>
          <a:noFill/>
          <a:ln/>
        </p:spPr>
        <p:txBody>
          <a:bodyPr wrap="square" lIns="0" tIns="0" rIns="0" bIns="0" rtlCol="0" anchor="ctr"/>
          <a:lstStyle/>
          <a:p>
            <a:pPr algn="l" indent="0" marL="0">
              <a:buNone/>
            </a:pPr>
            <a:r>
              <a:rPr lang="en-US" sz="1800" b="1" dirty="0">
                <a:solidFill>
                  <a:srgbClr val="172233"/>
                </a:solidFill>
                <a:latin typeface="Aptos" pitchFamily="34" charset="0"/>
                <a:ea typeface="Aptos" pitchFamily="34" charset="-122"/>
                <a:cs typeface="Aptos" pitchFamily="34" charset="-120"/>
              </a:rPr>
              <a:t>25 Mar</a:t>
            </a:r>
            <a:endParaRPr lang="en-US" sz="1800" dirty="0"/>
          </a:p>
        </p:txBody>
      </p:sp>
      <p:sp>
        <p:nvSpPr>
          <p:cNvPr id="25" name="Text 23"/>
          <p:cNvSpPr/>
          <p:nvPr/>
        </p:nvSpPr>
        <p:spPr>
          <a:xfrm>
            <a:off x="7571232" y="2962656"/>
            <a:ext cx="1645920" cy="548640"/>
          </a:xfrm>
          <a:prstGeom prst="rect">
            <a:avLst/>
          </a:prstGeom>
          <a:noFill/>
          <a:ln/>
        </p:spPr>
        <p:txBody>
          <a:bodyPr wrap="square" lIns="0" tIns="0" rIns="0" bIns="0" rtlCol="0" anchor="ctr"/>
          <a:lstStyle/>
          <a:p>
            <a:pPr algn="l" indent="0" marL="0">
              <a:buNone/>
            </a:pPr>
            <a:r>
              <a:rPr lang="en-US" sz="1800" dirty="0">
                <a:solidFill>
                  <a:srgbClr val="B33B43"/>
                </a:solidFill>
                <a:latin typeface="Aptos" pitchFamily="34" charset="0"/>
                <a:ea typeface="Aptos" pitchFamily="34" charset="-122"/>
                <a:cs typeface="Aptos" pitchFamily="34" charset="-120"/>
              </a:rPr>
              <a:t>Credit -40</a:t>
            </a:r>
            <a:endParaRPr lang="en-US" sz="1800" dirty="0"/>
          </a:p>
        </p:txBody>
      </p:sp>
      <p:sp>
        <p:nvSpPr>
          <p:cNvPr id="26" name="Shape 24"/>
          <p:cNvSpPr/>
          <p:nvPr/>
        </p:nvSpPr>
        <p:spPr>
          <a:xfrm>
            <a:off x="10222992" y="2679192"/>
            <a:ext cx="128016" cy="128016"/>
          </a:xfrm>
          <a:prstGeom prst="ellipse">
            <a:avLst/>
          </a:prstGeom>
          <a:solidFill>
            <a:srgbClr val="176493"/>
          </a:solidFill>
          <a:ln w="5080">
            <a:solidFill>
              <a:srgbClr val="176493"/>
            </a:solidFill>
            <a:prstDash val="solid"/>
          </a:ln>
        </p:spPr>
      </p:sp>
      <p:sp>
        <p:nvSpPr>
          <p:cNvPr id="27" name="Text 25"/>
          <p:cNvSpPr/>
          <p:nvPr/>
        </p:nvSpPr>
        <p:spPr>
          <a:xfrm>
            <a:off x="9893808" y="2258568"/>
            <a:ext cx="1325880" cy="292608"/>
          </a:xfrm>
          <a:prstGeom prst="rect">
            <a:avLst/>
          </a:prstGeom>
          <a:noFill/>
          <a:ln/>
        </p:spPr>
        <p:txBody>
          <a:bodyPr wrap="square" lIns="0" tIns="0" rIns="0" bIns="0" rtlCol="0" anchor="ctr"/>
          <a:lstStyle/>
          <a:p>
            <a:pPr algn="l" indent="0" marL="0">
              <a:buNone/>
            </a:pPr>
            <a:r>
              <a:rPr lang="en-US" sz="1800" b="1" dirty="0">
                <a:solidFill>
                  <a:srgbClr val="172233"/>
                </a:solidFill>
                <a:latin typeface="Aptos" pitchFamily="34" charset="0"/>
                <a:ea typeface="Aptos" pitchFamily="34" charset="-122"/>
                <a:cs typeface="Aptos" pitchFamily="34" charset="-120"/>
              </a:rPr>
              <a:t>1 Apr</a:t>
            </a:r>
            <a:endParaRPr lang="en-US" sz="1800" dirty="0"/>
          </a:p>
        </p:txBody>
      </p:sp>
      <p:sp>
        <p:nvSpPr>
          <p:cNvPr id="28" name="Text 26"/>
          <p:cNvSpPr/>
          <p:nvPr/>
        </p:nvSpPr>
        <p:spPr>
          <a:xfrm>
            <a:off x="9857232" y="2962656"/>
            <a:ext cx="1645920" cy="548640"/>
          </a:xfrm>
          <a:prstGeom prst="rect">
            <a:avLst/>
          </a:prstGeom>
          <a:noFill/>
          <a:ln/>
        </p:spPr>
        <p:txBody>
          <a:bodyPr wrap="square" lIns="0" tIns="0" rIns="0" bIns="0" rtlCol="0" anchor="ctr"/>
          <a:lstStyle/>
          <a:p>
            <a:pPr algn="l" indent="0" marL="0">
              <a:buNone/>
            </a:pPr>
            <a:r>
              <a:rPr lang="en-US" sz="1800" dirty="0">
                <a:solidFill>
                  <a:srgbClr val="53657A"/>
                </a:solidFill>
                <a:latin typeface="Aptos" pitchFamily="34" charset="0"/>
                <a:ea typeface="Aptos" pitchFamily="34" charset="-122"/>
                <a:cs typeface="Aptos" pitchFamily="34" charset="-120"/>
              </a:rPr>
              <a:t>Snapshot</a:t>
            </a:r>
            <a:endParaRPr lang="en-US" sz="1800" dirty="0"/>
          </a:p>
        </p:txBody>
      </p:sp>
      <p:sp>
        <p:nvSpPr>
          <p:cNvPr id="29" name="Shape 27"/>
          <p:cNvSpPr/>
          <p:nvPr/>
        </p:nvSpPr>
        <p:spPr>
          <a:xfrm>
            <a:off x="768096" y="4050792"/>
            <a:ext cx="3364992" cy="1033272"/>
          </a:xfrm>
          <a:prstGeom prst="rect">
            <a:avLst/>
          </a:prstGeom>
          <a:solidFill>
            <a:srgbClr val="FFFFFF"/>
          </a:solidFill>
          <a:ln w="12700">
            <a:solidFill>
              <a:srgbClr val="FFFFFF">
                <a:alpha val="0"/>
              </a:srgbClr>
            </a:solidFill>
            <a:prstDash val="solid"/>
          </a:ln>
        </p:spPr>
      </p:sp>
      <p:sp>
        <p:nvSpPr>
          <p:cNvPr id="30" name="Text 28"/>
          <p:cNvSpPr/>
          <p:nvPr/>
        </p:nvSpPr>
        <p:spPr>
          <a:xfrm>
            <a:off x="923544" y="4160520"/>
            <a:ext cx="3054096" cy="448056"/>
          </a:xfrm>
          <a:prstGeom prst="rect">
            <a:avLst/>
          </a:prstGeom>
          <a:noFill/>
          <a:ln/>
        </p:spPr>
        <p:txBody>
          <a:bodyPr wrap="square" lIns="0" tIns="0" rIns="0" bIns="0" rtlCol="0" anchor="ctr"/>
          <a:lstStyle/>
          <a:p>
            <a:pPr algn="l" indent="0" marL="0">
              <a:buNone/>
            </a:pPr>
            <a:r>
              <a:rPr lang="en-US" sz="3000" b="1" dirty="0">
                <a:solidFill>
                  <a:srgbClr val="176493"/>
                </a:solidFill>
                <a:latin typeface="Aptos" pitchFamily="34" charset="0"/>
                <a:ea typeface="Aptos" pitchFamily="34" charset="-122"/>
                <a:cs typeface="Aptos" pitchFamily="34" charset="-120"/>
              </a:rPr>
              <a:t>R = 10 days</a:t>
            </a:r>
            <a:endParaRPr lang="en-US" sz="3000" dirty="0"/>
          </a:p>
        </p:txBody>
      </p:sp>
      <p:sp>
        <p:nvSpPr>
          <p:cNvPr id="31" name="Text 29"/>
          <p:cNvSpPr/>
          <p:nvPr/>
        </p:nvSpPr>
        <p:spPr>
          <a:xfrm>
            <a:off x="923544" y="4690872"/>
            <a:ext cx="3054096" cy="228600"/>
          </a:xfrm>
          <a:prstGeom prst="rect">
            <a:avLst/>
          </a:prstGeom>
          <a:noFill/>
          <a:ln/>
        </p:spPr>
        <p:txBody>
          <a:bodyPr wrap="square" lIns="0" tIns="0" rIns="0" bIns="0" rtlCol="0" anchor="ctr"/>
          <a:lstStyle/>
          <a:p>
            <a:pPr algn="l" indent="0" marL="0">
              <a:buNone/>
            </a:pPr>
            <a:r>
              <a:rPr lang="en-US" sz="1600" dirty="0">
                <a:solidFill>
                  <a:srgbClr val="53657A"/>
                </a:solidFill>
                <a:latin typeface="Aptos" pitchFamily="34" charset="0"/>
                <a:ea typeface="Aptos" pitchFamily="34" charset="-122"/>
                <a:cs typeface="Aptos" pitchFamily="34" charset="-120"/>
              </a:rPr>
              <a:t>since last positive purchase</a:t>
            </a:r>
            <a:endParaRPr lang="en-US" sz="1600" dirty="0"/>
          </a:p>
        </p:txBody>
      </p:sp>
      <p:sp>
        <p:nvSpPr>
          <p:cNvPr id="32" name="Shape 30"/>
          <p:cNvSpPr/>
          <p:nvPr/>
        </p:nvSpPr>
        <p:spPr>
          <a:xfrm>
            <a:off x="4425696" y="4050792"/>
            <a:ext cx="3364992" cy="1033272"/>
          </a:xfrm>
          <a:prstGeom prst="rect">
            <a:avLst/>
          </a:prstGeom>
          <a:solidFill>
            <a:srgbClr val="FFFFFF"/>
          </a:solidFill>
          <a:ln w="12700">
            <a:solidFill>
              <a:srgbClr val="FFFFFF">
                <a:alpha val="0"/>
              </a:srgbClr>
            </a:solidFill>
            <a:prstDash val="solid"/>
          </a:ln>
        </p:spPr>
      </p:sp>
      <p:sp>
        <p:nvSpPr>
          <p:cNvPr id="33" name="Text 31"/>
          <p:cNvSpPr/>
          <p:nvPr/>
        </p:nvSpPr>
        <p:spPr>
          <a:xfrm>
            <a:off x="4581144" y="4160520"/>
            <a:ext cx="3054096" cy="448056"/>
          </a:xfrm>
          <a:prstGeom prst="rect">
            <a:avLst/>
          </a:prstGeom>
          <a:noFill/>
          <a:ln/>
        </p:spPr>
        <p:txBody>
          <a:bodyPr wrap="square" lIns="0" tIns="0" rIns="0" bIns="0" rtlCol="0" anchor="ctr"/>
          <a:lstStyle/>
          <a:p>
            <a:pPr algn="l" indent="0" marL="0">
              <a:buNone/>
            </a:pPr>
            <a:r>
              <a:rPr lang="en-US" sz="3000" b="1" dirty="0">
                <a:solidFill>
                  <a:srgbClr val="167C85"/>
                </a:solidFill>
                <a:latin typeface="Aptos" pitchFamily="34" charset="0"/>
                <a:ea typeface="Aptos" pitchFamily="34" charset="-122"/>
                <a:cs typeface="Aptos" pitchFamily="34" charset="-120"/>
              </a:rPr>
              <a:t>F = 3 orders</a:t>
            </a:r>
            <a:endParaRPr lang="en-US" sz="3000" dirty="0"/>
          </a:p>
        </p:txBody>
      </p:sp>
      <p:sp>
        <p:nvSpPr>
          <p:cNvPr id="34" name="Text 32"/>
          <p:cNvSpPr/>
          <p:nvPr/>
        </p:nvSpPr>
        <p:spPr>
          <a:xfrm>
            <a:off x="4581144" y="4690872"/>
            <a:ext cx="3054096" cy="228600"/>
          </a:xfrm>
          <a:prstGeom prst="rect">
            <a:avLst/>
          </a:prstGeom>
          <a:noFill/>
          <a:ln/>
        </p:spPr>
        <p:txBody>
          <a:bodyPr wrap="square" lIns="0" tIns="0" rIns="0" bIns="0" rtlCol="0" anchor="ctr"/>
          <a:lstStyle/>
          <a:p>
            <a:pPr algn="l" indent="0" marL="0">
              <a:buNone/>
            </a:pPr>
            <a:r>
              <a:rPr lang="en-US" sz="1600" dirty="0">
                <a:solidFill>
                  <a:srgbClr val="53657A"/>
                </a:solidFill>
                <a:latin typeface="Aptos" pitchFamily="34" charset="0"/>
                <a:ea typeface="Aptos" pitchFamily="34" charset="-122"/>
                <a:cs typeface="Aptos" pitchFamily="34" charset="-120"/>
              </a:rPr>
              <a:t>distinct purchase orders</a:t>
            </a:r>
            <a:endParaRPr lang="en-US" sz="1600" dirty="0"/>
          </a:p>
        </p:txBody>
      </p:sp>
      <p:sp>
        <p:nvSpPr>
          <p:cNvPr id="35" name="Shape 33"/>
          <p:cNvSpPr/>
          <p:nvPr/>
        </p:nvSpPr>
        <p:spPr>
          <a:xfrm>
            <a:off x="8083296" y="4050792"/>
            <a:ext cx="3364992" cy="1033272"/>
          </a:xfrm>
          <a:prstGeom prst="rect">
            <a:avLst/>
          </a:prstGeom>
          <a:solidFill>
            <a:srgbClr val="FFFFFF"/>
          </a:solidFill>
          <a:ln w="12700">
            <a:solidFill>
              <a:srgbClr val="FFFFFF">
                <a:alpha val="0"/>
              </a:srgbClr>
            </a:solidFill>
            <a:prstDash val="solid"/>
          </a:ln>
        </p:spPr>
      </p:sp>
      <p:sp>
        <p:nvSpPr>
          <p:cNvPr id="36" name="Text 34"/>
          <p:cNvSpPr/>
          <p:nvPr/>
        </p:nvSpPr>
        <p:spPr>
          <a:xfrm>
            <a:off x="8238744" y="4160520"/>
            <a:ext cx="3054096" cy="448056"/>
          </a:xfrm>
          <a:prstGeom prst="rect">
            <a:avLst/>
          </a:prstGeom>
          <a:noFill/>
          <a:ln/>
        </p:spPr>
        <p:txBody>
          <a:bodyPr wrap="square" lIns="0" tIns="0" rIns="0" bIns="0" rtlCol="0" anchor="ctr"/>
          <a:lstStyle/>
          <a:p>
            <a:pPr algn="l" indent="0" marL="0">
              <a:buNone/>
            </a:pPr>
            <a:r>
              <a:rPr lang="en-US" sz="3000" b="1" dirty="0">
                <a:solidFill>
                  <a:srgbClr val="7056C2"/>
                </a:solidFill>
                <a:latin typeface="Aptos" pitchFamily="34" charset="0"/>
                <a:ea typeface="Aptos" pitchFamily="34" charset="-122"/>
                <a:cs typeface="Aptos" pitchFamily="34" charset="-120"/>
              </a:rPr>
              <a:t>M = 460 CU</a:t>
            </a:r>
            <a:endParaRPr lang="en-US" sz="3000" dirty="0"/>
          </a:p>
        </p:txBody>
      </p:sp>
      <p:sp>
        <p:nvSpPr>
          <p:cNvPr id="37" name="Text 35"/>
          <p:cNvSpPr/>
          <p:nvPr/>
        </p:nvSpPr>
        <p:spPr>
          <a:xfrm>
            <a:off x="8238744" y="4690872"/>
            <a:ext cx="3054096" cy="228600"/>
          </a:xfrm>
          <a:prstGeom prst="rect">
            <a:avLst/>
          </a:prstGeom>
          <a:noFill/>
          <a:ln/>
        </p:spPr>
        <p:txBody>
          <a:bodyPr wrap="square" lIns="0" tIns="0" rIns="0" bIns="0" rtlCol="0" anchor="ctr"/>
          <a:lstStyle/>
          <a:p>
            <a:pPr algn="l" indent="0" marL="0">
              <a:buNone/>
            </a:pPr>
            <a:r>
              <a:rPr lang="en-US" sz="1600" dirty="0">
                <a:solidFill>
                  <a:srgbClr val="53657A"/>
                </a:solidFill>
                <a:latin typeface="Aptos" pitchFamily="34" charset="0"/>
                <a:ea typeface="Aptos" pitchFamily="34" charset="-122"/>
                <a:cs typeface="Aptos" pitchFamily="34" charset="-120"/>
              </a:rPr>
              <a:t>100 + 200 + 200 - 40</a:t>
            </a:r>
            <a:endParaRPr lang="en-US" sz="1600" dirty="0"/>
          </a:p>
        </p:txBody>
      </p:sp>
      <p:sp>
        <p:nvSpPr>
          <p:cNvPr id="38" name="Text 36"/>
          <p:cNvSpPr/>
          <p:nvPr/>
        </p:nvSpPr>
        <p:spPr>
          <a:xfrm>
            <a:off x="786384" y="5404104"/>
            <a:ext cx="10607040" cy="219456"/>
          </a:xfrm>
          <a:prstGeom prst="rect">
            <a:avLst/>
          </a:prstGeom>
          <a:noFill/>
          <a:ln/>
        </p:spPr>
        <p:txBody>
          <a:bodyPr wrap="square" lIns="0" tIns="0" rIns="0" bIns="0" rtlCol="0" anchor="ctr"/>
          <a:lstStyle/>
          <a:p>
            <a:pPr algn="l" indent="0" marL="0">
              <a:buNone/>
            </a:pPr>
            <a:r>
              <a:rPr lang="en-US" sz="1150" b="1" spc="50" kern="0" dirty="0">
                <a:solidFill>
                  <a:srgbClr val="53657A"/>
                </a:solidFill>
                <a:latin typeface="Aptos" pitchFamily="34" charset="0"/>
                <a:ea typeface="Aptos" pitchFamily="34" charset="-122"/>
                <a:cs typeface="Aptos" pitchFamily="34" charset="-120"/>
              </a:rPr>
              <a:t>SCHEMATIC TIMELINE; DATES AND AMOUNTS ARE EXACT FIXTURE VALUES.</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0" y="0"/>
            <a:ext cx="12192000" cy="402336"/>
          </a:xfrm>
          <a:prstGeom prst="rect">
            <a:avLst/>
          </a:prstGeom>
          <a:solidFill>
            <a:srgbClr val="E7EEF7"/>
          </a:solidFill>
          <a:ln w="12700">
            <a:solidFill>
              <a:srgbClr val="E7EEF7">
                <a:alpha val="0"/>
              </a:srgbClr>
            </a:solidFill>
            <a:prstDash val="solid"/>
          </a:ln>
        </p:spPr>
      </p:sp>
      <p:sp>
        <p:nvSpPr>
          <p:cNvPr id="3" name="Shape 1"/>
          <p:cNvSpPr/>
          <p:nvPr/>
        </p:nvSpPr>
        <p:spPr>
          <a:xfrm>
            <a:off x="466344" y="123444"/>
            <a:ext cx="64008" cy="146304"/>
          </a:xfrm>
          <a:prstGeom prst="rect">
            <a:avLst/>
          </a:prstGeom>
          <a:solidFill>
            <a:srgbClr val="176493"/>
          </a:solidFill>
          <a:ln w="12700">
            <a:solidFill>
              <a:srgbClr val="176493">
                <a:alpha val="0"/>
              </a:srgbClr>
            </a:solidFill>
            <a:prstDash val="solid"/>
          </a:ln>
        </p:spPr>
      </p:sp>
      <p:sp>
        <p:nvSpPr>
          <p:cNvPr id="4" name="Text 2"/>
          <p:cNvSpPr/>
          <p:nvPr/>
        </p:nvSpPr>
        <p:spPr>
          <a:xfrm>
            <a:off x="594360" y="100584"/>
            <a:ext cx="731520" cy="201168"/>
          </a:xfrm>
          <a:prstGeom prst="rect">
            <a:avLst/>
          </a:prstGeom>
          <a:noFill/>
          <a:ln/>
        </p:spPr>
        <p:txBody>
          <a:bodyPr wrap="square" lIns="0" tIns="0" rIns="0" bIns="0" rtlCol="0" anchor="ctr"/>
          <a:lstStyle/>
          <a:p>
            <a:pPr algn="l" indent="0" marL="0">
              <a:buNone/>
            </a:pPr>
            <a:r>
              <a:rPr lang="en-US" sz="1100" b="1" dirty="0">
                <a:solidFill>
                  <a:srgbClr val="176493"/>
                </a:solidFill>
                <a:latin typeface="Aptos" pitchFamily="34" charset="0"/>
                <a:ea typeface="Aptos" pitchFamily="34" charset="-122"/>
                <a:cs typeface="Aptos" pitchFamily="34" charset="-120"/>
              </a:rPr>
              <a:t>DS101</a:t>
            </a:r>
            <a:endParaRPr lang="en-US" sz="1100" dirty="0"/>
          </a:p>
        </p:txBody>
      </p:sp>
      <p:sp>
        <p:nvSpPr>
          <p:cNvPr id="5" name="Text 3"/>
          <p:cNvSpPr/>
          <p:nvPr/>
        </p:nvSpPr>
        <p:spPr>
          <a:xfrm>
            <a:off x="1463040" y="100584"/>
            <a:ext cx="1828800" cy="201168"/>
          </a:xfrm>
          <a:prstGeom prst="rect">
            <a:avLst/>
          </a:prstGeom>
          <a:noFill/>
          <a:ln/>
        </p:spPr>
        <p:txBody>
          <a:bodyPr wrap="square" lIns="0" tIns="0" rIns="0" bIns="0" rtlCol="0" anchor="ctr"/>
          <a:lstStyle/>
          <a:p>
            <a:pPr algn="l" indent="0" marL="0">
              <a:buNone/>
            </a:pPr>
            <a:r>
              <a:rPr lang="en-US" sz="1000" dirty="0">
                <a:solidFill>
                  <a:srgbClr val="53657A"/>
                </a:solidFill>
                <a:latin typeface="Aptos" pitchFamily="34" charset="0"/>
                <a:ea typeface="Aptos" pitchFamily="34" charset="-122"/>
                <a:cs typeface="Aptos" pitchFamily="34" charset="-120"/>
              </a:rPr>
              <a:t>LECTURE 02</a:t>
            </a:r>
            <a:endParaRPr lang="en-US" sz="1000" dirty="0"/>
          </a:p>
        </p:txBody>
      </p:sp>
      <p:sp>
        <p:nvSpPr>
          <p:cNvPr id="6" name="Text 4"/>
          <p:cNvSpPr/>
          <p:nvPr/>
        </p:nvSpPr>
        <p:spPr>
          <a:xfrm>
            <a:off x="8321040" y="100584"/>
            <a:ext cx="3264408" cy="201168"/>
          </a:xfrm>
          <a:prstGeom prst="rect">
            <a:avLst/>
          </a:prstGeom>
          <a:noFill/>
          <a:ln/>
        </p:spPr>
        <p:txBody>
          <a:bodyPr wrap="square" lIns="0" tIns="0" rIns="0" bIns="0" rtlCol="0" anchor="ctr"/>
          <a:lstStyle/>
          <a:p>
            <a:pPr algn="r" indent="0" marL="0">
              <a:buNone/>
            </a:pPr>
            <a:r>
              <a:rPr lang="en-US" sz="1000" dirty="0">
                <a:solidFill>
                  <a:srgbClr val="53657A"/>
                </a:solidFill>
                <a:latin typeface="Aptos" pitchFamily="34" charset="0"/>
                <a:ea typeface="Aptos" pitchFamily="34" charset="-122"/>
                <a:cs typeface="Aptos" pitchFamily="34" charset="-120"/>
              </a:rPr>
              <a:t>RFM INTERPRETATION</a:t>
            </a:r>
            <a:endParaRPr lang="en-US" sz="1000" dirty="0"/>
          </a:p>
        </p:txBody>
      </p:sp>
      <p:sp>
        <p:nvSpPr>
          <p:cNvPr id="7" name="Text 5"/>
          <p:cNvSpPr/>
          <p:nvPr/>
        </p:nvSpPr>
        <p:spPr>
          <a:xfrm>
            <a:off x="594360" y="758952"/>
            <a:ext cx="11000232" cy="658368"/>
          </a:xfrm>
          <a:prstGeom prst="rect">
            <a:avLst/>
          </a:prstGeom>
          <a:noFill/>
          <a:ln/>
        </p:spPr>
        <p:txBody>
          <a:bodyPr wrap="square" lIns="0" tIns="0" rIns="0" bIns="0" rtlCol="0" anchor="ctr"/>
          <a:lstStyle/>
          <a:p>
            <a:pPr algn="l" indent="0" marL="0">
              <a:buNone/>
            </a:pPr>
            <a:r>
              <a:rPr lang="en-US" sz="3000" b="1" dirty="0">
                <a:solidFill>
                  <a:srgbClr val="172233"/>
                </a:solidFill>
                <a:latin typeface="Aptos" pitchFamily="34" charset="0"/>
                <a:ea typeface="Aptos" pitchFamily="34" charset="-122"/>
                <a:cs typeface="Aptos" pitchFamily="34" charset="-120"/>
              </a:rPr>
              <a:t>A feature table needs units and meaning</a:t>
            </a:r>
            <a:endParaRPr lang="en-US" sz="3000" dirty="0"/>
          </a:p>
        </p:txBody>
      </p:sp>
      <p:sp>
        <p:nvSpPr>
          <p:cNvPr id="8" name="Text 6"/>
          <p:cNvSpPr/>
          <p:nvPr/>
        </p:nvSpPr>
        <p:spPr>
          <a:xfrm>
            <a:off x="594360" y="6510528"/>
            <a:ext cx="3657600" cy="164592"/>
          </a:xfrm>
          <a:prstGeom prst="rect">
            <a:avLst/>
          </a:prstGeom>
          <a:noFill/>
          <a:ln/>
        </p:spPr>
        <p:txBody>
          <a:bodyPr wrap="square" lIns="0" tIns="0" rIns="0" bIns="0" rtlCol="0" anchor="ctr"/>
          <a:lstStyle/>
          <a:p>
            <a:pPr algn="l" indent="0" marL="0">
              <a:buNone/>
            </a:pPr>
            <a:r>
              <a:rPr lang="en-US" sz="900" dirty="0">
                <a:solidFill>
                  <a:srgbClr val="53657A"/>
                </a:solidFill>
                <a:latin typeface="Aptos" pitchFamily="34" charset="0"/>
                <a:ea typeface="Aptos" pitchFamily="34" charset="-122"/>
                <a:cs typeface="Aptos" pitchFamily="34" charset="-120"/>
              </a:rPr>
              <a:t>DS101 | 2026-2027</a:t>
            </a:r>
            <a:endParaRPr lang="en-US" sz="900" dirty="0"/>
          </a:p>
        </p:txBody>
      </p:sp>
      <p:sp>
        <p:nvSpPr>
          <p:cNvPr id="9" name="Text 7"/>
          <p:cNvSpPr/>
          <p:nvPr/>
        </p:nvSpPr>
        <p:spPr>
          <a:xfrm>
            <a:off x="10680192" y="6492240"/>
            <a:ext cx="914400" cy="201168"/>
          </a:xfrm>
          <a:prstGeom prst="rect">
            <a:avLst/>
          </a:prstGeom>
          <a:noFill/>
          <a:ln/>
        </p:spPr>
        <p:txBody>
          <a:bodyPr wrap="square" lIns="0" tIns="0" rIns="0" bIns="0" rtlCol="0" anchor="ctr"/>
          <a:lstStyle/>
          <a:p>
            <a:pPr algn="r" indent="0" marL="0">
              <a:buNone/>
            </a:pPr>
            <a:r>
              <a:rPr lang="en-US" sz="1000" dirty="0">
                <a:solidFill>
                  <a:srgbClr val="53657A"/>
                </a:solidFill>
                <a:latin typeface="Aptos" pitchFamily="34" charset="0"/>
                <a:ea typeface="Aptos" pitchFamily="34" charset="-122"/>
                <a:cs typeface="Aptos" pitchFamily="34" charset="-120"/>
              </a:rPr>
              <a:t>08 / 24</a:t>
            </a:r>
            <a:endParaRPr lang="en-US" sz="1000" dirty="0"/>
          </a:p>
        </p:txBody>
      </p:sp>
      <p:sp>
        <p:nvSpPr>
          <p:cNvPr id="10" name="Shape 8"/>
          <p:cNvSpPr/>
          <p:nvPr/>
        </p:nvSpPr>
        <p:spPr>
          <a:xfrm>
            <a:off x="594360" y="5852160"/>
            <a:ext cx="11000232" cy="438912"/>
          </a:xfrm>
          <a:prstGeom prst="rect">
            <a:avLst/>
          </a:prstGeom>
          <a:solidFill>
            <a:srgbClr val="E3EFF7"/>
          </a:solidFill>
          <a:ln w="12700">
            <a:solidFill>
              <a:srgbClr val="E3EFF7">
                <a:alpha val="0"/>
              </a:srgbClr>
            </a:solidFill>
            <a:prstDash val="solid"/>
          </a:ln>
        </p:spPr>
      </p:sp>
      <p:sp>
        <p:nvSpPr>
          <p:cNvPr id="11" name="Text 9"/>
          <p:cNvSpPr/>
          <p:nvPr/>
        </p:nvSpPr>
        <p:spPr>
          <a:xfrm>
            <a:off x="795528" y="5943600"/>
            <a:ext cx="10607040" cy="256032"/>
          </a:xfrm>
          <a:prstGeom prst="rect">
            <a:avLst/>
          </a:prstGeom>
          <a:noFill/>
          <a:ln/>
        </p:spPr>
        <p:txBody>
          <a:bodyPr wrap="square" lIns="0" tIns="0" rIns="0" bIns="0" rtlCol="0" anchor="ctr"/>
          <a:lstStyle/>
          <a:p>
            <a:pPr algn="l" indent="0" marL="0">
              <a:buNone/>
            </a:pPr>
            <a:r>
              <a:rPr lang="en-US" sz="1700" b="1" dirty="0">
                <a:solidFill>
                  <a:srgbClr val="176493"/>
                </a:solidFill>
                <a:latin typeface="Aptos" pitchFamily="34" charset="0"/>
                <a:ea typeface="Aptos" pitchFamily="34" charset="-122"/>
                <a:cs typeface="Aptos" pitchFamily="34" charset="-120"/>
              </a:rPr>
              <a:t>Small R means recent in this fixture. A score could use the opposite direction.</a:t>
            </a:r>
            <a:endParaRPr lang="en-US" sz="1700" dirty="0"/>
          </a:p>
        </p:txBody>
      </p:sp>
      <p:sp>
        <p:nvSpPr>
          <p:cNvPr id="12" name="Shape 10"/>
          <p:cNvSpPr/>
          <p:nvPr/>
        </p:nvSpPr>
        <p:spPr>
          <a:xfrm>
            <a:off x="749808" y="2011680"/>
            <a:ext cx="6510528" cy="457200"/>
          </a:xfrm>
          <a:prstGeom prst="rect">
            <a:avLst/>
          </a:prstGeom>
          <a:solidFill>
            <a:srgbClr val="263142"/>
          </a:solidFill>
          <a:ln w="12700">
            <a:solidFill>
              <a:srgbClr val="263142">
                <a:alpha val="0"/>
              </a:srgbClr>
            </a:solidFill>
            <a:prstDash val="solid"/>
          </a:ln>
        </p:spPr>
      </p:sp>
      <p:sp>
        <p:nvSpPr>
          <p:cNvPr id="13" name="Text 11"/>
          <p:cNvSpPr/>
          <p:nvPr/>
        </p:nvSpPr>
        <p:spPr>
          <a:xfrm>
            <a:off x="859536" y="2048256"/>
            <a:ext cx="1243584" cy="384048"/>
          </a:xfrm>
          <a:prstGeom prst="rect">
            <a:avLst/>
          </a:prstGeom>
          <a:noFill/>
          <a:ln/>
        </p:spPr>
        <p:txBody>
          <a:bodyPr wrap="square" lIns="0" tIns="0" rIns="0" bIns="0" rtlCol="0" anchor="ctr"/>
          <a:lstStyle/>
          <a:p>
            <a:pPr algn="l" indent="0" marL="0">
              <a:buNone/>
            </a:pPr>
            <a:r>
              <a:rPr lang="en-US" sz="1500" b="1" dirty="0">
                <a:solidFill>
                  <a:srgbClr val="FFFFFF"/>
                </a:solidFill>
                <a:latin typeface="Aptos" pitchFamily="34" charset="0"/>
                <a:ea typeface="Aptos" pitchFamily="34" charset="-122"/>
                <a:cs typeface="Aptos" pitchFamily="34" charset="-120"/>
              </a:rPr>
              <a:t>Account</a:t>
            </a:r>
            <a:endParaRPr lang="en-US" sz="1500" dirty="0"/>
          </a:p>
        </p:txBody>
      </p:sp>
      <p:sp>
        <p:nvSpPr>
          <p:cNvPr id="14" name="Text 12"/>
          <p:cNvSpPr/>
          <p:nvPr/>
        </p:nvSpPr>
        <p:spPr>
          <a:xfrm>
            <a:off x="2322576" y="2048256"/>
            <a:ext cx="1353312" cy="384048"/>
          </a:xfrm>
          <a:prstGeom prst="rect">
            <a:avLst/>
          </a:prstGeom>
          <a:noFill/>
          <a:ln/>
        </p:spPr>
        <p:txBody>
          <a:bodyPr wrap="square" lIns="0" tIns="0" rIns="0" bIns="0" rtlCol="0" anchor="ctr"/>
          <a:lstStyle/>
          <a:p>
            <a:pPr algn="l" indent="0" marL="0">
              <a:buNone/>
            </a:pPr>
            <a:r>
              <a:rPr lang="en-US" sz="1500" b="1" dirty="0">
                <a:solidFill>
                  <a:srgbClr val="FFFFFF"/>
                </a:solidFill>
                <a:latin typeface="Aptos" pitchFamily="34" charset="0"/>
                <a:ea typeface="Aptos" pitchFamily="34" charset="-122"/>
                <a:cs typeface="Aptos" pitchFamily="34" charset="-120"/>
              </a:rPr>
              <a:t>R: days</a:t>
            </a:r>
            <a:endParaRPr lang="en-US" sz="1500" dirty="0"/>
          </a:p>
        </p:txBody>
      </p:sp>
      <p:sp>
        <p:nvSpPr>
          <p:cNvPr id="15" name="Text 13"/>
          <p:cNvSpPr/>
          <p:nvPr/>
        </p:nvSpPr>
        <p:spPr>
          <a:xfrm>
            <a:off x="3895344" y="2048256"/>
            <a:ext cx="1426464" cy="384048"/>
          </a:xfrm>
          <a:prstGeom prst="rect">
            <a:avLst/>
          </a:prstGeom>
          <a:noFill/>
          <a:ln/>
        </p:spPr>
        <p:txBody>
          <a:bodyPr wrap="square" lIns="0" tIns="0" rIns="0" bIns="0" rtlCol="0" anchor="ctr"/>
          <a:lstStyle/>
          <a:p>
            <a:pPr algn="l" indent="0" marL="0">
              <a:buNone/>
            </a:pPr>
            <a:r>
              <a:rPr lang="en-US" sz="1500" b="1" dirty="0">
                <a:solidFill>
                  <a:srgbClr val="FFFFFF"/>
                </a:solidFill>
                <a:latin typeface="Aptos" pitchFamily="34" charset="0"/>
                <a:ea typeface="Aptos" pitchFamily="34" charset="-122"/>
                <a:cs typeface="Aptos" pitchFamily="34" charset="-120"/>
              </a:rPr>
              <a:t>F: orders</a:t>
            </a:r>
            <a:endParaRPr lang="en-US" sz="1500" dirty="0"/>
          </a:p>
        </p:txBody>
      </p:sp>
      <p:sp>
        <p:nvSpPr>
          <p:cNvPr id="16" name="Text 14"/>
          <p:cNvSpPr/>
          <p:nvPr/>
        </p:nvSpPr>
        <p:spPr>
          <a:xfrm>
            <a:off x="5541264" y="2048256"/>
            <a:ext cx="1609344" cy="384048"/>
          </a:xfrm>
          <a:prstGeom prst="rect">
            <a:avLst/>
          </a:prstGeom>
          <a:noFill/>
          <a:ln/>
        </p:spPr>
        <p:txBody>
          <a:bodyPr wrap="square" lIns="0" tIns="0" rIns="0" bIns="0" rtlCol="0" anchor="ctr"/>
          <a:lstStyle/>
          <a:p>
            <a:pPr algn="l" indent="0" marL="0">
              <a:buNone/>
            </a:pPr>
            <a:r>
              <a:rPr lang="en-US" sz="1500" b="1" dirty="0">
                <a:solidFill>
                  <a:srgbClr val="FFFFFF"/>
                </a:solidFill>
                <a:latin typeface="Aptos" pitchFamily="34" charset="0"/>
                <a:ea typeface="Aptos" pitchFamily="34" charset="-122"/>
                <a:cs typeface="Aptos" pitchFamily="34" charset="-120"/>
              </a:rPr>
              <a:t>M: net CU</a:t>
            </a:r>
            <a:endParaRPr lang="en-US" sz="1500" dirty="0"/>
          </a:p>
        </p:txBody>
      </p:sp>
      <p:sp>
        <p:nvSpPr>
          <p:cNvPr id="17" name="Shape 15"/>
          <p:cNvSpPr/>
          <p:nvPr/>
        </p:nvSpPr>
        <p:spPr>
          <a:xfrm>
            <a:off x="749808" y="2468880"/>
            <a:ext cx="6510528" cy="594360"/>
          </a:xfrm>
          <a:prstGeom prst="rect">
            <a:avLst/>
          </a:prstGeom>
          <a:solidFill>
            <a:srgbClr val="FFFFFF"/>
          </a:solidFill>
          <a:ln w="12700">
            <a:solidFill>
              <a:srgbClr val="FFFFFF">
                <a:alpha val="0"/>
              </a:srgbClr>
            </a:solidFill>
            <a:prstDash val="solid"/>
          </a:ln>
        </p:spPr>
      </p:sp>
      <p:sp>
        <p:nvSpPr>
          <p:cNvPr id="18" name="Text 16"/>
          <p:cNvSpPr/>
          <p:nvPr/>
        </p:nvSpPr>
        <p:spPr>
          <a:xfrm>
            <a:off x="859536" y="2523744"/>
            <a:ext cx="1243584" cy="484632"/>
          </a:xfrm>
          <a:prstGeom prst="rect">
            <a:avLst/>
          </a:prstGeom>
          <a:noFill/>
          <a:ln/>
        </p:spPr>
        <p:txBody>
          <a:bodyPr wrap="square" lIns="0" tIns="0" rIns="0" bIns="0" rtlCol="0" anchor="ctr"/>
          <a:lstStyle/>
          <a:p>
            <a:pPr algn="l" indent="0" marL="0">
              <a:buNone/>
            </a:pPr>
            <a:r>
              <a:rPr lang="en-US" sz="2100" dirty="0">
                <a:solidFill>
                  <a:srgbClr val="172233"/>
                </a:solidFill>
                <a:latin typeface="Aptos" pitchFamily="34" charset="0"/>
                <a:ea typeface="Aptos" pitchFamily="34" charset="-122"/>
                <a:cs typeface="Aptos" pitchFamily="34" charset="-120"/>
              </a:rPr>
              <a:t>A001</a:t>
            </a:r>
            <a:endParaRPr lang="en-US" sz="2100" dirty="0"/>
          </a:p>
        </p:txBody>
      </p:sp>
      <p:sp>
        <p:nvSpPr>
          <p:cNvPr id="19" name="Text 17"/>
          <p:cNvSpPr/>
          <p:nvPr/>
        </p:nvSpPr>
        <p:spPr>
          <a:xfrm>
            <a:off x="2322576" y="2523744"/>
            <a:ext cx="1353312" cy="484632"/>
          </a:xfrm>
          <a:prstGeom prst="rect">
            <a:avLst/>
          </a:prstGeom>
          <a:noFill/>
          <a:ln/>
        </p:spPr>
        <p:txBody>
          <a:bodyPr wrap="square" lIns="0" tIns="0" rIns="0" bIns="0" rtlCol="0" anchor="ctr"/>
          <a:lstStyle/>
          <a:p>
            <a:pPr algn="l" indent="0" marL="0">
              <a:buNone/>
            </a:pPr>
            <a:r>
              <a:rPr lang="en-US" sz="2100" dirty="0">
                <a:solidFill>
                  <a:srgbClr val="172233"/>
                </a:solidFill>
                <a:latin typeface="Aptos" pitchFamily="34" charset="0"/>
                <a:ea typeface="Aptos" pitchFamily="34" charset="-122"/>
                <a:cs typeface="Aptos" pitchFamily="34" charset="-120"/>
              </a:rPr>
              <a:t>10</a:t>
            </a:r>
            <a:endParaRPr lang="en-US" sz="2100" dirty="0"/>
          </a:p>
        </p:txBody>
      </p:sp>
      <p:sp>
        <p:nvSpPr>
          <p:cNvPr id="20" name="Text 18"/>
          <p:cNvSpPr/>
          <p:nvPr/>
        </p:nvSpPr>
        <p:spPr>
          <a:xfrm>
            <a:off x="3895344" y="2523744"/>
            <a:ext cx="1426464" cy="484632"/>
          </a:xfrm>
          <a:prstGeom prst="rect">
            <a:avLst/>
          </a:prstGeom>
          <a:noFill/>
          <a:ln/>
        </p:spPr>
        <p:txBody>
          <a:bodyPr wrap="square" lIns="0" tIns="0" rIns="0" bIns="0" rtlCol="0" anchor="ctr"/>
          <a:lstStyle/>
          <a:p>
            <a:pPr algn="l" indent="0" marL="0">
              <a:buNone/>
            </a:pPr>
            <a:r>
              <a:rPr lang="en-US" sz="2100" dirty="0">
                <a:solidFill>
                  <a:srgbClr val="172233"/>
                </a:solidFill>
                <a:latin typeface="Aptos" pitchFamily="34" charset="0"/>
                <a:ea typeface="Aptos" pitchFamily="34" charset="-122"/>
                <a:cs typeface="Aptos" pitchFamily="34" charset="-120"/>
              </a:rPr>
              <a:t>3</a:t>
            </a:r>
            <a:endParaRPr lang="en-US" sz="2100" dirty="0"/>
          </a:p>
        </p:txBody>
      </p:sp>
      <p:sp>
        <p:nvSpPr>
          <p:cNvPr id="21" name="Text 19"/>
          <p:cNvSpPr/>
          <p:nvPr/>
        </p:nvSpPr>
        <p:spPr>
          <a:xfrm>
            <a:off x="5541264" y="2523744"/>
            <a:ext cx="1609344" cy="484632"/>
          </a:xfrm>
          <a:prstGeom prst="rect">
            <a:avLst/>
          </a:prstGeom>
          <a:noFill/>
          <a:ln/>
        </p:spPr>
        <p:txBody>
          <a:bodyPr wrap="square" lIns="0" tIns="0" rIns="0" bIns="0" rtlCol="0" anchor="ctr"/>
          <a:lstStyle/>
          <a:p>
            <a:pPr algn="l" indent="0" marL="0">
              <a:buNone/>
            </a:pPr>
            <a:r>
              <a:rPr lang="en-US" sz="2100" dirty="0">
                <a:solidFill>
                  <a:srgbClr val="172233"/>
                </a:solidFill>
                <a:latin typeface="Aptos" pitchFamily="34" charset="0"/>
                <a:ea typeface="Aptos" pitchFamily="34" charset="-122"/>
                <a:cs typeface="Aptos" pitchFamily="34" charset="-120"/>
              </a:rPr>
              <a:t>460</a:t>
            </a:r>
            <a:endParaRPr lang="en-US" sz="2100" dirty="0"/>
          </a:p>
        </p:txBody>
      </p:sp>
      <p:sp>
        <p:nvSpPr>
          <p:cNvPr id="22" name="Shape 20"/>
          <p:cNvSpPr/>
          <p:nvPr/>
        </p:nvSpPr>
        <p:spPr>
          <a:xfrm>
            <a:off x="749808" y="3063240"/>
            <a:ext cx="6510528" cy="594360"/>
          </a:xfrm>
          <a:prstGeom prst="rect">
            <a:avLst/>
          </a:prstGeom>
          <a:solidFill>
            <a:srgbClr val="E3EFF7"/>
          </a:solidFill>
          <a:ln w="12700">
            <a:solidFill>
              <a:srgbClr val="E3EFF7">
                <a:alpha val="0"/>
              </a:srgbClr>
            </a:solidFill>
            <a:prstDash val="solid"/>
          </a:ln>
        </p:spPr>
      </p:sp>
      <p:sp>
        <p:nvSpPr>
          <p:cNvPr id="23" name="Text 21"/>
          <p:cNvSpPr/>
          <p:nvPr/>
        </p:nvSpPr>
        <p:spPr>
          <a:xfrm>
            <a:off x="859536" y="3118104"/>
            <a:ext cx="1243584" cy="484632"/>
          </a:xfrm>
          <a:prstGeom prst="rect">
            <a:avLst/>
          </a:prstGeom>
          <a:noFill/>
          <a:ln/>
        </p:spPr>
        <p:txBody>
          <a:bodyPr wrap="square" lIns="0" tIns="0" rIns="0" bIns="0" rtlCol="0" anchor="ctr"/>
          <a:lstStyle/>
          <a:p>
            <a:pPr algn="l" indent="0" marL="0">
              <a:buNone/>
            </a:pPr>
            <a:r>
              <a:rPr lang="en-US" sz="2100" dirty="0">
                <a:solidFill>
                  <a:srgbClr val="172233"/>
                </a:solidFill>
                <a:latin typeface="Aptos" pitchFamily="34" charset="0"/>
                <a:ea typeface="Aptos" pitchFamily="34" charset="-122"/>
                <a:cs typeface="Aptos" pitchFamily="34" charset="-120"/>
              </a:rPr>
              <a:t>A010</a:t>
            </a:r>
            <a:endParaRPr lang="en-US" sz="2100" dirty="0"/>
          </a:p>
        </p:txBody>
      </p:sp>
      <p:sp>
        <p:nvSpPr>
          <p:cNvPr id="24" name="Text 22"/>
          <p:cNvSpPr/>
          <p:nvPr/>
        </p:nvSpPr>
        <p:spPr>
          <a:xfrm>
            <a:off x="2322576" y="3118104"/>
            <a:ext cx="1353312" cy="484632"/>
          </a:xfrm>
          <a:prstGeom prst="rect">
            <a:avLst/>
          </a:prstGeom>
          <a:noFill/>
          <a:ln/>
        </p:spPr>
        <p:txBody>
          <a:bodyPr wrap="square" lIns="0" tIns="0" rIns="0" bIns="0" rtlCol="0" anchor="ctr"/>
          <a:lstStyle/>
          <a:p>
            <a:pPr algn="l" indent="0" marL="0">
              <a:buNone/>
            </a:pPr>
            <a:r>
              <a:rPr lang="en-US" sz="2100" dirty="0">
                <a:solidFill>
                  <a:srgbClr val="172233"/>
                </a:solidFill>
                <a:latin typeface="Aptos" pitchFamily="34" charset="0"/>
                <a:ea typeface="Aptos" pitchFamily="34" charset="-122"/>
                <a:cs typeface="Aptos" pitchFamily="34" charset="-120"/>
              </a:rPr>
              <a:t>12</a:t>
            </a:r>
            <a:endParaRPr lang="en-US" sz="2100" dirty="0"/>
          </a:p>
        </p:txBody>
      </p:sp>
      <p:sp>
        <p:nvSpPr>
          <p:cNvPr id="25" name="Text 23"/>
          <p:cNvSpPr/>
          <p:nvPr/>
        </p:nvSpPr>
        <p:spPr>
          <a:xfrm>
            <a:off x="3895344" y="3118104"/>
            <a:ext cx="1426464" cy="484632"/>
          </a:xfrm>
          <a:prstGeom prst="rect">
            <a:avLst/>
          </a:prstGeom>
          <a:noFill/>
          <a:ln/>
        </p:spPr>
        <p:txBody>
          <a:bodyPr wrap="square" lIns="0" tIns="0" rIns="0" bIns="0" rtlCol="0" anchor="ctr"/>
          <a:lstStyle/>
          <a:p>
            <a:pPr algn="l" indent="0" marL="0">
              <a:buNone/>
            </a:pPr>
            <a:r>
              <a:rPr lang="en-US" sz="2100" dirty="0">
                <a:solidFill>
                  <a:srgbClr val="172233"/>
                </a:solidFill>
                <a:latin typeface="Aptos" pitchFamily="34" charset="0"/>
                <a:ea typeface="Aptos" pitchFamily="34" charset="-122"/>
                <a:cs typeface="Aptos" pitchFamily="34" charset="-120"/>
              </a:rPr>
              <a:t>12</a:t>
            </a:r>
            <a:endParaRPr lang="en-US" sz="2100" dirty="0"/>
          </a:p>
        </p:txBody>
      </p:sp>
      <p:sp>
        <p:nvSpPr>
          <p:cNvPr id="26" name="Text 24"/>
          <p:cNvSpPr/>
          <p:nvPr/>
        </p:nvSpPr>
        <p:spPr>
          <a:xfrm>
            <a:off x="5541264" y="3118104"/>
            <a:ext cx="1609344" cy="484632"/>
          </a:xfrm>
          <a:prstGeom prst="rect">
            <a:avLst/>
          </a:prstGeom>
          <a:noFill/>
          <a:ln/>
        </p:spPr>
        <p:txBody>
          <a:bodyPr wrap="square" lIns="0" tIns="0" rIns="0" bIns="0" rtlCol="0" anchor="ctr"/>
          <a:lstStyle/>
          <a:p>
            <a:pPr algn="l" indent="0" marL="0">
              <a:buNone/>
            </a:pPr>
            <a:r>
              <a:rPr lang="en-US" sz="2100" dirty="0">
                <a:solidFill>
                  <a:srgbClr val="172233"/>
                </a:solidFill>
                <a:latin typeface="Aptos" pitchFamily="34" charset="0"/>
                <a:ea typeface="Aptos" pitchFamily="34" charset="-122"/>
                <a:cs typeface="Aptos" pitchFamily="34" charset="-120"/>
              </a:rPr>
              <a:t>4437</a:t>
            </a:r>
            <a:endParaRPr lang="en-US" sz="2100" dirty="0"/>
          </a:p>
        </p:txBody>
      </p:sp>
      <p:sp>
        <p:nvSpPr>
          <p:cNvPr id="27" name="Shape 25"/>
          <p:cNvSpPr/>
          <p:nvPr/>
        </p:nvSpPr>
        <p:spPr>
          <a:xfrm>
            <a:off x="749808" y="3657600"/>
            <a:ext cx="6510528" cy="594360"/>
          </a:xfrm>
          <a:prstGeom prst="rect">
            <a:avLst/>
          </a:prstGeom>
          <a:solidFill>
            <a:srgbClr val="FFFFFF"/>
          </a:solidFill>
          <a:ln w="12700">
            <a:solidFill>
              <a:srgbClr val="FFFFFF">
                <a:alpha val="0"/>
              </a:srgbClr>
            </a:solidFill>
            <a:prstDash val="solid"/>
          </a:ln>
        </p:spPr>
      </p:sp>
      <p:sp>
        <p:nvSpPr>
          <p:cNvPr id="28" name="Text 26"/>
          <p:cNvSpPr/>
          <p:nvPr/>
        </p:nvSpPr>
        <p:spPr>
          <a:xfrm>
            <a:off x="859536" y="3712464"/>
            <a:ext cx="1243584" cy="484632"/>
          </a:xfrm>
          <a:prstGeom prst="rect">
            <a:avLst/>
          </a:prstGeom>
          <a:noFill/>
          <a:ln/>
        </p:spPr>
        <p:txBody>
          <a:bodyPr wrap="square" lIns="0" tIns="0" rIns="0" bIns="0" rtlCol="0" anchor="ctr"/>
          <a:lstStyle/>
          <a:p>
            <a:pPr algn="l" indent="0" marL="0">
              <a:buNone/>
            </a:pPr>
            <a:r>
              <a:rPr lang="en-US" sz="2100" dirty="0">
                <a:solidFill>
                  <a:srgbClr val="172233"/>
                </a:solidFill>
                <a:latin typeface="Aptos" pitchFamily="34" charset="0"/>
                <a:ea typeface="Aptos" pitchFamily="34" charset="-122"/>
                <a:cs typeface="Aptos" pitchFamily="34" charset="-120"/>
              </a:rPr>
              <a:t>A040</a:t>
            </a:r>
            <a:endParaRPr lang="en-US" sz="2100" dirty="0"/>
          </a:p>
        </p:txBody>
      </p:sp>
      <p:sp>
        <p:nvSpPr>
          <p:cNvPr id="29" name="Text 27"/>
          <p:cNvSpPr/>
          <p:nvPr/>
        </p:nvSpPr>
        <p:spPr>
          <a:xfrm>
            <a:off x="2322576" y="3712464"/>
            <a:ext cx="1353312" cy="484632"/>
          </a:xfrm>
          <a:prstGeom prst="rect">
            <a:avLst/>
          </a:prstGeom>
          <a:noFill/>
          <a:ln/>
        </p:spPr>
        <p:txBody>
          <a:bodyPr wrap="square" lIns="0" tIns="0" rIns="0" bIns="0" rtlCol="0" anchor="ctr"/>
          <a:lstStyle/>
          <a:p>
            <a:pPr algn="l" indent="0" marL="0">
              <a:buNone/>
            </a:pPr>
            <a:r>
              <a:rPr lang="en-US" sz="2100" dirty="0">
                <a:solidFill>
                  <a:srgbClr val="172233"/>
                </a:solidFill>
                <a:latin typeface="Aptos" pitchFamily="34" charset="0"/>
                <a:ea typeface="Aptos" pitchFamily="34" charset="-122"/>
                <a:cs typeface="Aptos" pitchFamily="34" charset="-120"/>
              </a:rPr>
              <a:t>70</a:t>
            </a:r>
            <a:endParaRPr lang="en-US" sz="2100" dirty="0"/>
          </a:p>
        </p:txBody>
      </p:sp>
      <p:sp>
        <p:nvSpPr>
          <p:cNvPr id="30" name="Text 28"/>
          <p:cNvSpPr/>
          <p:nvPr/>
        </p:nvSpPr>
        <p:spPr>
          <a:xfrm>
            <a:off x="3895344" y="3712464"/>
            <a:ext cx="1426464" cy="484632"/>
          </a:xfrm>
          <a:prstGeom prst="rect">
            <a:avLst/>
          </a:prstGeom>
          <a:noFill/>
          <a:ln/>
        </p:spPr>
        <p:txBody>
          <a:bodyPr wrap="square" lIns="0" tIns="0" rIns="0" bIns="0" rtlCol="0" anchor="ctr"/>
          <a:lstStyle/>
          <a:p>
            <a:pPr algn="l" indent="0" marL="0">
              <a:buNone/>
            </a:pPr>
            <a:r>
              <a:rPr lang="en-US" sz="2100" dirty="0">
                <a:solidFill>
                  <a:srgbClr val="172233"/>
                </a:solidFill>
                <a:latin typeface="Aptos" pitchFamily="34" charset="0"/>
                <a:ea typeface="Aptos" pitchFamily="34" charset="-122"/>
                <a:cs typeface="Aptos" pitchFamily="34" charset="-120"/>
              </a:rPr>
              <a:t>2</a:t>
            </a:r>
            <a:endParaRPr lang="en-US" sz="2100" dirty="0"/>
          </a:p>
        </p:txBody>
      </p:sp>
      <p:sp>
        <p:nvSpPr>
          <p:cNvPr id="31" name="Text 29"/>
          <p:cNvSpPr/>
          <p:nvPr/>
        </p:nvSpPr>
        <p:spPr>
          <a:xfrm>
            <a:off x="5541264" y="3712464"/>
            <a:ext cx="1609344" cy="484632"/>
          </a:xfrm>
          <a:prstGeom prst="rect">
            <a:avLst/>
          </a:prstGeom>
          <a:noFill/>
          <a:ln/>
        </p:spPr>
        <p:txBody>
          <a:bodyPr wrap="square" lIns="0" tIns="0" rIns="0" bIns="0" rtlCol="0" anchor="ctr"/>
          <a:lstStyle/>
          <a:p>
            <a:pPr algn="l" indent="0" marL="0">
              <a:buNone/>
            </a:pPr>
            <a:r>
              <a:rPr lang="en-US" sz="2100" dirty="0">
                <a:solidFill>
                  <a:srgbClr val="172233"/>
                </a:solidFill>
                <a:latin typeface="Aptos" pitchFamily="34" charset="0"/>
                <a:ea typeface="Aptos" pitchFamily="34" charset="-122"/>
                <a:cs typeface="Aptos" pitchFamily="34" charset="-120"/>
              </a:rPr>
              <a:t>251</a:t>
            </a:r>
            <a:endParaRPr lang="en-US" sz="2100" dirty="0"/>
          </a:p>
        </p:txBody>
      </p:sp>
      <p:sp>
        <p:nvSpPr>
          <p:cNvPr id="32" name="Shape 30"/>
          <p:cNvSpPr/>
          <p:nvPr/>
        </p:nvSpPr>
        <p:spPr>
          <a:xfrm>
            <a:off x="749808" y="4251960"/>
            <a:ext cx="6510528" cy="594360"/>
          </a:xfrm>
          <a:prstGeom prst="rect">
            <a:avLst/>
          </a:prstGeom>
          <a:solidFill>
            <a:srgbClr val="E3EFF7"/>
          </a:solidFill>
          <a:ln w="12700">
            <a:solidFill>
              <a:srgbClr val="E3EFF7">
                <a:alpha val="0"/>
              </a:srgbClr>
            </a:solidFill>
            <a:prstDash val="solid"/>
          </a:ln>
        </p:spPr>
      </p:sp>
      <p:sp>
        <p:nvSpPr>
          <p:cNvPr id="33" name="Text 31"/>
          <p:cNvSpPr/>
          <p:nvPr/>
        </p:nvSpPr>
        <p:spPr>
          <a:xfrm>
            <a:off x="859536" y="4306824"/>
            <a:ext cx="1243584" cy="484632"/>
          </a:xfrm>
          <a:prstGeom prst="rect">
            <a:avLst/>
          </a:prstGeom>
          <a:noFill/>
          <a:ln/>
        </p:spPr>
        <p:txBody>
          <a:bodyPr wrap="square" lIns="0" tIns="0" rIns="0" bIns="0" rtlCol="0" anchor="ctr"/>
          <a:lstStyle/>
          <a:p>
            <a:pPr algn="l" indent="0" marL="0">
              <a:buNone/>
            </a:pPr>
            <a:r>
              <a:rPr lang="en-US" sz="2100" dirty="0">
                <a:solidFill>
                  <a:srgbClr val="172233"/>
                </a:solidFill>
                <a:latin typeface="Aptos" pitchFamily="34" charset="0"/>
                <a:ea typeface="Aptos" pitchFamily="34" charset="-122"/>
                <a:cs typeface="Aptos" pitchFamily="34" charset="-120"/>
              </a:rPr>
              <a:t>A070</a:t>
            </a:r>
            <a:endParaRPr lang="en-US" sz="2100" dirty="0"/>
          </a:p>
        </p:txBody>
      </p:sp>
      <p:sp>
        <p:nvSpPr>
          <p:cNvPr id="34" name="Text 32"/>
          <p:cNvSpPr/>
          <p:nvPr/>
        </p:nvSpPr>
        <p:spPr>
          <a:xfrm>
            <a:off x="2322576" y="4306824"/>
            <a:ext cx="1353312" cy="484632"/>
          </a:xfrm>
          <a:prstGeom prst="rect">
            <a:avLst/>
          </a:prstGeom>
          <a:noFill/>
          <a:ln/>
        </p:spPr>
        <p:txBody>
          <a:bodyPr wrap="square" lIns="0" tIns="0" rIns="0" bIns="0" rtlCol="0" anchor="ctr"/>
          <a:lstStyle/>
          <a:p>
            <a:pPr algn="l" indent="0" marL="0">
              <a:buNone/>
            </a:pPr>
            <a:r>
              <a:rPr lang="en-US" sz="2100" dirty="0">
                <a:solidFill>
                  <a:srgbClr val="172233"/>
                </a:solidFill>
                <a:latin typeface="Aptos" pitchFamily="34" charset="0"/>
                <a:ea typeface="Aptos" pitchFamily="34" charset="-122"/>
                <a:cs typeface="Aptos" pitchFamily="34" charset="-120"/>
              </a:rPr>
              <a:t>28</a:t>
            </a:r>
            <a:endParaRPr lang="en-US" sz="2100" dirty="0"/>
          </a:p>
        </p:txBody>
      </p:sp>
      <p:sp>
        <p:nvSpPr>
          <p:cNvPr id="35" name="Text 33"/>
          <p:cNvSpPr/>
          <p:nvPr/>
        </p:nvSpPr>
        <p:spPr>
          <a:xfrm>
            <a:off x="3895344" y="4306824"/>
            <a:ext cx="1426464" cy="484632"/>
          </a:xfrm>
          <a:prstGeom prst="rect">
            <a:avLst/>
          </a:prstGeom>
          <a:noFill/>
          <a:ln/>
        </p:spPr>
        <p:txBody>
          <a:bodyPr wrap="square" lIns="0" tIns="0" rIns="0" bIns="0" rtlCol="0" anchor="ctr"/>
          <a:lstStyle/>
          <a:p>
            <a:pPr algn="l" indent="0" marL="0">
              <a:buNone/>
            </a:pPr>
            <a:r>
              <a:rPr lang="en-US" sz="2100" dirty="0">
                <a:solidFill>
                  <a:srgbClr val="172233"/>
                </a:solidFill>
                <a:latin typeface="Aptos" pitchFamily="34" charset="0"/>
                <a:ea typeface="Aptos" pitchFamily="34" charset="-122"/>
                <a:cs typeface="Aptos" pitchFamily="34" charset="-120"/>
              </a:rPr>
              <a:t>4</a:t>
            </a:r>
            <a:endParaRPr lang="en-US" sz="2100" dirty="0"/>
          </a:p>
        </p:txBody>
      </p:sp>
      <p:sp>
        <p:nvSpPr>
          <p:cNvPr id="36" name="Text 34"/>
          <p:cNvSpPr/>
          <p:nvPr/>
        </p:nvSpPr>
        <p:spPr>
          <a:xfrm>
            <a:off x="5541264" y="4306824"/>
            <a:ext cx="1609344" cy="484632"/>
          </a:xfrm>
          <a:prstGeom prst="rect">
            <a:avLst/>
          </a:prstGeom>
          <a:noFill/>
          <a:ln/>
        </p:spPr>
        <p:txBody>
          <a:bodyPr wrap="square" lIns="0" tIns="0" rIns="0" bIns="0" rtlCol="0" anchor="ctr"/>
          <a:lstStyle/>
          <a:p>
            <a:pPr algn="l" indent="0" marL="0">
              <a:buNone/>
            </a:pPr>
            <a:r>
              <a:rPr lang="en-US" sz="2100" dirty="0">
                <a:solidFill>
                  <a:srgbClr val="172233"/>
                </a:solidFill>
                <a:latin typeface="Aptos" pitchFamily="34" charset="0"/>
                <a:ea typeface="Aptos" pitchFamily="34" charset="-122"/>
                <a:cs typeface="Aptos" pitchFamily="34" charset="-120"/>
              </a:rPr>
              <a:t>599</a:t>
            </a:r>
            <a:endParaRPr lang="en-US" sz="2100" dirty="0"/>
          </a:p>
        </p:txBody>
      </p:sp>
      <p:sp>
        <p:nvSpPr>
          <p:cNvPr id="37" name="Shape 35"/>
          <p:cNvSpPr/>
          <p:nvPr/>
        </p:nvSpPr>
        <p:spPr>
          <a:xfrm>
            <a:off x="7635240" y="2011680"/>
            <a:ext cx="3749040" cy="2834640"/>
          </a:xfrm>
          <a:prstGeom prst="rect">
            <a:avLst/>
          </a:prstGeom>
          <a:solidFill>
            <a:srgbClr val="FFFFFF"/>
          </a:solidFill>
          <a:ln w="12700">
            <a:solidFill>
              <a:srgbClr val="FFFFFF">
                <a:alpha val="0"/>
              </a:srgbClr>
            </a:solidFill>
            <a:prstDash val="solid"/>
          </a:ln>
        </p:spPr>
      </p:sp>
      <p:sp>
        <p:nvSpPr>
          <p:cNvPr id="38" name="Text 36"/>
          <p:cNvSpPr/>
          <p:nvPr/>
        </p:nvSpPr>
        <p:spPr>
          <a:xfrm>
            <a:off x="7827264" y="2240280"/>
            <a:ext cx="3474720" cy="219456"/>
          </a:xfrm>
          <a:prstGeom prst="rect">
            <a:avLst/>
          </a:prstGeom>
          <a:noFill/>
          <a:ln/>
        </p:spPr>
        <p:txBody>
          <a:bodyPr wrap="square" lIns="0" tIns="0" rIns="0" bIns="0" rtlCol="0" anchor="ctr"/>
          <a:lstStyle/>
          <a:p>
            <a:pPr algn="l" indent="0" marL="0">
              <a:buNone/>
            </a:pPr>
            <a:r>
              <a:rPr lang="en-US" sz="1150" b="1" spc="50" kern="0" dirty="0">
                <a:solidFill>
                  <a:srgbClr val="176493"/>
                </a:solidFill>
                <a:latin typeface="Aptos" pitchFamily="34" charset="0"/>
                <a:ea typeface="Aptos" pitchFamily="34" charset="-122"/>
                <a:cs typeface="Aptos" pitchFamily="34" charset="-120"/>
              </a:rPr>
              <a:t>READ BEFORE INTERPRETING</a:t>
            </a:r>
            <a:endParaRPr lang="en-US" sz="1150" dirty="0"/>
          </a:p>
        </p:txBody>
      </p:sp>
      <p:sp>
        <p:nvSpPr>
          <p:cNvPr id="39" name="Text 37"/>
          <p:cNvSpPr/>
          <p:nvPr/>
        </p:nvSpPr>
        <p:spPr>
          <a:xfrm>
            <a:off x="7827264" y="2798064"/>
            <a:ext cx="3291840" cy="1005840"/>
          </a:xfrm>
          <a:prstGeom prst="rect">
            <a:avLst/>
          </a:prstGeom>
          <a:noFill/>
          <a:ln/>
        </p:spPr>
        <p:txBody>
          <a:bodyPr wrap="square" lIns="0" tIns="0" rIns="0" bIns="0" rtlCol="0" anchor="ctr"/>
          <a:lstStyle/>
          <a:p>
            <a:pPr algn="l" indent="0" marL="0">
              <a:buNone/>
            </a:pPr>
            <a:r>
              <a:rPr lang="en-US" sz="2700" b="1" dirty="0">
                <a:solidFill>
                  <a:srgbClr val="172233"/>
                </a:solidFill>
                <a:latin typeface="Aptos" pitchFamily="34" charset="0"/>
                <a:ea typeface="Aptos" pitchFamily="34" charset="-122"/>
                <a:cs typeface="Aptos" pitchFamily="34" charset="-120"/>
              </a:rPr>
              <a:t>Recent is not</a:t>
            </a:r>
            <a:endParaRPr lang="en-US" sz="2700" dirty="0"/>
          </a:p>
          <a:p>
            <a:pPr algn="l" indent="0" marL="0">
              <a:buNone/>
            </a:pPr>
            <a:r>
              <a:rPr lang="en-US" sz="2700" b="1" dirty="0">
                <a:solidFill>
                  <a:srgbClr val="172233"/>
                </a:solidFill>
                <a:latin typeface="Aptos" pitchFamily="34" charset="0"/>
                <a:ea typeface="Aptos" pitchFamily="34" charset="-122"/>
                <a:cs typeface="Aptos" pitchFamily="34" charset="-120"/>
              </a:rPr>
              <a:t>the same as loyal.</a:t>
            </a:r>
            <a:endParaRPr lang="en-US" sz="2700" dirty="0"/>
          </a:p>
        </p:txBody>
      </p:sp>
      <p:sp>
        <p:nvSpPr>
          <p:cNvPr id="40" name="Text 38"/>
          <p:cNvSpPr/>
          <p:nvPr/>
        </p:nvSpPr>
        <p:spPr>
          <a:xfrm>
            <a:off x="7827264" y="4123944"/>
            <a:ext cx="3291840" cy="621792"/>
          </a:xfrm>
          <a:prstGeom prst="rect">
            <a:avLst/>
          </a:prstGeom>
          <a:noFill/>
          <a:ln/>
        </p:spPr>
        <p:txBody>
          <a:bodyPr wrap="square" lIns="0" tIns="0" rIns="0" bIns="0" rtlCol="0" anchor="ctr"/>
          <a:lstStyle/>
          <a:p>
            <a:pPr algn="l" indent="0" marL="0">
              <a:buNone/>
            </a:pPr>
            <a:r>
              <a:rPr lang="en-US" sz="2000" dirty="0">
                <a:solidFill>
                  <a:srgbClr val="53657A"/>
                </a:solidFill>
                <a:latin typeface="Aptos" pitchFamily="34" charset="0"/>
                <a:ea typeface="Aptos" pitchFamily="34" charset="-122"/>
                <a:cs typeface="Aptos" pitchFamily="34" charset="-120"/>
              </a:rPr>
              <a:t>The window and feature</a:t>
            </a:r>
            <a:endParaRPr lang="en-US" sz="2000" dirty="0"/>
          </a:p>
          <a:p>
            <a:pPr algn="l" indent="0" marL="0">
              <a:buNone/>
            </a:pPr>
            <a:r>
              <a:rPr lang="en-US" sz="2000" dirty="0">
                <a:solidFill>
                  <a:srgbClr val="53657A"/>
                </a:solidFill>
                <a:latin typeface="Aptos" pitchFamily="34" charset="0"/>
                <a:ea typeface="Aptos" pitchFamily="34" charset="-122"/>
                <a:cs typeface="Aptos" pitchFamily="34" charset="-120"/>
              </a:rPr>
              <a:t>definition come first.</a:t>
            </a:r>
            <a:endParaRPr lang="en-US" sz="2000" dirty="0"/>
          </a:p>
        </p:txBody>
      </p:sp>
      <p:sp>
        <p:nvSpPr>
          <p:cNvPr id="41" name="Text 39"/>
          <p:cNvSpPr/>
          <p:nvPr/>
        </p:nvSpPr>
        <p:spPr>
          <a:xfrm>
            <a:off x="786384" y="5330952"/>
            <a:ext cx="10515600" cy="219456"/>
          </a:xfrm>
          <a:prstGeom prst="rect">
            <a:avLst/>
          </a:prstGeom>
          <a:noFill/>
          <a:ln/>
        </p:spPr>
        <p:txBody>
          <a:bodyPr wrap="square" lIns="0" tIns="0" rIns="0" bIns="0" rtlCol="0" anchor="ctr"/>
          <a:lstStyle/>
          <a:p>
            <a:pPr algn="l" indent="0" marL="0">
              <a:buNone/>
            </a:pPr>
            <a:r>
              <a:rPr lang="en-US" sz="1150" b="1" spc="50" kern="0" dirty="0">
                <a:solidFill>
                  <a:srgbClr val="53657A"/>
                </a:solidFill>
                <a:latin typeface="Aptos" pitchFamily="34" charset="0"/>
                <a:ea typeface="Aptos" pitchFamily="34" charset="-122"/>
                <a:cs typeface="Aptos" pitchFamily="34" charset="-120"/>
              </a:rPr>
              <a:t>NEW FIXTURE USES RAW RECENCY, NOT THE HISTORICAL R-SCORE.</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0" y="0"/>
            <a:ext cx="12192000" cy="402336"/>
          </a:xfrm>
          <a:prstGeom prst="rect">
            <a:avLst/>
          </a:prstGeom>
          <a:solidFill>
            <a:srgbClr val="E7EEF7"/>
          </a:solidFill>
          <a:ln w="12700">
            <a:solidFill>
              <a:srgbClr val="E7EEF7">
                <a:alpha val="0"/>
              </a:srgbClr>
            </a:solidFill>
            <a:prstDash val="solid"/>
          </a:ln>
        </p:spPr>
      </p:sp>
      <p:sp>
        <p:nvSpPr>
          <p:cNvPr id="3" name="Shape 1"/>
          <p:cNvSpPr/>
          <p:nvPr/>
        </p:nvSpPr>
        <p:spPr>
          <a:xfrm>
            <a:off x="466344" y="123444"/>
            <a:ext cx="64008" cy="146304"/>
          </a:xfrm>
          <a:prstGeom prst="rect">
            <a:avLst/>
          </a:prstGeom>
          <a:solidFill>
            <a:srgbClr val="176493"/>
          </a:solidFill>
          <a:ln w="12700">
            <a:solidFill>
              <a:srgbClr val="176493">
                <a:alpha val="0"/>
              </a:srgbClr>
            </a:solidFill>
            <a:prstDash val="solid"/>
          </a:ln>
        </p:spPr>
      </p:sp>
      <p:sp>
        <p:nvSpPr>
          <p:cNvPr id="4" name="Text 2"/>
          <p:cNvSpPr/>
          <p:nvPr/>
        </p:nvSpPr>
        <p:spPr>
          <a:xfrm>
            <a:off x="594360" y="100584"/>
            <a:ext cx="731520" cy="201168"/>
          </a:xfrm>
          <a:prstGeom prst="rect">
            <a:avLst/>
          </a:prstGeom>
          <a:noFill/>
          <a:ln/>
        </p:spPr>
        <p:txBody>
          <a:bodyPr wrap="square" lIns="0" tIns="0" rIns="0" bIns="0" rtlCol="0" anchor="ctr"/>
          <a:lstStyle/>
          <a:p>
            <a:pPr algn="l" indent="0" marL="0">
              <a:buNone/>
            </a:pPr>
            <a:r>
              <a:rPr lang="en-US" sz="1100" b="1" dirty="0">
                <a:solidFill>
                  <a:srgbClr val="176493"/>
                </a:solidFill>
                <a:latin typeface="Aptos" pitchFamily="34" charset="0"/>
                <a:ea typeface="Aptos" pitchFamily="34" charset="-122"/>
                <a:cs typeface="Aptos" pitchFamily="34" charset="-120"/>
              </a:rPr>
              <a:t>DS101</a:t>
            </a:r>
            <a:endParaRPr lang="en-US" sz="1100" dirty="0"/>
          </a:p>
        </p:txBody>
      </p:sp>
      <p:sp>
        <p:nvSpPr>
          <p:cNvPr id="5" name="Text 3"/>
          <p:cNvSpPr/>
          <p:nvPr/>
        </p:nvSpPr>
        <p:spPr>
          <a:xfrm>
            <a:off x="1463040" y="100584"/>
            <a:ext cx="1828800" cy="201168"/>
          </a:xfrm>
          <a:prstGeom prst="rect">
            <a:avLst/>
          </a:prstGeom>
          <a:noFill/>
          <a:ln/>
        </p:spPr>
        <p:txBody>
          <a:bodyPr wrap="square" lIns="0" tIns="0" rIns="0" bIns="0" rtlCol="0" anchor="ctr"/>
          <a:lstStyle/>
          <a:p>
            <a:pPr algn="l" indent="0" marL="0">
              <a:buNone/>
            </a:pPr>
            <a:r>
              <a:rPr lang="en-US" sz="1000" dirty="0">
                <a:solidFill>
                  <a:srgbClr val="53657A"/>
                </a:solidFill>
                <a:latin typeface="Aptos" pitchFamily="34" charset="0"/>
                <a:ea typeface="Aptos" pitchFamily="34" charset="-122"/>
                <a:cs typeface="Aptos" pitchFamily="34" charset="-120"/>
              </a:rPr>
              <a:t>LECTURE 02</a:t>
            </a:r>
            <a:endParaRPr lang="en-US" sz="1000" dirty="0"/>
          </a:p>
        </p:txBody>
      </p:sp>
      <p:sp>
        <p:nvSpPr>
          <p:cNvPr id="6" name="Text 4"/>
          <p:cNvSpPr/>
          <p:nvPr/>
        </p:nvSpPr>
        <p:spPr>
          <a:xfrm>
            <a:off x="8321040" y="100584"/>
            <a:ext cx="3264408" cy="201168"/>
          </a:xfrm>
          <a:prstGeom prst="rect">
            <a:avLst/>
          </a:prstGeom>
          <a:noFill/>
          <a:ln/>
        </p:spPr>
        <p:txBody>
          <a:bodyPr wrap="square" lIns="0" tIns="0" rIns="0" bIns="0" rtlCol="0" anchor="ctr"/>
          <a:lstStyle/>
          <a:p>
            <a:pPr algn="r" indent="0" marL="0">
              <a:buNone/>
            </a:pPr>
            <a:r>
              <a:rPr lang="en-US" sz="1000" dirty="0">
                <a:solidFill>
                  <a:srgbClr val="53657A"/>
                </a:solidFill>
                <a:latin typeface="Aptos" pitchFamily="34" charset="0"/>
                <a:ea typeface="Aptos" pitchFamily="34" charset="-122"/>
                <a:cs typeface="Aptos" pitchFamily="34" charset="-120"/>
              </a:rPr>
              <a:t>EXPLORATORY ANALYSIS</a:t>
            </a:r>
            <a:endParaRPr lang="en-US" sz="1000" dirty="0"/>
          </a:p>
        </p:txBody>
      </p:sp>
      <p:sp>
        <p:nvSpPr>
          <p:cNvPr id="7" name="Text 5"/>
          <p:cNvSpPr/>
          <p:nvPr/>
        </p:nvSpPr>
        <p:spPr>
          <a:xfrm>
            <a:off x="594360" y="758952"/>
            <a:ext cx="11000232" cy="658368"/>
          </a:xfrm>
          <a:prstGeom prst="rect">
            <a:avLst/>
          </a:prstGeom>
          <a:noFill/>
          <a:ln/>
        </p:spPr>
        <p:txBody>
          <a:bodyPr wrap="square" lIns="0" tIns="0" rIns="0" bIns="0" rtlCol="0" anchor="ctr"/>
          <a:lstStyle/>
          <a:p>
            <a:pPr algn="l" indent="0" marL="0">
              <a:buNone/>
            </a:pPr>
            <a:r>
              <a:rPr lang="en-US" sz="3000" b="1" dirty="0">
                <a:solidFill>
                  <a:srgbClr val="172233"/>
                </a:solidFill>
                <a:latin typeface="Aptos" pitchFamily="34" charset="0"/>
                <a:ea typeface="Aptos" pitchFamily="34" charset="-122"/>
                <a:cs typeface="Aptos" pitchFamily="34" charset="-120"/>
              </a:rPr>
              <a:t>One point is one account</a:t>
            </a:r>
            <a:endParaRPr lang="en-US" sz="3000" dirty="0"/>
          </a:p>
        </p:txBody>
      </p:sp>
      <p:sp>
        <p:nvSpPr>
          <p:cNvPr id="8" name="Text 6"/>
          <p:cNvSpPr/>
          <p:nvPr/>
        </p:nvSpPr>
        <p:spPr>
          <a:xfrm>
            <a:off x="594360" y="6510528"/>
            <a:ext cx="3657600" cy="164592"/>
          </a:xfrm>
          <a:prstGeom prst="rect">
            <a:avLst/>
          </a:prstGeom>
          <a:noFill/>
          <a:ln/>
        </p:spPr>
        <p:txBody>
          <a:bodyPr wrap="square" lIns="0" tIns="0" rIns="0" bIns="0" rtlCol="0" anchor="ctr"/>
          <a:lstStyle/>
          <a:p>
            <a:pPr algn="l" indent="0" marL="0">
              <a:buNone/>
            </a:pPr>
            <a:r>
              <a:rPr lang="en-US" sz="900" dirty="0">
                <a:solidFill>
                  <a:srgbClr val="53657A"/>
                </a:solidFill>
                <a:latin typeface="Aptos" pitchFamily="34" charset="0"/>
                <a:ea typeface="Aptos" pitchFamily="34" charset="-122"/>
                <a:cs typeface="Aptos" pitchFamily="34" charset="-120"/>
              </a:rPr>
              <a:t>DS101 | 2026-2027</a:t>
            </a:r>
            <a:endParaRPr lang="en-US" sz="900" dirty="0"/>
          </a:p>
        </p:txBody>
      </p:sp>
      <p:sp>
        <p:nvSpPr>
          <p:cNvPr id="9" name="Text 7"/>
          <p:cNvSpPr/>
          <p:nvPr/>
        </p:nvSpPr>
        <p:spPr>
          <a:xfrm>
            <a:off x="10680192" y="6492240"/>
            <a:ext cx="914400" cy="201168"/>
          </a:xfrm>
          <a:prstGeom prst="rect">
            <a:avLst/>
          </a:prstGeom>
          <a:noFill/>
          <a:ln/>
        </p:spPr>
        <p:txBody>
          <a:bodyPr wrap="square" lIns="0" tIns="0" rIns="0" bIns="0" rtlCol="0" anchor="ctr"/>
          <a:lstStyle/>
          <a:p>
            <a:pPr algn="r" indent="0" marL="0">
              <a:buNone/>
            </a:pPr>
            <a:r>
              <a:rPr lang="en-US" sz="1000" dirty="0">
                <a:solidFill>
                  <a:srgbClr val="53657A"/>
                </a:solidFill>
                <a:latin typeface="Aptos" pitchFamily="34" charset="0"/>
                <a:ea typeface="Aptos" pitchFamily="34" charset="-122"/>
                <a:cs typeface="Aptos" pitchFamily="34" charset="-120"/>
              </a:rPr>
              <a:t>09 / 24</a:t>
            </a:r>
            <a:endParaRPr lang="en-US" sz="1000" dirty="0"/>
          </a:p>
        </p:txBody>
      </p:sp>
      <p:sp>
        <p:nvSpPr>
          <p:cNvPr id="10" name="Shape 8"/>
          <p:cNvSpPr/>
          <p:nvPr/>
        </p:nvSpPr>
        <p:spPr>
          <a:xfrm>
            <a:off x="594360" y="5852160"/>
            <a:ext cx="11000232" cy="438912"/>
          </a:xfrm>
          <a:prstGeom prst="rect">
            <a:avLst/>
          </a:prstGeom>
          <a:solidFill>
            <a:srgbClr val="E3EFF7"/>
          </a:solidFill>
          <a:ln w="12700">
            <a:solidFill>
              <a:srgbClr val="E3EFF7">
                <a:alpha val="0"/>
              </a:srgbClr>
            </a:solidFill>
            <a:prstDash val="solid"/>
          </a:ln>
        </p:spPr>
      </p:sp>
      <p:sp>
        <p:nvSpPr>
          <p:cNvPr id="11" name="Text 9"/>
          <p:cNvSpPr/>
          <p:nvPr/>
        </p:nvSpPr>
        <p:spPr>
          <a:xfrm>
            <a:off x="795528" y="5943600"/>
            <a:ext cx="10607040" cy="256032"/>
          </a:xfrm>
          <a:prstGeom prst="rect">
            <a:avLst/>
          </a:prstGeom>
          <a:noFill/>
          <a:ln/>
        </p:spPr>
        <p:txBody>
          <a:bodyPr wrap="square" lIns="0" tIns="0" rIns="0" bIns="0" rtlCol="0" anchor="ctr"/>
          <a:lstStyle/>
          <a:p>
            <a:pPr algn="l" indent="0" marL="0">
              <a:buNone/>
            </a:pPr>
            <a:r>
              <a:rPr lang="en-US" sz="1700" b="1" dirty="0">
                <a:solidFill>
                  <a:srgbClr val="176493"/>
                </a:solidFill>
                <a:latin typeface="Aptos" pitchFamily="34" charset="0"/>
                <a:ea typeface="Aptos" pitchFamily="34" charset="-122"/>
                <a:cs typeface="Aptos" pitchFamily="34" charset="-120"/>
              </a:rPr>
              <a:t>Read the coordinate first. Propose an explanation second.</a:t>
            </a:r>
            <a:endParaRPr lang="en-US" sz="1700" dirty="0"/>
          </a:p>
        </p:txBody>
      </p:sp>
      <p:sp>
        <p:nvSpPr>
          <p:cNvPr id="12" name="Text 10"/>
          <p:cNvSpPr/>
          <p:nvPr/>
        </p:nvSpPr>
        <p:spPr>
          <a:xfrm>
            <a:off x="749808" y="1627632"/>
            <a:ext cx="10607040" cy="219456"/>
          </a:xfrm>
          <a:prstGeom prst="rect">
            <a:avLst/>
          </a:prstGeom>
          <a:noFill/>
          <a:ln/>
        </p:spPr>
        <p:txBody>
          <a:bodyPr wrap="square" lIns="0" tIns="0" rIns="0" bIns="0" rtlCol="0" anchor="ctr"/>
          <a:lstStyle/>
          <a:p>
            <a:pPr algn="l" indent="0" marL="0">
              <a:buNone/>
            </a:pPr>
            <a:r>
              <a:rPr lang="en-US" sz="1150" b="1" spc="50" kern="0" dirty="0">
                <a:solidFill>
                  <a:srgbClr val="176493"/>
                </a:solidFill>
                <a:latin typeface="Aptos" pitchFamily="34" charset="0"/>
                <a:ea typeface="Aptos" pitchFamily="34" charset="-122"/>
                <a:cs typeface="Aptos" pitchFamily="34" charset="-120"/>
              </a:rPr>
              <a:t>SYNTHETIC FIXTURE | 84 ACCOUNTS | NO CLUSTER LABELS YET</a:t>
            </a:r>
            <a:endParaRPr lang="en-US" sz="1150" dirty="0"/>
          </a:p>
        </p:txBody>
      </p:sp>
      <p:sp>
        <p:nvSpPr>
          <p:cNvPr id="13" name="Shape 11"/>
          <p:cNvSpPr/>
          <p:nvPr/>
        </p:nvSpPr>
        <p:spPr>
          <a:xfrm>
            <a:off x="749808" y="2011680"/>
            <a:ext cx="7040880" cy="3639312"/>
          </a:xfrm>
          <a:prstGeom prst="rect">
            <a:avLst/>
          </a:prstGeom>
          <a:solidFill>
            <a:srgbClr val="FFFFFF"/>
          </a:solidFill>
          <a:ln w="12700">
            <a:solidFill>
              <a:srgbClr val="FFFFFF">
                <a:alpha val="0"/>
              </a:srgbClr>
            </a:solidFill>
            <a:prstDash val="solid"/>
          </a:ln>
        </p:spPr>
      </p:sp>
      <p:sp>
        <p:nvSpPr>
          <p:cNvPr id="14" name="Shape 12"/>
          <p:cNvSpPr/>
          <p:nvPr/>
        </p:nvSpPr>
        <p:spPr>
          <a:xfrm>
            <a:off x="1325880" y="4919472"/>
            <a:ext cx="6245352" cy="0"/>
          </a:xfrm>
          <a:prstGeom prst="line">
            <a:avLst/>
          </a:prstGeom>
          <a:noFill/>
          <a:ln w="8255">
            <a:solidFill>
              <a:srgbClr val="E3EFF7"/>
            </a:solidFill>
            <a:prstDash val="solid"/>
            <a:headEnd type="none"/>
            <a:tailEnd type="none"/>
          </a:ln>
        </p:spPr>
      </p:sp>
      <p:sp>
        <p:nvSpPr>
          <p:cNvPr id="15" name="Text 13"/>
          <p:cNvSpPr/>
          <p:nvPr/>
        </p:nvSpPr>
        <p:spPr>
          <a:xfrm>
            <a:off x="768096" y="4809744"/>
            <a:ext cx="475488" cy="201168"/>
          </a:xfrm>
          <a:prstGeom prst="rect">
            <a:avLst/>
          </a:prstGeom>
          <a:noFill/>
          <a:ln/>
        </p:spPr>
        <p:txBody>
          <a:bodyPr wrap="square" lIns="0" tIns="0" rIns="0" bIns="0" rtlCol="0" anchor="ctr"/>
          <a:lstStyle/>
          <a:p>
            <a:pPr algn="r" indent="0" marL="0">
              <a:buNone/>
            </a:pPr>
            <a:r>
              <a:rPr lang="en-US" sz="1300" dirty="0">
                <a:solidFill>
                  <a:srgbClr val="53657A"/>
                </a:solidFill>
                <a:latin typeface="Aptos" pitchFamily="34" charset="0"/>
                <a:ea typeface="Aptos" pitchFamily="34" charset="-122"/>
                <a:cs typeface="Aptos" pitchFamily="34" charset="-120"/>
              </a:rPr>
              <a:t>0</a:t>
            </a:r>
            <a:endParaRPr lang="en-US" sz="1300" dirty="0"/>
          </a:p>
        </p:txBody>
      </p:sp>
      <p:sp>
        <p:nvSpPr>
          <p:cNvPr id="16" name="Shape 14"/>
          <p:cNvSpPr/>
          <p:nvPr/>
        </p:nvSpPr>
        <p:spPr>
          <a:xfrm>
            <a:off x="1325880" y="4169664"/>
            <a:ext cx="6245352" cy="0"/>
          </a:xfrm>
          <a:prstGeom prst="line">
            <a:avLst/>
          </a:prstGeom>
          <a:noFill/>
          <a:ln w="8255">
            <a:solidFill>
              <a:srgbClr val="E3EFF7"/>
            </a:solidFill>
            <a:prstDash val="solid"/>
            <a:headEnd type="none"/>
            <a:tailEnd type="none"/>
          </a:ln>
        </p:spPr>
      </p:sp>
      <p:sp>
        <p:nvSpPr>
          <p:cNvPr id="17" name="Text 15"/>
          <p:cNvSpPr/>
          <p:nvPr/>
        </p:nvSpPr>
        <p:spPr>
          <a:xfrm>
            <a:off x="768096" y="4059936"/>
            <a:ext cx="475488" cy="201168"/>
          </a:xfrm>
          <a:prstGeom prst="rect">
            <a:avLst/>
          </a:prstGeom>
          <a:noFill/>
          <a:ln/>
        </p:spPr>
        <p:txBody>
          <a:bodyPr wrap="square" lIns="0" tIns="0" rIns="0" bIns="0" rtlCol="0" anchor="ctr"/>
          <a:lstStyle/>
          <a:p>
            <a:pPr algn="r" indent="0" marL="0">
              <a:buNone/>
            </a:pPr>
            <a:r>
              <a:rPr lang="en-US" sz="1300" dirty="0">
                <a:solidFill>
                  <a:srgbClr val="53657A"/>
                </a:solidFill>
                <a:latin typeface="Aptos" pitchFamily="34" charset="0"/>
                <a:ea typeface="Aptos" pitchFamily="34" charset="-122"/>
                <a:cs typeface="Aptos" pitchFamily="34" charset="-120"/>
              </a:rPr>
              <a:t>6</a:t>
            </a:r>
            <a:endParaRPr lang="en-US" sz="1300" dirty="0"/>
          </a:p>
        </p:txBody>
      </p:sp>
      <p:sp>
        <p:nvSpPr>
          <p:cNvPr id="18" name="Shape 16"/>
          <p:cNvSpPr/>
          <p:nvPr/>
        </p:nvSpPr>
        <p:spPr>
          <a:xfrm>
            <a:off x="1325880" y="3419856"/>
            <a:ext cx="6245352" cy="0"/>
          </a:xfrm>
          <a:prstGeom prst="line">
            <a:avLst/>
          </a:prstGeom>
          <a:noFill/>
          <a:ln w="8255">
            <a:solidFill>
              <a:srgbClr val="E3EFF7"/>
            </a:solidFill>
            <a:prstDash val="solid"/>
            <a:headEnd type="none"/>
            <a:tailEnd type="none"/>
          </a:ln>
        </p:spPr>
      </p:sp>
      <p:sp>
        <p:nvSpPr>
          <p:cNvPr id="19" name="Text 17"/>
          <p:cNvSpPr/>
          <p:nvPr/>
        </p:nvSpPr>
        <p:spPr>
          <a:xfrm>
            <a:off x="768096" y="3310128"/>
            <a:ext cx="475488" cy="201168"/>
          </a:xfrm>
          <a:prstGeom prst="rect">
            <a:avLst/>
          </a:prstGeom>
          <a:noFill/>
          <a:ln/>
        </p:spPr>
        <p:txBody>
          <a:bodyPr wrap="square" lIns="0" tIns="0" rIns="0" bIns="0" rtlCol="0" anchor="ctr"/>
          <a:lstStyle/>
          <a:p>
            <a:pPr algn="r" indent="0" marL="0">
              <a:buNone/>
            </a:pPr>
            <a:r>
              <a:rPr lang="en-US" sz="1300" dirty="0">
                <a:solidFill>
                  <a:srgbClr val="53657A"/>
                </a:solidFill>
                <a:latin typeface="Aptos" pitchFamily="34" charset="0"/>
                <a:ea typeface="Aptos" pitchFamily="34" charset="-122"/>
                <a:cs typeface="Aptos" pitchFamily="34" charset="-120"/>
              </a:rPr>
              <a:t>12</a:t>
            </a:r>
            <a:endParaRPr lang="en-US" sz="1300" dirty="0"/>
          </a:p>
        </p:txBody>
      </p:sp>
      <p:sp>
        <p:nvSpPr>
          <p:cNvPr id="20" name="Shape 18"/>
          <p:cNvSpPr/>
          <p:nvPr/>
        </p:nvSpPr>
        <p:spPr>
          <a:xfrm>
            <a:off x="1325880" y="2670048"/>
            <a:ext cx="6245352" cy="0"/>
          </a:xfrm>
          <a:prstGeom prst="line">
            <a:avLst/>
          </a:prstGeom>
          <a:noFill/>
          <a:ln w="8255">
            <a:solidFill>
              <a:srgbClr val="E3EFF7"/>
            </a:solidFill>
            <a:prstDash val="solid"/>
            <a:headEnd type="none"/>
            <a:tailEnd type="none"/>
          </a:ln>
        </p:spPr>
      </p:sp>
      <p:sp>
        <p:nvSpPr>
          <p:cNvPr id="21" name="Text 19"/>
          <p:cNvSpPr/>
          <p:nvPr/>
        </p:nvSpPr>
        <p:spPr>
          <a:xfrm>
            <a:off x="768096" y="2560320"/>
            <a:ext cx="475488" cy="201168"/>
          </a:xfrm>
          <a:prstGeom prst="rect">
            <a:avLst/>
          </a:prstGeom>
          <a:noFill/>
          <a:ln/>
        </p:spPr>
        <p:txBody>
          <a:bodyPr wrap="square" lIns="0" tIns="0" rIns="0" bIns="0" rtlCol="0" anchor="ctr"/>
          <a:lstStyle/>
          <a:p>
            <a:pPr algn="r" indent="0" marL="0">
              <a:buNone/>
            </a:pPr>
            <a:r>
              <a:rPr lang="en-US" sz="1300" dirty="0">
                <a:solidFill>
                  <a:srgbClr val="53657A"/>
                </a:solidFill>
                <a:latin typeface="Aptos" pitchFamily="34" charset="0"/>
                <a:ea typeface="Aptos" pitchFamily="34" charset="-122"/>
                <a:cs typeface="Aptos" pitchFamily="34" charset="-120"/>
              </a:rPr>
              <a:t>18</a:t>
            </a:r>
            <a:endParaRPr lang="en-US" sz="1300" dirty="0"/>
          </a:p>
        </p:txBody>
      </p:sp>
      <p:sp>
        <p:nvSpPr>
          <p:cNvPr id="22" name="Text 20"/>
          <p:cNvSpPr/>
          <p:nvPr/>
        </p:nvSpPr>
        <p:spPr>
          <a:xfrm>
            <a:off x="1051560" y="5038344"/>
            <a:ext cx="548640" cy="201168"/>
          </a:xfrm>
          <a:prstGeom prst="rect">
            <a:avLst/>
          </a:prstGeom>
          <a:noFill/>
          <a:ln/>
        </p:spPr>
        <p:txBody>
          <a:bodyPr wrap="square" lIns="0" tIns="0" rIns="0" bIns="0" rtlCol="0" anchor="ctr"/>
          <a:lstStyle/>
          <a:p>
            <a:pPr algn="ctr" indent="0" marL="0">
              <a:buNone/>
            </a:pPr>
            <a:r>
              <a:rPr lang="en-US" sz="1300" dirty="0">
                <a:solidFill>
                  <a:srgbClr val="53657A"/>
                </a:solidFill>
                <a:latin typeface="Aptos" pitchFamily="34" charset="0"/>
                <a:ea typeface="Aptos" pitchFamily="34" charset="-122"/>
                <a:cs typeface="Aptos" pitchFamily="34" charset="-120"/>
              </a:rPr>
              <a:t>0</a:t>
            </a:r>
            <a:endParaRPr lang="en-US" sz="1300" dirty="0"/>
          </a:p>
        </p:txBody>
      </p:sp>
      <p:sp>
        <p:nvSpPr>
          <p:cNvPr id="23" name="Text 21"/>
          <p:cNvSpPr/>
          <p:nvPr/>
        </p:nvSpPr>
        <p:spPr>
          <a:xfrm>
            <a:off x="3133344" y="5038344"/>
            <a:ext cx="548640" cy="201168"/>
          </a:xfrm>
          <a:prstGeom prst="rect">
            <a:avLst/>
          </a:prstGeom>
          <a:noFill/>
          <a:ln/>
        </p:spPr>
        <p:txBody>
          <a:bodyPr wrap="square" lIns="0" tIns="0" rIns="0" bIns="0" rtlCol="0" anchor="ctr"/>
          <a:lstStyle/>
          <a:p>
            <a:pPr algn="ctr" indent="0" marL="0">
              <a:buNone/>
            </a:pPr>
            <a:r>
              <a:rPr lang="en-US" sz="1300" dirty="0">
                <a:solidFill>
                  <a:srgbClr val="53657A"/>
                </a:solidFill>
                <a:latin typeface="Aptos" pitchFamily="34" charset="0"/>
                <a:ea typeface="Aptos" pitchFamily="34" charset="-122"/>
                <a:cs typeface="Aptos" pitchFamily="34" charset="-120"/>
              </a:rPr>
              <a:t>30</a:t>
            </a:r>
            <a:endParaRPr lang="en-US" sz="1300" dirty="0"/>
          </a:p>
        </p:txBody>
      </p:sp>
      <p:sp>
        <p:nvSpPr>
          <p:cNvPr id="24" name="Text 22"/>
          <p:cNvSpPr/>
          <p:nvPr/>
        </p:nvSpPr>
        <p:spPr>
          <a:xfrm>
            <a:off x="5215128" y="5038344"/>
            <a:ext cx="548640" cy="201168"/>
          </a:xfrm>
          <a:prstGeom prst="rect">
            <a:avLst/>
          </a:prstGeom>
          <a:noFill/>
          <a:ln/>
        </p:spPr>
        <p:txBody>
          <a:bodyPr wrap="square" lIns="0" tIns="0" rIns="0" bIns="0" rtlCol="0" anchor="ctr"/>
          <a:lstStyle/>
          <a:p>
            <a:pPr algn="ctr" indent="0" marL="0">
              <a:buNone/>
            </a:pPr>
            <a:r>
              <a:rPr lang="en-US" sz="1300" dirty="0">
                <a:solidFill>
                  <a:srgbClr val="53657A"/>
                </a:solidFill>
                <a:latin typeface="Aptos" pitchFamily="34" charset="0"/>
                <a:ea typeface="Aptos" pitchFamily="34" charset="-122"/>
                <a:cs typeface="Aptos" pitchFamily="34" charset="-120"/>
              </a:rPr>
              <a:t>60</a:t>
            </a:r>
            <a:endParaRPr lang="en-US" sz="1300" dirty="0"/>
          </a:p>
        </p:txBody>
      </p:sp>
      <p:sp>
        <p:nvSpPr>
          <p:cNvPr id="25" name="Text 23"/>
          <p:cNvSpPr/>
          <p:nvPr/>
        </p:nvSpPr>
        <p:spPr>
          <a:xfrm>
            <a:off x="7296912" y="5038344"/>
            <a:ext cx="548640" cy="201168"/>
          </a:xfrm>
          <a:prstGeom prst="rect">
            <a:avLst/>
          </a:prstGeom>
          <a:noFill/>
          <a:ln/>
        </p:spPr>
        <p:txBody>
          <a:bodyPr wrap="square" lIns="0" tIns="0" rIns="0" bIns="0" rtlCol="0" anchor="ctr"/>
          <a:lstStyle/>
          <a:p>
            <a:pPr algn="ctr" indent="0" marL="0">
              <a:buNone/>
            </a:pPr>
            <a:r>
              <a:rPr lang="en-US" sz="1300" dirty="0">
                <a:solidFill>
                  <a:srgbClr val="53657A"/>
                </a:solidFill>
                <a:latin typeface="Aptos" pitchFamily="34" charset="0"/>
                <a:ea typeface="Aptos" pitchFamily="34" charset="-122"/>
                <a:cs typeface="Aptos" pitchFamily="34" charset="-120"/>
              </a:rPr>
              <a:t>90</a:t>
            </a:r>
            <a:endParaRPr lang="en-US" sz="1300" dirty="0"/>
          </a:p>
        </p:txBody>
      </p:sp>
      <p:sp>
        <p:nvSpPr>
          <p:cNvPr id="26" name="Shape 24"/>
          <p:cNvSpPr/>
          <p:nvPr/>
        </p:nvSpPr>
        <p:spPr>
          <a:xfrm>
            <a:off x="1325880" y="2670048"/>
            <a:ext cx="0" cy="2249424"/>
          </a:xfrm>
          <a:prstGeom prst="line">
            <a:avLst/>
          </a:prstGeom>
          <a:noFill/>
          <a:ln w="12700">
            <a:solidFill>
              <a:srgbClr val="C4D2E2"/>
            </a:solidFill>
            <a:prstDash val="solid"/>
            <a:headEnd type="none"/>
            <a:tailEnd type="none"/>
          </a:ln>
        </p:spPr>
      </p:sp>
      <p:sp>
        <p:nvSpPr>
          <p:cNvPr id="27" name="Shape 25"/>
          <p:cNvSpPr/>
          <p:nvPr/>
        </p:nvSpPr>
        <p:spPr>
          <a:xfrm>
            <a:off x="1325880" y="4919472"/>
            <a:ext cx="6245352" cy="0"/>
          </a:xfrm>
          <a:prstGeom prst="line">
            <a:avLst/>
          </a:prstGeom>
          <a:noFill/>
          <a:ln w="12700">
            <a:solidFill>
              <a:srgbClr val="C4D2E2"/>
            </a:solidFill>
            <a:prstDash val="solid"/>
            <a:headEnd type="none"/>
            <a:tailEnd type="none"/>
          </a:ln>
        </p:spPr>
      </p:sp>
      <p:sp>
        <p:nvSpPr>
          <p:cNvPr id="28" name="Text 26"/>
          <p:cNvSpPr/>
          <p:nvPr/>
        </p:nvSpPr>
        <p:spPr>
          <a:xfrm>
            <a:off x="905256" y="2121408"/>
            <a:ext cx="6729984" cy="265176"/>
          </a:xfrm>
          <a:prstGeom prst="rect">
            <a:avLst/>
          </a:prstGeom>
          <a:noFill/>
          <a:ln/>
        </p:spPr>
        <p:txBody>
          <a:bodyPr wrap="square" lIns="0" tIns="0" rIns="0" bIns="0" rtlCol="0" anchor="ctr"/>
          <a:lstStyle/>
          <a:p>
            <a:pPr algn="l" indent="0" marL="0">
              <a:buNone/>
            </a:pPr>
            <a:r>
              <a:rPr lang="en-US" sz="1700" b="1" dirty="0">
                <a:solidFill>
                  <a:srgbClr val="172233"/>
                </a:solidFill>
                <a:latin typeface="Aptos" pitchFamily="34" charset="0"/>
                <a:ea typeface="Aptos" pitchFamily="34" charset="-122"/>
                <a:cs typeface="Aptos" pitchFamily="34" charset="-120"/>
              </a:rPr>
              <a:t>Recency and frequency</a:t>
            </a:r>
            <a:endParaRPr lang="en-US" sz="1700" dirty="0"/>
          </a:p>
        </p:txBody>
      </p:sp>
      <p:sp>
        <p:nvSpPr>
          <p:cNvPr id="29" name="Text 27"/>
          <p:cNvSpPr/>
          <p:nvPr/>
        </p:nvSpPr>
        <p:spPr>
          <a:xfrm>
            <a:off x="1325880" y="2386584"/>
            <a:ext cx="6245352" cy="201168"/>
          </a:xfrm>
          <a:prstGeom prst="rect">
            <a:avLst/>
          </a:prstGeom>
          <a:noFill/>
          <a:ln/>
        </p:spPr>
        <p:txBody>
          <a:bodyPr wrap="square" lIns="0" tIns="0" rIns="0" bIns="0" rtlCol="0" anchor="ctr"/>
          <a:lstStyle/>
          <a:p>
            <a:pPr algn="l" indent="0" marL="0">
              <a:buNone/>
            </a:pPr>
            <a:r>
              <a:rPr lang="en-US" sz="1300" dirty="0">
                <a:solidFill>
                  <a:srgbClr val="53657A"/>
                </a:solidFill>
                <a:latin typeface="Aptos" pitchFamily="34" charset="0"/>
                <a:ea typeface="Aptos" pitchFamily="34" charset="-122"/>
                <a:cs typeface="Aptos" pitchFamily="34" charset="-120"/>
              </a:rPr>
              <a:t>Frequency (orders)</a:t>
            </a:r>
            <a:endParaRPr lang="en-US" sz="1300" dirty="0"/>
          </a:p>
        </p:txBody>
      </p:sp>
      <p:sp>
        <p:nvSpPr>
          <p:cNvPr id="30" name="Text 28"/>
          <p:cNvSpPr/>
          <p:nvPr/>
        </p:nvSpPr>
        <p:spPr>
          <a:xfrm>
            <a:off x="1325880" y="5422392"/>
            <a:ext cx="6245352" cy="210312"/>
          </a:xfrm>
          <a:prstGeom prst="rect">
            <a:avLst/>
          </a:prstGeom>
          <a:noFill/>
          <a:ln/>
        </p:spPr>
        <p:txBody>
          <a:bodyPr wrap="square" lIns="0" tIns="0" rIns="0" bIns="0" rtlCol="0" anchor="ctr"/>
          <a:lstStyle/>
          <a:p>
            <a:pPr algn="ctr" indent="0" marL="0">
              <a:buNone/>
            </a:pPr>
            <a:r>
              <a:rPr lang="en-US" sz="1300" dirty="0">
                <a:solidFill>
                  <a:srgbClr val="53657A"/>
                </a:solidFill>
                <a:latin typeface="Aptos" pitchFamily="34" charset="0"/>
                <a:ea typeface="Aptos" pitchFamily="34" charset="-122"/>
                <a:cs typeface="Aptos" pitchFamily="34" charset="-120"/>
              </a:rPr>
              <a:t>Recency (days)</a:t>
            </a:r>
            <a:endParaRPr lang="en-US" sz="1300" dirty="0"/>
          </a:p>
        </p:txBody>
      </p:sp>
      <p:sp>
        <p:nvSpPr>
          <p:cNvPr id="31" name="Shape 29"/>
          <p:cNvSpPr/>
          <p:nvPr/>
        </p:nvSpPr>
        <p:spPr>
          <a:xfrm>
            <a:off x="1971345" y="4496105"/>
            <a:ext cx="96926" cy="96926"/>
          </a:xfrm>
          <a:prstGeom prst="ellipse">
            <a:avLst/>
          </a:prstGeom>
          <a:solidFill>
            <a:srgbClr val="176493"/>
          </a:solidFill>
          <a:ln w="5080">
            <a:solidFill>
              <a:srgbClr val="176493"/>
            </a:solidFill>
            <a:prstDash val="solid"/>
          </a:ln>
        </p:spPr>
      </p:sp>
      <p:sp>
        <p:nvSpPr>
          <p:cNvPr id="32" name="Shape 30"/>
          <p:cNvSpPr/>
          <p:nvPr/>
        </p:nvSpPr>
        <p:spPr>
          <a:xfrm>
            <a:off x="1416202" y="2996489"/>
            <a:ext cx="96926" cy="96926"/>
          </a:xfrm>
          <a:prstGeom prst="ellipse">
            <a:avLst/>
          </a:prstGeom>
          <a:solidFill>
            <a:srgbClr val="176493"/>
          </a:solidFill>
          <a:ln w="5080">
            <a:solidFill>
              <a:srgbClr val="176493"/>
            </a:solidFill>
            <a:prstDash val="solid"/>
          </a:ln>
        </p:spPr>
      </p:sp>
      <p:sp>
        <p:nvSpPr>
          <p:cNvPr id="33" name="Shape 31"/>
          <p:cNvSpPr/>
          <p:nvPr/>
        </p:nvSpPr>
        <p:spPr>
          <a:xfrm>
            <a:off x="1693774" y="3371393"/>
            <a:ext cx="96926" cy="96926"/>
          </a:xfrm>
          <a:prstGeom prst="ellipse">
            <a:avLst/>
          </a:prstGeom>
          <a:solidFill>
            <a:srgbClr val="176493"/>
          </a:solidFill>
          <a:ln w="5080">
            <a:solidFill>
              <a:srgbClr val="176493"/>
            </a:solidFill>
            <a:prstDash val="solid"/>
          </a:ln>
        </p:spPr>
      </p:sp>
      <p:sp>
        <p:nvSpPr>
          <p:cNvPr id="34" name="Shape 32"/>
          <p:cNvSpPr/>
          <p:nvPr/>
        </p:nvSpPr>
        <p:spPr>
          <a:xfrm>
            <a:off x="1971345" y="2996489"/>
            <a:ext cx="96926" cy="96926"/>
          </a:xfrm>
          <a:prstGeom prst="ellipse">
            <a:avLst/>
          </a:prstGeom>
          <a:solidFill>
            <a:srgbClr val="176493"/>
          </a:solidFill>
          <a:ln w="5080">
            <a:solidFill>
              <a:srgbClr val="176493"/>
            </a:solidFill>
            <a:prstDash val="solid"/>
          </a:ln>
        </p:spPr>
      </p:sp>
      <p:sp>
        <p:nvSpPr>
          <p:cNvPr id="35" name="Shape 33"/>
          <p:cNvSpPr/>
          <p:nvPr/>
        </p:nvSpPr>
        <p:spPr>
          <a:xfrm>
            <a:off x="2040738" y="3121457"/>
            <a:ext cx="96926" cy="96926"/>
          </a:xfrm>
          <a:prstGeom prst="ellipse">
            <a:avLst/>
          </a:prstGeom>
          <a:solidFill>
            <a:srgbClr val="176493"/>
          </a:solidFill>
          <a:ln w="5080">
            <a:solidFill>
              <a:srgbClr val="176493"/>
            </a:solidFill>
            <a:prstDash val="solid"/>
          </a:ln>
        </p:spPr>
      </p:sp>
      <p:sp>
        <p:nvSpPr>
          <p:cNvPr id="36" name="Shape 34"/>
          <p:cNvSpPr/>
          <p:nvPr/>
        </p:nvSpPr>
        <p:spPr>
          <a:xfrm>
            <a:off x="2040738" y="2871521"/>
            <a:ext cx="96926" cy="96926"/>
          </a:xfrm>
          <a:prstGeom prst="ellipse">
            <a:avLst/>
          </a:prstGeom>
          <a:solidFill>
            <a:srgbClr val="176493"/>
          </a:solidFill>
          <a:ln w="5080">
            <a:solidFill>
              <a:srgbClr val="176493"/>
            </a:solidFill>
            <a:prstDash val="solid"/>
          </a:ln>
        </p:spPr>
      </p:sp>
      <p:sp>
        <p:nvSpPr>
          <p:cNvPr id="37" name="Shape 35"/>
          <p:cNvSpPr/>
          <p:nvPr/>
        </p:nvSpPr>
        <p:spPr>
          <a:xfrm>
            <a:off x="1485595" y="2996489"/>
            <a:ext cx="96926" cy="96926"/>
          </a:xfrm>
          <a:prstGeom prst="ellipse">
            <a:avLst/>
          </a:prstGeom>
          <a:solidFill>
            <a:srgbClr val="176493"/>
          </a:solidFill>
          <a:ln w="5080">
            <a:solidFill>
              <a:srgbClr val="176493"/>
            </a:solidFill>
            <a:prstDash val="solid"/>
          </a:ln>
        </p:spPr>
      </p:sp>
      <p:sp>
        <p:nvSpPr>
          <p:cNvPr id="38" name="Shape 36"/>
          <p:cNvSpPr/>
          <p:nvPr/>
        </p:nvSpPr>
        <p:spPr>
          <a:xfrm>
            <a:off x="1971345" y="3246425"/>
            <a:ext cx="96926" cy="96926"/>
          </a:xfrm>
          <a:prstGeom prst="ellipse">
            <a:avLst/>
          </a:prstGeom>
          <a:solidFill>
            <a:srgbClr val="176493"/>
          </a:solidFill>
          <a:ln w="5080">
            <a:solidFill>
              <a:srgbClr val="176493"/>
            </a:solidFill>
            <a:prstDash val="solid"/>
          </a:ln>
        </p:spPr>
      </p:sp>
      <p:sp>
        <p:nvSpPr>
          <p:cNvPr id="39" name="Shape 37"/>
          <p:cNvSpPr/>
          <p:nvPr/>
        </p:nvSpPr>
        <p:spPr>
          <a:xfrm>
            <a:off x="2248916" y="3746297"/>
            <a:ext cx="96926" cy="96926"/>
          </a:xfrm>
          <a:prstGeom prst="ellipse">
            <a:avLst/>
          </a:prstGeom>
          <a:solidFill>
            <a:srgbClr val="176493"/>
          </a:solidFill>
          <a:ln w="5080">
            <a:solidFill>
              <a:srgbClr val="176493"/>
            </a:solidFill>
            <a:prstDash val="solid"/>
          </a:ln>
        </p:spPr>
      </p:sp>
      <p:sp>
        <p:nvSpPr>
          <p:cNvPr id="40" name="Shape 38"/>
          <p:cNvSpPr/>
          <p:nvPr/>
        </p:nvSpPr>
        <p:spPr>
          <a:xfrm>
            <a:off x="2110130" y="3371393"/>
            <a:ext cx="96926" cy="96926"/>
          </a:xfrm>
          <a:prstGeom prst="ellipse">
            <a:avLst/>
          </a:prstGeom>
          <a:solidFill>
            <a:srgbClr val="176493"/>
          </a:solidFill>
          <a:ln w="5080">
            <a:solidFill>
              <a:srgbClr val="176493"/>
            </a:solidFill>
            <a:prstDash val="solid"/>
          </a:ln>
        </p:spPr>
      </p:sp>
      <p:sp>
        <p:nvSpPr>
          <p:cNvPr id="41" name="Shape 39"/>
          <p:cNvSpPr/>
          <p:nvPr/>
        </p:nvSpPr>
        <p:spPr>
          <a:xfrm>
            <a:off x="2526487" y="3371393"/>
            <a:ext cx="96926" cy="96926"/>
          </a:xfrm>
          <a:prstGeom prst="ellipse">
            <a:avLst/>
          </a:prstGeom>
          <a:solidFill>
            <a:srgbClr val="176493"/>
          </a:solidFill>
          <a:ln w="5080">
            <a:solidFill>
              <a:srgbClr val="176493"/>
            </a:solidFill>
            <a:prstDash val="solid"/>
          </a:ln>
        </p:spPr>
      </p:sp>
      <p:sp>
        <p:nvSpPr>
          <p:cNvPr id="42" name="Shape 40"/>
          <p:cNvSpPr/>
          <p:nvPr/>
        </p:nvSpPr>
        <p:spPr>
          <a:xfrm>
            <a:off x="2110130" y="3621329"/>
            <a:ext cx="96926" cy="96926"/>
          </a:xfrm>
          <a:prstGeom prst="ellipse">
            <a:avLst/>
          </a:prstGeom>
          <a:solidFill>
            <a:srgbClr val="176493"/>
          </a:solidFill>
          <a:ln w="5080">
            <a:solidFill>
              <a:srgbClr val="176493"/>
            </a:solidFill>
            <a:prstDash val="solid"/>
          </a:ln>
        </p:spPr>
      </p:sp>
      <p:sp>
        <p:nvSpPr>
          <p:cNvPr id="43" name="Shape 41"/>
          <p:cNvSpPr/>
          <p:nvPr/>
        </p:nvSpPr>
        <p:spPr>
          <a:xfrm>
            <a:off x="1971345" y="2871521"/>
            <a:ext cx="96926" cy="96926"/>
          </a:xfrm>
          <a:prstGeom prst="ellipse">
            <a:avLst/>
          </a:prstGeom>
          <a:solidFill>
            <a:srgbClr val="176493"/>
          </a:solidFill>
          <a:ln w="5080">
            <a:solidFill>
              <a:srgbClr val="176493"/>
            </a:solidFill>
            <a:prstDash val="solid"/>
          </a:ln>
        </p:spPr>
      </p:sp>
      <p:sp>
        <p:nvSpPr>
          <p:cNvPr id="44" name="Shape 42"/>
          <p:cNvSpPr/>
          <p:nvPr/>
        </p:nvSpPr>
        <p:spPr>
          <a:xfrm>
            <a:off x="1346810" y="2996489"/>
            <a:ext cx="96926" cy="96926"/>
          </a:xfrm>
          <a:prstGeom prst="ellipse">
            <a:avLst/>
          </a:prstGeom>
          <a:solidFill>
            <a:srgbClr val="176493"/>
          </a:solidFill>
          <a:ln w="5080">
            <a:solidFill>
              <a:srgbClr val="176493"/>
            </a:solidFill>
            <a:prstDash val="solid"/>
          </a:ln>
        </p:spPr>
      </p:sp>
      <p:sp>
        <p:nvSpPr>
          <p:cNvPr id="45" name="Shape 43"/>
          <p:cNvSpPr/>
          <p:nvPr/>
        </p:nvSpPr>
        <p:spPr>
          <a:xfrm>
            <a:off x="2110130" y="3871265"/>
            <a:ext cx="96926" cy="96926"/>
          </a:xfrm>
          <a:prstGeom prst="ellipse">
            <a:avLst/>
          </a:prstGeom>
          <a:solidFill>
            <a:srgbClr val="176493"/>
          </a:solidFill>
          <a:ln w="5080">
            <a:solidFill>
              <a:srgbClr val="176493"/>
            </a:solidFill>
            <a:prstDash val="solid"/>
          </a:ln>
        </p:spPr>
      </p:sp>
      <p:sp>
        <p:nvSpPr>
          <p:cNvPr id="46" name="Shape 44"/>
          <p:cNvSpPr/>
          <p:nvPr/>
        </p:nvSpPr>
        <p:spPr>
          <a:xfrm>
            <a:off x="2040738" y="2871521"/>
            <a:ext cx="96926" cy="96926"/>
          </a:xfrm>
          <a:prstGeom prst="ellipse">
            <a:avLst/>
          </a:prstGeom>
          <a:solidFill>
            <a:srgbClr val="176493"/>
          </a:solidFill>
          <a:ln w="5080">
            <a:solidFill>
              <a:srgbClr val="176493"/>
            </a:solidFill>
            <a:prstDash val="solid"/>
          </a:ln>
        </p:spPr>
      </p:sp>
      <p:sp>
        <p:nvSpPr>
          <p:cNvPr id="47" name="Shape 45"/>
          <p:cNvSpPr/>
          <p:nvPr/>
        </p:nvSpPr>
        <p:spPr>
          <a:xfrm>
            <a:off x="1763166" y="3121457"/>
            <a:ext cx="96926" cy="96926"/>
          </a:xfrm>
          <a:prstGeom prst="ellipse">
            <a:avLst/>
          </a:prstGeom>
          <a:solidFill>
            <a:srgbClr val="176493"/>
          </a:solidFill>
          <a:ln w="5080">
            <a:solidFill>
              <a:srgbClr val="176493"/>
            </a:solidFill>
            <a:prstDash val="solid"/>
          </a:ln>
        </p:spPr>
      </p:sp>
      <p:sp>
        <p:nvSpPr>
          <p:cNvPr id="48" name="Shape 46"/>
          <p:cNvSpPr/>
          <p:nvPr/>
        </p:nvSpPr>
        <p:spPr>
          <a:xfrm>
            <a:off x="2179523" y="2871521"/>
            <a:ext cx="96926" cy="96926"/>
          </a:xfrm>
          <a:prstGeom prst="ellipse">
            <a:avLst/>
          </a:prstGeom>
          <a:solidFill>
            <a:srgbClr val="176493"/>
          </a:solidFill>
          <a:ln w="5080">
            <a:solidFill>
              <a:srgbClr val="176493"/>
            </a:solidFill>
            <a:prstDash val="solid"/>
          </a:ln>
        </p:spPr>
      </p:sp>
      <p:sp>
        <p:nvSpPr>
          <p:cNvPr id="49" name="Shape 47"/>
          <p:cNvSpPr/>
          <p:nvPr/>
        </p:nvSpPr>
        <p:spPr>
          <a:xfrm>
            <a:off x="2665273" y="2746553"/>
            <a:ext cx="96926" cy="96926"/>
          </a:xfrm>
          <a:prstGeom prst="ellipse">
            <a:avLst/>
          </a:prstGeom>
          <a:solidFill>
            <a:srgbClr val="176493"/>
          </a:solidFill>
          <a:ln w="5080">
            <a:solidFill>
              <a:srgbClr val="176493"/>
            </a:solidFill>
            <a:prstDash val="solid"/>
          </a:ln>
        </p:spPr>
      </p:sp>
      <p:sp>
        <p:nvSpPr>
          <p:cNvPr id="50" name="Shape 48"/>
          <p:cNvSpPr/>
          <p:nvPr/>
        </p:nvSpPr>
        <p:spPr>
          <a:xfrm>
            <a:off x="1346810" y="3246425"/>
            <a:ext cx="96926" cy="96926"/>
          </a:xfrm>
          <a:prstGeom prst="ellipse">
            <a:avLst/>
          </a:prstGeom>
          <a:solidFill>
            <a:srgbClr val="176493"/>
          </a:solidFill>
          <a:ln w="5080">
            <a:solidFill>
              <a:srgbClr val="176493"/>
            </a:solidFill>
            <a:prstDash val="solid"/>
          </a:ln>
        </p:spPr>
      </p:sp>
      <p:sp>
        <p:nvSpPr>
          <p:cNvPr id="51" name="Shape 49"/>
          <p:cNvSpPr/>
          <p:nvPr/>
        </p:nvSpPr>
        <p:spPr>
          <a:xfrm>
            <a:off x="1832559" y="2871521"/>
            <a:ext cx="96926" cy="96926"/>
          </a:xfrm>
          <a:prstGeom prst="ellipse">
            <a:avLst/>
          </a:prstGeom>
          <a:solidFill>
            <a:srgbClr val="176493"/>
          </a:solidFill>
          <a:ln w="5080">
            <a:solidFill>
              <a:srgbClr val="176493"/>
            </a:solidFill>
            <a:prstDash val="solid"/>
          </a:ln>
        </p:spPr>
      </p:sp>
      <p:sp>
        <p:nvSpPr>
          <p:cNvPr id="52" name="Shape 50"/>
          <p:cNvSpPr/>
          <p:nvPr/>
        </p:nvSpPr>
        <p:spPr>
          <a:xfrm>
            <a:off x="2526487" y="3621329"/>
            <a:ext cx="96926" cy="96926"/>
          </a:xfrm>
          <a:prstGeom prst="ellipse">
            <a:avLst/>
          </a:prstGeom>
          <a:solidFill>
            <a:srgbClr val="176493"/>
          </a:solidFill>
          <a:ln w="5080">
            <a:solidFill>
              <a:srgbClr val="176493"/>
            </a:solidFill>
            <a:prstDash val="solid"/>
          </a:ln>
        </p:spPr>
      </p:sp>
      <p:sp>
        <p:nvSpPr>
          <p:cNvPr id="53" name="Shape 51"/>
          <p:cNvSpPr/>
          <p:nvPr/>
        </p:nvSpPr>
        <p:spPr>
          <a:xfrm>
            <a:off x="1554988" y="3121457"/>
            <a:ext cx="96926" cy="96926"/>
          </a:xfrm>
          <a:prstGeom prst="ellipse">
            <a:avLst/>
          </a:prstGeom>
          <a:solidFill>
            <a:srgbClr val="176493"/>
          </a:solidFill>
          <a:ln w="5080">
            <a:solidFill>
              <a:srgbClr val="176493"/>
            </a:solidFill>
            <a:prstDash val="solid"/>
          </a:ln>
        </p:spPr>
      </p:sp>
      <p:sp>
        <p:nvSpPr>
          <p:cNvPr id="54" name="Shape 52"/>
          <p:cNvSpPr/>
          <p:nvPr/>
        </p:nvSpPr>
        <p:spPr>
          <a:xfrm>
            <a:off x="2318309" y="3746297"/>
            <a:ext cx="96926" cy="96926"/>
          </a:xfrm>
          <a:prstGeom prst="ellipse">
            <a:avLst/>
          </a:prstGeom>
          <a:solidFill>
            <a:srgbClr val="176493"/>
          </a:solidFill>
          <a:ln w="5080">
            <a:solidFill>
              <a:srgbClr val="176493"/>
            </a:solidFill>
            <a:prstDash val="solid"/>
          </a:ln>
        </p:spPr>
      </p:sp>
      <p:sp>
        <p:nvSpPr>
          <p:cNvPr id="55" name="Shape 53"/>
          <p:cNvSpPr/>
          <p:nvPr/>
        </p:nvSpPr>
        <p:spPr>
          <a:xfrm>
            <a:off x="1485595" y="3371393"/>
            <a:ext cx="96926" cy="96926"/>
          </a:xfrm>
          <a:prstGeom prst="ellipse">
            <a:avLst/>
          </a:prstGeom>
          <a:solidFill>
            <a:srgbClr val="176493"/>
          </a:solidFill>
          <a:ln w="5080">
            <a:solidFill>
              <a:srgbClr val="176493"/>
            </a:solidFill>
            <a:prstDash val="solid"/>
          </a:ln>
        </p:spPr>
      </p:sp>
      <p:sp>
        <p:nvSpPr>
          <p:cNvPr id="56" name="Shape 54"/>
          <p:cNvSpPr/>
          <p:nvPr/>
        </p:nvSpPr>
        <p:spPr>
          <a:xfrm>
            <a:off x="1624381" y="3746297"/>
            <a:ext cx="96926" cy="96926"/>
          </a:xfrm>
          <a:prstGeom prst="ellipse">
            <a:avLst/>
          </a:prstGeom>
          <a:solidFill>
            <a:srgbClr val="176493"/>
          </a:solidFill>
          <a:ln w="5080">
            <a:solidFill>
              <a:srgbClr val="176493"/>
            </a:solidFill>
            <a:prstDash val="solid"/>
          </a:ln>
        </p:spPr>
      </p:sp>
      <p:sp>
        <p:nvSpPr>
          <p:cNvPr id="57" name="Shape 55"/>
          <p:cNvSpPr/>
          <p:nvPr/>
        </p:nvSpPr>
        <p:spPr>
          <a:xfrm>
            <a:off x="1901952" y="3746297"/>
            <a:ext cx="96926" cy="96926"/>
          </a:xfrm>
          <a:prstGeom prst="ellipse">
            <a:avLst/>
          </a:prstGeom>
          <a:solidFill>
            <a:srgbClr val="176493"/>
          </a:solidFill>
          <a:ln w="5080">
            <a:solidFill>
              <a:srgbClr val="176493"/>
            </a:solidFill>
            <a:prstDash val="solid"/>
          </a:ln>
        </p:spPr>
      </p:sp>
      <p:sp>
        <p:nvSpPr>
          <p:cNvPr id="58" name="Shape 56"/>
          <p:cNvSpPr/>
          <p:nvPr/>
        </p:nvSpPr>
        <p:spPr>
          <a:xfrm>
            <a:off x="1416202" y="3496361"/>
            <a:ext cx="96926" cy="96926"/>
          </a:xfrm>
          <a:prstGeom prst="ellipse">
            <a:avLst/>
          </a:prstGeom>
          <a:solidFill>
            <a:srgbClr val="176493"/>
          </a:solidFill>
          <a:ln w="5080">
            <a:solidFill>
              <a:srgbClr val="176493"/>
            </a:solidFill>
            <a:prstDash val="solid"/>
          </a:ln>
        </p:spPr>
      </p:sp>
      <p:sp>
        <p:nvSpPr>
          <p:cNvPr id="59" name="Shape 57"/>
          <p:cNvSpPr/>
          <p:nvPr/>
        </p:nvSpPr>
        <p:spPr>
          <a:xfrm>
            <a:off x="1624381" y="3371393"/>
            <a:ext cx="96926" cy="96926"/>
          </a:xfrm>
          <a:prstGeom prst="ellipse">
            <a:avLst/>
          </a:prstGeom>
          <a:solidFill>
            <a:srgbClr val="176493"/>
          </a:solidFill>
          <a:ln w="5080">
            <a:solidFill>
              <a:srgbClr val="176493"/>
            </a:solidFill>
            <a:prstDash val="solid"/>
          </a:ln>
        </p:spPr>
      </p:sp>
      <p:sp>
        <p:nvSpPr>
          <p:cNvPr id="60" name="Shape 58"/>
          <p:cNvSpPr/>
          <p:nvPr/>
        </p:nvSpPr>
        <p:spPr>
          <a:xfrm>
            <a:off x="5787949" y="4121201"/>
            <a:ext cx="96926" cy="96926"/>
          </a:xfrm>
          <a:prstGeom prst="ellipse">
            <a:avLst/>
          </a:prstGeom>
          <a:solidFill>
            <a:srgbClr val="176493"/>
          </a:solidFill>
          <a:ln w="5080">
            <a:solidFill>
              <a:srgbClr val="176493"/>
            </a:solidFill>
            <a:prstDash val="solid"/>
          </a:ln>
        </p:spPr>
      </p:sp>
      <p:sp>
        <p:nvSpPr>
          <p:cNvPr id="61" name="Shape 59"/>
          <p:cNvSpPr/>
          <p:nvPr/>
        </p:nvSpPr>
        <p:spPr>
          <a:xfrm>
            <a:off x="6690055" y="4496105"/>
            <a:ext cx="96926" cy="96926"/>
          </a:xfrm>
          <a:prstGeom prst="ellipse">
            <a:avLst/>
          </a:prstGeom>
          <a:solidFill>
            <a:srgbClr val="176493"/>
          </a:solidFill>
          <a:ln w="5080">
            <a:solidFill>
              <a:srgbClr val="176493"/>
            </a:solidFill>
            <a:prstDash val="solid"/>
          </a:ln>
        </p:spPr>
      </p:sp>
      <p:sp>
        <p:nvSpPr>
          <p:cNvPr id="62" name="Shape 60"/>
          <p:cNvSpPr/>
          <p:nvPr/>
        </p:nvSpPr>
        <p:spPr>
          <a:xfrm>
            <a:off x="6065520" y="4121201"/>
            <a:ext cx="96926" cy="96926"/>
          </a:xfrm>
          <a:prstGeom prst="ellipse">
            <a:avLst/>
          </a:prstGeom>
          <a:solidFill>
            <a:srgbClr val="176493"/>
          </a:solidFill>
          <a:ln w="5080">
            <a:solidFill>
              <a:srgbClr val="176493"/>
            </a:solidFill>
            <a:prstDash val="solid"/>
          </a:ln>
        </p:spPr>
      </p:sp>
      <p:sp>
        <p:nvSpPr>
          <p:cNvPr id="63" name="Shape 61"/>
          <p:cNvSpPr/>
          <p:nvPr/>
        </p:nvSpPr>
        <p:spPr>
          <a:xfrm>
            <a:off x="6204306" y="4246169"/>
            <a:ext cx="96926" cy="96926"/>
          </a:xfrm>
          <a:prstGeom prst="ellipse">
            <a:avLst/>
          </a:prstGeom>
          <a:solidFill>
            <a:srgbClr val="176493"/>
          </a:solidFill>
          <a:ln w="5080">
            <a:solidFill>
              <a:srgbClr val="176493"/>
            </a:solidFill>
            <a:prstDash val="solid"/>
          </a:ln>
        </p:spPr>
      </p:sp>
      <p:sp>
        <p:nvSpPr>
          <p:cNvPr id="64" name="Shape 62"/>
          <p:cNvSpPr/>
          <p:nvPr/>
        </p:nvSpPr>
        <p:spPr>
          <a:xfrm>
            <a:off x="5579770" y="4246169"/>
            <a:ext cx="96926" cy="96926"/>
          </a:xfrm>
          <a:prstGeom prst="ellipse">
            <a:avLst/>
          </a:prstGeom>
          <a:solidFill>
            <a:srgbClr val="176493"/>
          </a:solidFill>
          <a:ln w="5080">
            <a:solidFill>
              <a:srgbClr val="176493"/>
            </a:solidFill>
            <a:prstDash val="solid"/>
          </a:ln>
        </p:spPr>
      </p:sp>
      <p:sp>
        <p:nvSpPr>
          <p:cNvPr id="65" name="Shape 63"/>
          <p:cNvSpPr/>
          <p:nvPr/>
        </p:nvSpPr>
        <p:spPr>
          <a:xfrm>
            <a:off x="5787949" y="4121201"/>
            <a:ext cx="96926" cy="96926"/>
          </a:xfrm>
          <a:prstGeom prst="ellipse">
            <a:avLst/>
          </a:prstGeom>
          <a:solidFill>
            <a:srgbClr val="176493"/>
          </a:solidFill>
          <a:ln w="5080">
            <a:solidFill>
              <a:srgbClr val="176493"/>
            </a:solidFill>
            <a:prstDash val="solid"/>
          </a:ln>
        </p:spPr>
      </p:sp>
      <p:sp>
        <p:nvSpPr>
          <p:cNvPr id="66" name="Shape 64"/>
          <p:cNvSpPr/>
          <p:nvPr/>
        </p:nvSpPr>
        <p:spPr>
          <a:xfrm>
            <a:off x="5163414" y="4371137"/>
            <a:ext cx="96926" cy="96926"/>
          </a:xfrm>
          <a:prstGeom prst="ellipse">
            <a:avLst/>
          </a:prstGeom>
          <a:solidFill>
            <a:srgbClr val="176493"/>
          </a:solidFill>
          <a:ln w="5080">
            <a:solidFill>
              <a:srgbClr val="176493"/>
            </a:solidFill>
            <a:prstDash val="solid"/>
          </a:ln>
        </p:spPr>
      </p:sp>
      <p:sp>
        <p:nvSpPr>
          <p:cNvPr id="67" name="Shape 65"/>
          <p:cNvSpPr/>
          <p:nvPr/>
        </p:nvSpPr>
        <p:spPr>
          <a:xfrm>
            <a:off x="7245198" y="4246169"/>
            <a:ext cx="96926" cy="96926"/>
          </a:xfrm>
          <a:prstGeom prst="ellipse">
            <a:avLst/>
          </a:prstGeom>
          <a:solidFill>
            <a:srgbClr val="176493"/>
          </a:solidFill>
          <a:ln w="5080">
            <a:solidFill>
              <a:srgbClr val="176493"/>
            </a:solidFill>
            <a:prstDash val="solid"/>
          </a:ln>
        </p:spPr>
      </p:sp>
      <p:sp>
        <p:nvSpPr>
          <p:cNvPr id="68" name="Shape 66"/>
          <p:cNvSpPr/>
          <p:nvPr/>
        </p:nvSpPr>
        <p:spPr>
          <a:xfrm>
            <a:off x="7245198" y="4496105"/>
            <a:ext cx="96926" cy="96926"/>
          </a:xfrm>
          <a:prstGeom prst="ellipse">
            <a:avLst/>
          </a:prstGeom>
          <a:solidFill>
            <a:srgbClr val="176493"/>
          </a:solidFill>
          <a:ln w="5080">
            <a:solidFill>
              <a:srgbClr val="176493"/>
            </a:solidFill>
            <a:prstDash val="solid"/>
          </a:ln>
        </p:spPr>
      </p:sp>
      <p:sp>
        <p:nvSpPr>
          <p:cNvPr id="69" name="Shape 67"/>
          <p:cNvSpPr/>
          <p:nvPr/>
        </p:nvSpPr>
        <p:spPr>
          <a:xfrm>
            <a:off x="7037019" y="4121201"/>
            <a:ext cx="96926" cy="96926"/>
          </a:xfrm>
          <a:prstGeom prst="ellipse">
            <a:avLst/>
          </a:prstGeom>
          <a:solidFill>
            <a:srgbClr val="176493"/>
          </a:solidFill>
          <a:ln w="5080">
            <a:solidFill>
              <a:srgbClr val="176493"/>
            </a:solidFill>
            <a:prstDash val="solid"/>
          </a:ln>
        </p:spPr>
      </p:sp>
      <p:sp>
        <p:nvSpPr>
          <p:cNvPr id="70" name="Shape 68"/>
          <p:cNvSpPr/>
          <p:nvPr/>
        </p:nvSpPr>
        <p:spPr>
          <a:xfrm>
            <a:off x="6134913" y="4621073"/>
            <a:ext cx="96926" cy="96926"/>
          </a:xfrm>
          <a:prstGeom prst="ellipse">
            <a:avLst/>
          </a:prstGeom>
          <a:solidFill>
            <a:srgbClr val="176493"/>
          </a:solidFill>
          <a:ln w="5080">
            <a:solidFill>
              <a:srgbClr val="176493"/>
            </a:solidFill>
            <a:prstDash val="solid"/>
          </a:ln>
        </p:spPr>
      </p:sp>
      <p:sp>
        <p:nvSpPr>
          <p:cNvPr id="71" name="Shape 69"/>
          <p:cNvSpPr/>
          <p:nvPr/>
        </p:nvSpPr>
        <p:spPr>
          <a:xfrm>
            <a:off x="4469486" y="4121201"/>
            <a:ext cx="96926" cy="96926"/>
          </a:xfrm>
          <a:prstGeom prst="ellipse">
            <a:avLst/>
          </a:prstGeom>
          <a:solidFill>
            <a:srgbClr val="176493"/>
          </a:solidFill>
          <a:ln w="5080">
            <a:solidFill>
              <a:srgbClr val="176493"/>
            </a:solidFill>
            <a:prstDash val="solid"/>
          </a:ln>
        </p:spPr>
      </p:sp>
      <p:sp>
        <p:nvSpPr>
          <p:cNvPr id="72" name="Shape 70"/>
          <p:cNvSpPr/>
          <p:nvPr/>
        </p:nvSpPr>
        <p:spPr>
          <a:xfrm>
            <a:off x="5232806" y="4621073"/>
            <a:ext cx="96926" cy="96926"/>
          </a:xfrm>
          <a:prstGeom prst="ellipse">
            <a:avLst/>
          </a:prstGeom>
          <a:solidFill>
            <a:srgbClr val="176493"/>
          </a:solidFill>
          <a:ln w="5080">
            <a:solidFill>
              <a:srgbClr val="176493"/>
            </a:solidFill>
            <a:prstDash val="solid"/>
          </a:ln>
        </p:spPr>
      </p:sp>
      <p:sp>
        <p:nvSpPr>
          <p:cNvPr id="73" name="Shape 71"/>
          <p:cNvSpPr/>
          <p:nvPr/>
        </p:nvSpPr>
        <p:spPr>
          <a:xfrm>
            <a:off x="6828841" y="4621073"/>
            <a:ext cx="96926" cy="96926"/>
          </a:xfrm>
          <a:prstGeom prst="ellipse">
            <a:avLst/>
          </a:prstGeom>
          <a:solidFill>
            <a:srgbClr val="176493"/>
          </a:solidFill>
          <a:ln w="5080">
            <a:solidFill>
              <a:srgbClr val="176493"/>
            </a:solidFill>
            <a:prstDash val="solid"/>
          </a:ln>
        </p:spPr>
      </p:sp>
      <p:sp>
        <p:nvSpPr>
          <p:cNvPr id="74" name="Shape 72"/>
          <p:cNvSpPr/>
          <p:nvPr/>
        </p:nvSpPr>
        <p:spPr>
          <a:xfrm>
            <a:off x="5579770" y="4371137"/>
            <a:ext cx="96926" cy="96926"/>
          </a:xfrm>
          <a:prstGeom prst="ellipse">
            <a:avLst/>
          </a:prstGeom>
          <a:solidFill>
            <a:srgbClr val="176493"/>
          </a:solidFill>
          <a:ln w="5080">
            <a:solidFill>
              <a:srgbClr val="176493"/>
            </a:solidFill>
            <a:prstDash val="solid"/>
          </a:ln>
        </p:spPr>
      </p:sp>
      <p:sp>
        <p:nvSpPr>
          <p:cNvPr id="75" name="Shape 73"/>
          <p:cNvSpPr/>
          <p:nvPr/>
        </p:nvSpPr>
        <p:spPr>
          <a:xfrm>
            <a:off x="4816450" y="4121201"/>
            <a:ext cx="96926" cy="96926"/>
          </a:xfrm>
          <a:prstGeom prst="ellipse">
            <a:avLst/>
          </a:prstGeom>
          <a:solidFill>
            <a:srgbClr val="176493"/>
          </a:solidFill>
          <a:ln w="5080">
            <a:solidFill>
              <a:srgbClr val="176493"/>
            </a:solidFill>
            <a:prstDash val="solid"/>
          </a:ln>
        </p:spPr>
      </p:sp>
      <p:sp>
        <p:nvSpPr>
          <p:cNvPr id="76" name="Shape 74"/>
          <p:cNvSpPr/>
          <p:nvPr/>
        </p:nvSpPr>
        <p:spPr>
          <a:xfrm>
            <a:off x="6273698" y="4121201"/>
            <a:ext cx="96926" cy="96926"/>
          </a:xfrm>
          <a:prstGeom prst="ellipse">
            <a:avLst/>
          </a:prstGeom>
          <a:solidFill>
            <a:srgbClr val="176493"/>
          </a:solidFill>
          <a:ln w="5080">
            <a:solidFill>
              <a:srgbClr val="176493"/>
            </a:solidFill>
            <a:prstDash val="solid"/>
          </a:ln>
        </p:spPr>
      </p:sp>
      <p:sp>
        <p:nvSpPr>
          <p:cNvPr id="77" name="Shape 75"/>
          <p:cNvSpPr/>
          <p:nvPr/>
        </p:nvSpPr>
        <p:spPr>
          <a:xfrm>
            <a:off x="5094021" y="4496105"/>
            <a:ext cx="96926" cy="96926"/>
          </a:xfrm>
          <a:prstGeom prst="ellipse">
            <a:avLst/>
          </a:prstGeom>
          <a:solidFill>
            <a:srgbClr val="176493"/>
          </a:solidFill>
          <a:ln w="5080">
            <a:solidFill>
              <a:srgbClr val="176493"/>
            </a:solidFill>
            <a:prstDash val="solid"/>
          </a:ln>
        </p:spPr>
      </p:sp>
      <p:sp>
        <p:nvSpPr>
          <p:cNvPr id="78" name="Shape 76"/>
          <p:cNvSpPr/>
          <p:nvPr/>
        </p:nvSpPr>
        <p:spPr>
          <a:xfrm>
            <a:off x="4400093" y="4621073"/>
            <a:ext cx="96926" cy="96926"/>
          </a:xfrm>
          <a:prstGeom prst="ellipse">
            <a:avLst/>
          </a:prstGeom>
          <a:solidFill>
            <a:srgbClr val="176493"/>
          </a:solidFill>
          <a:ln w="5080">
            <a:solidFill>
              <a:srgbClr val="176493"/>
            </a:solidFill>
            <a:prstDash val="solid"/>
          </a:ln>
        </p:spPr>
      </p:sp>
      <p:sp>
        <p:nvSpPr>
          <p:cNvPr id="79" name="Shape 77"/>
          <p:cNvSpPr/>
          <p:nvPr/>
        </p:nvSpPr>
        <p:spPr>
          <a:xfrm>
            <a:off x="6898234" y="4621073"/>
            <a:ext cx="96926" cy="96926"/>
          </a:xfrm>
          <a:prstGeom prst="ellipse">
            <a:avLst/>
          </a:prstGeom>
          <a:solidFill>
            <a:srgbClr val="176493"/>
          </a:solidFill>
          <a:ln w="5080">
            <a:solidFill>
              <a:srgbClr val="176493"/>
            </a:solidFill>
            <a:prstDash val="solid"/>
          </a:ln>
        </p:spPr>
      </p:sp>
      <p:sp>
        <p:nvSpPr>
          <p:cNvPr id="80" name="Shape 78"/>
          <p:cNvSpPr/>
          <p:nvPr/>
        </p:nvSpPr>
        <p:spPr>
          <a:xfrm>
            <a:off x="5163414" y="4496105"/>
            <a:ext cx="96926" cy="96926"/>
          </a:xfrm>
          <a:prstGeom prst="ellipse">
            <a:avLst/>
          </a:prstGeom>
          <a:solidFill>
            <a:srgbClr val="176493"/>
          </a:solidFill>
          <a:ln w="5080">
            <a:solidFill>
              <a:srgbClr val="176493"/>
            </a:solidFill>
            <a:prstDash val="solid"/>
          </a:ln>
        </p:spPr>
      </p:sp>
      <p:sp>
        <p:nvSpPr>
          <p:cNvPr id="81" name="Shape 79"/>
          <p:cNvSpPr/>
          <p:nvPr/>
        </p:nvSpPr>
        <p:spPr>
          <a:xfrm>
            <a:off x="5996127" y="4371137"/>
            <a:ext cx="96926" cy="96926"/>
          </a:xfrm>
          <a:prstGeom prst="ellipse">
            <a:avLst/>
          </a:prstGeom>
          <a:solidFill>
            <a:srgbClr val="176493"/>
          </a:solidFill>
          <a:ln w="5080">
            <a:solidFill>
              <a:srgbClr val="176493"/>
            </a:solidFill>
            <a:prstDash val="solid"/>
          </a:ln>
        </p:spPr>
      </p:sp>
      <p:sp>
        <p:nvSpPr>
          <p:cNvPr id="82" name="Shape 80"/>
          <p:cNvSpPr/>
          <p:nvPr/>
        </p:nvSpPr>
        <p:spPr>
          <a:xfrm>
            <a:off x="5440985" y="4496105"/>
            <a:ext cx="96926" cy="96926"/>
          </a:xfrm>
          <a:prstGeom prst="ellipse">
            <a:avLst/>
          </a:prstGeom>
          <a:solidFill>
            <a:srgbClr val="176493"/>
          </a:solidFill>
          <a:ln w="5080">
            <a:solidFill>
              <a:srgbClr val="176493"/>
            </a:solidFill>
            <a:prstDash val="solid"/>
          </a:ln>
        </p:spPr>
      </p:sp>
      <p:sp>
        <p:nvSpPr>
          <p:cNvPr id="83" name="Shape 81"/>
          <p:cNvSpPr/>
          <p:nvPr/>
        </p:nvSpPr>
        <p:spPr>
          <a:xfrm>
            <a:off x="6898234" y="4246169"/>
            <a:ext cx="96926" cy="96926"/>
          </a:xfrm>
          <a:prstGeom prst="ellipse">
            <a:avLst/>
          </a:prstGeom>
          <a:solidFill>
            <a:srgbClr val="176493"/>
          </a:solidFill>
          <a:ln w="5080">
            <a:solidFill>
              <a:srgbClr val="176493"/>
            </a:solidFill>
            <a:prstDash val="solid"/>
          </a:ln>
        </p:spPr>
      </p:sp>
      <p:sp>
        <p:nvSpPr>
          <p:cNvPr id="84" name="Shape 82"/>
          <p:cNvSpPr/>
          <p:nvPr/>
        </p:nvSpPr>
        <p:spPr>
          <a:xfrm>
            <a:off x="6620662" y="4496105"/>
            <a:ext cx="96926" cy="96926"/>
          </a:xfrm>
          <a:prstGeom prst="ellipse">
            <a:avLst/>
          </a:prstGeom>
          <a:solidFill>
            <a:srgbClr val="176493"/>
          </a:solidFill>
          <a:ln w="5080">
            <a:solidFill>
              <a:srgbClr val="176493"/>
            </a:solidFill>
            <a:prstDash val="solid"/>
          </a:ln>
        </p:spPr>
      </p:sp>
      <p:sp>
        <p:nvSpPr>
          <p:cNvPr id="85" name="Shape 83"/>
          <p:cNvSpPr/>
          <p:nvPr/>
        </p:nvSpPr>
        <p:spPr>
          <a:xfrm>
            <a:off x="5440985" y="4371137"/>
            <a:ext cx="96926" cy="96926"/>
          </a:xfrm>
          <a:prstGeom prst="ellipse">
            <a:avLst/>
          </a:prstGeom>
          <a:solidFill>
            <a:srgbClr val="176493"/>
          </a:solidFill>
          <a:ln w="5080">
            <a:solidFill>
              <a:srgbClr val="176493"/>
            </a:solidFill>
            <a:prstDash val="solid"/>
          </a:ln>
        </p:spPr>
      </p:sp>
      <p:sp>
        <p:nvSpPr>
          <p:cNvPr id="86" name="Shape 84"/>
          <p:cNvSpPr/>
          <p:nvPr/>
        </p:nvSpPr>
        <p:spPr>
          <a:xfrm>
            <a:off x="6620662" y="4621073"/>
            <a:ext cx="96926" cy="96926"/>
          </a:xfrm>
          <a:prstGeom prst="ellipse">
            <a:avLst/>
          </a:prstGeom>
          <a:solidFill>
            <a:srgbClr val="176493"/>
          </a:solidFill>
          <a:ln w="5080">
            <a:solidFill>
              <a:srgbClr val="176493"/>
            </a:solidFill>
            <a:prstDash val="solid"/>
          </a:ln>
        </p:spPr>
      </p:sp>
      <p:sp>
        <p:nvSpPr>
          <p:cNvPr id="87" name="Shape 85"/>
          <p:cNvSpPr/>
          <p:nvPr/>
        </p:nvSpPr>
        <p:spPr>
          <a:xfrm>
            <a:off x="5718556" y="4496105"/>
            <a:ext cx="96926" cy="96926"/>
          </a:xfrm>
          <a:prstGeom prst="ellipse">
            <a:avLst/>
          </a:prstGeom>
          <a:solidFill>
            <a:srgbClr val="176493"/>
          </a:solidFill>
          <a:ln w="5080">
            <a:solidFill>
              <a:srgbClr val="176493"/>
            </a:solidFill>
            <a:prstDash val="solid"/>
          </a:ln>
        </p:spPr>
      </p:sp>
      <p:sp>
        <p:nvSpPr>
          <p:cNvPr id="88" name="Shape 86"/>
          <p:cNvSpPr/>
          <p:nvPr/>
        </p:nvSpPr>
        <p:spPr>
          <a:xfrm>
            <a:off x="2665273" y="4496105"/>
            <a:ext cx="96926" cy="96926"/>
          </a:xfrm>
          <a:prstGeom prst="ellipse">
            <a:avLst/>
          </a:prstGeom>
          <a:solidFill>
            <a:srgbClr val="176493"/>
          </a:solidFill>
          <a:ln w="5080">
            <a:solidFill>
              <a:srgbClr val="176493"/>
            </a:solidFill>
            <a:prstDash val="solid"/>
          </a:ln>
        </p:spPr>
      </p:sp>
      <p:sp>
        <p:nvSpPr>
          <p:cNvPr id="89" name="Shape 87"/>
          <p:cNvSpPr/>
          <p:nvPr/>
        </p:nvSpPr>
        <p:spPr>
          <a:xfrm>
            <a:off x="1554988" y="4496105"/>
            <a:ext cx="96926" cy="96926"/>
          </a:xfrm>
          <a:prstGeom prst="ellipse">
            <a:avLst/>
          </a:prstGeom>
          <a:solidFill>
            <a:srgbClr val="176493"/>
          </a:solidFill>
          <a:ln w="5080">
            <a:solidFill>
              <a:srgbClr val="176493"/>
            </a:solidFill>
            <a:prstDash val="solid"/>
          </a:ln>
        </p:spPr>
      </p:sp>
      <p:sp>
        <p:nvSpPr>
          <p:cNvPr id="90" name="Shape 88"/>
          <p:cNvSpPr/>
          <p:nvPr/>
        </p:nvSpPr>
        <p:spPr>
          <a:xfrm>
            <a:off x="3012237" y="4371137"/>
            <a:ext cx="96926" cy="96926"/>
          </a:xfrm>
          <a:prstGeom prst="ellipse">
            <a:avLst/>
          </a:prstGeom>
          <a:solidFill>
            <a:srgbClr val="176493"/>
          </a:solidFill>
          <a:ln w="5080">
            <a:solidFill>
              <a:srgbClr val="176493"/>
            </a:solidFill>
            <a:prstDash val="solid"/>
          </a:ln>
        </p:spPr>
      </p:sp>
      <p:sp>
        <p:nvSpPr>
          <p:cNvPr id="91" name="Shape 89"/>
          <p:cNvSpPr/>
          <p:nvPr/>
        </p:nvSpPr>
        <p:spPr>
          <a:xfrm>
            <a:off x="2457094" y="4371137"/>
            <a:ext cx="96926" cy="96926"/>
          </a:xfrm>
          <a:prstGeom prst="ellipse">
            <a:avLst/>
          </a:prstGeom>
          <a:solidFill>
            <a:srgbClr val="176493"/>
          </a:solidFill>
          <a:ln w="5080">
            <a:solidFill>
              <a:srgbClr val="176493"/>
            </a:solidFill>
            <a:prstDash val="solid"/>
          </a:ln>
        </p:spPr>
      </p:sp>
      <p:sp>
        <p:nvSpPr>
          <p:cNvPr id="92" name="Shape 90"/>
          <p:cNvSpPr/>
          <p:nvPr/>
        </p:nvSpPr>
        <p:spPr>
          <a:xfrm>
            <a:off x="1485595" y="4371137"/>
            <a:ext cx="96926" cy="96926"/>
          </a:xfrm>
          <a:prstGeom prst="ellipse">
            <a:avLst/>
          </a:prstGeom>
          <a:solidFill>
            <a:srgbClr val="176493"/>
          </a:solidFill>
          <a:ln w="5080">
            <a:solidFill>
              <a:srgbClr val="176493"/>
            </a:solidFill>
            <a:prstDash val="solid"/>
          </a:ln>
        </p:spPr>
      </p:sp>
      <p:sp>
        <p:nvSpPr>
          <p:cNvPr id="93" name="Shape 91"/>
          <p:cNvSpPr/>
          <p:nvPr/>
        </p:nvSpPr>
        <p:spPr>
          <a:xfrm>
            <a:off x="1901952" y="4621073"/>
            <a:ext cx="96926" cy="96926"/>
          </a:xfrm>
          <a:prstGeom prst="ellipse">
            <a:avLst/>
          </a:prstGeom>
          <a:solidFill>
            <a:srgbClr val="176493"/>
          </a:solidFill>
          <a:ln w="5080">
            <a:solidFill>
              <a:srgbClr val="176493"/>
            </a:solidFill>
            <a:prstDash val="solid"/>
          </a:ln>
        </p:spPr>
      </p:sp>
      <p:sp>
        <p:nvSpPr>
          <p:cNvPr id="94" name="Shape 92"/>
          <p:cNvSpPr/>
          <p:nvPr/>
        </p:nvSpPr>
        <p:spPr>
          <a:xfrm>
            <a:off x="2734666" y="4746041"/>
            <a:ext cx="96926" cy="96926"/>
          </a:xfrm>
          <a:prstGeom prst="ellipse">
            <a:avLst/>
          </a:prstGeom>
          <a:solidFill>
            <a:srgbClr val="176493"/>
          </a:solidFill>
          <a:ln w="5080">
            <a:solidFill>
              <a:srgbClr val="176493"/>
            </a:solidFill>
            <a:prstDash val="solid"/>
          </a:ln>
        </p:spPr>
      </p:sp>
      <p:sp>
        <p:nvSpPr>
          <p:cNvPr id="95" name="Shape 93"/>
          <p:cNvSpPr/>
          <p:nvPr/>
        </p:nvSpPr>
        <p:spPr>
          <a:xfrm>
            <a:off x="2804058" y="4371137"/>
            <a:ext cx="96926" cy="96926"/>
          </a:xfrm>
          <a:prstGeom prst="ellipse">
            <a:avLst/>
          </a:prstGeom>
          <a:solidFill>
            <a:srgbClr val="176493"/>
          </a:solidFill>
          <a:ln w="5080">
            <a:solidFill>
              <a:srgbClr val="176493"/>
            </a:solidFill>
            <a:prstDash val="solid"/>
          </a:ln>
        </p:spPr>
      </p:sp>
      <p:sp>
        <p:nvSpPr>
          <p:cNvPr id="96" name="Shape 94"/>
          <p:cNvSpPr/>
          <p:nvPr/>
        </p:nvSpPr>
        <p:spPr>
          <a:xfrm>
            <a:off x="1624381" y="4621073"/>
            <a:ext cx="96926" cy="96926"/>
          </a:xfrm>
          <a:prstGeom prst="ellipse">
            <a:avLst/>
          </a:prstGeom>
          <a:solidFill>
            <a:srgbClr val="176493"/>
          </a:solidFill>
          <a:ln w="5080">
            <a:solidFill>
              <a:srgbClr val="176493"/>
            </a:solidFill>
            <a:prstDash val="solid"/>
          </a:ln>
        </p:spPr>
      </p:sp>
      <p:sp>
        <p:nvSpPr>
          <p:cNvPr id="97" name="Shape 95"/>
          <p:cNvSpPr/>
          <p:nvPr/>
        </p:nvSpPr>
        <p:spPr>
          <a:xfrm>
            <a:off x="2110130" y="4621073"/>
            <a:ext cx="96926" cy="96926"/>
          </a:xfrm>
          <a:prstGeom prst="ellipse">
            <a:avLst/>
          </a:prstGeom>
          <a:solidFill>
            <a:srgbClr val="176493"/>
          </a:solidFill>
          <a:ln w="5080">
            <a:solidFill>
              <a:srgbClr val="176493"/>
            </a:solidFill>
            <a:prstDash val="solid"/>
          </a:ln>
        </p:spPr>
      </p:sp>
      <p:sp>
        <p:nvSpPr>
          <p:cNvPr id="98" name="Shape 96"/>
          <p:cNvSpPr/>
          <p:nvPr/>
        </p:nvSpPr>
        <p:spPr>
          <a:xfrm>
            <a:off x="3220415" y="4621073"/>
            <a:ext cx="96926" cy="96926"/>
          </a:xfrm>
          <a:prstGeom prst="ellipse">
            <a:avLst/>
          </a:prstGeom>
          <a:solidFill>
            <a:srgbClr val="176493"/>
          </a:solidFill>
          <a:ln w="5080">
            <a:solidFill>
              <a:srgbClr val="176493"/>
            </a:solidFill>
            <a:prstDash val="solid"/>
          </a:ln>
        </p:spPr>
      </p:sp>
      <p:sp>
        <p:nvSpPr>
          <p:cNvPr id="99" name="Shape 97"/>
          <p:cNvSpPr/>
          <p:nvPr/>
        </p:nvSpPr>
        <p:spPr>
          <a:xfrm>
            <a:off x="3081630" y="4371137"/>
            <a:ext cx="96926" cy="96926"/>
          </a:xfrm>
          <a:prstGeom prst="ellipse">
            <a:avLst/>
          </a:prstGeom>
          <a:solidFill>
            <a:srgbClr val="176493"/>
          </a:solidFill>
          <a:ln w="5080">
            <a:solidFill>
              <a:srgbClr val="176493"/>
            </a:solidFill>
            <a:prstDash val="solid"/>
          </a:ln>
        </p:spPr>
      </p:sp>
      <p:sp>
        <p:nvSpPr>
          <p:cNvPr id="100" name="Shape 98"/>
          <p:cNvSpPr/>
          <p:nvPr/>
        </p:nvSpPr>
        <p:spPr>
          <a:xfrm>
            <a:off x="3220415" y="4371137"/>
            <a:ext cx="96926" cy="96926"/>
          </a:xfrm>
          <a:prstGeom prst="ellipse">
            <a:avLst/>
          </a:prstGeom>
          <a:solidFill>
            <a:srgbClr val="176493"/>
          </a:solidFill>
          <a:ln w="5080">
            <a:solidFill>
              <a:srgbClr val="176493"/>
            </a:solidFill>
            <a:prstDash val="solid"/>
          </a:ln>
        </p:spPr>
      </p:sp>
      <p:sp>
        <p:nvSpPr>
          <p:cNvPr id="101" name="Shape 99"/>
          <p:cNvSpPr/>
          <p:nvPr/>
        </p:nvSpPr>
        <p:spPr>
          <a:xfrm>
            <a:off x="1901952" y="4496105"/>
            <a:ext cx="96926" cy="96926"/>
          </a:xfrm>
          <a:prstGeom prst="ellipse">
            <a:avLst/>
          </a:prstGeom>
          <a:solidFill>
            <a:srgbClr val="176493"/>
          </a:solidFill>
          <a:ln w="5080">
            <a:solidFill>
              <a:srgbClr val="176493"/>
            </a:solidFill>
            <a:prstDash val="solid"/>
          </a:ln>
        </p:spPr>
      </p:sp>
      <p:sp>
        <p:nvSpPr>
          <p:cNvPr id="102" name="Shape 100"/>
          <p:cNvSpPr/>
          <p:nvPr/>
        </p:nvSpPr>
        <p:spPr>
          <a:xfrm>
            <a:off x="2179523" y="4746041"/>
            <a:ext cx="96926" cy="96926"/>
          </a:xfrm>
          <a:prstGeom prst="ellipse">
            <a:avLst/>
          </a:prstGeom>
          <a:solidFill>
            <a:srgbClr val="176493"/>
          </a:solidFill>
          <a:ln w="5080">
            <a:solidFill>
              <a:srgbClr val="176493"/>
            </a:solidFill>
            <a:prstDash val="solid"/>
          </a:ln>
        </p:spPr>
      </p:sp>
      <p:sp>
        <p:nvSpPr>
          <p:cNvPr id="103" name="Shape 101"/>
          <p:cNvSpPr/>
          <p:nvPr/>
        </p:nvSpPr>
        <p:spPr>
          <a:xfrm>
            <a:off x="3151022" y="4371137"/>
            <a:ext cx="96926" cy="96926"/>
          </a:xfrm>
          <a:prstGeom prst="ellipse">
            <a:avLst/>
          </a:prstGeom>
          <a:solidFill>
            <a:srgbClr val="176493"/>
          </a:solidFill>
          <a:ln w="5080">
            <a:solidFill>
              <a:srgbClr val="176493"/>
            </a:solidFill>
            <a:prstDash val="solid"/>
          </a:ln>
        </p:spPr>
      </p:sp>
      <p:sp>
        <p:nvSpPr>
          <p:cNvPr id="104" name="Shape 102"/>
          <p:cNvSpPr/>
          <p:nvPr/>
        </p:nvSpPr>
        <p:spPr>
          <a:xfrm>
            <a:off x="3220415" y="4371137"/>
            <a:ext cx="96926" cy="96926"/>
          </a:xfrm>
          <a:prstGeom prst="ellipse">
            <a:avLst/>
          </a:prstGeom>
          <a:solidFill>
            <a:srgbClr val="176493"/>
          </a:solidFill>
          <a:ln w="5080">
            <a:solidFill>
              <a:srgbClr val="176493"/>
            </a:solidFill>
            <a:prstDash val="solid"/>
          </a:ln>
        </p:spPr>
      </p:sp>
      <p:sp>
        <p:nvSpPr>
          <p:cNvPr id="105" name="Shape 103"/>
          <p:cNvSpPr/>
          <p:nvPr/>
        </p:nvSpPr>
        <p:spPr>
          <a:xfrm>
            <a:off x="1971345" y="4496105"/>
            <a:ext cx="96926" cy="96926"/>
          </a:xfrm>
          <a:prstGeom prst="ellipse">
            <a:avLst/>
          </a:prstGeom>
          <a:solidFill>
            <a:srgbClr val="176493"/>
          </a:solidFill>
          <a:ln w="5080">
            <a:solidFill>
              <a:srgbClr val="176493"/>
            </a:solidFill>
            <a:prstDash val="solid"/>
          </a:ln>
        </p:spPr>
      </p:sp>
      <p:sp>
        <p:nvSpPr>
          <p:cNvPr id="106" name="Shape 104"/>
          <p:cNvSpPr/>
          <p:nvPr/>
        </p:nvSpPr>
        <p:spPr>
          <a:xfrm>
            <a:off x="3220415" y="4371137"/>
            <a:ext cx="96926" cy="96926"/>
          </a:xfrm>
          <a:prstGeom prst="ellipse">
            <a:avLst/>
          </a:prstGeom>
          <a:solidFill>
            <a:srgbClr val="176493"/>
          </a:solidFill>
          <a:ln w="5080">
            <a:solidFill>
              <a:srgbClr val="176493"/>
            </a:solidFill>
            <a:prstDash val="solid"/>
          </a:ln>
        </p:spPr>
      </p:sp>
      <p:sp>
        <p:nvSpPr>
          <p:cNvPr id="107" name="Shape 105"/>
          <p:cNvSpPr/>
          <p:nvPr/>
        </p:nvSpPr>
        <p:spPr>
          <a:xfrm>
            <a:off x="2595880" y="4621073"/>
            <a:ext cx="96926" cy="96926"/>
          </a:xfrm>
          <a:prstGeom prst="ellipse">
            <a:avLst/>
          </a:prstGeom>
          <a:solidFill>
            <a:srgbClr val="176493"/>
          </a:solidFill>
          <a:ln w="5080">
            <a:solidFill>
              <a:srgbClr val="176493"/>
            </a:solidFill>
            <a:prstDash val="solid"/>
          </a:ln>
        </p:spPr>
      </p:sp>
      <p:sp>
        <p:nvSpPr>
          <p:cNvPr id="108" name="Shape 106"/>
          <p:cNvSpPr/>
          <p:nvPr/>
        </p:nvSpPr>
        <p:spPr>
          <a:xfrm>
            <a:off x="2942844" y="4496105"/>
            <a:ext cx="96926" cy="96926"/>
          </a:xfrm>
          <a:prstGeom prst="ellipse">
            <a:avLst/>
          </a:prstGeom>
          <a:solidFill>
            <a:srgbClr val="176493"/>
          </a:solidFill>
          <a:ln w="5080">
            <a:solidFill>
              <a:srgbClr val="176493"/>
            </a:solidFill>
            <a:prstDash val="solid"/>
          </a:ln>
        </p:spPr>
      </p:sp>
      <p:sp>
        <p:nvSpPr>
          <p:cNvPr id="109" name="Shape 107"/>
          <p:cNvSpPr/>
          <p:nvPr/>
        </p:nvSpPr>
        <p:spPr>
          <a:xfrm>
            <a:off x="2110130" y="4496105"/>
            <a:ext cx="96926" cy="96926"/>
          </a:xfrm>
          <a:prstGeom prst="ellipse">
            <a:avLst/>
          </a:prstGeom>
          <a:solidFill>
            <a:srgbClr val="176493"/>
          </a:solidFill>
          <a:ln w="5080">
            <a:solidFill>
              <a:srgbClr val="176493"/>
            </a:solidFill>
            <a:prstDash val="solid"/>
          </a:ln>
        </p:spPr>
      </p:sp>
      <p:sp>
        <p:nvSpPr>
          <p:cNvPr id="110" name="Shape 108"/>
          <p:cNvSpPr/>
          <p:nvPr/>
        </p:nvSpPr>
        <p:spPr>
          <a:xfrm>
            <a:off x="2665273" y="4746041"/>
            <a:ext cx="96926" cy="96926"/>
          </a:xfrm>
          <a:prstGeom prst="ellipse">
            <a:avLst/>
          </a:prstGeom>
          <a:solidFill>
            <a:srgbClr val="176493"/>
          </a:solidFill>
          <a:ln w="5080">
            <a:solidFill>
              <a:srgbClr val="176493"/>
            </a:solidFill>
            <a:prstDash val="solid"/>
          </a:ln>
        </p:spPr>
      </p:sp>
      <p:sp>
        <p:nvSpPr>
          <p:cNvPr id="111" name="Shape 109"/>
          <p:cNvSpPr/>
          <p:nvPr/>
        </p:nvSpPr>
        <p:spPr>
          <a:xfrm>
            <a:off x="1693774" y="4746041"/>
            <a:ext cx="96926" cy="96926"/>
          </a:xfrm>
          <a:prstGeom prst="ellipse">
            <a:avLst/>
          </a:prstGeom>
          <a:solidFill>
            <a:srgbClr val="176493"/>
          </a:solidFill>
          <a:ln w="5080">
            <a:solidFill>
              <a:srgbClr val="176493"/>
            </a:solidFill>
            <a:prstDash val="solid"/>
          </a:ln>
        </p:spPr>
      </p:sp>
      <p:sp>
        <p:nvSpPr>
          <p:cNvPr id="112" name="Shape 110"/>
          <p:cNvSpPr/>
          <p:nvPr/>
        </p:nvSpPr>
        <p:spPr>
          <a:xfrm>
            <a:off x="2734666" y="4621073"/>
            <a:ext cx="96926" cy="96926"/>
          </a:xfrm>
          <a:prstGeom prst="ellipse">
            <a:avLst/>
          </a:prstGeom>
          <a:solidFill>
            <a:srgbClr val="176493"/>
          </a:solidFill>
          <a:ln w="5080">
            <a:solidFill>
              <a:srgbClr val="176493"/>
            </a:solidFill>
            <a:prstDash val="solid"/>
          </a:ln>
        </p:spPr>
      </p:sp>
      <p:sp>
        <p:nvSpPr>
          <p:cNvPr id="113" name="Shape 111"/>
          <p:cNvSpPr/>
          <p:nvPr/>
        </p:nvSpPr>
        <p:spPr>
          <a:xfrm>
            <a:off x="1901952" y="4496105"/>
            <a:ext cx="96926" cy="96926"/>
          </a:xfrm>
          <a:prstGeom prst="ellipse">
            <a:avLst/>
          </a:prstGeom>
          <a:solidFill>
            <a:srgbClr val="176493"/>
          </a:solidFill>
          <a:ln w="5080">
            <a:solidFill>
              <a:srgbClr val="176493"/>
            </a:solidFill>
            <a:prstDash val="solid"/>
          </a:ln>
        </p:spPr>
      </p:sp>
      <p:sp>
        <p:nvSpPr>
          <p:cNvPr id="114" name="Shape 112"/>
          <p:cNvSpPr/>
          <p:nvPr/>
        </p:nvSpPr>
        <p:spPr>
          <a:xfrm>
            <a:off x="2248916" y="4371137"/>
            <a:ext cx="96926" cy="96926"/>
          </a:xfrm>
          <a:prstGeom prst="ellipse">
            <a:avLst/>
          </a:prstGeom>
          <a:solidFill>
            <a:srgbClr val="176493"/>
          </a:solidFill>
          <a:ln w="5080">
            <a:solidFill>
              <a:srgbClr val="176493"/>
            </a:solidFill>
            <a:prstDash val="solid"/>
          </a:ln>
        </p:spPr>
      </p:sp>
      <p:sp>
        <p:nvSpPr>
          <p:cNvPr id="115" name="Shape 113"/>
          <p:cNvSpPr/>
          <p:nvPr/>
        </p:nvSpPr>
        <p:spPr>
          <a:xfrm>
            <a:off x="1910080" y="4434840"/>
            <a:ext cx="219456" cy="219456"/>
          </a:xfrm>
          <a:prstGeom prst="ellipse">
            <a:avLst/>
          </a:prstGeom>
          <a:solidFill>
            <a:srgbClr val="FFFFFF"/>
          </a:solidFill>
          <a:ln w="19050">
            <a:solidFill>
              <a:srgbClr val="167C85"/>
            </a:solidFill>
            <a:prstDash val="solid"/>
          </a:ln>
        </p:spPr>
      </p:sp>
      <p:sp>
        <p:nvSpPr>
          <p:cNvPr id="116" name="Shape 114"/>
          <p:cNvSpPr/>
          <p:nvPr/>
        </p:nvSpPr>
        <p:spPr>
          <a:xfrm flipV="1">
            <a:off x="2111248" y="3904488"/>
            <a:ext cx="932688" cy="594360"/>
          </a:xfrm>
          <a:prstGeom prst="line">
            <a:avLst/>
          </a:prstGeom>
          <a:noFill/>
          <a:ln w="12700">
            <a:solidFill>
              <a:srgbClr val="167C85"/>
            </a:solidFill>
            <a:prstDash val="solid"/>
            <a:headEnd type="none"/>
            <a:tailEnd type="none"/>
          </a:ln>
        </p:spPr>
      </p:sp>
      <p:sp>
        <p:nvSpPr>
          <p:cNvPr id="117" name="Text 115"/>
          <p:cNvSpPr/>
          <p:nvPr/>
        </p:nvSpPr>
        <p:spPr>
          <a:xfrm>
            <a:off x="3080512" y="3767328"/>
            <a:ext cx="1005840" cy="256032"/>
          </a:xfrm>
          <a:prstGeom prst="rect">
            <a:avLst/>
          </a:prstGeom>
          <a:noFill/>
          <a:ln/>
        </p:spPr>
        <p:txBody>
          <a:bodyPr wrap="square" lIns="0" tIns="0" rIns="0" bIns="0" rtlCol="0" anchor="ctr"/>
          <a:lstStyle/>
          <a:p>
            <a:pPr algn="l" indent="0" marL="0">
              <a:buNone/>
            </a:pPr>
            <a:r>
              <a:rPr lang="en-US" sz="1700" b="1" dirty="0">
                <a:solidFill>
                  <a:srgbClr val="167C85"/>
                </a:solidFill>
                <a:latin typeface="Aptos" pitchFamily="34" charset="0"/>
                <a:ea typeface="Aptos" pitchFamily="34" charset="-122"/>
                <a:cs typeface="Aptos" pitchFamily="34" charset="-120"/>
              </a:rPr>
              <a:t>A001</a:t>
            </a:r>
            <a:endParaRPr lang="en-US" sz="1700" dirty="0"/>
          </a:p>
        </p:txBody>
      </p:sp>
      <p:sp>
        <p:nvSpPr>
          <p:cNvPr id="118" name="Text 116"/>
          <p:cNvSpPr/>
          <p:nvPr/>
        </p:nvSpPr>
        <p:spPr>
          <a:xfrm>
            <a:off x="8229600" y="2523744"/>
            <a:ext cx="2999232" cy="960120"/>
          </a:xfrm>
          <a:prstGeom prst="rect">
            <a:avLst/>
          </a:prstGeom>
          <a:noFill/>
          <a:ln/>
        </p:spPr>
        <p:txBody>
          <a:bodyPr wrap="square" lIns="0" tIns="0" rIns="0" bIns="0" rtlCol="0" anchor="ctr"/>
          <a:lstStyle/>
          <a:p>
            <a:pPr algn="l" indent="0" marL="0">
              <a:buNone/>
            </a:pPr>
            <a:r>
              <a:rPr lang="en-US" sz="3000" b="1" dirty="0">
                <a:solidFill>
                  <a:srgbClr val="172233"/>
                </a:solidFill>
                <a:latin typeface="Aptos" pitchFamily="34" charset="0"/>
                <a:ea typeface="Aptos" pitchFamily="34" charset="-122"/>
                <a:cs typeface="Aptos" pitchFamily="34" charset="-120"/>
              </a:rPr>
              <a:t>10 days</a:t>
            </a:r>
            <a:endParaRPr lang="en-US" sz="3000" dirty="0"/>
          </a:p>
          <a:p>
            <a:pPr algn="l" indent="0" marL="0">
              <a:buNone/>
            </a:pPr>
            <a:r>
              <a:rPr lang="en-US" sz="3000" b="1" dirty="0">
                <a:solidFill>
                  <a:srgbClr val="172233"/>
                </a:solidFill>
                <a:latin typeface="Aptos" pitchFamily="34" charset="0"/>
                <a:ea typeface="Aptos" pitchFamily="34" charset="-122"/>
                <a:cs typeface="Aptos" pitchFamily="34" charset="-120"/>
              </a:rPr>
              <a:t>3 orders</a:t>
            </a:r>
            <a:endParaRPr lang="en-US" sz="3000" dirty="0"/>
          </a:p>
        </p:txBody>
      </p:sp>
      <p:sp>
        <p:nvSpPr>
          <p:cNvPr id="119" name="Text 117"/>
          <p:cNvSpPr/>
          <p:nvPr/>
        </p:nvSpPr>
        <p:spPr>
          <a:xfrm>
            <a:off x="8247888" y="3867912"/>
            <a:ext cx="2999232" cy="1005840"/>
          </a:xfrm>
          <a:prstGeom prst="rect">
            <a:avLst/>
          </a:prstGeom>
          <a:noFill/>
          <a:ln/>
        </p:spPr>
        <p:txBody>
          <a:bodyPr wrap="square" lIns="0" tIns="0" rIns="0" bIns="0" rtlCol="0" anchor="ctr"/>
          <a:lstStyle/>
          <a:p>
            <a:pPr algn="l" indent="0" marL="0">
              <a:buNone/>
            </a:pPr>
            <a:r>
              <a:rPr lang="en-US" sz="2200" dirty="0">
                <a:solidFill>
                  <a:srgbClr val="53657A"/>
                </a:solidFill>
                <a:latin typeface="Aptos" pitchFamily="34" charset="0"/>
                <a:ea typeface="Aptos" pitchFamily="34" charset="-122"/>
                <a:cs typeface="Aptos" pitchFamily="34" charset="-120"/>
              </a:rPr>
              <a:t>A recent purchase</a:t>
            </a:r>
            <a:endParaRPr lang="en-US" sz="2200" dirty="0"/>
          </a:p>
          <a:p>
            <a:pPr algn="l" indent="0" marL="0">
              <a:buNone/>
            </a:pPr>
            <a:r>
              <a:rPr lang="en-US" sz="2200" dirty="0">
                <a:solidFill>
                  <a:srgbClr val="53657A"/>
                </a:solidFill>
                <a:latin typeface="Aptos" pitchFamily="34" charset="0"/>
                <a:ea typeface="Aptos" pitchFamily="34" charset="-122"/>
                <a:cs typeface="Aptos" pitchFamily="34" charset="-120"/>
              </a:rPr>
              <a:t>with few orders</a:t>
            </a:r>
            <a:endParaRPr lang="en-US" sz="2200" dirty="0"/>
          </a:p>
          <a:p>
            <a:pPr algn="l" indent="0" marL="0">
              <a:buNone/>
            </a:pPr>
            <a:r>
              <a:rPr lang="en-US" sz="2200" dirty="0">
                <a:solidFill>
                  <a:srgbClr val="53657A"/>
                </a:solidFill>
                <a:latin typeface="Aptos" pitchFamily="34" charset="0"/>
                <a:ea typeface="Aptos" pitchFamily="34" charset="-122"/>
                <a:cs typeface="Aptos" pitchFamily="34" charset="-120"/>
              </a:rPr>
              <a:t>in this window.</a:t>
            </a:r>
            <a:endParaRPr lang="en-US" sz="2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0" y="0"/>
            <a:ext cx="12192000" cy="402336"/>
          </a:xfrm>
          <a:prstGeom prst="rect">
            <a:avLst/>
          </a:prstGeom>
          <a:solidFill>
            <a:srgbClr val="E7EEF7"/>
          </a:solidFill>
          <a:ln w="12700">
            <a:solidFill>
              <a:srgbClr val="E7EEF7">
                <a:alpha val="0"/>
              </a:srgbClr>
            </a:solidFill>
            <a:prstDash val="solid"/>
          </a:ln>
        </p:spPr>
      </p:sp>
      <p:sp>
        <p:nvSpPr>
          <p:cNvPr id="3" name="Shape 1"/>
          <p:cNvSpPr/>
          <p:nvPr/>
        </p:nvSpPr>
        <p:spPr>
          <a:xfrm>
            <a:off x="466344" y="123444"/>
            <a:ext cx="64008" cy="146304"/>
          </a:xfrm>
          <a:prstGeom prst="rect">
            <a:avLst/>
          </a:prstGeom>
          <a:solidFill>
            <a:srgbClr val="176493"/>
          </a:solidFill>
          <a:ln w="12700">
            <a:solidFill>
              <a:srgbClr val="176493">
                <a:alpha val="0"/>
              </a:srgbClr>
            </a:solidFill>
            <a:prstDash val="solid"/>
          </a:ln>
        </p:spPr>
      </p:sp>
      <p:sp>
        <p:nvSpPr>
          <p:cNvPr id="4" name="Text 2"/>
          <p:cNvSpPr/>
          <p:nvPr/>
        </p:nvSpPr>
        <p:spPr>
          <a:xfrm>
            <a:off x="594360" y="100584"/>
            <a:ext cx="731520" cy="201168"/>
          </a:xfrm>
          <a:prstGeom prst="rect">
            <a:avLst/>
          </a:prstGeom>
          <a:noFill/>
          <a:ln/>
        </p:spPr>
        <p:txBody>
          <a:bodyPr wrap="square" lIns="0" tIns="0" rIns="0" bIns="0" rtlCol="0" anchor="ctr"/>
          <a:lstStyle/>
          <a:p>
            <a:pPr algn="l" indent="0" marL="0">
              <a:buNone/>
            </a:pPr>
            <a:r>
              <a:rPr lang="en-US" sz="1100" b="1" dirty="0">
                <a:solidFill>
                  <a:srgbClr val="176493"/>
                </a:solidFill>
                <a:latin typeface="Aptos" pitchFamily="34" charset="0"/>
                <a:ea typeface="Aptos" pitchFamily="34" charset="-122"/>
                <a:cs typeface="Aptos" pitchFamily="34" charset="-120"/>
              </a:rPr>
              <a:t>DS101</a:t>
            </a:r>
            <a:endParaRPr lang="en-US" sz="1100" dirty="0"/>
          </a:p>
        </p:txBody>
      </p:sp>
      <p:sp>
        <p:nvSpPr>
          <p:cNvPr id="5" name="Text 3"/>
          <p:cNvSpPr/>
          <p:nvPr/>
        </p:nvSpPr>
        <p:spPr>
          <a:xfrm>
            <a:off x="1463040" y="100584"/>
            <a:ext cx="1828800" cy="201168"/>
          </a:xfrm>
          <a:prstGeom prst="rect">
            <a:avLst/>
          </a:prstGeom>
          <a:noFill/>
          <a:ln/>
        </p:spPr>
        <p:txBody>
          <a:bodyPr wrap="square" lIns="0" tIns="0" rIns="0" bIns="0" rtlCol="0" anchor="ctr"/>
          <a:lstStyle/>
          <a:p>
            <a:pPr algn="l" indent="0" marL="0">
              <a:buNone/>
            </a:pPr>
            <a:r>
              <a:rPr lang="en-US" sz="1000" dirty="0">
                <a:solidFill>
                  <a:srgbClr val="53657A"/>
                </a:solidFill>
                <a:latin typeface="Aptos" pitchFamily="34" charset="0"/>
                <a:ea typeface="Aptos" pitchFamily="34" charset="-122"/>
                <a:cs typeface="Aptos" pitchFamily="34" charset="-120"/>
              </a:rPr>
              <a:t>LECTURE 02</a:t>
            </a:r>
            <a:endParaRPr lang="en-US" sz="1000" dirty="0"/>
          </a:p>
        </p:txBody>
      </p:sp>
      <p:sp>
        <p:nvSpPr>
          <p:cNvPr id="6" name="Text 4"/>
          <p:cNvSpPr/>
          <p:nvPr/>
        </p:nvSpPr>
        <p:spPr>
          <a:xfrm>
            <a:off x="8321040" y="100584"/>
            <a:ext cx="3264408" cy="201168"/>
          </a:xfrm>
          <a:prstGeom prst="rect">
            <a:avLst/>
          </a:prstGeom>
          <a:noFill/>
          <a:ln/>
        </p:spPr>
        <p:txBody>
          <a:bodyPr wrap="square" lIns="0" tIns="0" rIns="0" bIns="0" rtlCol="0" anchor="ctr"/>
          <a:lstStyle/>
          <a:p>
            <a:pPr algn="r" indent="0" marL="0">
              <a:buNone/>
            </a:pPr>
            <a:r>
              <a:rPr lang="en-US" sz="1000" dirty="0">
                <a:solidFill>
                  <a:srgbClr val="53657A"/>
                </a:solidFill>
                <a:latin typeface="Aptos" pitchFamily="34" charset="0"/>
                <a:ea typeface="Aptos" pitchFamily="34" charset="-122"/>
                <a:cs typeface="Aptos" pitchFamily="34" charset="-120"/>
              </a:rPr>
              <a:t>EXPLORATORY ANALYSIS</a:t>
            </a:r>
            <a:endParaRPr lang="en-US" sz="1000" dirty="0"/>
          </a:p>
        </p:txBody>
      </p:sp>
      <p:sp>
        <p:nvSpPr>
          <p:cNvPr id="7" name="Text 5"/>
          <p:cNvSpPr/>
          <p:nvPr/>
        </p:nvSpPr>
        <p:spPr>
          <a:xfrm>
            <a:off x="594360" y="758952"/>
            <a:ext cx="11000232" cy="658368"/>
          </a:xfrm>
          <a:prstGeom prst="rect">
            <a:avLst/>
          </a:prstGeom>
          <a:noFill/>
          <a:ln/>
        </p:spPr>
        <p:txBody>
          <a:bodyPr wrap="square" lIns="0" tIns="0" rIns="0" bIns="0" rtlCol="0" anchor="ctr"/>
          <a:lstStyle/>
          <a:p>
            <a:pPr algn="l" indent="0" marL="0">
              <a:buNone/>
            </a:pPr>
            <a:r>
              <a:rPr lang="en-US" sz="3000" b="1" dirty="0">
                <a:solidFill>
                  <a:srgbClr val="172233"/>
                </a:solidFill>
                <a:latin typeface="Aptos" pitchFamily="34" charset="0"/>
                <a:ea typeface="Aptos" pitchFamily="34" charset="-122"/>
                <a:cs typeface="Aptos" pitchFamily="34" charset="-120"/>
              </a:rPr>
              <a:t>Three views, three different questions</a:t>
            </a:r>
            <a:endParaRPr lang="en-US" sz="3000" dirty="0"/>
          </a:p>
        </p:txBody>
      </p:sp>
      <p:sp>
        <p:nvSpPr>
          <p:cNvPr id="8" name="Text 6"/>
          <p:cNvSpPr/>
          <p:nvPr/>
        </p:nvSpPr>
        <p:spPr>
          <a:xfrm>
            <a:off x="594360" y="6510528"/>
            <a:ext cx="3657600" cy="164592"/>
          </a:xfrm>
          <a:prstGeom prst="rect">
            <a:avLst/>
          </a:prstGeom>
          <a:noFill/>
          <a:ln/>
        </p:spPr>
        <p:txBody>
          <a:bodyPr wrap="square" lIns="0" tIns="0" rIns="0" bIns="0" rtlCol="0" anchor="ctr"/>
          <a:lstStyle/>
          <a:p>
            <a:pPr algn="l" indent="0" marL="0">
              <a:buNone/>
            </a:pPr>
            <a:r>
              <a:rPr lang="en-US" sz="900" dirty="0">
                <a:solidFill>
                  <a:srgbClr val="53657A"/>
                </a:solidFill>
                <a:latin typeface="Aptos" pitchFamily="34" charset="0"/>
                <a:ea typeface="Aptos" pitchFamily="34" charset="-122"/>
                <a:cs typeface="Aptos" pitchFamily="34" charset="-120"/>
              </a:rPr>
              <a:t>DS101 | 2026-2027</a:t>
            </a:r>
            <a:endParaRPr lang="en-US" sz="900" dirty="0"/>
          </a:p>
        </p:txBody>
      </p:sp>
      <p:sp>
        <p:nvSpPr>
          <p:cNvPr id="9" name="Text 7"/>
          <p:cNvSpPr/>
          <p:nvPr/>
        </p:nvSpPr>
        <p:spPr>
          <a:xfrm>
            <a:off x="10680192" y="6492240"/>
            <a:ext cx="914400" cy="201168"/>
          </a:xfrm>
          <a:prstGeom prst="rect">
            <a:avLst/>
          </a:prstGeom>
          <a:noFill/>
          <a:ln/>
        </p:spPr>
        <p:txBody>
          <a:bodyPr wrap="square" lIns="0" tIns="0" rIns="0" bIns="0" rtlCol="0" anchor="ctr"/>
          <a:lstStyle/>
          <a:p>
            <a:pPr algn="r" indent="0" marL="0">
              <a:buNone/>
            </a:pPr>
            <a:r>
              <a:rPr lang="en-US" sz="1000" dirty="0">
                <a:solidFill>
                  <a:srgbClr val="53657A"/>
                </a:solidFill>
                <a:latin typeface="Aptos" pitchFamily="34" charset="0"/>
                <a:ea typeface="Aptos" pitchFamily="34" charset="-122"/>
                <a:cs typeface="Aptos" pitchFamily="34" charset="-120"/>
              </a:rPr>
              <a:t>10 / 24</a:t>
            </a:r>
            <a:endParaRPr lang="en-US" sz="1000" dirty="0"/>
          </a:p>
        </p:txBody>
      </p:sp>
      <p:sp>
        <p:nvSpPr>
          <p:cNvPr id="10" name="Shape 8"/>
          <p:cNvSpPr/>
          <p:nvPr/>
        </p:nvSpPr>
        <p:spPr>
          <a:xfrm>
            <a:off x="594360" y="5852160"/>
            <a:ext cx="11000232" cy="438912"/>
          </a:xfrm>
          <a:prstGeom prst="rect">
            <a:avLst/>
          </a:prstGeom>
          <a:solidFill>
            <a:srgbClr val="E3EFF7"/>
          </a:solidFill>
          <a:ln w="12700">
            <a:solidFill>
              <a:srgbClr val="E3EFF7">
                <a:alpha val="0"/>
              </a:srgbClr>
            </a:solidFill>
            <a:prstDash val="solid"/>
          </a:ln>
        </p:spPr>
      </p:sp>
      <p:sp>
        <p:nvSpPr>
          <p:cNvPr id="11" name="Text 9"/>
          <p:cNvSpPr/>
          <p:nvPr/>
        </p:nvSpPr>
        <p:spPr>
          <a:xfrm>
            <a:off x="795528" y="5943600"/>
            <a:ext cx="10607040" cy="256032"/>
          </a:xfrm>
          <a:prstGeom prst="rect">
            <a:avLst/>
          </a:prstGeom>
          <a:noFill/>
          <a:ln/>
        </p:spPr>
        <p:txBody>
          <a:bodyPr wrap="square" lIns="0" tIns="0" rIns="0" bIns="0" rtlCol="0" anchor="ctr"/>
          <a:lstStyle/>
          <a:p>
            <a:pPr algn="l" indent="0" marL="0">
              <a:buNone/>
            </a:pPr>
            <a:r>
              <a:rPr lang="en-US" sz="1700" b="1" dirty="0">
                <a:solidFill>
                  <a:srgbClr val="176493"/>
                </a:solidFill>
                <a:latin typeface="Aptos" pitchFamily="34" charset="0"/>
                <a:ea typeface="Aptos" pitchFamily="34" charset="-122"/>
                <a:cs typeface="Aptos" pitchFamily="34" charset="-120"/>
              </a:rPr>
              <a:t>Pairwise plots can reveal different structure in the same accounts.</a:t>
            </a:r>
            <a:endParaRPr lang="en-US" sz="1700" dirty="0"/>
          </a:p>
        </p:txBody>
      </p:sp>
      <p:sp>
        <p:nvSpPr>
          <p:cNvPr id="12" name="Text 10"/>
          <p:cNvSpPr/>
          <p:nvPr/>
        </p:nvSpPr>
        <p:spPr>
          <a:xfrm>
            <a:off x="749808" y="1636776"/>
            <a:ext cx="10607040" cy="219456"/>
          </a:xfrm>
          <a:prstGeom prst="rect">
            <a:avLst/>
          </a:prstGeom>
          <a:noFill/>
          <a:ln/>
        </p:spPr>
        <p:txBody>
          <a:bodyPr wrap="square" lIns="0" tIns="0" rIns="0" bIns="0" rtlCol="0" anchor="ctr"/>
          <a:lstStyle/>
          <a:p>
            <a:pPr algn="l" indent="0" marL="0">
              <a:buNone/>
            </a:pPr>
            <a:r>
              <a:rPr lang="en-US" sz="1150" b="1" spc="50" kern="0" dirty="0">
                <a:solidFill>
                  <a:srgbClr val="176493"/>
                </a:solidFill>
                <a:latin typeface="Aptos" pitchFamily="34" charset="0"/>
                <a:ea typeface="Aptos" pitchFamily="34" charset="-122"/>
                <a:cs typeface="Aptos" pitchFamily="34" charset="-120"/>
              </a:rPr>
              <a:t>SAME 84 ILLUSTRATIVE ACCOUNTS IN EVERY PANEL</a:t>
            </a:r>
            <a:endParaRPr lang="en-US" sz="1150" dirty="0"/>
          </a:p>
        </p:txBody>
      </p:sp>
      <p:sp>
        <p:nvSpPr>
          <p:cNvPr id="13" name="Shape 11"/>
          <p:cNvSpPr/>
          <p:nvPr/>
        </p:nvSpPr>
        <p:spPr>
          <a:xfrm>
            <a:off x="694944" y="2066544"/>
            <a:ext cx="3474720" cy="3410712"/>
          </a:xfrm>
          <a:prstGeom prst="rect">
            <a:avLst/>
          </a:prstGeom>
          <a:solidFill>
            <a:srgbClr val="FFFFFF"/>
          </a:solidFill>
          <a:ln w="12700">
            <a:solidFill>
              <a:srgbClr val="FFFFFF">
                <a:alpha val="0"/>
              </a:srgbClr>
            </a:solidFill>
            <a:prstDash val="solid"/>
          </a:ln>
        </p:spPr>
      </p:sp>
      <p:sp>
        <p:nvSpPr>
          <p:cNvPr id="14" name="Shape 12"/>
          <p:cNvSpPr/>
          <p:nvPr/>
        </p:nvSpPr>
        <p:spPr>
          <a:xfrm>
            <a:off x="1271016" y="4745736"/>
            <a:ext cx="2679192" cy="0"/>
          </a:xfrm>
          <a:prstGeom prst="line">
            <a:avLst/>
          </a:prstGeom>
          <a:noFill/>
          <a:ln w="8255">
            <a:solidFill>
              <a:srgbClr val="E3EFF7"/>
            </a:solidFill>
            <a:prstDash val="solid"/>
            <a:headEnd type="none"/>
            <a:tailEnd type="none"/>
          </a:ln>
        </p:spPr>
      </p:sp>
      <p:sp>
        <p:nvSpPr>
          <p:cNvPr id="15" name="Text 13"/>
          <p:cNvSpPr/>
          <p:nvPr/>
        </p:nvSpPr>
        <p:spPr>
          <a:xfrm>
            <a:off x="713232" y="4636008"/>
            <a:ext cx="475488" cy="201168"/>
          </a:xfrm>
          <a:prstGeom prst="rect">
            <a:avLst/>
          </a:prstGeom>
          <a:noFill/>
          <a:ln/>
        </p:spPr>
        <p:txBody>
          <a:bodyPr wrap="square" lIns="0" tIns="0" rIns="0" bIns="0" rtlCol="0" anchor="ctr"/>
          <a:lstStyle/>
          <a:p>
            <a:pPr algn="r" indent="0" marL="0">
              <a:buNone/>
            </a:pPr>
            <a:r>
              <a:rPr lang="en-US" sz="1300" dirty="0">
                <a:solidFill>
                  <a:srgbClr val="53657A"/>
                </a:solidFill>
                <a:latin typeface="Aptos" pitchFamily="34" charset="0"/>
                <a:ea typeface="Aptos" pitchFamily="34" charset="-122"/>
                <a:cs typeface="Aptos" pitchFamily="34" charset="-120"/>
              </a:rPr>
              <a:t>0</a:t>
            </a:r>
            <a:endParaRPr lang="en-US" sz="1300" dirty="0"/>
          </a:p>
        </p:txBody>
      </p:sp>
      <p:sp>
        <p:nvSpPr>
          <p:cNvPr id="16" name="Shape 14"/>
          <p:cNvSpPr/>
          <p:nvPr/>
        </p:nvSpPr>
        <p:spPr>
          <a:xfrm>
            <a:off x="1271016" y="3735324"/>
            <a:ext cx="2679192" cy="0"/>
          </a:xfrm>
          <a:prstGeom prst="line">
            <a:avLst/>
          </a:prstGeom>
          <a:noFill/>
          <a:ln w="8255">
            <a:solidFill>
              <a:srgbClr val="E3EFF7"/>
            </a:solidFill>
            <a:prstDash val="solid"/>
            <a:headEnd type="none"/>
            <a:tailEnd type="none"/>
          </a:ln>
        </p:spPr>
      </p:sp>
      <p:sp>
        <p:nvSpPr>
          <p:cNvPr id="17" name="Text 15"/>
          <p:cNvSpPr/>
          <p:nvPr/>
        </p:nvSpPr>
        <p:spPr>
          <a:xfrm>
            <a:off x="713232" y="3625596"/>
            <a:ext cx="475488" cy="201168"/>
          </a:xfrm>
          <a:prstGeom prst="rect">
            <a:avLst/>
          </a:prstGeom>
          <a:noFill/>
          <a:ln/>
        </p:spPr>
        <p:txBody>
          <a:bodyPr wrap="square" lIns="0" tIns="0" rIns="0" bIns="0" rtlCol="0" anchor="ctr"/>
          <a:lstStyle/>
          <a:p>
            <a:pPr algn="r" indent="0" marL="0">
              <a:buNone/>
            </a:pPr>
            <a:r>
              <a:rPr lang="en-US" sz="1300" dirty="0">
                <a:solidFill>
                  <a:srgbClr val="53657A"/>
                </a:solidFill>
                <a:latin typeface="Aptos" pitchFamily="34" charset="0"/>
                <a:ea typeface="Aptos" pitchFamily="34" charset="-122"/>
                <a:cs typeface="Aptos" pitchFamily="34" charset="-120"/>
              </a:rPr>
              <a:t>9</a:t>
            </a:r>
            <a:endParaRPr lang="en-US" sz="1300" dirty="0"/>
          </a:p>
        </p:txBody>
      </p:sp>
      <p:sp>
        <p:nvSpPr>
          <p:cNvPr id="18" name="Shape 16"/>
          <p:cNvSpPr/>
          <p:nvPr/>
        </p:nvSpPr>
        <p:spPr>
          <a:xfrm>
            <a:off x="1271016" y="2724912"/>
            <a:ext cx="2679192" cy="0"/>
          </a:xfrm>
          <a:prstGeom prst="line">
            <a:avLst/>
          </a:prstGeom>
          <a:noFill/>
          <a:ln w="8255">
            <a:solidFill>
              <a:srgbClr val="E3EFF7"/>
            </a:solidFill>
            <a:prstDash val="solid"/>
            <a:headEnd type="none"/>
            <a:tailEnd type="none"/>
          </a:ln>
        </p:spPr>
      </p:sp>
      <p:sp>
        <p:nvSpPr>
          <p:cNvPr id="19" name="Text 17"/>
          <p:cNvSpPr/>
          <p:nvPr/>
        </p:nvSpPr>
        <p:spPr>
          <a:xfrm>
            <a:off x="713232" y="2615184"/>
            <a:ext cx="475488" cy="201168"/>
          </a:xfrm>
          <a:prstGeom prst="rect">
            <a:avLst/>
          </a:prstGeom>
          <a:noFill/>
          <a:ln/>
        </p:spPr>
        <p:txBody>
          <a:bodyPr wrap="square" lIns="0" tIns="0" rIns="0" bIns="0" rtlCol="0" anchor="ctr"/>
          <a:lstStyle/>
          <a:p>
            <a:pPr algn="r" indent="0" marL="0">
              <a:buNone/>
            </a:pPr>
            <a:r>
              <a:rPr lang="en-US" sz="1300" dirty="0">
                <a:solidFill>
                  <a:srgbClr val="53657A"/>
                </a:solidFill>
                <a:latin typeface="Aptos" pitchFamily="34" charset="0"/>
                <a:ea typeface="Aptos" pitchFamily="34" charset="-122"/>
                <a:cs typeface="Aptos" pitchFamily="34" charset="-120"/>
              </a:rPr>
              <a:t>18</a:t>
            </a:r>
            <a:endParaRPr lang="en-US" sz="1300" dirty="0"/>
          </a:p>
        </p:txBody>
      </p:sp>
      <p:sp>
        <p:nvSpPr>
          <p:cNvPr id="20" name="Text 18"/>
          <p:cNvSpPr/>
          <p:nvPr/>
        </p:nvSpPr>
        <p:spPr>
          <a:xfrm>
            <a:off x="996696" y="4864608"/>
            <a:ext cx="548640" cy="201168"/>
          </a:xfrm>
          <a:prstGeom prst="rect">
            <a:avLst/>
          </a:prstGeom>
          <a:noFill/>
          <a:ln/>
        </p:spPr>
        <p:txBody>
          <a:bodyPr wrap="square" lIns="0" tIns="0" rIns="0" bIns="0" rtlCol="0" anchor="ctr"/>
          <a:lstStyle/>
          <a:p>
            <a:pPr algn="ctr" indent="0" marL="0">
              <a:buNone/>
            </a:pPr>
            <a:r>
              <a:rPr lang="en-US" sz="1300" dirty="0">
                <a:solidFill>
                  <a:srgbClr val="53657A"/>
                </a:solidFill>
                <a:latin typeface="Aptos" pitchFamily="34" charset="0"/>
                <a:ea typeface="Aptos" pitchFamily="34" charset="-122"/>
                <a:cs typeface="Aptos" pitchFamily="34" charset="-120"/>
              </a:rPr>
              <a:t>0</a:t>
            </a:r>
            <a:endParaRPr lang="en-US" sz="1300" dirty="0"/>
          </a:p>
        </p:txBody>
      </p:sp>
      <p:sp>
        <p:nvSpPr>
          <p:cNvPr id="21" name="Text 19"/>
          <p:cNvSpPr/>
          <p:nvPr/>
        </p:nvSpPr>
        <p:spPr>
          <a:xfrm>
            <a:off x="2336292" y="4864608"/>
            <a:ext cx="548640" cy="201168"/>
          </a:xfrm>
          <a:prstGeom prst="rect">
            <a:avLst/>
          </a:prstGeom>
          <a:noFill/>
          <a:ln/>
        </p:spPr>
        <p:txBody>
          <a:bodyPr wrap="square" lIns="0" tIns="0" rIns="0" bIns="0" rtlCol="0" anchor="ctr"/>
          <a:lstStyle/>
          <a:p>
            <a:pPr algn="ctr" indent="0" marL="0">
              <a:buNone/>
            </a:pPr>
            <a:r>
              <a:rPr lang="en-US" sz="1300" dirty="0">
                <a:solidFill>
                  <a:srgbClr val="53657A"/>
                </a:solidFill>
                <a:latin typeface="Aptos" pitchFamily="34" charset="0"/>
                <a:ea typeface="Aptos" pitchFamily="34" charset="-122"/>
                <a:cs typeface="Aptos" pitchFamily="34" charset="-120"/>
              </a:rPr>
              <a:t>45</a:t>
            </a:r>
            <a:endParaRPr lang="en-US" sz="1300" dirty="0"/>
          </a:p>
        </p:txBody>
      </p:sp>
      <p:sp>
        <p:nvSpPr>
          <p:cNvPr id="22" name="Text 20"/>
          <p:cNvSpPr/>
          <p:nvPr/>
        </p:nvSpPr>
        <p:spPr>
          <a:xfrm>
            <a:off x="3675888" y="4864608"/>
            <a:ext cx="548640" cy="201168"/>
          </a:xfrm>
          <a:prstGeom prst="rect">
            <a:avLst/>
          </a:prstGeom>
          <a:noFill/>
          <a:ln/>
        </p:spPr>
        <p:txBody>
          <a:bodyPr wrap="square" lIns="0" tIns="0" rIns="0" bIns="0" rtlCol="0" anchor="ctr"/>
          <a:lstStyle/>
          <a:p>
            <a:pPr algn="ctr" indent="0" marL="0">
              <a:buNone/>
            </a:pPr>
            <a:r>
              <a:rPr lang="en-US" sz="1300" dirty="0">
                <a:solidFill>
                  <a:srgbClr val="53657A"/>
                </a:solidFill>
                <a:latin typeface="Aptos" pitchFamily="34" charset="0"/>
                <a:ea typeface="Aptos" pitchFamily="34" charset="-122"/>
                <a:cs typeface="Aptos" pitchFamily="34" charset="-120"/>
              </a:rPr>
              <a:t>90</a:t>
            </a:r>
            <a:endParaRPr lang="en-US" sz="1300" dirty="0"/>
          </a:p>
        </p:txBody>
      </p:sp>
      <p:sp>
        <p:nvSpPr>
          <p:cNvPr id="23" name="Shape 21"/>
          <p:cNvSpPr/>
          <p:nvPr/>
        </p:nvSpPr>
        <p:spPr>
          <a:xfrm>
            <a:off x="1271016" y="2724912"/>
            <a:ext cx="0" cy="2020824"/>
          </a:xfrm>
          <a:prstGeom prst="line">
            <a:avLst/>
          </a:prstGeom>
          <a:noFill/>
          <a:ln w="12700">
            <a:solidFill>
              <a:srgbClr val="C4D2E2"/>
            </a:solidFill>
            <a:prstDash val="solid"/>
            <a:headEnd type="none"/>
            <a:tailEnd type="none"/>
          </a:ln>
        </p:spPr>
      </p:sp>
      <p:sp>
        <p:nvSpPr>
          <p:cNvPr id="24" name="Shape 22"/>
          <p:cNvSpPr/>
          <p:nvPr/>
        </p:nvSpPr>
        <p:spPr>
          <a:xfrm>
            <a:off x="1271016" y="4745736"/>
            <a:ext cx="2679192" cy="0"/>
          </a:xfrm>
          <a:prstGeom prst="line">
            <a:avLst/>
          </a:prstGeom>
          <a:noFill/>
          <a:ln w="12700">
            <a:solidFill>
              <a:srgbClr val="C4D2E2"/>
            </a:solidFill>
            <a:prstDash val="solid"/>
            <a:headEnd type="none"/>
            <a:tailEnd type="none"/>
          </a:ln>
        </p:spPr>
      </p:sp>
      <p:sp>
        <p:nvSpPr>
          <p:cNvPr id="25" name="Text 23"/>
          <p:cNvSpPr/>
          <p:nvPr/>
        </p:nvSpPr>
        <p:spPr>
          <a:xfrm>
            <a:off x="850392" y="2176272"/>
            <a:ext cx="3163824" cy="265176"/>
          </a:xfrm>
          <a:prstGeom prst="rect">
            <a:avLst/>
          </a:prstGeom>
          <a:noFill/>
          <a:ln/>
        </p:spPr>
        <p:txBody>
          <a:bodyPr wrap="square" lIns="0" tIns="0" rIns="0" bIns="0" rtlCol="0" anchor="ctr"/>
          <a:lstStyle/>
          <a:p>
            <a:pPr algn="l" indent="0" marL="0">
              <a:buNone/>
            </a:pPr>
            <a:r>
              <a:rPr lang="en-US" sz="1600" b="1" dirty="0">
                <a:solidFill>
                  <a:srgbClr val="172233"/>
                </a:solidFill>
                <a:latin typeface="Aptos" pitchFamily="34" charset="0"/>
                <a:ea typeface="Aptos" pitchFamily="34" charset="-122"/>
                <a:cs typeface="Aptos" pitchFamily="34" charset="-120"/>
              </a:rPr>
              <a:t>How recently? How often?</a:t>
            </a:r>
            <a:endParaRPr lang="en-US" sz="1600" dirty="0"/>
          </a:p>
        </p:txBody>
      </p:sp>
      <p:sp>
        <p:nvSpPr>
          <p:cNvPr id="26" name="Text 24"/>
          <p:cNvSpPr/>
          <p:nvPr/>
        </p:nvSpPr>
        <p:spPr>
          <a:xfrm>
            <a:off x="1271016" y="2441448"/>
            <a:ext cx="2679192" cy="201168"/>
          </a:xfrm>
          <a:prstGeom prst="rect">
            <a:avLst/>
          </a:prstGeom>
          <a:noFill/>
          <a:ln/>
        </p:spPr>
        <p:txBody>
          <a:bodyPr wrap="square" lIns="0" tIns="0" rIns="0" bIns="0" rtlCol="0" anchor="ctr"/>
          <a:lstStyle/>
          <a:p>
            <a:pPr algn="l" indent="0" marL="0">
              <a:buNone/>
            </a:pPr>
            <a:r>
              <a:rPr lang="en-US" sz="1300" dirty="0">
                <a:solidFill>
                  <a:srgbClr val="53657A"/>
                </a:solidFill>
                <a:latin typeface="Aptos" pitchFamily="34" charset="0"/>
                <a:ea typeface="Aptos" pitchFamily="34" charset="-122"/>
                <a:cs typeface="Aptos" pitchFamily="34" charset="-120"/>
              </a:rPr>
              <a:t>Orders</a:t>
            </a:r>
            <a:endParaRPr lang="en-US" sz="1300" dirty="0"/>
          </a:p>
        </p:txBody>
      </p:sp>
      <p:sp>
        <p:nvSpPr>
          <p:cNvPr id="27" name="Text 25"/>
          <p:cNvSpPr/>
          <p:nvPr/>
        </p:nvSpPr>
        <p:spPr>
          <a:xfrm>
            <a:off x="1271016" y="5248656"/>
            <a:ext cx="2679192" cy="210312"/>
          </a:xfrm>
          <a:prstGeom prst="rect">
            <a:avLst/>
          </a:prstGeom>
          <a:noFill/>
          <a:ln/>
        </p:spPr>
        <p:txBody>
          <a:bodyPr wrap="square" lIns="0" tIns="0" rIns="0" bIns="0" rtlCol="0" anchor="ctr"/>
          <a:lstStyle/>
          <a:p>
            <a:pPr algn="ctr" indent="0" marL="0">
              <a:buNone/>
            </a:pPr>
            <a:r>
              <a:rPr lang="en-US" sz="1300" dirty="0">
                <a:solidFill>
                  <a:srgbClr val="53657A"/>
                </a:solidFill>
                <a:latin typeface="Aptos" pitchFamily="34" charset="0"/>
                <a:ea typeface="Aptos" pitchFamily="34" charset="-122"/>
                <a:cs typeface="Aptos" pitchFamily="34" charset="-120"/>
              </a:rPr>
              <a:t>Recency (days)</a:t>
            </a:r>
            <a:endParaRPr lang="en-US" sz="1300" dirty="0"/>
          </a:p>
        </p:txBody>
      </p:sp>
      <p:sp>
        <p:nvSpPr>
          <p:cNvPr id="28" name="Shape 26"/>
          <p:cNvSpPr/>
          <p:nvPr/>
        </p:nvSpPr>
        <p:spPr>
          <a:xfrm>
            <a:off x="1526642" y="4366870"/>
            <a:ext cx="84125" cy="84125"/>
          </a:xfrm>
          <a:prstGeom prst="ellipse">
            <a:avLst/>
          </a:prstGeom>
          <a:solidFill>
            <a:srgbClr val="176493"/>
          </a:solidFill>
          <a:ln w="5080">
            <a:solidFill>
              <a:srgbClr val="176493"/>
            </a:solidFill>
            <a:prstDash val="solid"/>
          </a:ln>
        </p:spPr>
      </p:sp>
      <p:sp>
        <p:nvSpPr>
          <p:cNvPr id="29" name="Shape 27"/>
          <p:cNvSpPr/>
          <p:nvPr/>
        </p:nvSpPr>
        <p:spPr>
          <a:xfrm>
            <a:off x="1288491" y="3019654"/>
            <a:ext cx="84125" cy="84125"/>
          </a:xfrm>
          <a:prstGeom prst="ellipse">
            <a:avLst/>
          </a:prstGeom>
          <a:solidFill>
            <a:srgbClr val="176493"/>
          </a:solidFill>
          <a:ln w="5080">
            <a:solidFill>
              <a:srgbClr val="176493"/>
            </a:solidFill>
            <a:prstDash val="solid"/>
          </a:ln>
        </p:spPr>
      </p:sp>
      <p:sp>
        <p:nvSpPr>
          <p:cNvPr id="30" name="Shape 28"/>
          <p:cNvSpPr/>
          <p:nvPr/>
        </p:nvSpPr>
        <p:spPr>
          <a:xfrm>
            <a:off x="1407566" y="3356458"/>
            <a:ext cx="84125" cy="84125"/>
          </a:xfrm>
          <a:prstGeom prst="ellipse">
            <a:avLst/>
          </a:prstGeom>
          <a:solidFill>
            <a:srgbClr val="176493"/>
          </a:solidFill>
          <a:ln w="5080">
            <a:solidFill>
              <a:srgbClr val="176493"/>
            </a:solidFill>
            <a:prstDash val="solid"/>
          </a:ln>
        </p:spPr>
      </p:sp>
      <p:sp>
        <p:nvSpPr>
          <p:cNvPr id="31" name="Shape 29"/>
          <p:cNvSpPr/>
          <p:nvPr/>
        </p:nvSpPr>
        <p:spPr>
          <a:xfrm>
            <a:off x="1526642" y="3019654"/>
            <a:ext cx="84125" cy="84125"/>
          </a:xfrm>
          <a:prstGeom prst="ellipse">
            <a:avLst/>
          </a:prstGeom>
          <a:solidFill>
            <a:srgbClr val="176493"/>
          </a:solidFill>
          <a:ln w="5080">
            <a:solidFill>
              <a:srgbClr val="176493"/>
            </a:solidFill>
            <a:prstDash val="solid"/>
          </a:ln>
        </p:spPr>
      </p:sp>
      <p:sp>
        <p:nvSpPr>
          <p:cNvPr id="32" name="Shape 30"/>
          <p:cNvSpPr/>
          <p:nvPr/>
        </p:nvSpPr>
        <p:spPr>
          <a:xfrm>
            <a:off x="1556410" y="3131922"/>
            <a:ext cx="84125" cy="84125"/>
          </a:xfrm>
          <a:prstGeom prst="ellipse">
            <a:avLst/>
          </a:prstGeom>
          <a:solidFill>
            <a:srgbClr val="176493"/>
          </a:solidFill>
          <a:ln w="5080">
            <a:solidFill>
              <a:srgbClr val="176493"/>
            </a:solidFill>
            <a:prstDash val="solid"/>
          </a:ln>
        </p:spPr>
      </p:sp>
      <p:sp>
        <p:nvSpPr>
          <p:cNvPr id="33" name="Shape 31"/>
          <p:cNvSpPr/>
          <p:nvPr/>
        </p:nvSpPr>
        <p:spPr>
          <a:xfrm>
            <a:off x="1556410" y="2907386"/>
            <a:ext cx="84125" cy="84125"/>
          </a:xfrm>
          <a:prstGeom prst="ellipse">
            <a:avLst/>
          </a:prstGeom>
          <a:solidFill>
            <a:srgbClr val="176493"/>
          </a:solidFill>
          <a:ln w="5080">
            <a:solidFill>
              <a:srgbClr val="176493"/>
            </a:solidFill>
            <a:prstDash val="solid"/>
          </a:ln>
        </p:spPr>
      </p:sp>
      <p:sp>
        <p:nvSpPr>
          <p:cNvPr id="34" name="Shape 32"/>
          <p:cNvSpPr/>
          <p:nvPr/>
        </p:nvSpPr>
        <p:spPr>
          <a:xfrm>
            <a:off x="1318260" y="3019654"/>
            <a:ext cx="84125" cy="84125"/>
          </a:xfrm>
          <a:prstGeom prst="ellipse">
            <a:avLst/>
          </a:prstGeom>
          <a:solidFill>
            <a:srgbClr val="176493"/>
          </a:solidFill>
          <a:ln w="5080">
            <a:solidFill>
              <a:srgbClr val="176493"/>
            </a:solidFill>
            <a:prstDash val="solid"/>
          </a:ln>
        </p:spPr>
      </p:sp>
      <p:sp>
        <p:nvSpPr>
          <p:cNvPr id="35" name="Shape 33"/>
          <p:cNvSpPr/>
          <p:nvPr/>
        </p:nvSpPr>
        <p:spPr>
          <a:xfrm>
            <a:off x="1526642" y="3244190"/>
            <a:ext cx="84125" cy="84125"/>
          </a:xfrm>
          <a:prstGeom prst="ellipse">
            <a:avLst/>
          </a:prstGeom>
          <a:solidFill>
            <a:srgbClr val="176493"/>
          </a:solidFill>
          <a:ln w="5080">
            <a:solidFill>
              <a:srgbClr val="176493"/>
            </a:solidFill>
            <a:prstDash val="solid"/>
          </a:ln>
        </p:spPr>
      </p:sp>
      <p:sp>
        <p:nvSpPr>
          <p:cNvPr id="36" name="Shape 34"/>
          <p:cNvSpPr/>
          <p:nvPr/>
        </p:nvSpPr>
        <p:spPr>
          <a:xfrm>
            <a:off x="1645717" y="3693262"/>
            <a:ext cx="84125" cy="84125"/>
          </a:xfrm>
          <a:prstGeom prst="ellipse">
            <a:avLst/>
          </a:prstGeom>
          <a:solidFill>
            <a:srgbClr val="176493"/>
          </a:solidFill>
          <a:ln w="5080">
            <a:solidFill>
              <a:srgbClr val="176493"/>
            </a:solidFill>
            <a:prstDash val="solid"/>
          </a:ln>
        </p:spPr>
      </p:sp>
      <p:sp>
        <p:nvSpPr>
          <p:cNvPr id="37" name="Shape 35"/>
          <p:cNvSpPr/>
          <p:nvPr/>
        </p:nvSpPr>
        <p:spPr>
          <a:xfrm>
            <a:off x="1586179" y="3356458"/>
            <a:ext cx="84125" cy="84125"/>
          </a:xfrm>
          <a:prstGeom prst="ellipse">
            <a:avLst/>
          </a:prstGeom>
          <a:solidFill>
            <a:srgbClr val="176493"/>
          </a:solidFill>
          <a:ln w="5080">
            <a:solidFill>
              <a:srgbClr val="176493"/>
            </a:solidFill>
            <a:prstDash val="solid"/>
          </a:ln>
        </p:spPr>
      </p:sp>
      <p:sp>
        <p:nvSpPr>
          <p:cNvPr id="38" name="Shape 36"/>
          <p:cNvSpPr/>
          <p:nvPr/>
        </p:nvSpPr>
        <p:spPr>
          <a:xfrm>
            <a:off x="1764792" y="3356458"/>
            <a:ext cx="84125" cy="84125"/>
          </a:xfrm>
          <a:prstGeom prst="ellipse">
            <a:avLst/>
          </a:prstGeom>
          <a:solidFill>
            <a:srgbClr val="176493"/>
          </a:solidFill>
          <a:ln w="5080">
            <a:solidFill>
              <a:srgbClr val="176493"/>
            </a:solidFill>
            <a:prstDash val="solid"/>
          </a:ln>
        </p:spPr>
      </p:sp>
      <p:sp>
        <p:nvSpPr>
          <p:cNvPr id="39" name="Shape 37"/>
          <p:cNvSpPr/>
          <p:nvPr/>
        </p:nvSpPr>
        <p:spPr>
          <a:xfrm>
            <a:off x="1586179" y="3580994"/>
            <a:ext cx="84125" cy="84125"/>
          </a:xfrm>
          <a:prstGeom prst="ellipse">
            <a:avLst/>
          </a:prstGeom>
          <a:solidFill>
            <a:srgbClr val="176493"/>
          </a:solidFill>
          <a:ln w="5080">
            <a:solidFill>
              <a:srgbClr val="176493"/>
            </a:solidFill>
            <a:prstDash val="solid"/>
          </a:ln>
        </p:spPr>
      </p:sp>
      <p:sp>
        <p:nvSpPr>
          <p:cNvPr id="40" name="Shape 38"/>
          <p:cNvSpPr/>
          <p:nvPr/>
        </p:nvSpPr>
        <p:spPr>
          <a:xfrm>
            <a:off x="1526642" y="2907386"/>
            <a:ext cx="84125" cy="84125"/>
          </a:xfrm>
          <a:prstGeom prst="ellipse">
            <a:avLst/>
          </a:prstGeom>
          <a:solidFill>
            <a:srgbClr val="176493"/>
          </a:solidFill>
          <a:ln w="5080">
            <a:solidFill>
              <a:srgbClr val="176493"/>
            </a:solidFill>
            <a:prstDash val="solid"/>
          </a:ln>
        </p:spPr>
      </p:sp>
      <p:sp>
        <p:nvSpPr>
          <p:cNvPr id="41" name="Shape 39"/>
          <p:cNvSpPr/>
          <p:nvPr/>
        </p:nvSpPr>
        <p:spPr>
          <a:xfrm>
            <a:off x="1258722" y="3019654"/>
            <a:ext cx="84125" cy="84125"/>
          </a:xfrm>
          <a:prstGeom prst="ellipse">
            <a:avLst/>
          </a:prstGeom>
          <a:solidFill>
            <a:srgbClr val="176493"/>
          </a:solidFill>
          <a:ln w="5080">
            <a:solidFill>
              <a:srgbClr val="176493"/>
            </a:solidFill>
            <a:prstDash val="solid"/>
          </a:ln>
        </p:spPr>
      </p:sp>
      <p:sp>
        <p:nvSpPr>
          <p:cNvPr id="42" name="Shape 40"/>
          <p:cNvSpPr/>
          <p:nvPr/>
        </p:nvSpPr>
        <p:spPr>
          <a:xfrm>
            <a:off x="1586179" y="3805530"/>
            <a:ext cx="84125" cy="84125"/>
          </a:xfrm>
          <a:prstGeom prst="ellipse">
            <a:avLst/>
          </a:prstGeom>
          <a:solidFill>
            <a:srgbClr val="176493"/>
          </a:solidFill>
          <a:ln w="5080">
            <a:solidFill>
              <a:srgbClr val="176493"/>
            </a:solidFill>
            <a:prstDash val="solid"/>
          </a:ln>
        </p:spPr>
      </p:sp>
      <p:sp>
        <p:nvSpPr>
          <p:cNvPr id="43" name="Shape 41"/>
          <p:cNvSpPr/>
          <p:nvPr/>
        </p:nvSpPr>
        <p:spPr>
          <a:xfrm>
            <a:off x="1556410" y="2907386"/>
            <a:ext cx="84125" cy="84125"/>
          </a:xfrm>
          <a:prstGeom prst="ellipse">
            <a:avLst/>
          </a:prstGeom>
          <a:solidFill>
            <a:srgbClr val="176493"/>
          </a:solidFill>
          <a:ln w="5080">
            <a:solidFill>
              <a:srgbClr val="176493"/>
            </a:solidFill>
            <a:prstDash val="solid"/>
          </a:ln>
        </p:spPr>
      </p:sp>
      <p:sp>
        <p:nvSpPr>
          <p:cNvPr id="44" name="Shape 42"/>
          <p:cNvSpPr/>
          <p:nvPr/>
        </p:nvSpPr>
        <p:spPr>
          <a:xfrm>
            <a:off x="1437335" y="3131922"/>
            <a:ext cx="84125" cy="84125"/>
          </a:xfrm>
          <a:prstGeom prst="ellipse">
            <a:avLst/>
          </a:prstGeom>
          <a:solidFill>
            <a:srgbClr val="176493"/>
          </a:solidFill>
          <a:ln w="5080">
            <a:solidFill>
              <a:srgbClr val="176493"/>
            </a:solidFill>
            <a:prstDash val="solid"/>
          </a:ln>
        </p:spPr>
      </p:sp>
      <p:sp>
        <p:nvSpPr>
          <p:cNvPr id="45" name="Shape 43"/>
          <p:cNvSpPr/>
          <p:nvPr/>
        </p:nvSpPr>
        <p:spPr>
          <a:xfrm>
            <a:off x="1615948" y="2907386"/>
            <a:ext cx="84125" cy="84125"/>
          </a:xfrm>
          <a:prstGeom prst="ellipse">
            <a:avLst/>
          </a:prstGeom>
          <a:solidFill>
            <a:srgbClr val="176493"/>
          </a:solidFill>
          <a:ln w="5080">
            <a:solidFill>
              <a:srgbClr val="176493"/>
            </a:solidFill>
            <a:prstDash val="solid"/>
          </a:ln>
        </p:spPr>
      </p:sp>
      <p:sp>
        <p:nvSpPr>
          <p:cNvPr id="46" name="Shape 44"/>
          <p:cNvSpPr/>
          <p:nvPr/>
        </p:nvSpPr>
        <p:spPr>
          <a:xfrm>
            <a:off x="1824330" y="2795118"/>
            <a:ext cx="84125" cy="84125"/>
          </a:xfrm>
          <a:prstGeom prst="ellipse">
            <a:avLst/>
          </a:prstGeom>
          <a:solidFill>
            <a:srgbClr val="176493"/>
          </a:solidFill>
          <a:ln w="5080">
            <a:solidFill>
              <a:srgbClr val="176493"/>
            </a:solidFill>
            <a:prstDash val="solid"/>
          </a:ln>
        </p:spPr>
      </p:sp>
      <p:sp>
        <p:nvSpPr>
          <p:cNvPr id="47" name="Shape 45"/>
          <p:cNvSpPr/>
          <p:nvPr/>
        </p:nvSpPr>
        <p:spPr>
          <a:xfrm>
            <a:off x="1258722" y="3244190"/>
            <a:ext cx="84125" cy="84125"/>
          </a:xfrm>
          <a:prstGeom prst="ellipse">
            <a:avLst/>
          </a:prstGeom>
          <a:solidFill>
            <a:srgbClr val="176493"/>
          </a:solidFill>
          <a:ln w="5080">
            <a:solidFill>
              <a:srgbClr val="176493"/>
            </a:solidFill>
            <a:prstDash val="solid"/>
          </a:ln>
        </p:spPr>
      </p:sp>
      <p:sp>
        <p:nvSpPr>
          <p:cNvPr id="48" name="Shape 46"/>
          <p:cNvSpPr/>
          <p:nvPr/>
        </p:nvSpPr>
        <p:spPr>
          <a:xfrm>
            <a:off x="1467104" y="2907386"/>
            <a:ext cx="84125" cy="84125"/>
          </a:xfrm>
          <a:prstGeom prst="ellipse">
            <a:avLst/>
          </a:prstGeom>
          <a:solidFill>
            <a:srgbClr val="176493"/>
          </a:solidFill>
          <a:ln w="5080">
            <a:solidFill>
              <a:srgbClr val="176493"/>
            </a:solidFill>
            <a:prstDash val="solid"/>
          </a:ln>
        </p:spPr>
      </p:sp>
      <p:sp>
        <p:nvSpPr>
          <p:cNvPr id="49" name="Shape 47"/>
          <p:cNvSpPr/>
          <p:nvPr/>
        </p:nvSpPr>
        <p:spPr>
          <a:xfrm>
            <a:off x="1764792" y="3580994"/>
            <a:ext cx="84125" cy="84125"/>
          </a:xfrm>
          <a:prstGeom prst="ellipse">
            <a:avLst/>
          </a:prstGeom>
          <a:solidFill>
            <a:srgbClr val="176493"/>
          </a:solidFill>
          <a:ln w="5080">
            <a:solidFill>
              <a:srgbClr val="176493"/>
            </a:solidFill>
            <a:prstDash val="solid"/>
          </a:ln>
        </p:spPr>
      </p:sp>
      <p:sp>
        <p:nvSpPr>
          <p:cNvPr id="50" name="Shape 48"/>
          <p:cNvSpPr/>
          <p:nvPr/>
        </p:nvSpPr>
        <p:spPr>
          <a:xfrm>
            <a:off x="1348029" y="3131922"/>
            <a:ext cx="84125" cy="84125"/>
          </a:xfrm>
          <a:prstGeom prst="ellipse">
            <a:avLst/>
          </a:prstGeom>
          <a:solidFill>
            <a:srgbClr val="176493"/>
          </a:solidFill>
          <a:ln w="5080">
            <a:solidFill>
              <a:srgbClr val="176493"/>
            </a:solidFill>
            <a:prstDash val="solid"/>
          </a:ln>
        </p:spPr>
      </p:sp>
      <p:sp>
        <p:nvSpPr>
          <p:cNvPr id="51" name="Shape 49"/>
          <p:cNvSpPr/>
          <p:nvPr/>
        </p:nvSpPr>
        <p:spPr>
          <a:xfrm>
            <a:off x="1675486" y="3693262"/>
            <a:ext cx="84125" cy="84125"/>
          </a:xfrm>
          <a:prstGeom prst="ellipse">
            <a:avLst/>
          </a:prstGeom>
          <a:solidFill>
            <a:srgbClr val="176493"/>
          </a:solidFill>
          <a:ln w="5080">
            <a:solidFill>
              <a:srgbClr val="176493"/>
            </a:solidFill>
            <a:prstDash val="solid"/>
          </a:ln>
        </p:spPr>
      </p:sp>
      <p:sp>
        <p:nvSpPr>
          <p:cNvPr id="52" name="Shape 50"/>
          <p:cNvSpPr/>
          <p:nvPr/>
        </p:nvSpPr>
        <p:spPr>
          <a:xfrm>
            <a:off x="1318260" y="3356458"/>
            <a:ext cx="84125" cy="84125"/>
          </a:xfrm>
          <a:prstGeom prst="ellipse">
            <a:avLst/>
          </a:prstGeom>
          <a:solidFill>
            <a:srgbClr val="176493"/>
          </a:solidFill>
          <a:ln w="5080">
            <a:solidFill>
              <a:srgbClr val="176493"/>
            </a:solidFill>
            <a:prstDash val="solid"/>
          </a:ln>
        </p:spPr>
      </p:sp>
      <p:sp>
        <p:nvSpPr>
          <p:cNvPr id="53" name="Shape 51"/>
          <p:cNvSpPr/>
          <p:nvPr/>
        </p:nvSpPr>
        <p:spPr>
          <a:xfrm>
            <a:off x="1377798" y="3693262"/>
            <a:ext cx="84125" cy="84125"/>
          </a:xfrm>
          <a:prstGeom prst="ellipse">
            <a:avLst/>
          </a:prstGeom>
          <a:solidFill>
            <a:srgbClr val="176493"/>
          </a:solidFill>
          <a:ln w="5080">
            <a:solidFill>
              <a:srgbClr val="176493"/>
            </a:solidFill>
            <a:prstDash val="solid"/>
          </a:ln>
        </p:spPr>
      </p:sp>
      <p:sp>
        <p:nvSpPr>
          <p:cNvPr id="54" name="Shape 52"/>
          <p:cNvSpPr/>
          <p:nvPr/>
        </p:nvSpPr>
        <p:spPr>
          <a:xfrm>
            <a:off x="1496873" y="3693262"/>
            <a:ext cx="84125" cy="84125"/>
          </a:xfrm>
          <a:prstGeom prst="ellipse">
            <a:avLst/>
          </a:prstGeom>
          <a:solidFill>
            <a:srgbClr val="176493"/>
          </a:solidFill>
          <a:ln w="5080">
            <a:solidFill>
              <a:srgbClr val="176493"/>
            </a:solidFill>
            <a:prstDash val="solid"/>
          </a:ln>
        </p:spPr>
      </p:sp>
      <p:sp>
        <p:nvSpPr>
          <p:cNvPr id="55" name="Shape 53"/>
          <p:cNvSpPr/>
          <p:nvPr/>
        </p:nvSpPr>
        <p:spPr>
          <a:xfrm>
            <a:off x="1288491" y="3468726"/>
            <a:ext cx="84125" cy="84125"/>
          </a:xfrm>
          <a:prstGeom prst="ellipse">
            <a:avLst/>
          </a:prstGeom>
          <a:solidFill>
            <a:srgbClr val="176493"/>
          </a:solidFill>
          <a:ln w="5080">
            <a:solidFill>
              <a:srgbClr val="176493"/>
            </a:solidFill>
            <a:prstDash val="solid"/>
          </a:ln>
        </p:spPr>
      </p:sp>
      <p:sp>
        <p:nvSpPr>
          <p:cNvPr id="56" name="Shape 54"/>
          <p:cNvSpPr/>
          <p:nvPr/>
        </p:nvSpPr>
        <p:spPr>
          <a:xfrm>
            <a:off x="1377798" y="3356458"/>
            <a:ext cx="84125" cy="84125"/>
          </a:xfrm>
          <a:prstGeom prst="ellipse">
            <a:avLst/>
          </a:prstGeom>
          <a:solidFill>
            <a:srgbClr val="176493"/>
          </a:solidFill>
          <a:ln w="5080">
            <a:solidFill>
              <a:srgbClr val="176493"/>
            </a:solidFill>
            <a:prstDash val="solid"/>
          </a:ln>
        </p:spPr>
      </p:sp>
      <p:sp>
        <p:nvSpPr>
          <p:cNvPr id="57" name="Shape 55"/>
          <p:cNvSpPr/>
          <p:nvPr/>
        </p:nvSpPr>
        <p:spPr>
          <a:xfrm>
            <a:off x="3163926" y="4030066"/>
            <a:ext cx="84125" cy="84125"/>
          </a:xfrm>
          <a:prstGeom prst="ellipse">
            <a:avLst/>
          </a:prstGeom>
          <a:solidFill>
            <a:srgbClr val="176493"/>
          </a:solidFill>
          <a:ln w="5080">
            <a:solidFill>
              <a:srgbClr val="176493"/>
            </a:solidFill>
            <a:prstDash val="solid"/>
          </a:ln>
        </p:spPr>
      </p:sp>
      <p:sp>
        <p:nvSpPr>
          <p:cNvPr id="58" name="Shape 56"/>
          <p:cNvSpPr/>
          <p:nvPr/>
        </p:nvSpPr>
        <p:spPr>
          <a:xfrm>
            <a:off x="3550920" y="4366870"/>
            <a:ext cx="84125" cy="84125"/>
          </a:xfrm>
          <a:prstGeom prst="ellipse">
            <a:avLst/>
          </a:prstGeom>
          <a:solidFill>
            <a:srgbClr val="176493"/>
          </a:solidFill>
          <a:ln w="5080">
            <a:solidFill>
              <a:srgbClr val="176493"/>
            </a:solidFill>
            <a:prstDash val="solid"/>
          </a:ln>
        </p:spPr>
      </p:sp>
      <p:sp>
        <p:nvSpPr>
          <p:cNvPr id="59" name="Shape 57"/>
          <p:cNvSpPr/>
          <p:nvPr/>
        </p:nvSpPr>
        <p:spPr>
          <a:xfrm>
            <a:off x="3283001" y="4030066"/>
            <a:ext cx="84125" cy="84125"/>
          </a:xfrm>
          <a:prstGeom prst="ellipse">
            <a:avLst/>
          </a:prstGeom>
          <a:solidFill>
            <a:srgbClr val="176493"/>
          </a:solidFill>
          <a:ln w="5080">
            <a:solidFill>
              <a:srgbClr val="176493"/>
            </a:solidFill>
            <a:prstDash val="solid"/>
          </a:ln>
        </p:spPr>
      </p:sp>
      <p:sp>
        <p:nvSpPr>
          <p:cNvPr id="60" name="Shape 58"/>
          <p:cNvSpPr/>
          <p:nvPr/>
        </p:nvSpPr>
        <p:spPr>
          <a:xfrm>
            <a:off x="3342538" y="4142334"/>
            <a:ext cx="84125" cy="84125"/>
          </a:xfrm>
          <a:prstGeom prst="ellipse">
            <a:avLst/>
          </a:prstGeom>
          <a:solidFill>
            <a:srgbClr val="176493"/>
          </a:solidFill>
          <a:ln w="5080">
            <a:solidFill>
              <a:srgbClr val="176493"/>
            </a:solidFill>
            <a:prstDash val="solid"/>
          </a:ln>
        </p:spPr>
      </p:sp>
      <p:sp>
        <p:nvSpPr>
          <p:cNvPr id="61" name="Shape 59"/>
          <p:cNvSpPr/>
          <p:nvPr/>
        </p:nvSpPr>
        <p:spPr>
          <a:xfrm>
            <a:off x="3074619" y="4142334"/>
            <a:ext cx="84125" cy="84125"/>
          </a:xfrm>
          <a:prstGeom prst="ellipse">
            <a:avLst/>
          </a:prstGeom>
          <a:solidFill>
            <a:srgbClr val="176493"/>
          </a:solidFill>
          <a:ln w="5080">
            <a:solidFill>
              <a:srgbClr val="176493"/>
            </a:solidFill>
            <a:prstDash val="solid"/>
          </a:ln>
        </p:spPr>
      </p:sp>
      <p:sp>
        <p:nvSpPr>
          <p:cNvPr id="62" name="Shape 60"/>
          <p:cNvSpPr/>
          <p:nvPr/>
        </p:nvSpPr>
        <p:spPr>
          <a:xfrm>
            <a:off x="3163926" y="4030066"/>
            <a:ext cx="84125" cy="84125"/>
          </a:xfrm>
          <a:prstGeom prst="ellipse">
            <a:avLst/>
          </a:prstGeom>
          <a:solidFill>
            <a:srgbClr val="176493"/>
          </a:solidFill>
          <a:ln w="5080">
            <a:solidFill>
              <a:srgbClr val="176493"/>
            </a:solidFill>
            <a:prstDash val="solid"/>
          </a:ln>
        </p:spPr>
      </p:sp>
      <p:sp>
        <p:nvSpPr>
          <p:cNvPr id="63" name="Shape 61"/>
          <p:cNvSpPr/>
          <p:nvPr/>
        </p:nvSpPr>
        <p:spPr>
          <a:xfrm>
            <a:off x="2896006" y="4254602"/>
            <a:ext cx="84125" cy="84125"/>
          </a:xfrm>
          <a:prstGeom prst="ellipse">
            <a:avLst/>
          </a:prstGeom>
          <a:solidFill>
            <a:srgbClr val="176493"/>
          </a:solidFill>
          <a:ln w="5080">
            <a:solidFill>
              <a:srgbClr val="176493"/>
            </a:solidFill>
            <a:prstDash val="solid"/>
          </a:ln>
        </p:spPr>
      </p:sp>
      <p:sp>
        <p:nvSpPr>
          <p:cNvPr id="64" name="Shape 62"/>
          <p:cNvSpPr/>
          <p:nvPr/>
        </p:nvSpPr>
        <p:spPr>
          <a:xfrm>
            <a:off x="3789070" y="4142334"/>
            <a:ext cx="84125" cy="84125"/>
          </a:xfrm>
          <a:prstGeom prst="ellipse">
            <a:avLst/>
          </a:prstGeom>
          <a:solidFill>
            <a:srgbClr val="176493"/>
          </a:solidFill>
          <a:ln w="5080">
            <a:solidFill>
              <a:srgbClr val="176493"/>
            </a:solidFill>
            <a:prstDash val="solid"/>
          </a:ln>
        </p:spPr>
      </p:sp>
      <p:sp>
        <p:nvSpPr>
          <p:cNvPr id="65" name="Shape 63"/>
          <p:cNvSpPr/>
          <p:nvPr/>
        </p:nvSpPr>
        <p:spPr>
          <a:xfrm>
            <a:off x="3789070" y="4366870"/>
            <a:ext cx="84125" cy="84125"/>
          </a:xfrm>
          <a:prstGeom prst="ellipse">
            <a:avLst/>
          </a:prstGeom>
          <a:solidFill>
            <a:srgbClr val="176493"/>
          </a:solidFill>
          <a:ln w="5080">
            <a:solidFill>
              <a:srgbClr val="176493"/>
            </a:solidFill>
            <a:prstDash val="solid"/>
          </a:ln>
        </p:spPr>
      </p:sp>
      <p:sp>
        <p:nvSpPr>
          <p:cNvPr id="66" name="Shape 64"/>
          <p:cNvSpPr/>
          <p:nvPr/>
        </p:nvSpPr>
        <p:spPr>
          <a:xfrm>
            <a:off x="3699764" y="4030066"/>
            <a:ext cx="84125" cy="84125"/>
          </a:xfrm>
          <a:prstGeom prst="ellipse">
            <a:avLst/>
          </a:prstGeom>
          <a:solidFill>
            <a:srgbClr val="176493"/>
          </a:solidFill>
          <a:ln w="5080">
            <a:solidFill>
              <a:srgbClr val="176493"/>
            </a:solidFill>
            <a:prstDash val="solid"/>
          </a:ln>
        </p:spPr>
      </p:sp>
      <p:sp>
        <p:nvSpPr>
          <p:cNvPr id="67" name="Shape 65"/>
          <p:cNvSpPr/>
          <p:nvPr/>
        </p:nvSpPr>
        <p:spPr>
          <a:xfrm>
            <a:off x="3312770" y="4479138"/>
            <a:ext cx="84125" cy="84125"/>
          </a:xfrm>
          <a:prstGeom prst="ellipse">
            <a:avLst/>
          </a:prstGeom>
          <a:solidFill>
            <a:srgbClr val="176493"/>
          </a:solidFill>
          <a:ln w="5080">
            <a:solidFill>
              <a:srgbClr val="176493"/>
            </a:solidFill>
            <a:prstDash val="solid"/>
          </a:ln>
        </p:spPr>
      </p:sp>
      <p:sp>
        <p:nvSpPr>
          <p:cNvPr id="68" name="Shape 66"/>
          <p:cNvSpPr/>
          <p:nvPr/>
        </p:nvSpPr>
        <p:spPr>
          <a:xfrm>
            <a:off x="2598318" y="4030066"/>
            <a:ext cx="84125" cy="84125"/>
          </a:xfrm>
          <a:prstGeom prst="ellipse">
            <a:avLst/>
          </a:prstGeom>
          <a:solidFill>
            <a:srgbClr val="176493"/>
          </a:solidFill>
          <a:ln w="5080">
            <a:solidFill>
              <a:srgbClr val="176493"/>
            </a:solidFill>
            <a:prstDash val="solid"/>
          </a:ln>
        </p:spPr>
      </p:sp>
      <p:sp>
        <p:nvSpPr>
          <p:cNvPr id="69" name="Shape 67"/>
          <p:cNvSpPr/>
          <p:nvPr/>
        </p:nvSpPr>
        <p:spPr>
          <a:xfrm>
            <a:off x="2925775" y="4479138"/>
            <a:ext cx="84125" cy="84125"/>
          </a:xfrm>
          <a:prstGeom prst="ellipse">
            <a:avLst/>
          </a:prstGeom>
          <a:solidFill>
            <a:srgbClr val="176493"/>
          </a:solidFill>
          <a:ln w="5080">
            <a:solidFill>
              <a:srgbClr val="176493"/>
            </a:solidFill>
            <a:prstDash val="solid"/>
          </a:ln>
        </p:spPr>
      </p:sp>
      <p:sp>
        <p:nvSpPr>
          <p:cNvPr id="70" name="Shape 68"/>
          <p:cNvSpPr/>
          <p:nvPr/>
        </p:nvSpPr>
        <p:spPr>
          <a:xfrm>
            <a:off x="3610458" y="4479138"/>
            <a:ext cx="84125" cy="84125"/>
          </a:xfrm>
          <a:prstGeom prst="ellipse">
            <a:avLst/>
          </a:prstGeom>
          <a:solidFill>
            <a:srgbClr val="176493"/>
          </a:solidFill>
          <a:ln w="5080">
            <a:solidFill>
              <a:srgbClr val="176493"/>
            </a:solidFill>
            <a:prstDash val="solid"/>
          </a:ln>
        </p:spPr>
      </p:sp>
      <p:sp>
        <p:nvSpPr>
          <p:cNvPr id="71" name="Shape 69"/>
          <p:cNvSpPr/>
          <p:nvPr/>
        </p:nvSpPr>
        <p:spPr>
          <a:xfrm>
            <a:off x="3074619" y="4254602"/>
            <a:ext cx="84125" cy="84125"/>
          </a:xfrm>
          <a:prstGeom prst="ellipse">
            <a:avLst/>
          </a:prstGeom>
          <a:solidFill>
            <a:srgbClr val="176493"/>
          </a:solidFill>
          <a:ln w="5080">
            <a:solidFill>
              <a:srgbClr val="176493"/>
            </a:solidFill>
            <a:prstDash val="solid"/>
          </a:ln>
        </p:spPr>
      </p:sp>
      <p:sp>
        <p:nvSpPr>
          <p:cNvPr id="72" name="Shape 70"/>
          <p:cNvSpPr/>
          <p:nvPr/>
        </p:nvSpPr>
        <p:spPr>
          <a:xfrm>
            <a:off x="2747162" y="4030066"/>
            <a:ext cx="84125" cy="84125"/>
          </a:xfrm>
          <a:prstGeom prst="ellipse">
            <a:avLst/>
          </a:prstGeom>
          <a:solidFill>
            <a:srgbClr val="176493"/>
          </a:solidFill>
          <a:ln w="5080">
            <a:solidFill>
              <a:srgbClr val="176493"/>
            </a:solidFill>
            <a:prstDash val="solid"/>
          </a:ln>
        </p:spPr>
      </p:sp>
      <p:sp>
        <p:nvSpPr>
          <p:cNvPr id="73" name="Shape 71"/>
          <p:cNvSpPr/>
          <p:nvPr/>
        </p:nvSpPr>
        <p:spPr>
          <a:xfrm>
            <a:off x="3372307" y="4030066"/>
            <a:ext cx="84125" cy="84125"/>
          </a:xfrm>
          <a:prstGeom prst="ellipse">
            <a:avLst/>
          </a:prstGeom>
          <a:solidFill>
            <a:srgbClr val="176493"/>
          </a:solidFill>
          <a:ln w="5080">
            <a:solidFill>
              <a:srgbClr val="176493"/>
            </a:solidFill>
            <a:prstDash val="solid"/>
          </a:ln>
        </p:spPr>
      </p:sp>
      <p:sp>
        <p:nvSpPr>
          <p:cNvPr id="74" name="Shape 72"/>
          <p:cNvSpPr/>
          <p:nvPr/>
        </p:nvSpPr>
        <p:spPr>
          <a:xfrm>
            <a:off x="2866238" y="4366870"/>
            <a:ext cx="84125" cy="84125"/>
          </a:xfrm>
          <a:prstGeom prst="ellipse">
            <a:avLst/>
          </a:prstGeom>
          <a:solidFill>
            <a:srgbClr val="176493"/>
          </a:solidFill>
          <a:ln w="5080">
            <a:solidFill>
              <a:srgbClr val="176493"/>
            </a:solidFill>
            <a:prstDash val="solid"/>
          </a:ln>
        </p:spPr>
      </p:sp>
      <p:sp>
        <p:nvSpPr>
          <p:cNvPr id="75" name="Shape 73"/>
          <p:cNvSpPr/>
          <p:nvPr/>
        </p:nvSpPr>
        <p:spPr>
          <a:xfrm>
            <a:off x="2568550" y="4479138"/>
            <a:ext cx="84125" cy="84125"/>
          </a:xfrm>
          <a:prstGeom prst="ellipse">
            <a:avLst/>
          </a:prstGeom>
          <a:solidFill>
            <a:srgbClr val="176493"/>
          </a:solidFill>
          <a:ln w="5080">
            <a:solidFill>
              <a:srgbClr val="176493"/>
            </a:solidFill>
            <a:prstDash val="solid"/>
          </a:ln>
        </p:spPr>
      </p:sp>
      <p:sp>
        <p:nvSpPr>
          <p:cNvPr id="76" name="Shape 74"/>
          <p:cNvSpPr/>
          <p:nvPr/>
        </p:nvSpPr>
        <p:spPr>
          <a:xfrm>
            <a:off x="3640226" y="4479138"/>
            <a:ext cx="84125" cy="84125"/>
          </a:xfrm>
          <a:prstGeom prst="ellipse">
            <a:avLst/>
          </a:prstGeom>
          <a:solidFill>
            <a:srgbClr val="176493"/>
          </a:solidFill>
          <a:ln w="5080">
            <a:solidFill>
              <a:srgbClr val="176493"/>
            </a:solidFill>
            <a:prstDash val="solid"/>
          </a:ln>
        </p:spPr>
      </p:sp>
      <p:sp>
        <p:nvSpPr>
          <p:cNvPr id="77" name="Shape 75"/>
          <p:cNvSpPr/>
          <p:nvPr/>
        </p:nvSpPr>
        <p:spPr>
          <a:xfrm>
            <a:off x="2896006" y="4366870"/>
            <a:ext cx="84125" cy="84125"/>
          </a:xfrm>
          <a:prstGeom prst="ellipse">
            <a:avLst/>
          </a:prstGeom>
          <a:solidFill>
            <a:srgbClr val="176493"/>
          </a:solidFill>
          <a:ln w="5080">
            <a:solidFill>
              <a:srgbClr val="176493"/>
            </a:solidFill>
            <a:prstDash val="solid"/>
          </a:ln>
        </p:spPr>
      </p:sp>
      <p:sp>
        <p:nvSpPr>
          <p:cNvPr id="78" name="Shape 76"/>
          <p:cNvSpPr/>
          <p:nvPr/>
        </p:nvSpPr>
        <p:spPr>
          <a:xfrm>
            <a:off x="3253232" y="4254602"/>
            <a:ext cx="84125" cy="84125"/>
          </a:xfrm>
          <a:prstGeom prst="ellipse">
            <a:avLst/>
          </a:prstGeom>
          <a:solidFill>
            <a:srgbClr val="176493"/>
          </a:solidFill>
          <a:ln w="5080">
            <a:solidFill>
              <a:srgbClr val="176493"/>
            </a:solidFill>
            <a:prstDash val="solid"/>
          </a:ln>
        </p:spPr>
      </p:sp>
      <p:sp>
        <p:nvSpPr>
          <p:cNvPr id="79" name="Shape 77"/>
          <p:cNvSpPr/>
          <p:nvPr/>
        </p:nvSpPr>
        <p:spPr>
          <a:xfrm>
            <a:off x="3015082" y="4366870"/>
            <a:ext cx="84125" cy="84125"/>
          </a:xfrm>
          <a:prstGeom prst="ellipse">
            <a:avLst/>
          </a:prstGeom>
          <a:solidFill>
            <a:srgbClr val="176493"/>
          </a:solidFill>
          <a:ln w="5080">
            <a:solidFill>
              <a:srgbClr val="176493"/>
            </a:solidFill>
            <a:prstDash val="solid"/>
          </a:ln>
        </p:spPr>
      </p:sp>
      <p:sp>
        <p:nvSpPr>
          <p:cNvPr id="80" name="Shape 78"/>
          <p:cNvSpPr/>
          <p:nvPr/>
        </p:nvSpPr>
        <p:spPr>
          <a:xfrm>
            <a:off x="3640226" y="4142334"/>
            <a:ext cx="84125" cy="84125"/>
          </a:xfrm>
          <a:prstGeom prst="ellipse">
            <a:avLst/>
          </a:prstGeom>
          <a:solidFill>
            <a:srgbClr val="176493"/>
          </a:solidFill>
          <a:ln w="5080">
            <a:solidFill>
              <a:srgbClr val="176493"/>
            </a:solidFill>
            <a:prstDash val="solid"/>
          </a:ln>
        </p:spPr>
      </p:sp>
      <p:sp>
        <p:nvSpPr>
          <p:cNvPr id="81" name="Shape 79"/>
          <p:cNvSpPr/>
          <p:nvPr/>
        </p:nvSpPr>
        <p:spPr>
          <a:xfrm>
            <a:off x="3521151" y="4366870"/>
            <a:ext cx="84125" cy="84125"/>
          </a:xfrm>
          <a:prstGeom prst="ellipse">
            <a:avLst/>
          </a:prstGeom>
          <a:solidFill>
            <a:srgbClr val="176493"/>
          </a:solidFill>
          <a:ln w="5080">
            <a:solidFill>
              <a:srgbClr val="176493"/>
            </a:solidFill>
            <a:prstDash val="solid"/>
          </a:ln>
        </p:spPr>
      </p:sp>
      <p:sp>
        <p:nvSpPr>
          <p:cNvPr id="82" name="Shape 80"/>
          <p:cNvSpPr/>
          <p:nvPr/>
        </p:nvSpPr>
        <p:spPr>
          <a:xfrm>
            <a:off x="3015082" y="4254602"/>
            <a:ext cx="84125" cy="84125"/>
          </a:xfrm>
          <a:prstGeom prst="ellipse">
            <a:avLst/>
          </a:prstGeom>
          <a:solidFill>
            <a:srgbClr val="176493"/>
          </a:solidFill>
          <a:ln w="5080">
            <a:solidFill>
              <a:srgbClr val="176493"/>
            </a:solidFill>
            <a:prstDash val="solid"/>
          </a:ln>
        </p:spPr>
      </p:sp>
      <p:sp>
        <p:nvSpPr>
          <p:cNvPr id="83" name="Shape 81"/>
          <p:cNvSpPr/>
          <p:nvPr/>
        </p:nvSpPr>
        <p:spPr>
          <a:xfrm>
            <a:off x="3521151" y="4479138"/>
            <a:ext cx="84125" cy="84125"/>
          </a:xfrm>
          <a:prstGeom prst="ellipse">
            <a:avLst/>
          </a:prstGeom>
          <a:solidFill>
            <a:srgbClr val="176493"/>
          </a:solidFill>
          <a:ln w="5080">
            <a:solidFill>
              <a:srgbClr val="176493"/>
            </a:solidFill>
            <a:prstDash val="solid"/>
          </a:ln>
        </p:spPr>
      </p:sp>
      <p:sp>
        <p:nvSpPr>
          <p:cNvPr id="84" name="Shape 82"/>
          <p:cNvSpPr/>
          <p:nvPr/>
        </p:nvSpPr>
        <p:spPr>
          <a:xfrm>
            <a:off x="3134157" y="4366870"/>
            <a:ext cx="84125" cy="84125"/>
          </a:xfrm>
          <a:prstGeom prst="ellipse">
            <a:avLst/>
          </a:prstGeom>
          <a:solidFill>
            <a:srgbClr val="176493"/>
          </a:solidFill>
          <a:ln w="5080">
            <a:solidFill>
              <a:srgbClr val="176493"/>
            </a:solidFill>
            <a:prstDash val="solid"/>
          </a:ln>
        </p:spPr>
      </p:sp>
      <p:sp>
        <p:nvSpPr>
          <p:cNvPr id="85" name="Shape 83"/>
          <p:cNvSpPr/>
          <p:nvPr/>
        </p:nvSpPr>
        <p:spPr>
          <a:xfrm>
            <a:off x="1824330" y="4366870"/>
            <a:ext cx="84125" cy="84125"/>
          </a:xfrm>
          <a:prstGeom prst="ellipse">
            <a:avLst/>
          </a:prstGeom>
          <a:solidFill>
            <a:srgbClr val="176493"/>
          </a:solidFill>
          <a:ln w="5080">
            <a:solidFill>
              <a:srgbClr val="176493"/>
            </a:solidFill>
            <a:prstDash val="solid"/>
          </a:ln>
        </p:spPr>
      </p:sp>
      <p:sp>
        <p:nvSpPr>
          <p:cNvPr id="86" name="Shape 84"/>
          <p:cNvSpPr/>
          <p:nvPr/>
        </p:nvSpPr>
        <p:spPr>
          <a:xfrm>
            <a:off x="1348029" y="4366870"/>
            <a:ext cx="84125" cy="84125"/>
          </a:xfrm>
          <a:prstGeom prst="ellipse">
            <a:avLst/>
          </a:prstGeom>
          <a:solidFill>
            <a:srgbClr val="176493"/>
          </a:solidFill>
          <a:ln w="5080">
            <a:solidFill>
              <a:srgbClr val="176493"/>
            </a:solidFill>
            <a:prstDash val="solid"/>
          </a:ln>
        </p:spPr>
      </p:sp>
      <p:sp>
        <p:nvSpPr>
          <p:cNvPr id="87" name="Shape 85"/>
          <p:cNvSpPr/>
          <p:nvPr/>
        </p:nvSpPr>
        <p:spPr>
          <a:xfrm>
            <a:off x="1973174" y="4254602"/>
            <a:ext cx="84125" cy="84125"/>
          </a:xfrm>
          <a:prstGeom prst="ellipse">
            <a:avLst/>
          </a:prstGeom>
          <a:solidFill>
            <a:srgbClr val="176493"/>
          </a:solidFill>
          <a:ln w="5080">
            <a:solidFill>
              <a:srgbClr val="176493"/>
            </a:solidFill>
            <a:prstDash val="solid"/>
          </a:ln>
        </p:spPr>
      </p:sp>
      <p:sp>
        <p:nvSpPr>
          <p:cNvPr id="88" name="Shape 86"/>
          <p:cNvSpPr/>
          <p:nvPr/>
        </p:nvSpPr>
        <p:spPr>
          <a:xfrm>
            <a:off x="1735023" y="4254602"/>
            <a:ext cx="84125" cy="84125"/>
          </a:xfrm>
          <a:prstGeom prst="ellipse">
            <a:avLst/>
          </a:prstGeom>
          <a:solidFill>
            <a:srgbClr val="176493"/>
          </a:solidFill>
          <a:ln w="5080">
            <a:solidFill>
              <a:srgbClr val="176493"/>
            </a:solidFill>
            <a:prstDash val="solid"/>
          </a:ln>
        </p:spPr>
      </p:sp>
      <p:sp>
        <p:nvSpPr>
          <p:cNvPr id="89" name="Shape 87"/>
          <p:cNvSpPr/>
          <p:nvPr/>
        </p:nvSpPr>
        <p:spPr>
          <a:xfrm>
            <a:off x="1318260" y="4254602"/>
            <a:ext cx="84125" cy="84125"/>
          </a:xfrm>
          <a:prstGeom prst="ellipse">
            <a:avLst/>
          </a:prstGeom>
          <a:solidFill>
            <a:srgbClr val="176493"/>
          </a:solidFill>
          <a:ln w="5080">
            <a:solidFill>
              <a:srgbClr val="176493"/>
            </a:solidFill>
            <a:prstDash val="solid"/>
          </a:ln>
        </p:spPr>
      </p:sp>
      <p:sp>
        <p:nvSpPr>
          <p:cNvPr id="90" name="Shape 88"/>
          <p:cNvSpPr/>
          <p:nvPr/>
        </p:nvSpPr>
        <p:spPr>
          <a:xfrm>
            <a:off x="1496873" y="4479138"/>
            <a:ext cx="84125" cy="84125"/>
          </a:xfrm>
          <a:prstGeom prst="ellipse">
            <a:avLst/>
          </a:prstGeom>
          <a:solidFill>
            <a:srgbClr val="176493"/>
          </a:solidFill>
          <a:ln w="5080">
            <a:solidFill>
              <a:srgbClr val="176493"/>
            </a:solidFill>
            <a:prstDash val="solid"/>
          </a:ln>
        </p:spPr>
      </p:sp>
      <p:sp>
        <p:nvSpPr>
          <p:cNvPr id="91" name="Shape 89"/>
          <p:cNvSpPr/>
          <p:nvPr/>
        </p:nvSpPr>
        <p:spPr>
          <a:xfrm>
            <a:off x="1854098" y="4591406"/>
            <a:ext cx="84125" cy="84125"/>
          </a:xfrm>
          <a:prstGeom prst="ellipse">
            <a:avLst/>
          </a:prstGeom>
          <a:solidFill>
            <a:srgbClr val="176493"/>
          </a:solidFill>
          <a:ln w="5080">
            <a:solidFill>
              <a:srgbClr val="176493"/>
            </a:solidFill>
            <a:prstDash val="solid"/>
          </a:ln>
        </p:spPr>
      </p:sp>
      <p:sp>
        <p:nvSpPr>
          <p:cNvPr id="92" name="Shape 90"/>
          <p:cNvSpPr/>
          <p:nvPr/>
        </p:nvSpPr>
        <p:spPr>
          <a:xfrm>
            <a:off x="1883867" y="4254602"/>
            <a:ext cx="84125" cy="84125"/>
          </a:xfrm>
          <a:prstGeom prst="ellipse">
            <a:avLst/>
          </a:prstGeom>
          <a:solidFill>
            <a:srgbClr val="176493"/>
          </a:solidFill>
          <a:ln w="5080">
            <a:solidFill>
              <a:srgbClr val="176493"/>
            </a:solidFill>
            <a:prstDash val="solid"/>
          </a:ln>
        </p:spPr>
      </p:sp>
      <p:sp>
        <p:nvSpPr>
          <p:cNvPr id="93" name="Shape 91"/>
          <p:cNvSpPr/>
          <p:nvPr/>
        </p:nvSpPr>
        <p:spPr>
          <a:xfrm>
            <a:off x="1377798" y="4479138"/>
            <a:ext cx="84125" cy="84125"/>
          </a:xfrm>
          <a:prstGeom prst="ellipse">
            <a:avLst/>
          </a:prstGeom>
          <a:solidFill>
            <a:srgbClr val="176493"/>
          </a:solidFill>
          <a:ln w="5080">
            <a:solidFill>
              <a:srgbClr val="176493"/>
            </a:solidFill>
            <a:prstDash val="solid"/>
          </a:ln>
        </p:spPr>
      </p:sp>
      <p:sp>
        <p:nvSpPr>
          <p:cNvPr id="94" name="Shape 92"/>
          <p:cNvSpPr/>
          <p:nvPr/>
        </p:nvSpPr>
        <p:spPr>
          <a:xfrm>
            <a:off x="1586179" y="4479138"/>
            <a:ext cx="84125" cy="84125"/>
          </a:xfrm>
          <a:prstGeom prst="ellipse">
            <a:avLst/>
          </a:prstGeom>
          <a:solidFill>
            <a:srgbClr val="176493"/>
          </a:solidFill>
          <a:ln w="5080">
            <a:solidFill>
              <a:srgbClr val="176493"/>
            </a:solidFill>
            <a:prstDash val="solid"/>
          </a:ln>
        </p:spPr>
      </p:sp>
      <p:sp>
        <p:nvSpPr>
          <p:cNvPr id="95" name="Shape 93"/>
          <p:cNvSpPr/>
          <p:nvPr/>
        </p:nvSpPr>
        <p:spPr>
          <a:xfrm>
            <a:off x="2062480" y="4479138"/>
            <a:ext cx="84125" cy="84125"/>
          </a:xfrm>
          <a:prstGeom prst="ellipse">
            <a:avLst/>
          </a:prstGeom>
          <a:solidFill>
            <a:srgbClr val="176493"/>
          </a:solidFill>
          <a:ln w="5080">
            <a:solidFill>
              <a:srgbClr val="176493"/>
            </a:solidFill>
            <a:prstDash val="solid"/>
          </a:ln>
        </p:spPr>
      </p:sp>
      <p:sp>
        <p:nvSpPr>
          <p:cNvPr id="96" name="Shape 94"/>
          <p:cNvSpPr/>
          <p:nvPr/>
        </p:nvSpPr>
        <p:spPr>
          <a:xfrm>
            <a:off x="2002942" y="4254602"/>
            <a:ext cx="84125" cy="84125"/>
          </a:xfrm>
          <a:prstGeom prst="ellipse">
            <a:avLst/>
          </a:prstGeom>
          <a:solidFill>
            <a:srgbClr val="176493"/>
          </a:solidFill>
          <a:ln w="5080">
            <a:solidFill>
              <a:srgbClr val="176493"/>
            </a:solidFill>
            <a:prstDash val="solid"/>
          </a:ln>
        </p:spPr>
      </p:sp>
      <p:sp>
        <p:nvSpPr>
          <p:cNvPr id="97" name="Shape 95"/>
          <p:cNvSpPr/>
          <p:nvPr/>
        </p:nvSpPr>
        <p:spPr>
          <a:xfrm>
            <a:off x="2062480" y="4254602"/>
            <a:ext cx="84125" cy="84125"/>
          </a:xfrm>
          <a:prstGeom prst="ellipse">
            <a:avLst/>
          </a:prstGeom>
          <a:solidFill>
            <a:srgbClr val="176493"/>
          </a:solidFill>
          <a:ln w="5080">
            <a:solidFill>
              <a:srgbClr val="176493"/>
            </a:solidFill>
            <a:prstDash val="solid"/>
          </a:ln>
        </p:spPr>
      </p:sp>
      <p:sp>
        <p:nvSpPr>
          <p:cNvPr id="98" name="Shape 96"/>
          <p:cNvSpPr/>
          <p:nvPr/>
        </p:nvSpPr>
        <p:spPr>
          <a:xfrm>
            <a:off x="1496873" y="4366870"/>
            <a:ext cx="84125" cy="84125"/>
          </a:xfrm>
          <a:prstGeom prst="ellipse">
            <a:avLst/>
          </a:prstGeom>
          <a:solidFill>
            <a:srgbClr val="176493"/>
          </a:solidFill>
          <a:ln w="5080">
            <a:solidFill>
              <a:srgbClr val="176493"/>
            </a:solidFill>
            <a:prstDash val="solid"/>
          </a:ln>
        </p:spPr>
      </p:sp>
      <p:sp>
        <p:nvSpPr>
          <p:cNvPr id="99" name="Shape 97"/>
          <p:cNvSpPr/>
          <p:nvPr/>
        </p:nvSpPr>
        <p:spPr>
          <a:xfrm>
            <a:off x="1615948" y="4591406"/>
            <a:ext cx="84125" cy="84125"/>
          </a:xfrm>
          <a:prstGeom prst="ellipse">
            <a:avLst/>
          </a:prstGeom>
          <a:solidFill>
            <a:srgbClr val="176493"/>
          </a:solidFill>
          <a:ln w="5080">
            <a:solidFill>
              <a:srgbClr val="176493"/>
            </a:solidFill>
            <a:prstDash val="solid"/>
          </a:ln>
        </p:spPr>
      </p:sp>
      <p:sp>
        <p:nvSpPr>
          <p:cNvPr id="100" name="Shape 98"/>
          <p:cNvSpPr/>
          <p:nvPr/>
        </p:nvSpPr>
        <p:spPr>
          <a:xfrm>
            <a:off x="2032711" y="4254602"/>
            <a:ext cx="84125" cy="84125"/>
          </a:xfrm>
          <a:prstGeom prst="ellipse">
            <a:avLst/>
          </a:prstGeom>
          <a:solidFill>
            <a:srgbClr val="176493"/>
          </a:solidFill>
          <a:ln w="5080">
            <a:solidFill>
              <a:srgbClr val="176493"/>
            </a:solidFill>
            <a:prstDash val="solid"/>
          </a:ln>
        </p:spPr>
      </p:sp>
      <p:sp>
        <p:nvSpPr>
          <p:cNvPr id="101" name="Shape 99"/>
          <p:cNvSpPr/>
          <p:nvPr/>
        </p:nvSpPr>
        <p:spPr>
          <a:xfrm>
            <a:off x="2062480" y="4254602"/>
            <a:ext cx="84125" cy="84125"/>
          </a:xfrm>
          <a:prstGeom prst="ellipse">
            <a:avLst/>
          </a:prstGeom>
          <a:solidFill>
            <a:srgbClr val="176493"/>
          </a:solidFill>
          <a:ln w="5080">
            <a:solidFill>
              <a:srgbClr val="176493"/>
            </a:solidFill>
            <a:prstDash val="solid"/>
          </a:ln>
        </p:spPr>
      </p:sp>
      <p:sp>
        <p:nvSpPr>
          <p:cNvPr id="102" name="Shape 100"/>
          <p:cNvSpPr/>
          <p:nvPr/>
        </p:nvSpPr>
        <p:spPr>
          <a:xfrm>
            <a:off x="1526642" y="4366870"/>
            <a:ext cx="84125" cy="84125"/>
          </a:xfrm>
          <a:prstGeom prst="ellipse">
            <a:avLst/>
          </a:prstGeom>
          <a:solidFill>
            <a:srgbClr val="176493"/>
          </a:solidFill>
          <a:ln w="5080">
            <a:solidFill>
              <a:srgbClr val="176493"/>
            </a:solidFill>
            <a:prstDash val="solid"/>
          </a:ln>
        </p:spPr>
      </p:sp>
      <p:sp>
        <p:nvSpPr>
          <p:cNvPr id="103" name="Shape 101"/>
          <p:cNvSpPr/>
          <p:nvPr/>
        </p:nvSpPr>
        <p:spPr>
          <a:xfrm>
            <a:off x="2062480" y="4254602"/>
            <a:ext cx="84125" cy="84125"/>
          </a:xfrm>
          <a:prstGeom prst="ellipse">
            <a:avLst/>
          </a:prstGeom>
          <a:solidFill>
            <a:srgbClr val="176493"/>
          </a:solidFill>
          <a:ln w="5080">
            <a:solidFill>
              <a:srgbClr val="176493"/>
            </a:solidFill>
            <a:prstDash val="solid"/>
          </a:ln>
        </p:spPr>
      </p:sp>
      <p:sp>
        <p:nvSpPr>
          <p:cNvPr id="104" name="Shape 102"/>
          <p:cNvSpPr/>
          <p:nvPr/>
        </p:nvSpPr>
        <p:spPr>
          <a:xfrm>
            <a:off x="1794561" y="4479138"/>
            <a:ext cx="84125" cy="84125"/>
          </a:xfrm>
          <a:prstGeom prst="ellipse">
            <a:avLst/>
          </a:prstGeom>
          <a:solidFill>
            <a:srgbClr val="176493"/>
          </a:solidFill>
          <a:ln w="5080">
            <a:solidFill>
              <a:srgbClr val="176493"/>
            </a:solidFill>
            <a:prstDash val="solid"/>
          </a:ln>
        </p:spPr>
      </p:sp>
      <p:sp>
        <p:nvSpPr>
          <p:cNvPr id="105" name="Shape 103"/>
          <p:cNvSpPr/>
          <p:nvPr/>
        </p:nvSpPr>
        <p:spPr>
          <a:xfrm>
            <a:off x="1943405" y="4366870"/>
            <a:ext cx="84125" cy="84125"/>
          </a:xfrm>
          <a:prstGeom prst="ellipse">
            <a:avLst/>
          </a:prstGeom>
          <a:solidFill>
            <a:srgbClr val="176493"/>
          </a:solidFill>
          <a:ln w="5080">
            <a:solidFill>
              <a:srgbClr val="176493"/>
            </a:solidFill>
            <a:prstDash val="solid"/>
          </a:ln>
        </p:spPr>
      </p:sp>
      <p:sp>
        <p:nvSpPr>
          <p:cNvPr id="106" name="Shape 104"/>
          <p:cNvSpPr/>
          <p:nvPr/>
        </p:nvSpPr>
        <p:spPr>
          <a:xfrm>
            <a:off x="1586179" y="4366870"/>
            <a:ext cx="84125" cy="84125"/>
          </a:xfrm>
          <a:prstGeom prst="ellipse">
            <a:avLst/>
          </a:prstGeom>
          <a:solidFill>
            <a:srgbClr val="176493"/>
          </a:solidFill>
          <a:ln w="5080">
            <a:solidFill>
              <a:srgbClr val="176493"/>
            </a:solidFill>
            <a:prstDash val="solid"/>
          </a:ln>
        </p:spPr>
      </p:sp>
      <p:sp>
        <p:nvSpPr>
          <p:cNvPr id="107" name="Shape 105"/>
          <p:cNvSpPr/>
          <p:nvPr/>
        </p:nvSpPr>
        <p:spPr>
          <a:xfrm>
            <a:off x="1824330" y="4591406"/>
            <a:ext cx="84125" cy="84125"/>
          </a:xfrm>
          <a:prstGeom prst="ellipse">
            <a:avLst/>
          </a:prstGeom>
          <a:solidFill>
            <a:srgbClr val="176493"/>
          </a:solidFill>
          <a:ln w="5080">
            <a:solidFill>
              <a:srgbClr val="176493"/>
            </a:solidFill>
            <a:prstDash val="solid"/>
          </a:ln>
        </p:spPr>
      </p:sp>
      <p:sp>
        <p:nvSpPr>
          <p:cNvPr id="108" name="Shape 106"/>
          <p:cNvSpPr/>
          <p:nvPr/>
        </p:nvSpPr>
        <p:spPr>
          <a:xfrm>
            <a:off x="1407566" y="4591406"/>
            <a:ext cx="84125" cy="84125"/>
          </a:xfrm>
          <a:prstGeom prst="ellipse">
            <a:avLst/>
          </a:prstGeom>
          <a:solidFill>
            <a:srgbClr val="176493"/>
          </a:solidFill>
          <a:ln w="5080">
            <a:solidFill>
              <a:srgbClr val="176493"/>
            </a:solidFill>
            <a:prstDash val="solid"/>
          </a:ln>
        </p:spPr>
      </p:sp>
      <p:sp>
        <p:nvSpPr>
          <p:cNvPr id="109" name="Shape 107"/>
          <p:cNvSpPr/>
          <p:nvPr/>
        </p:nvSpPr>
        <p:spPr>
          <a:xfrm>
            <a:off x="1854098" y="4479138"/>
            <a:ext cx="84125" cy="84125"/>
          </a:xfrm>
          <a:prstGeom prst="ellipse">
            <a:avLst/>
          </a:prstGeom>
          <a:solidFill>
            <a:srgbClr val="176493"/>
          </a:solidFill>
          <a:ln w="5080">
            <a:solidFill>
              <a:srgbClr val="176493"/>
            </a:solidFill>
            <a:prstDash val="solid"/>
          </a:ln>
        </p:spPr>
      </p:sp>
      <p:sp>
        <p:nvSpPr>
          <p:cNvPr id="110" name="Shape 108"/>
          <p:cNvSpPr/>
          <p:nvPr/>
        </p:nvSpPr>
        <p:spPr>
          <a:xfrm>
            <a:off x="1496873" y="4366870"/>
            <a:ext cx="84125" cy="84125"/>
          </a:xfrm>
          <a:prstGeom prst="ellipse">
            <a:avLst/>
          </a:prstGeom>
          <a:solidFill>
            <a:srgbClr val="176493"/>
          </a:solidFill>
          <a:ln w="5080">
            <a:solidFill>
              <a:srgbClr val="176493"/>
            </a:solidFill>
            <a:prstDash val="solid"/>
          </a:ln>
        </p:spPr>
      </p:sp>
      <p:sp>
        <p:nvSpPr>
          <p:cNvPr id="111" name="Shape 109"/>
          <p:cNvSpPr/>
          <p:nvPr/>
        </p:nvSpPr>
        <p:spPr>
          <a:xfrm>
            <a:off x="1645717" y="4254602"/>
            <a:ext cx="84125" cy="84125"/>
          </a:xfrm>
          <a:prstGeom prst="ellipse">
            <a:avLst/>
          </a:prstGeom>
          <a:solidFill>
            <a:srgbClr val="176493"/>
          </a:solidFill>
          <a:ln w="5080">
            <a:solidFill>
              <a:srgbClr val="176493"/>
            </a:solidFill>
            <a:prstDash val="solid"/>
          </a:ln>
        </p:spPr>
      </p:sp>
      <p:sp>
        <p:nvSpPr>
          <p:cNvPr id="112" name="Shape 110"/>
          <p:cNvSpPr/>
          <p:nvPr/>
        </p:nvSpPr>
        <p:spPr>
          <a:xfrm>
            <a:off x="4352544" y="2066544"/>
            <a:ext cx="3474720" cy="3410712"/>
          </a:xfrm>
          <a:prstGeom prst="rect">
            <a:avLst/>
          </a:prstGeom>
          <a:solidFill>
            <a:srgbClr val="FFFFFF"/>
          </a:solidFill>
          <a:ln w="12700">
            <a:solidFill>
              <a:srgbClr val="FFFFFF">
                <a:alpha val="0"/>
              </a:srgbClr>
            </a:solidFill>
            <a:prstDash val="solid"/>
          </a:ln>
        </p:spPr>
      </p:sp>
      <p:sp>
        <p:nvSpPr>
          <p:cNvPr id="113" name="Shape 111"/>
          <p:cNvSpPr/>
          <p:nvPr/>
        </p:nvSpPr>
        <p:spPr>
          <a:xfrm>
            <a:off x="4928616" y="4745736"/>
            <a:ext cx="2679192" cy="0"/>
          </a:xfrm>
          <a:prstGeom prst="line">
            <a:avLst/>
          </a:prstGeom>
          <a:noFill/>
          <a:ln w="8255">
            <a:solidFill>
              <a:srgbClr val="E3EFF7"/>
            </a:solidFill>
            <a:prstDash val="solid"/>
            <a:headEnd type="none"/>
            <a:tailEnd type="none"/>
          </a:ln>
        </p:spPr>
      </p:sp>
      <p:sp>
        <p:nvSpPr>
          <p:cNvPr id="114" name="Text 112"/>
          <p:cNvSpPr/>
          <p:nvPr/>
        </p:nvSpPr>
        <p:spPr>
          <a:xfrm>
            <a:off x="4370832" y="4636008"/>
            <a:ext cx="475488" cy="201168"/>
          </a:xfrm>
          <a:prstGeom prst="rect">
            <a:avLst/>
          </a:prstGeom>
          <a:noFill/>
          <a:ln/>
        </p:spPr>
        <p:txBody>
          <a:bodyPr wrap="square" lIns="0" tIns="0" rIns="0" bIns="0" rtlCol="0" anchor="ctr"/>
          <a:lstStyle/>
          <a:p>
            <a:pPr algn="r" indent="0" marL="0">
              <a:buNone/>
            </a:pPr>
            <a:r>
              <a:rPr lang="en-US" sz="1300" dirty="0">
                <a:solidFill>
                  <a:srgbClr val="53657A"/>
                </a:solidFill>
                <a:latin typeface="Aptos" pitchFamily="34" charset="0"/>
                <a:ea typeface="Aptos" pitchFamily="34" charset="-122"/>
                <a:cs typeface="Aptos" pitchFamily="34" charset="-120"/>
              </a:rPr>
              <a:t>0</a:t>
            </a:r>
            <a:endParaRPr lang="en-US" sz="1300" dirty="0"/>
          </a:p>
        </p:txBody>
      </p:sp>
      <p:sp>
        <p:nvSpPr>
          <p:cNvPr id="115" name="Shape 113"/>
          <p:cNvSpPr/>
          <p:nvPr/>
        </p:nvSpPr>
        <p:spPr>
          <a:xfrm>
            <a:off x="4928616" y="3735324"/>
            <a:ext cx="2679192" cy="0"/>
          </a:xfrm>
          <a:prstGeom prst="line">
            <a:avLst/>
          </a:prstGeom>
          <a:noFill/>
          <a:ln w="8255">
            <a:solidFill>
              <a:srgbClr val="E3EFF7"/>
            </a:solidFill>
            <a:prstDash val="solid"/>
            <a:headEnd type="none"/>
            <a:tailEnd type="none"/>
          </a:ln>
        </p:spPr>
      </p:sp>
      <p:sp>
        <p:nvSpPr>
          <p:cNvPr id="116" name="Text 114"/>
          <p:cNvSpPr/>
          <p:nvPr/>
        </p:nvSpPr>
        <p:spPr>
          <a:xfrm>
            <a:off x="4370832" y="3625596"/>
            <a:ext cx="475488" cy="201168"/>
          </a:xfrm>
          <a:prstGeom prst="rect">
            <a:avLst/>
          </a:prstGeom>
          <a:noFill/>
          <a:ln/>
        </p:spPr>
        <p:txBody>
          <a:bodyPr wrap="square" lIns="0" tIns="0" rIns="0" bIns="0" rtlCol="0" anchor="ctr"/>
          <a:lstStyle/>
          <a:p>
            <a:pPr algn="r" indent="0" marL="0">
              <a:buNone/>
            </a:pPr>
            <a:r>
              <a:rPr lang="en-US" sz="1300" dirty="0">
                <a:solidFill>
                  <a:srgbClr val="53657A"/>
                </a:solidFill>
                <a:latin typeface="Aptos" pitchFamily="34" charset="0"/>
                <a:ea typeface="Aptos" pitchFamily="34" charset="-122"/>
                <a:cs typeface="Aptos" pitchFamily="34" charset="-120"/>
              </a:rPr>
              <a:t>5k</a:t>
            </a:r>
            <a:endParaRPr lang="en-US" sz="1300" dirty="0"/>
          </a:p>
        </p:txBody>
      </p:sp>
      <p:sp>
        <p:nvSpPr>
          <p:cNvPr id="117" name="Shape 115"/>
          <p:cNvSpPr/>
          <p:nvPr/>
        </p:nvSpPr>
        <p:spPr>
          <a:xfrm>
            <a:off x="4928616" y="2724912"/>
            <a:ext cx="2679192" cy="0"/>
          </a:xfrm>
          <a:prstGeom prst="line">
            <a:avLst/>
          </a:prstGeom>
          <a:noFill/>
          <a:ln w="8255">
            <a:solidFill>
              <a:srgbClr val="E3EFF7"/>
            </a:solidFill>
            <a:prstDash val="solid"/>
            <a:headEnd type="none"/>
            <a:tailEnd type="none"/>
          </a:ln>
        </p:spPr>
      </p:sp>
      <p:sp>
        <p:nvSpPr>
          <p:cNvPr id="118" name="Text 116"/>
          <p:cNvSpPr/>
          <p:nvPr/>
        </p:nvSpPr>
        <p:spPr>
          <a:xfrm>
            <a:off x="4370832" y="2615184"/>
            <a:ext cx="475488" cy="201168"/>
          </a:xfrm>
          <a:prstGeom prst="rect">
            <a:avLst/>
          </a:prstGeom>
          <a:noFill/>
          <a:ln/>
        </p:spPr>
        <p:txBody>
          <a:bodyPr wrap="square" lIns="0" tIns="0" rIns="0" bIns="0" rtlCol="0" anchor="ctr"/>
          <a:lstStyle/>
          <a:p>
            <a:pPr algn="r" indent="0" marL="0">
              <a:buNone/>
            </a:pPr>
            <a:r>
              <a:rPr lang="en-US" sz="1300" dirty="0">
                <a:solidFill>
                  <a:srgbClr val="53657A"/>
                </a:solidFill>
                <a:latin typeface="Aptos" pitchFamily="34" charset="0"/>
                <a:ea typeface="Aptos" pitchFamily="34" charset="-122"/>
                <a:cs typeface="Aptos" pitchFamily="34" charset="-120"/>
              </a:rPr>
              <a:t>10k</a:t>
            </a:r>
            <a:endParaRPr lang="en-US" sz="1300" dirty="0"/>
          </a:p>
        </p:txBody>
      </p:sp>
      <p:sp>
        <p:nvSpPr>
          <p:cNvPr id="119" name="Text 117"/>
          <p:cNvSpPr/>
          <p:nvPr/>
        </p:nvSpPr>
        <p:spPr>
          <a:xfrm>
            <a:off x="4654296" y="4864608"/>
            <a:ext cx="548640" cy="201168"/>
          </a:xfrm>
          <a:prstGeom prst="rect">
            <a:avLst/>
          </a:prstGeom>
          <a:noFill/>
          <a:ln/>
        </p:spPr>
        <p:txBody>
          <a:bodyPr wrap="square" lIns="0" tIns="0" rIns="0" bIns="0" rtlCol="0" anchor="ctr"/>
          <a:lstStyle/>
          <a:p>
            <a:pPr algn="ctr" indent="0" marL="0">
              <a:buNone/>
            </a:pPr>
            <a:r>
              <a:rPr lang="en-US" sz="1300" dirty="0">
                <a:solidFill>
                  <a:srgbClr val="53657A"/>
                </a:solidFill>
                <a:latin typeface="Aptos" pitchFamily="34" charset="0"/>
                <a:ea typeface="Aptos" pitchFamily="34" charset="-122"/>
                <a:cs typeface="Aptos" pitchFamily="34" charset="-120"/>
              </a:rPr>
              <a:t>0</a:t>
            </a:r>
            <a:endParaRPr lang="en-US" sz="1300" dirty="0"/>
          </a:p>
        </p:txBody>
      </p:sp>
      <p:sp>
        <p:nvSpPr>
          <p:cNvPr id="120" name="Text 118"/>
          <p:cNvSpPr/>
          <p:nvPr/>
        </p:nvSpPr>
        <p:spPr>
          <a:xfrm>
            <a:off x="5993892" y="4864608"/>
            <a:ext cx="548640" cy="201168"/>
          </a:xfrm>
          <a:prstGeom prst="rect">
            <a:avLst/>
          </a:prstGeom>
          <a:noFill/>
          <a:ln/>
        </p:spPr>
        <p:txBody>
          <a:bodyPr wrap="square" lIns="0" tIns="0" rIns="0" bIns="0" rtlCol="0" anchor="ctr"/>
          <a:lstStyle/>
          <a:p>
            <a:pPr algn="ctr" indent="0" marL="0">
              <a:buNone/>
            </a:pPr>
            <a:r>
              <a:rPr lang="en-US" sz="1300" dirty="0">
                <a:solidFill>
                  <a:srgbClr val="53657A"/>
                </a:solidFill>
                <a:latin typeface="Aptos" pitchFamily="34" charset="0"/>
                <a:ea typeface="Aptos" pitchFamily="34" charset="-122"/>
                <a:cs typeface="Aptos" pitchFamily="34" charset="-120"/>
              </a:rPr>
              <a:t>45</a:t>
            </a:r>
            <a:endParaRPr lang="en-US" sz="1300" dirty="0"/>
          </a:p>
        </p:txBody>
      </p:sp>
      <p:sp>
        <p:nvSpPr>
          <p:cNvPr id="121" name="Text 119"/>
          <p:cNvSpPr/>
          <p:nvPr/>
        </p:nvSpPr>
        <p:spPr>
          <a:xfrm>
            <a:off x="7333488" y="4864608"/>
            <a:ext cx="548640" cy="201168"/>
          </a:xfrm>
          <a:prstGeom prst="rect">
            <a:avLst/>
          </a:prstGeom>
          <a:noFill/>
          <a:ln/>
        </p:spPr>
        <p:txBody>
          <a:bodyPr wrap="square" lIns="0" tIns="0" rIns="0" bIns="0" rtlCol="0" anchor="ctr"/>
          <a:lstStyle/>
          <a:p>
            <a:pPr algn="ctr" indent="0" marL="0">
              <a:buNone/>
            </a:pPr>
            <a:r>
              <a:rPr lang="en-US" sz="1300" dirty="0">
                <a:solidFill>
                  <a:srgbClr val="53657A"/>
                </a:solidFill>
                <a:latin typeface="Aptos" pitchFamily="34" charset="0"/>
                <a:ea typeface="Aptos" pitchFamily="34" charset="-122"/>
                <a:cs typeface="Aptos" pitchFamily="34" charset="-120"/>
              </a:rPr>
              <a:t>90</a:t>
            </a:r>
            <a:endParaRPr lang="en-US" sz="1300" dirty="0"/>
          </a:p>
        </p:txBody>
      </p:sp>
      <p:sp>
        <p:nvSpPr>
          <p:cNvPr id="122" name="Shape 120"/>
          <p:cNvSpPr/>
          <p:nvPr/>
        </p:nvSpPr>
        <p:spPr>
          <a:xfrm>
            <a:off x="4928616" y="2724912"/>
            <a:ext cx="0" cy="2020824"/>
          </a:xfrm>
          <a:prstGeom prst="line">
            <a:avLst/>
          </a:prstGeom>
          <a:noFill/>
          <a:ln w="12700">
            <a:solidFill>
              <a:srgbClr val="C4D2E2"/>
            </a:solidFill>
            <a:prstDash val="solid"/>
            <a:headEnd type="none"/>
            <a:tailEnd type="none"/>
          </a:ln>
        </p:spPr>
      </p:sp>
      <p:sp>
        <p:nvSpPr>
          <p:cNvPr id="123" name="Shape 121"/>
          <p:cNvSpPr/>
          <p:nvPr/>
        </p:nvSpPr>
        <p:spPr>
          <a:xfrm>
            <a:off x="4928616" y="4745736"/>
            <a:ext cx="2679192" cy="0"/>
          </a:xfrm>
          <a:prstGeom prst="line">
            <a:avLst/>
          </a:prstGeom>
          <a:noFill/>
          <a:ln w="12700">
            <a:solidFill>
              <a:srgbClr val="C4D2E2"/>
            </a:solidFill>
            <a:prstDash val="solid"/>
            <a:headEnd type="none"/>
            <a:tailEnd type="none"/>
          </a:ln>
        </p:spPr>
      </p:sp>
      <p:sp>
        <p:nvSpPr>
          <p:cNvPr id="124" name="Text 122"/>
          <p:cNvSpPr/>
          <p:nvPr/>
        </p:nvSpPr>
        <p:spPr>
          <a:xfrm>
            <a:off x="4507992" y="2176272"/>
            <a:ext cx="3163824" cy="265176"/>
          </a:xfrm>
          <a:prstGeom prst="rect">
            <a:avLst/>
          </a:prstGeom>
          <a:noFill/>
          <a:ln/>
        </p:spPr>
        <p:txBody>
          <a:bodyPr wrap="square" lIns="0" tIns="0" rIns="0" bIns="0" rtlCol="0" anchor="ctr"/>
          <a:lstStyle/>
          <a:p>
            <a:pPr algn="l" indent="0" marL="0">
              <a:buNone/>
            </a:pPr>
            <a:r>
              <a:rPr lang="en-US" sz="1600" b="1" dirty="0">
                <a:solidFill>
                  <a:srgbClr val="172233"/>
                </a:solidFill>
                <a:latin typeface="Aptos" pitchFamily="34" charset="0"/>
                <a:ea typeface="Aptos" pitchFamily="34" charset="-122"/>
                <a:cs typeface="Aptos" pitchFamily="34" charset="-120"/>
              </a:rPr>
              <a:t>Does recency imply value?</a:t>
            </a:r>
            <a:endParaRPr lang="en-US" sz="1600" dirty="0"/>
          </a:p>
        </p:txBody>
      </p:sp>
      <p:sp>
        <p:nvSpPr>
          <p:cNvPr id="125" name="Text 123"/>
          <p:cNvSpPr/>
          <p:nvPr/>
        </p:nvSpPr>
        <p:spPr>
          <a:xfrm>
            <a:off x="4928616" y="2441448"/>
            <a:ext cx="2679192" cy="201168"/>
          </a:xfrm>
          <a:prstGeom prst="rect">
            <a:avLst/>
          </a:prstGeom>
          <a:noFill/>
          <a:ln/>
        </p:spPr>
        <p:txBody>
          <a:bodyPr wrap="square" lIns="0" tIns="0" rIns="0" bIns="0" rtlCol="0" anchor="ctr"/>
          <a:lstStyle/>
          <a:p>
            <a:pPr algn="l" indent="0" marL="0">
              <a:buNone/>
            </a:pPr>
            <a:r>
              <a:rPr lang="en-US" sz="1300" dirty="0">
                <a:solidFill>
                  <a:srgbClr val="53657A"/>
                </a:solidFill>
                <a:latin typeface="Aptos" pitchFamily="34" charset="0"/>
                <a:ea typeface="Aptos" pitchFamily="34" charset="-122"/>
                <a:cs typeface="Aptos" pitchFamily="34" charset="-120"/>
              </a:rPr>
              <a:t>Net value (CU)</a:t>
            </a:r>
            <a:endParaRPr lang="en-US" sz="1300" dirty="0"/>
          </a:p>
        </p:txBody>
      </p:sp>
      <p:sp>
        <p:nvSpPr>
          <p:cNvPr id="126" name="Text 124"/>
          <p:cNvSpPr/>
          <p:nvPr/>
        </p:nvSpPr>
        <p:spPr>
          <a:xfrm>
            <a:off x="4928616" y="5248656"/>
            <a:ext cx="2679192" cy="210312"/>
          </a:xfrm>
          <a:prstGeom prst="rect">
            <a:avLst/>
          </a:prstGeom>
          <a:noFill/>
          <a:ln/>
        </p:spPr>
        <p:txBody>
          <a:bodyPr wrap="square" lIns="0" tIns="0" rIns="0" bIns="0" rtlCol="0" anchor="ctr"/>
          <a:lstStyle/>
          <a:p>
            <a:pPr algn="ctr" indent="0" marL="0">
              <a:buNone/>
            </a:pPr>
            <a:r>
              <a:rPr lang="en-US" sz="1300" dirty="0">
                <a:solidFill>
                  <a:srgbClr val="53657A"/>
                </a:solidFill>
                <a:latin typeface="Aptos" pitchFamily="34" charset="0"/>
                <a:ea typeface="Aptos" pitchFamily="34" charset="-122"/>
                <a:cs typeface="Aptos" pitchFamily="34" charset="-120"/>
              </a:rPr>
              <a:t>Recency (days)</a:t>
            </a:r>
            <a:endParaRPr lang="en-US" sz="1300" dirty="0"/>
          </a:p>
        </p:txBody>
      </p:sp>
      <p:sp>
        <p:nvSpPr>
          <p:cNvPr id="127" name="Shape 125"/>
          <p:cNvSpPr/>
          <p:nvPr/>
        </p:nvSpPr>
        <p:spPr>
          <a:xfrm>
            <a:off x="5184242" y="4610716"/>
            <a:ext cx="84125" cy="84125"/>
          </a:xfrm>
          <a:prstGeom prst="ellipse">
            <a:avLst/>
          </a:prstGeom>
          <a:solidFill>
            <a:srgbClr val="176493"/>
          </a:solidFill>
          <a:ln w="5080">
            <a:solidFill>
              <a:srgbClr val="176493"/>
            </a:solidFill>
            <a:prstDash val="solid"/>
          </a:ln>
        </p:spPr>
      </p:sp>
      <p:sp>
        <p:nvSpPr>
          <p:cNvPr id="128" name="Shape 126"/>
          <p:cNvSpPr/>
          <p:nvPr/>
        </p:nvSpPr>
        <p:spPr>
          <a:xfrm>
            <a:off x="4946091" y="3679659"/>
            <a:ext cx="84125" cy="84125"/>
          </a:xfrm>
          <a:prstGeom prst="ellipse">
            <a:avLst/>
          </a:prstGeom>
          <a:solidFill>
            <a:srgbClr val="176493"/>
          </a:solidFill>
          <a:ln w="5080">
            <a:solidFill>
              <a:srgbClr val="176493"/>
            </a:solidFill>
            <a:prstDash val="solid"/>
          </a:ln>
        </p:spPr>
      </p:sp>
      <p:sp>
        <p:nvSpPr>
          <p:cNvPr id="129" name="Shape 127"/>
          <p:cNvSpPr/>
          <p:nvPr/>
        </p:nvSpPr>
        <p:spPr>
          <a:xfrm>
            <a:off x="5065166" y="3898395"/>
            <a:ext cx="84125" cy="84125"/>
          </a:xfrm>
          <a:prstGeom prst="ellipse">
            <a:avLst/>
          </a:prstGeom>
          <a:solidFill>
            <a:srgbClr val="176493"/>
          </a:solidFill>
          <a:ln w="5080">
            <a:solidFill>
              <a:srgbClr val="176493"/>
            </a:solidFill>
            <a:prstDash val="solid"/>
          </a:ln>
        </p:spPr>
      </p:sp>
      <p:sp>
        <p:nvSpPr>
          <p:cNvPr id="130" name="Shape 128"/>
          <p:cNvSpPr/>
          <p:nvPr/>
        </p:nvSpPr>
        <p:spPr>
          <a:xfrm>
            <a:off x="5184242" y="4016959"/>
            <a:ext cx="84125" cy="84125"/>
          </a:xfrm>
          <a:prstGeom prst="ellipse">
            <a:avLst/>
          </a:prstGeom>
          <a:solidFill>
            <a:srgbClr val="176493"/>
          </a:solidFill>
          <a:ln w="5080">
            <a:solidFill>
              <a:srgbClr val="176493"/>
            </a:solidFill>
            <a:prstDash val="solid"/>
          </a:ln>
        </p:spPr>
      </p:sp>
      <p:sp>
        <p:nvSpPr>
          <p:cNvPr id="131" name="Shape 129"/>
          <p:cNvSpPr/>
          <p:nvPr/>
        </p:nvSpPr>
        <p:spPr>
          <a:xfrm>
            <a:off x="5214010" y="3249618"/>
            <a:ext cx="84125" cy="84125"/>
          </a:xfrm>
          <a:prstGeom prst="ellipse">
            <a:avLst/>
          </a:prstGeom>
          <a:solidFill>
            <a:srgbClr val="176493"/>
          </a:solidFill>
          <a:ln w="5080">
            <a:solidFill>
              <a:srgbClr val="176493"/>
            </a:solidFill>
            <a:prstDash val="solid"/>
          </a:ln>
        </p:spPr>
      </p:sp>
      <p:sp>
        <p:nvSpPr>
          <p:cNvPr id="132" name="Shape 130"/>
          <p:cNvSpPr/>
          <p:nvPr/>
        </p:nvSpPr>
        <p:spPr>
          <a:xfrm>
            <a:off x="5214010" y="3149961"/>
            <a:ext cx="84125" cy="84125"/>
          </a:xfrm>
          <a:prstGeom prst="ellipse">
            <a:avLst/>
          </a:prstGeom>
          <a:solidFill>
            <a:srgbClr val="176493"/>
          </a:solidFill>
          <a:ln w="5080">
            <a:solidFill>
              <a:srgbClr val="176493"/>
            </a:solidFill>
            <a:prstDash val="solid"/>
          </a:ln>
        </p:spPr>
      </p:sp>
      <p:sp>
        <p:nvSpPr>
          <p:cNvPr id="133" name="Shape 131"/>
          <p:cNvSpPr/>
          <p:nvPr/>
        </p:nvSpPr>
        <p:spPr>
          <a:xfrm>
            <a:off x="4975860" y="3474934"/>
            <a:ext cx="84125" cy="84125"/>
          </a:xfrm>
          <a:prstGeom prst="ellipse">
            <a:avLst/>
          </a:prstGeom>
          <a:solidFill>
            <a:srgbClr val="176493"/>
          </a:solidFill>
          <a:ln w="5080">
            <a:solidFill>
              <a:srgbClr val="176493"/>
            </a:solidFill>
            <a:prstDash val="solid"/>
          </a:ln>
        </p:spPr>
      </p:sp>
      <p:sp>
        <p:nvSpPr>
          <p:cNvPr id="134" name="Shape 132"/>
          <p:cNvSpPr/>
          <p:nvPr/>
        </p:nvSpPr>
        <p:spPr>
          <a:xfrm>
            <a:off x="5184242" y="3584594"/>
            <a:ext cx="84125" cy="84125"/>
          </a:xfrm>
          <a:prstGeom prst="ellipse">
            <a:avLst/>
          </a:prstGeom>
          <a:solidFill>
            <a:srgbClr val="176493"/>
          </a:solidFill>
          <a:ln w="5080">
            <a:solidFill>
              <a:srgbClr val="176493"/>
            </a:solidFill>
            <a:prstDash val="solid"/>
          </a:ln>
        </p:spPr>
      </p:sp>
      <p:sp>
        <p:nvSpPr>
          <p:cNvPr id="135" name="Shape 133"/>
          <p:cNvSpPr/>
          <p:nvPr/>
        </p:nvSpPr>
        <p:spPr>
          <a:xfrm>
            <a:off x="5303317" y="4120755"/>
            <a:ext cx="84125" cy="84125"/>
          </a:xfrm>
          <a:prstGeom prst="ellipse">
            <a:avLst/>
          </a:prstGeom>
          <a:solidFill>
            <a:srgbClr val="176493"/>
          </a:solidFill>
          <a:ln w="5080">
            <a:solidFill>
              <a:srgbClr val="176493"/>
            </a:solidFill>
            <a:prstDash val="solid"/>
          </a:ln>
        </p:spPr>
      </p:sp>
      <p:sp>
        <p:nvSpPr>
          <p:cNvPr id="136" name="Shape 134"/>
          <p:cNvSpPr/>
          <p:nvPr/>
        </p:nvSpPr>
        <p:spPr>
          <a:xfrm>
            <a:off x="5243779" y="3806967"/>
            <a:ext cx="84125" cy="84125"/>
          </a:xfrm>
          <a:prstGeom prst="ellipse">
            <a:avLst/>
          </a:prstGeom>
          <a:solidFill>
            <a:srgbClr val="176493"/>
          </a:solidFill>
          <a:ln w="5080">
            <a:solidFill>
              <a:srgbClr val="176493"/>
            </a:solidFill>
            <a:prstDash val="solid"/>
          </a:ln>
        </p:spPr>
      </p:sp>
      <p:sp>
        <p:nvSpPr>
          <p:cNvPr id="137" name="Shape 135"/>
          <p:cNvSpPr/>
          <p:nvPr/>
        </p:nvSpPr>
        <p:spPr>
          <a:xfrm>
            <a:off x="5422392" y="3798452"/>
            <a:ext cx="84125" cy="84125"/>
          </a:xfrm>
          <a:prstGeom prst="ellipse">
            <a:avLst/>
          </a:prstGeom>
          <a:solidFill>
            <a:srgbClr val="176493"/>
          </a:solidFill>
          <a:ln w="5080">
            <a:solidFill>
              <a:srgbClr val="176493"/>
            </a:solidFill>
            <a:prstDash val="solid"/>
          </a:ln>
        </p:spPr>
      </p:sp>
      <p:sp>
        <p:nvSpPr>
          <p:cNvPr id="138" name="Shape 136"/>
          <p:cNvSpPr/>
          <p:nvPr/>
        </p:nvSpPr>
        <p:spPr>
          <a:xfrm>
            <a:off x="5243779" y="3793761"/>
            <a:ext cx="84125" cy="84125"/>
          </a:xfrm>
          <a:prstGeom prst="ellipse">
            <a:avLst/>
          </a:prstGeom>
          <a:solidFill>
            <a:srgbClr val="176493"/>
          </a:solidFill>
          <a:ln w="5080">
            <a:solidFill>
              <a:srgbClr val="176493"/>
            </a:solidFill>
            <a:prstDash val="solid"/>
          </a:ln>
        </p:spPr>
      </p:sp>
      <p:sp>
        <p:nvSpPr>
          <p:cNvPr id="139" name="Shape 137"/>
          <p:cNvSpPr/>
          <p:nvPr/>
        </p:nvSpPr>
        <p:spPr>
          <a:xfrm>
            <a:off x="5184242" y="3752492"/>
            <a:ext cx="84125" cy="84125"/>
          </a:xfrm>
          <a:prstGeom prst="ellipse">
            <a:avLst/>
          </a:prstGeom>
          <a:solidFill>
            <a:srgbClr val="176493"/>
          </a:solidFill>
          <a:ln w="5080">
            <a:solidFill>
              <a:srgbClr val="176493"/>
            </a:solidFill>
            <a:prstDash val="solid"/>
          </a:ln>
        </p:spPr>
      </p:sp>
      <p:sp>
        <p:nvSpPr>
          <p:cNvPr id="140" name="Shape 138"/>
          <p:cNvSpPr/>
          <p:nvPr/>
        </p:nvSpPr>
        <p:spPr>
          <a:xfrm>
            <a:off x="4916322" y="3615361"/>
            <a:ext cx="84125" cy="84125"/>
          </a:xfrm>
          <a:prstGeom prst="ellipse">
            <a:avLst/>
          </a:prstGeom>
          <a:solidFill>
            <a:srgbClr val="176493"/>
          </a:solidFill>
          <a:ln w="5080">
            <a:solidFill>
              <a:srgbClr val="176493"/>
            </a:solidFill>
            <a:prstDash val="solid"/>
          </a:ln>
        </p:spPr>
      </p:sp>
      <p:sp>
        <p:nvSpPr>
          <p:cNvPr id="141" name="Shape 139"/>
          <p:cNvSpPr/>
          <p:nvPr/>
        </p:nvSpPr>
        <p:spPr>
          <a:xfrm>
            <a:off x="5243779" y="4304236"/>
            <a:ext cx="84125" cy="84125"/>
          </a:xfrm>
          <a:prstGeom prst="ellipse">
            <a:avLst/>
          </a:prstGeom>
          <a:solidFill>
            <a:srgbClr val="176493"/>
          </a:solidFill>
          <a:ln w="5080">
            <a:solidFill>
              <a:srgbClr val="176493"/>
            </a:solidFill>
            <a:prstDash val="solid"/>
          </a:ln>
        </p:spPr>
      </p:sp>
      <p:sp>
        <p:nvSpPr>
          <p:cNvPr id="142" name="Shape 140"/>
          <p:cNvSpPr/>
          <p:nvPr/>
        </p:nvSpPr>
        <p:spPr>
          <a:xfrm>
            <a:off x="5214010" y="3874825"/>
            <a:ext cx="84125" cy="84125"/>
          </a:xfrm>
          <a:prstGeom prst="ellipse">
            <a:avLst/>
          </a:prstGeom>
          <a:solidFill>
            <a:srgbClr val="176493"/>
          </a:solidFill>
          <a:ln w="5080">
            <a:solidFill>
              <a:srgbClr val="176493"/>
            </a:solidFill>
            <a:prstDash val="solid"/>
          </a:ln>
        </p:spPr>
      </p:sp>
      <p:sp>
        <p:nvSpPr>
          <p:cNvPr id="143" name="Shape 141"/>
          <p:cNvSpPr/>
          <p:nvPr/>
        </p:nvSpPr>
        <p:spPr>
          <a:xfrm>
            <a:off x="5094935" y="3499083"/>
            <a:ext cx="84125" cy="84125"/>
          </a:xfrm>
          <a:prstGeom prst="ellipse">
            <a:avLst/>
          </a:prstGeom>
          <a:solidFill>
            <a:srgbClr val="176493"/>
          </a:solidFill>
          <a:ln w="5080">
            <a:solidFill>
              <a:srgbClr val="176493"/>
            </a:solidFill>
            <a:prstDash val="solid"/>
          </a:ln>
        </p:spPr>
      </p:sp>
      <p:sp>
        <p:nvSpPr>
          <p:cNvPr id="144" name="Shape 142"/>
          <p:cNvSpPr/>
          <p:nvPr/>
        </p:nvSpPr>
        <p:spPr>
          <a:xfrm>
            <a:off x="5273548" y="2946250"/>
            <a:ext cx="84125" cy="84125"/>
          </a:xfrm>
          <a:prstGeom prst="ellipse">
            <a:avLst/>
          </a:prstGeom>
          <a:solidFill>
            <a:srgbClr val="176493"/>
          </a:solidFill>
          <a:ln w="5080">
            <a:solidFill>
              <a:srgbClr val="176493"/>
            </a:solidFill>
            <a:prstDash val="solid"/>
          </a:ln>
        </p:spPr>
      </p:sp>
      <p:sp>
        <p:nvSpPr>
          <p:cNvPr id="145" name="Shape 143"/>
          <p:cNvSpPr/>
          <p:nvPr/>
        </p:nvSpPr>
        <p:spPr>
          <a:xfrm>
            <a:off x="5481930" y="3789020"/>
            <a:ext cx="84125" cy="84125"/>
          </a:xfrm>
          <a:prstGeom prst="ellipse">
            <a:avLst/>
          </a:prstGeom>
          <a:solidFill>
            <a:srgbClr val="176493"/>
          </a:solidFill>
          <a:ln w="5080">
            <a:solidFill>
              <a:srgbClr val="176493"/>
            </a:solidFill>
            <a:prstDash val="solid"/>
          </a:ln>
        </p:spPr>
      </p:sp>
      <p:sp>
        <p:nvSpPr>
          <p:cNvPr id="146" name="Shape 144"/>
          <p:cNvSpPr/>
          <p:nvPr/>
        </p:nvSpPr>
        <p:spPr>
          <a:xfrm>
            <a:off x="4916322" y="3825973"/>
            <a:ext cx="84125" cy="84125"/>
          </a:xfrm>
          <a:prstGeom prst="ellipse">
            <a:avLst/>
          </a:prstGeom>
          <a:solidFill>
            <a:srgbClr val="176493"/>
          </a:solidFill>
          <a:ln w="5080">
            <a:solidFill>
              <a:srgbClr val="176493"/>
            </a:solidFill>
            <a:prstDash val="solid"/>
          </a:ln>
        </p:spPr>
      </p:sp>
      <p:sp>
        <p:nvSpPr>
          <p:cNvPr id="147" name="Shape 145"/>
          <p:cNvSpPr/>
          <p:nvPr/>
        </p:nvSpPr>
        <p:spPr>
          <a:xfrm>
            <a:off x="5124704" y="3474766"/>
            <a:ext cx="84125" cy="84125"/>
          </a:xfrm>
          <a:prstGeom prst="ellipse">
            <a:avLst/>
          </a:prstGeom>
          <a:solidFill>
            <a:srgbClr val="176493"/>
          </a:solidFill>
          <a:ln w="5080">
            <a:solidFill>
              <a:srgbClr val="176493"/>
            </a:solidFill>
            <a:prstDash val="solid"/>
          </a:ln>
        </p:spPr>
      </p:sp>
      <p:sp>
        <p:nvSpPr>
          <p:cNvPr id="148" name="Shape 146"/>
          <p:cNvSpPr/>
          <p:nvPr/>
        </p:nvSpPr>
        <p:spPr>
          <a:xfrm>
            <a:off x="5422392" y="3843035"/>
            <a:ext cx="84125" cy="84125"/>
          </a:xfrm>
          <a:prstGeom prst="ellipse">
            <a:avLst/>
          </a:prstGeom>
          <a:solidFill>
            <a:srgbClr val="176493"/>
          </a:solidFill>
          <a:ln w="5080">
            <a:solidFill>
              <a:srgbClr val="176493"/>
            </a:solidFill>
            <a:prstDash val="solid"/>
          </a:ln>
        </p:spPr>
      </p:sp>
      <p:sp>
        <p:nvSpPr>
          <p:cNvPr id="149" name="Shape 147"/>
          <p:cNvSpPr/>
          <p:nvPr/>
        </p:nvSpPr>
        <p:spPr>
          <a:xfrm>
            <a:off x="5005629" y="3412440"/>
            <a:ext cx="84125" cy="84125"/>
          </a:xfrm>
          <a:prstGeom prst="ellipse">
            <a:avLst/>
          </a:prstGeom>
          <a:solidFill>
            <a:srgbClr val="176493"/>
          </a:solidFill>
          <a:ln w="5080">
            <a:solidFill>
              <a:srgbClr val="176493"/>
            </a:solidFill>
            <a:prstDash val="solid"/>
          </a:ln>
        </p:spPr>
      </p:sp>
      <p:sp>
        <p:nvSpPr>
          <p:cNvPr id="150" name="Shape 148"/>
          <p:cNvSpPr/>
          <p:nvPr/>
        </p:nvSpPr>
        <p:spPr>
          <a:xfrm>
            <a:off x="5333086" y="4044485"/>
            <a:ext cx="84125" cy="84125"/>
          </a:xfrm>
          <a:prstGeom prst="ellipse">
            <a:avLst/>
          </a:prstGeom>
          <a:solidFill>
            <a:srgbClr val="176493"/>
          </a:solidFill>
          <a:ln w="5080">
            <a:solidFill>
              <a:srgbClr val="176493"/>
            </a:solidFill>
            <a:prstDash val="solid"/>
          </a:ln>
        </p:spPr>
      </p:sp>
      <p:sp>
        <p:nvSpPr>
          <p:cNvPr id="151" name="Shape 149"/>
          <p:cNvSpPr/>
          <p:nvPr/>
        </p:nvSpPr>
        <p:spPr>
          <a:xfrm>
            <a:off x="4975860" y="4096147"/>
            <a:ext cx="84125" cy="84125"/>
          </a:xfrm>
          <a:prstGeom prst="ellipse">
            <a:avLst/>
          </a:prstGeom>
          <a:solidFill>
            <a:srgbClr val="176493"/>
          </a:solidFill>
          <a:ln w="5080">
            <a:solidFill>
              <a:srgbClr val="176493"/>
            </a:solidFill>
            <a:prstDash val="solid"/>
          </a:ln>
        </p:spPr>
      </p:sp>
      <p:sp>
        <p:nvSpPr>
          <p:cNvPr id="152" name="Shape 150"/>
          <p:cNvSpPr/>
          <p:nvPr/>
        </p:nvSpPr>
        <p:spPr>
          <a:xfrm>
            <a:off x="5035398" y="4039631"/>
            <a:ext cx="84125" cy="84125"/>
          </a:xfrm>
          <a:prstGeom prst="ellipse">
            <a:avLst/>
          </a:prstGeom>
          <a:solidFill>
            <a:srgbClr val="176493"/>
          </a:solidFill>
          <a:ln w="5080">
            <a:solidFill>
              <a:srgbClr val="176493"/>
            </a:solidFill>
            <a:prstDash val="solid"/>
          </a:ln>
        </p:spPr>
      </p:sp>
      <p:sp>
        <p:nvSpPr>
          <p:cNvPr id="153" name="Shape 151"/>
          <p:cNvSpPr/>
          <p:nvPr/>
        </p:nvSpPr>
        <p:spPr>
          <a:xfrm>
            <a:off x="5154473" y="4119278"/>
            <a:ext cx="84125" cy="84125"/>
          </a:xfrm>
          <a:prstGeom prst="ellipse">
            <a:avLst/>
          </a:prstGeom>
          <a:solidFill>
            <a:srgbClr val="176493"/>
          </a:solidFill>
          <a:ln w="5080">
            <a:solidFill>
              <a:srgbClr val="176493"/>
            </a:solidFill>
            <a:prstDash val="solid"/>
          </a:ln>
        </p:spPr>
      </p:sp>
      <p:sp>
        <p:nvSpPr>
          <p:cNvPr id="154" name="Shape 152"/>
          <p:cNvSpPr/>
          <p:nvPr/>
        </p:nvSpPr>
        <p:spPr>
          <a:xfrm>
            <a:off x="4946091" y="4095458"/>
            <a:ext cx="84125" cy="84125"/>
          </a:xfrm>
          <a:prstGeom prst="ellipse">
            <a:avLst/>
          </a:prstGeom>
          <a:solidFill>
            <a:srgbClr val="176493"/>
          </a:solidFill>
          <a:ln w="5080">
            <a:solidFill>
              <a:srgbClr val="176493"/>
            </a:solidFill>
            <a:prstDash val="solid"/>
          </a:ln>
        </p:spPr>
      </p:sp>
      <p:sp>
        <p:nvSpPr>
          <p:cNvPr id="155" name="Shape 153"/>
          <p:cNvSpPr/>
          <p:nvPr/>
        </p:nvSpPr>
        <p:spPr>
          <a:xfrm>
            <a:off x="5035398" y="3298964"/>
            <a:ext cx="84125" cy="84125"/>
          </a:xfrm>
          <a:prstGeom prst="ellipse">
            <a:avLst/>
          </a:prstGeom>
          <a:solidFill>
            <a:srgbClr val="176493"/>
          </a:solidFill>
          <a:ln w="5080">
            <a:solidFill>
              <a:srgbClr val="176493"/>
            </a:solidFill>
            <a:prstDash val="solid"/>
          </a:ln>
        </p:spPr>
      </p:sp>
      <p:sp>
        <p:nvSpPr>
          <p:cNvPr id="156" name="Shape 154"/>
          <p:cNvSpPr/>
          <p:nvPr/>
        </p:nvSpPr>
        <p:spPr>
          <a:xfrm>
            <a:off x="6821526" y="4431966"/>
            <a:ext cx="84125" cy="84125"/>
          </a:xfrm>
          <a:prstGeom prst="ellipse">
            <a:avLst/>
          </a:prstGeom>
          <a:solidFill>
            <a:srgbClr val="176493"/>
          </a:solidFill>
          <a:ln w="5080">
            <a:solidFill>
              <a:srgbClr val="176493"/>
            </a:solidFill>
            <a:prstDash val="solid"/>
          </a:ln>
        </p:spPr>
      </p:sp>
      <p:sp>
        <p:nvSpPr>
          <p:cNvPr id="157" name="Shape 155"/>
          <p:cNvSpPr/>
          <p:nvPr/>
        </p:nvSpPr>
        <p:spPr>
          <a:xfrm>
            <a:off x="7208520" y="4627731"/>
            <a:ext cx="84125" cy="84125"/>
          </a:xfrm>
          <a:prstGeom prst="ellipse">
            <a:avLst/>
          </a:prstGeom>
          <a:solidFill>
            <a:srgbClr val="176493"/>
          </a:solidFill>
          <a:ln w="5080">
            <a:solidFill>
              <a:srgbClr val="176493"/>
            </a:solidFill>
            <a:prstDash val="solid"/>
          </a:ln>
        </p:spPr>
      </p:sp>
      <p:sp>
        <p:nvSpPr>
          <p:cNvPr id="158" name="Shape 156"/>
          <p:cNvSpPr/>
          <p:nvPr/>
        </p:nvSpPr>
        <p:spPr>
          <a:xfrm>
            <a:off x="6940601" y="4439867"/>
            <a:ext cx="84125" cy="84125"/>
          </a:xfrm>
          <a:prstGeom prst="ellipse">
            <a:avLst/>
          </a:prstGeom>
          <a:solidFill>
            <a:srgbClr val="176493"/>
          </a:solidFill>
          <a:ln w="5080">
            <a:solidFill>
              <a:srgbClr val="176493"/>
            </a:solidFill>
            <a:prstDash val="solid"/>
          </a:ln>
        </p:spPr>
      </p:sp>
      <p:sp>
        <p:nvSpPr>
          <p:cNvPr id="159" name="Shape 157"/>
          <p:cNvSpPr/>
          <p:nvPr/>
        </p:nvSpPr>
        <p:spPr>
          <a:xfrm>
            <a:off x="7000138" y="4508696"/>
            <a:ext cx="84125" cy="84125"/>
          </a:xfrm>
          <a:prstGeom prst="ellipse">
            <a:avLst/>
          </a:prstGeom>
          <a:solidFill>
            <a:srgbClr val="176493"/>
          </a:solidFill>
          <a:ln w="5080">
            <a:solidFill>
              <a:srgbClr val="176493"/>
            </a:solidFill>
            <a:prstDash val="solid"/>
          </a:ln>
        </p:spPr>
      </p:sp>
      <p:sp>
        <p:nvSpPr>
          <p:cNvPr id="160" name="Shape 158"/>
          <p:cNvSpPr/>
          <p:nvPr/>
        </p:nvSpPr>
        <p:spPr>
          <a:xfrm>
            <a:off x="6732219" y="4599494"/>
            <a:ext cx="84125" cy="84125"/>
          </a:xfrm>
          <a:prstGeom prst="ellipse">
            <a:avLst/>
          </a:prstGeom>
          <a:solidFill>
            <a:srgbClr val="176493"/>
          </a:solidFill>
          <a:ln w="5080">
            <a:solidFill>
              <a:srgbClr val="176493"/>
            </a:solidFill>
            <a:prstDash val="solid"/>
          </a:ln>
        </p:spPr>
      </p:sp>
      <p:sp>
        <p:nvSpPr>
          <p:cNvPr id="161" name="Shape 159"/>
          <p:cNvSpPr/>
          <p:nvPr/>
        </p:nvSpPr>
        <p:spPr>
          <a:xfrm>
            <a:off x="6821526" y="4579441"/>
            <a:ext cx="84125" cy="84125"/>
          </a:xfrm>
          <a:prstGeom prst="ellipse">
            <a:avLst/>
          </a:prstGeom>
          <a:solidFill>
            <a:srgbClr val="176493"/>
          </a:solidFill>
          <a:ln w="5080">
            <a:solidFill>
              <a:srgbClr val="176493"/>
            </a:solidFill>
            <a:prstDash val="solid"/>
          </a:ln>
        </p:spPr>
      </p:sp>
      <p:sp>
        <p:nvSpPr>
          <p:cNvPr id="162" name="Shape 160"/>
          <p:cNvSpPr/>
          <p:nvPr/>
        </p:nvSpPr>
        <p:spPr>
          <a:xfrm>
            <a:off x="6553606" y="4582444"/>
            <a:ext cx="84125" cy="84125"/>
          </a:xfrm>
          <a:prstGeom prst="ellipse">
            <a:avLst/>
          </a:prstGeom>
          <a:solidFill>
            <a:srgbClr val="176493"/>
          </a:solidFill>
          <a:ln w="5080">
            <a:solidFill>
              <a:srgbClr val="176493"/>
            </a:solidFill>
            <a:prstDash val="solid"/>
          </a:ln>
        </p:spPr>
      </p:sp>
      <p:sp>
        <p:nvSpPr>
          <p:cNvPr id="163" name="Shape 161"/>
          <p:cNvSpPr/>
          <p:nvPr/>
        </p:nvSpPr>
        <p:spPr>
          <a:xfrm>
            <a:off x="7446670" y="4501240"/>
            <a:ext cx="84125" cy="84125"/>
          </a:xfrm>
          <a:prstGeom prst="ellipse">
            <a:avLst/>
          </a:prstGeom>
          <a:solidFill>
            <a:srgbClr val="176493"/>
          </a:solidFill>
          <a:ln w="5080">
            <a:solidFill>
              <a:srgbClr val="176493"/>
            </a:solidFill>
            <a:prstDash val="solid"/>
          </a:ln>
        </p:spPr>
      </p:sp>
      <p:sp>
        <p:nvSpPr>
          <p:cNvPr id="164" name="Shape 162"/>
          <p:cNvSpPr/>
          <p:nvPr/>
        </p:nvSpPr>
        <p:spPr>
          <a:xfrm>
            <a:off x="7446670" y="4607177"/>
            <a:ext cx="84125" cy="84125"/>
          </a:xfrm>
          <a:prstGeom prst="ellipse">
            <a:avLst/>
          </a:prstGeom>
          <a:solidFill>
            <a:srgbClr val="176493"/>
          </a:solidFill>
          <a:ln w="5080">
            <a:solidFill>
              <a:srgbClr val="176493"/>
            </a:solidFill>
            <a:prstDash val="solid"/>
          </a:ln>
        </p:spPr>
      </p:sp>
      <p:sp>
        <p:nvSpPr>
          <p:cNvPr id="165" name="Shape 163"/>
          <p:cNvSpPr/>
          <p:nvPr/>
        </p:nvSpPr>
        <p:spPr>
          <a:xfrm>
            <a:off x="7357364" y="4588909"/>
            <a:ext cx="84125" cy="84125"/>
          </a:xfrm>
          <a:prstGeom prst="ellipse">
            <a:avLst/>
          </a:prstGeom>
          <a:solidFill>
            <a:srgbClr val="176493"/>
          </a:solidFill>
          <a:ln w="5080">
            <a:solidFill>
              <a:srgbClr val="176493"/>
            </a:solidFill>
            <a:prstDash val="solid"/>
          </a:ln>
        </p:spPr>
      </p:sp>
      <p:sp>
        <p:nvSpPr>
          <p:cNvPr id="166" name="Shape 164"/>
          <p:cNvSpPr/>
          <p:nvPr/>
        </p:nvSpPr>
        <p:spPr>
          <a:xfrm>
            <a:off x="6970370" y="4652941"/>
            <a:ext cx="84125" cy="84125"/>
          </a:xfrm>
          <a:prstGeom prst="ellipse">
            <a:avLst/>
          </a:prstGeom>
          <a:solidFill>
            <a:srgbClr val="176493"/>
          </a:solidFill>
          <a:ln w="5080">
            <a:solidFill>
              <a:srgbClr val="176493"/>
            </a:solidFill>
            <a:prstDash val="solid"/>
          </a:ln>
        </p:spPr>
      </p:sp>
      <p:sp>
        <p:nvSpPr>
          <p:cNvPr id="167" name="Shape 165"/>
          <p:cNvSpPr/>
          <p:nvPr/>
        </p:nvSpPr>
        <p:spPr>
          <a:xfrm>
            <a:off x="6255918" y="4561436"/>
            <a:ext cx="84125" cy="84125"/>
          </a:xfrm>
          <a:prstGeom prst="ellipse">
            <a:avLst/>
          </a:prstGeom>
          <a:solidFill>
            <a:srgbClr val="176493"/>
          </a:solidFill>
          <a:ln w="5080">
            <a:solidFill>
              <a:srgbClr val="176493"/>
            </a:solidFill>
            <a:prstDash val="solid"/>
          </a:ln>
        </p:spPr>
      </p:sp>
      <p:sp>
        <p:nvSpPr>
          <p:cNvPr id="168" name="Shape 166"/>
          <p:cNvSpPr/>
          <p:nvPr/>
        </p:nvSpPr>
        <p:spPr>
          <a:xfrm>
            <a:off x="6583375" y="4660390"/>
            <a:ext cx="84125" cy="84125"/>
          </a:xfrm>
          <a:prstGeom prst="ellipse">
            <a:avLst/>
          </a:prstGeom>
          <a:solidFill>
            <a:srgbClr val="176493"/>
          </a:solidFill>
          <a:ln w="5080">
            <a:solidFill>
              <a:srgbClr val="176493"/>
            </a:solidFill>
            <a:prstDash val="solid"/>
          </a:ln>
        </p:spPr>
      </p:sp>
      <p:sp>
        <p:nvSpPr>
          <p:cNvPr id="169" name="Shape 167"/>
          <p:cNvSpPr/>
          <p:nvPr/>
        </p:nvSpPr>
        <p:spPr>
          <a:xfrm>
            <a:off x="7268058" y="4653755"/>
            <a:ext cx="84125" cy="84125"/>
          </a:xfrm>
          <a:prstGeom prst="ellipse">
            <a:avLst/>
          </a:prstGeom>
          <a:solidFill>
            <a:srgbClr val="176493"/>
          </a:solidFill>
          <a:ln w="5080">
            <a:solidFill>
              <a:srgbClr val="176493"/>
            </a:solidFill>
            <a:prstDash val="solid"/>
          </a:ln>
        </p:spPr>
      </p:sp>
      <p:sp>
        <p:nvSpPr>
          <p:cNvPr id="170" name="Shape 168"/>
          <p:cNvSpPr/>
          <p:nvPr/>
        </p:nvSpPr>
        <p:spPr>
          <a:xfrm>
            <a:off x="6732219" y="4566464"/>
            <a:ext cx="84125" cy="84125"/>
          </a:xfrm>
          <a:prstGeom prst="ellipse">
            <a:avLst/>
          </a:prstGeom>
          <a:solidFill>
            <a:srgbClr val="176493"/>
          </a:solidFill>
          <a:ln w="5080">
            <a:solidFill>
              <a:srgbClr val="176493"/>
            </a:solidFill>
            <a:prstDash val="solid"/>
          </a:ln>
        </p:spPr>
      </p:sp>
      <p:sp>
        <p:nvSpPr>
          <p:cNvPr id="171" name="Shape 169"/>
          <p:cNvSpPr/>
          <p:nvPr/>
        </p:nvSpPr>
        <p:spPr>
          <a:xfrm>
            <a:off x="6404762" y="4595646"/>
            <a:ext cx="84125" cy="84125"/>
          </a:xfrm>
          <a:prstGeom prst="ellipse">
            <a:avLst/>
          </a:prstGeom>
          <a:solidFill>
            <a:srgbClr val="176493"/>
          </a:solidFill>
          <a:ln w="5080">
            <a:solidFill>
              <a:srgbClr val="176493"/>
            </a:solidFill>
            <a:prstDash val="solid"/>
          </a:ln>
        </p:spPr>
      </p:sp>
      <p:sp>
        <p:nvSpPr>
          <p:cNvPr id="172" name="Shape 170"/>
          <p:cNvSpPr/>
          <p:nvPr/>
        </p:nvSpPr>
        <p:spPr>
          <a:xfrm>
            <a:off x="7029907" y="4591568"/>
            <a:ext cx="84125" cy="84125"/>
          </a:xfrm>
          <a:prstGeom prst="ellipse">
            <a:avLst/>
          </a:prstGeom>
          <a:solidFill>
            <a:srgbClr val="176493"/>
          </a:solidFill>
          <a:ln w="5080">
            <a:solidFill>
              <a:srgbClr val="176493"/>
            </a:solidFill>
            <a:prstDash val="solid"/>
          </a:ln>
        </p:spPr>
      </p:sp>
      <p:sp>
        <p:nvSpPr>
          <p:cNvPr id="173" name="Shape 171"/>
          <p:cNvSpPr/>
          <p:nvPr/>
        </p:nvSpPr>
        <p:spPr>
          <a:xfrm>
            <a:off x="6523838" y="4630599"/>
            <a:ext cx="84125" cy="84125"/>
          </a:xfrm>
          <a:prstGeom prst="ellipse">
            <a:avLst/>
          </a:prstGeom>
          <a:solidFill>
            <a:srgbClr val="176493"/>
          </a:solidFill>
          <a:ln w="5080">
            <a:solidFill>
              <a:srgbClr val="176493"/>
            </a:solidFill>
            <a:prstDash val="solid"/>
          </a:ln>
        </p:spPr>
      </p:sp>
      <p:sp>
        <p:nvSpPr>
          <p:cNvPr id="174" name="Shape 172"/>
          <p:cNvSpPr/>
          <p:nvPr/>
        </p:nvSpPr>
        <p:spPr>
          <a:xfrm>
            <a:off x="6226150" y="4623613"/>
            <a:ext cx="84125" cy="84125"/>
          </a:xfrm>
          <a:prstGeom prst="ellipse">
            <a:avLst/>
          </a:prstGeom>
          <a:solidFill>
            <a:srgbClr val="176493"/>
          </a:solidFill>
          <a:ln w="5080">
            <a:solidFill>
              <a:srgbClr val="176493"/>
            </a:solidFill>
            <a:prstDash val="solid"/>
          </a:ln>
        </p:spPr>
      </p:sp>
      <p:sp>
        <p:nvSpPr>
          <p:cNvPr id="175" name="Shape 173"/>
          <p:cNvSpPr/>
          <p:nvPr/>
        </p:nvSpPr>
        <p:spPr>
          <a:xfrm>
            <a:off x="7297826" y="4638217"/>
            <a:ext cx="84125" cy="84125"/>
          </a:xfrm>
          <a:prstGeom prst="ellipse">
            <a:avLst/>
          </a:prstGeom>
          <a:solidFill>
            <a:srgbClr val="176493"/>
          </a:solidFill>
          <a:ln w="5080">
            <a:solidFill>
              <a:srgbClr val="176493"/>
            </a:solidFill>
            <a:prstDash val="solid"/>
          </a:ln>
        </p:spPr>
      </p:sp>
      <p:sp>
        <p:nvSpPr>
          <p:cNvPr id="176" name="Shape 174"/>
          <p:cNvSpPr/>
          <p:nvPr/>
        </p:nvSpPr>
        <p:spPr>
          <a:xfrm>
            <a:off x="6553606" y="4602307"/>
            <a:ext cx="84125" cy="84125"/>
          </a:xfrm>
          <a:prstGeom prst="ellipse">
            <a:avLst/>
          </a:prstGeom>
          <a:solidFill>
            <a:srgbClr val="176493"/>
          </a:solidFill>
          <a:ln w="5080">
            <a:solidFill>
              <a:srgbClr val="176493"/>
            </a:solidFill>
            <a:prstDash val="solid"/>
          </a:ln>
        </p:spPr>
      </p:sp>
      <p:sp>
        <p:nvSpPr>
          <p:cNvPr id="177" name="Shape 175"/>
          <p:cNvSpPr/>
          <p:nvPr/>
        </p:nvSpPr>
        <p:spPr>
          <a:xfrm>
            <a:off x="6910832" y="4595551"/>
            <a:ext cx="84125" cy="84125"/>
          </a:xfrm>
          <a:prstGeom prst="ellipse">
            <a:avLst/>
          </a:prstGeom>
          <a:solidFill>
            <a:srgbClr val="176493"/>
          </a:solidFill>
          <a:ln w="5080">
            <a:solidFill>
              <a:srgbClr val="176493"/>
            </a:solidFill>
            <a:prstDash val="solid"/>
          </a:ln>
        </p:spPr>
      </p:sp>
      <p:sp>
        <p:nvSpPr>
          <p:cNvPr id="178" name="Shape 176"/>
          <p:cNvSpPr/>
          <p:nvPr/>
        </p:nvSpPr>
        <p:spPr>
          <a:xfrm>
            <a:off x="6672682" y="4642067"/>
            <a:ext cx="84125" cy="84125"/>
          </a:xfrm>
          <a:prstGeom prst="ellipse">
            <a:avLst/>
          </a:prstGeom>
          <a:solidFill>
            <a:srgbClr val="176493"/>
          </a:solidFill>
          <a:ln w="5080">
            <a:solidFill>
              <a:srgbClr val="176493"/>
            </a:solidFill>
            <a:prstDash val="solid"/>
          </a:ln>
        </p:spPr>
      </p:sp>
      <p:sp>
        <p:nvSpPr>
          <p:cNvPr id="179" name="Shape 177"/>
          <p:cNvSpPr/>
          <p:nvPr/>
        </p:nvSpPr>
        <p:spPr>
          <a:xfrm>
            <a:off x="7297826" y="4610534"/>
            <a:ext cx="84125" cy="84125"/>
          </a:xfrm>
          <a:prstGeom prst="ellipse">
            <a:avLst/>
          </a:prstGeom>
          <a:solidFill>
            <a:srgbClr val="176493"/>
          </a:solidFill>
          <a:ln w="5080">
            <a:solidFill>
              <a:srgbClr val="176493"/>
            </a:solidFill>
            <a:prstDash val="solid"/>
          </a:ln>
        </p:spPr>
      </p:sp>
      <p:sp>
        <p:nvSpPr>
          <p:cNvPr id="180" name="Shape 178"/>
          <p:cNvSpPr/>
          <p:nvPr/>
        </p:nvSpPr>
        <p:spPr>
          <a:xfrm>
            <a:off x="7178751" y="4642087"/>
            <a:ext cx="84125" cy="84125"/>
          </a:xfrm>
          <a:prstGeom prst="ellipse">
            <a:avLst/>
          </a:prstGeom>
          <a:solidFill>
            <a:srgbClr val="176493"/>
          </a:solidFill>
          <a:ln w="5080">
            <a:solidFill>
              <a:srgbClr val="176493"/>
            </a:solidFill>
            <a:prstDash val="solid"/>
          </a:ln>
        </p:spPr>
      </p:sp>
      <p:sp>
        <p:nvSpPr>
          <p:cNvPr id="181" name="Shape 179"/>
          <p:cNvSpPr/>
          <p:nvPr/>
        </p:nvSpPr>
        <p:spPr>
          <a:xfrm>
            <a:off x="6672682" y="4576564"/>
            <a:ext cx="84125" cy="84125"/>
          </a:xfrm>
          <a:prstGeom prst="ellipse">
            <a:avLst/>
          </a:prstGeom>
          <a:solidFill>
            <a:srgbClr val="176493"/>
          </a:solidFill>
          <a:ln w="5080">
            <a:solidFill>
              <a:srgbClr val="176493"/>
            </a:solidFill>
            <a:prstDash val="solid"/>
          </a:ln>
        </p:spPr>
      </p:sp>
      <p:sp>
        <p:nvSpPr>
          <p:cNvPr id="182" name="Shape 180"/>
          <p:cNvSpPr/>
          <p:nvPr/>
        </p:nvSpPr>
        <p:spPr>
          <a:xfrm>
            <a:off x="7178751" y="4662677"/>
            <a:ext cx="84125" cy="84125"/>
          </a:xfrm>
          <a:prstGeom prst="ellipse">
            <a:avLst/>
          </a:prstGeom>
          <a:solidFill>
            <a:srgbClr val="176493"/>
          </a:solidFill>
          <a:ln w="5080">
            <a:solidFill>
              <a:srgbClr val="176493"/>
            </a:solidFill>
            <a:prstDash val="solid"/>
          </a:ln>
        </p:spPr>
      </p:sp>
      <p:sp>
        <p:nvSpPr>
          <p:cNvPr id="183" name="Shape 181"/>
          <p:cNvSpPr/>
          <p:nvPr/>
        </p:nvSpPr>
        <p:spPr>
          <a:xfrm>
            <a:off x="6791757" y="4589934"/>
            <a:ext cx="84125" cy="84125"/>
          </a:xfrm>
          <a:prstGeom prst="ellipse">
            <a:avLst/>
          </a:prstGeom>
          <a:solidFill>
            <a:srgbClr val="176493"/>
          </a:solidFill>
          <a:ln w="5080">
            <a:solidFill>
              <a:srgbClr val="176493"/>
            </a:solidFill>
            <a:prstDash val="solid"/>
          </a:ln>
        </p:spPr>
      </p:sp>
      <p:sp>
        <p:nvSpPr>
          <p:cNvPr id="184" name="Shape 182"/>
          <p:cNvSpPr/>
          <p:nvPr/>
        </p:nvSpPr>
        <p:spPr>
          <a:xfrm>
            <a:off x="5481930" y="4535117"/>
            <a:ext cx="84125" cy="84125"/>
          </a:xfrm>
          <a:prstGeom prst="ellipse">
            <a:avLst/>
          </a:prstGeom>
          <a:solidFill>
            <a:srgbClr val="176493"/>
          </a:solidFill>
          <a:ln w="5080">
            <a:solidFill>
              <a:srgbClr val="176493"/>
            </a:solidFill>
            <a:prstDash val="solid"/>
          </a:ln>
        </p:spPr>
      </p:sp>
      <p:sp>
        <p:nvSpPr>
          <p:cNvPr id="185" name="Shape 183"/>
          <p:cNvSpPr/>
          <p:nvPr/>
        </p:nvSpPr>
        <p:spPr>
          <a:xfrm>
            <a:off x="5005629" y="4578362"/>
            <a:ext cx="84125" cy="84125"/>
          </a:xfrm>
          <a:prstGeom prst="ellipse">
            <a:avLst/>
          </a:prstGeom>
          <a:solidFill>
            <a:srgbClr val="176493"/>
          </a:solidFill>
          <a:ln w="5080">
            <a:solidFill>
              <a:srgbClr val="176493"/>
            </a:solidFill>
            <a:prstDash val="solid"/>
          </a:ln>
        </p:spPr>
      </p:sp>
      <p:sp>
        <p:nvSpPr>
          <p:cNvPr id="186" name="Shape 184"/>
          <p:cNvSpPr/>
          <p:nvPr/>
        </p:nvSpPr>
        <p:spPr>
          <a:xfrm>
            <a:off x="5630774" y="4604283"/>
            <a:ext cx="84125" cy="84125"/>
          </a:xfrm>
          <a:prstGeom prst="ellipse">
            <a:avLst/>
          </a:prstGeom>
          <a:solidFill>
            <a:srgbClr val="176493"/>
          </a:solidFill>
          <a:ln w="5080">
            <a:solidFill>
              <a:srgbClr val="176493"/>
            </a:solidFill>
            <a:prstDash val="solid"/>
          </a:ln>
        </p:spPr>
      </p:sp>
      <p:sp>
        <p:nvSpPr>
          <p:cNvPr id="187" name="Shape 185"/>
          <p:cNvSpPr/>
          <p:nvPr/>
        </p:nvSpPr>
        <p:spPr>
          <a:xfrm>
            <a:off x="5392623" y="4564493"/>
            <a:ext cx="84125" cy="84125"/>
          </a:xfrm>
          <a:prstGeom prst="ellipse">
            <a:avLst/>
          </a:prstGeom>
          <a:solidFill>
            <a:srgbClr val="176493"/>
          </a:solidFill>
          <a:ln w="5080">
            <a:solidFill>
              <a:srgbClr val="176493"/>
            </a:solidFill>
            <a:prstDash val="solid"/>
          </a:ln>
        </p:spPr>
      </p:sp>
      <p:sp>
        <p:nvSpPr>
          <p:cNvPr id="188" name="Shape 186"/>
          <p:cNvSpPr/>
          <p:nvPr/>
        </p:nvSpPr>
        <p:spPr>
          <a:xfrm>
            <a:off x="4975860" y="4531930"/>
            <a:ext cx="84125" cy="84125"/>
          </a:xfrm>
          <a:prstGeom prst="ellipse">
            <a:avLst/>
          </a:prstGeom>
          <a:solidFill>
            <a:srgbClr val="176493"/>
          </a:solidFill>
          <a:ln w="5080">
            <a:solidFill>
              <a:srgbClr val="176493"/>
            </a:solidFill>
            <a:prstDash val="solid"/>
          </a:ln>
        </p:spPr>
      </p:sp>
      <p:sp>
        <p:nvSpPr>
          <p:cNvPr id="189" name="Shape 187"/>
          <p:cNvSpPr/>
          <p:nvPr/>
        </p:nvSpPr>
        <p:spPr>
          <a:xfrm>
            <a:off x="5154473" y="4614000"/>
            <a:ext cx="84125" cy="84125"/>
          </a:xfrm>
          <a:prstGeom prst="ellipse">
            <a:avLst/>
          </a:prstGeom>
          <a:solidFill>
            <a:srgbClr val="176493"/>
          </a:solidFill>
          <a:ln w="5080">
            <a:solidFill>
              <a:srgbClr val="176493"/>
            </a:solidFill>
            <a:prstDash val="solid"/>
          </a:ln>
        </p:spPr>
      </p:sp>
      <p:sp>
        <p:nvSpPr>
          <p:cNvPr id="190" name="Shape 188"/>
          <p:cNvSpPr/>
          <p:nvPr/>
        </p:nvSpPr>
        <p:spPr>
          <a:xfrm>
            <a:off x="5511698" y="4683781"/>
            <a:ext cx="84125" cy="84125"/>
          </a:xfrm>
          <a:prstGeom prst="ellipse">
            <a:avLst/>
          </a:prstGeom>
          <a:solidFill>
            <a:srgbClr val="176493"/>
          </a:solidFill>
          <a:ln w="5080">
            <a:solidFill>
              <a:srgbClr val="176493"/>
            </a:solidFill>
            <a:prstDash val="solid"/>
          </a:ln>
        </p:spPr>
      </p:sp>
      <p:sp>
        <p:nvSpPr>
          <p:cNvPr id="191" name="Shape 189"/>
          <p:cNvSpPr/>
          <p:nvPr/>
        </p:nvSpPr>
        <p:spPr>
          <a:xfrm>
            <a:off x="5541467" y="4599551"/>
            <a:ext cx="84125" cy="84125"/>
          </a:xfrm>
          <a:prstGeom prst="ellipse">
            <a:avLst/>
          </a:prstGeom>
          <a:solidFill>
            <a:srgbClr val="176493"/>
          </a:solidFill>
          <a:ln w="5080">
            <a:solidFill>
              <a:srgbClr val="176493"/>
            </a:solidFill>
            <a:prstDash val="solid"/>
          </a:ln>
        </p:spPr>
      </p:sp>
      <p:sp>
        <p:nvSpPr>
          <p:cNvPr id="192" name="Shape 190"/>
          <p:cNvSpPr/>
          <p:nvPr/>
        </p:nvSpPr>
        <p:spPr>
          <a:xfrm>
            <a:off x="5035398" y="4598439"/>
            <a:ext cx="84125" cy="84125"/>
          </a:xfrm>
          <a:prstGeom prst="ellipse">
            <a:avLst/>
          </a:prstGeom>
          <a:solidFill>
            <a:srgbClr val="176493"/>
          </a:solidFill>
          <a:ln w="5080">
            <a:solidFill>
              <a:srgbClr val="176493"/>
            </a:solidFill>
            <a:prstDash val="solid"/>
          </a:ln>
        </p:spPr>
      </p:sp>
      <p:sp>
        <p:nvSpPr>
          <p:cNvPr id="193" name="Shape 191"/>
          <p:cNvSpPr/>
          <p:nvPr/>
        </p:nvSpPr>
        <p:spPr>
          <a:xfrm>
            <a:off x="5243779" y="4550162"/>
            <a:ext cx="84125" cy="84125"/>
          </a:xfrm>
          <a:prstGeom prst="ellipse">
            <a:avLst/>
          </a:prstGeom>
          <a:solidFill>
            <a:srgbClr val="176493"/>
          </a:solidFill>
          <a:ln w="5080">
            <a:solidFill>
              <a:srgbClr val="176493"/>
            </a:solidFill>
            <a:prstDash val="solid"/>
          </a:ln>
        </p:spPr>
      </p:sp>
      <p:sp>
        <p:nvSpPr>
          <p:cNvPr id="194" name="Shape 192"/>
          <p:cNvSpPr/>
          <p:nvPr/>
        </p:nvSpPr>
        <p:spPr>
          <a:xfrm>
            <a:off x="5720080" y="4554365"/>
            <a:ext cx="84125" cy="84125"/>
          </a:xfrm>
          <a:prstGeom prst="ellipse">
            <a:avLst/>
          </a:prstGeom>
          <a:solidFill>
            <a:srgbClr val="176493"/>
          </a:solidFill>
          <a:ln w="5080">
            <a:solidFill>
              <a:srgbClr val="176493"/>
            </a:solidFill>
            <a:prstDash val="solid"/>
          </a:ln>
        </p:spPr>
      </p:sp>
      <p:sp>
        <p:nvSpPr>
          <p:cNvPr id="195" name="Shape 193"/>
          <p:cNvSpPr/>
          <p:nvPr/>
        </p:nvSpPr>
        <p:spPr>
          <a:xfrm>
            <a:off x="5660542" y="4465028"/>
            <a:ext cx="84125" cy="84125"/>
          </a:xfrm>
          <a:prstGeom prst="ellipse">
            <a:avLst/>
          </a:prstGeom>
          <a:solidFill>
            <a:srgbClr val="176493"/>
          </a:solidFill>
          <a:ln w="5080">
            <a:solidFill>
              <a:srgbClr val="176493"/>
            </a:solidFill>
            <a:prstDash val="solid"/>
          </a:ln>
        </p:spPr>
      </p:sp>
      <p:sp>
        <p:nvSpPr>
          <p:cNvPr id="196" name="Shape 194"/>
          <p:cNvSpPr/>
          <p:nvPr/>
        </p:nvSpPr>
        <p:spPr>
          <a:xfrm>
            <a:off x="5720080" y="4582612"/>
            <a:ext cx="84125" cy="84125"/>
          </a:xfrm>
          <a:prstGeom prst="ellipse">
            <a:avLst/>
          </a:prstGeom>
          <a:solidFill>
            <a:srgbClr val="176493"/>
          </a:solidFill>
          <a:ln w="5080">
            <a:solidFill>
              <a:srgbClr val="176493"/>
            </a:solidFill>
            <a:prstDash val="solid"/>
          </a:ln>
        </p:spPr>
      </p:sp>
      <p:sp>
        <p:nvSpPr>
          <p:cNvPr id="197" name="Shape 195"/>
          <p:cNvSpPr/>
          <p:nvPr/>
        </p:nvSpPr>
        <p:spPr>
          <a:xfrm>
            <a:off x="5154473" y="4571536"/>
            <a:ext cx="84125" cy="84125"/>
          </a:xfrm>
          <a:prstGeom prst="ellipse">
            <a:avLst/>
          </a:prstGeom>
          <a:solidFill>
            <a:srgbClr val="176493"/>
          </a:solidFill>
          <a:ln w="5080">
            <a:solidFill>
              <a:srgbClr val="176493"/>
            </a:solidFill>
            <a:prstDash val="solid"/>
          </a:ln>
        </p:spPr>
      </p:sp>
      <p:sp>
        <p:nvSpPr>
          <p:cNvPr id="198" name="Shape 196"/>
          <p:cNvSpPr/>
          <p:nvPr/>
        </p:nvSpPr>
        <p:spPr>
          <a:xfrm>
            <a:off x="5273548" y="4612625"/>
            <a:ext cx="84125" cy="84125"/>
          </a:xfrm>
          <a:prstGeom prst="ellipse">
            <a:avLst/>
          </a:prstGeom>
          <a:solidFill>
            <a:srgbClr val="176493"/>
          </a:solidFill>
          <a:ln w="5080">
            <a:solidFill>
              <a:srgbClr val="176493"/>
            </a:solidFill>
            <a:prstDash val="solid"/>
          </a:ln>
        </p:spPr>
      </p:sp>
      <p:sp>
        <p:nvSpPr>
          <p:cNvPr id="199" name="Shape 197"/>
          <p:cNvSpPr/>
          <p:nvPr/>
        </p:nvSpPr>
        <p:spPr>
          <a:xfrm>
            <a:off x="5690311" y="4462327"/>
            <a:ext cx="84125" cy="84125"/>
          </a:xfrm>
          <a:prstGeom prst="ellipse">
            <a:avLst/>
          </a:prstGeom>
          <a:solidFill>
            <a:srgbClr val="176493"/>
          </a:solidFill>
          <a:ln w="5080">
            <a:solidFill>
              <a:srgbClr val="176493"/>
            </a:solidFill>
            <a:prstDash val="solid"/>
          </a:ln>
        </p:spPr>
      </p:sp>
      <p:sp>
        <p:nvSpPr>
          <p:cNvPr id="200" name="Shape 198"/>
          <p:cNvSpPr/>
          <p:nvPr/>
        </p:nvSpPr>
        <p:spPr>
          <a:xfrm>
            <a:off x="5720080" y="4564952"/>
            <a:ext cx="84125" cy="84125"/>
          </a:xfrm>
          <a:prstGeom prst="ellipse">
            <a:avLst/>
          </a:prstGeom>
          <a:solidFill>
            <a:srgbClr val="176493"/>
          </a:solidFill>
          <a:ln w="5080">
            <a:solidFill>
              <a:srgbClr val="176493"/>
            </a:solidFill>
            <a:prstDash val="solid"/>
          </a:ln>
        </p:spPr>
      </p:sp>
      <p:sp>
        <p:nvSpPr>
          <p:cNvPr id="201" name="Shape 199"/>
          <p:cNvSpPr/>
          <p:nvPr/>
        </p:nvSpPr>
        <p:spPr>
          <a:xfrm>
            <a:off x="5184242" y="4560529"/>
            <a:ext cx="84125" cy="84125"/>
          </a:xfrm>
          <a:prstGeom prst="ellipse">
            <a:avLst/>
          </a:prstGeom>
          <a:solidFill>
            <a:srgbClr val="176493"/>
          </a:solidFill>
          <a:ln w="5080">
            <a:solidFill>
              <a:srgbClr val="176493"/>
            </a:solidFill>
            <a:prstDash val="solid"/>
          </a:ln>
        </p:spPr>
      </p:sp>
      <p:sp>
        <p:nvSpPr>
          <p:cNvPr id="202" name="Shape 200"/>
          <p:cNvSpPr/>
          <p:nvPr/>
        </p:nvSpPr>
        <p:spPr>
          <a:xfrm>
            <a:off x="5720080" y="4462729"/>
            <a:ext cx="84125" cy="84125"/>
          </a:xfrm>
          <a:prstGeom prst="ellipse">
            <a:avLst/>
          </a:prstGeom>
          <a:solidFill>
            <a:srgbClr val="176493"/>
          </a:solidFill>
          <a:ln w="5080">
            <a:solidFill>
              <a:srgbClr val="176493"/>
            </a:solidFill>
            <a:prstDash val="solid"/>
          </a:ln>
        </p:spPr>
      </p:sp>
      <p:sp>
        <p:nvSpPr>
          <p:cNvPr id="203" name="Shape 201"/>
          <p:cNvSpPr/>
          <p:nvPr/>
        </p:nvSpPr>
        <p:spPr>
          <a:xfrm>
            <a:off x="5452161" y="4615402"/>
            <a:ext cx="84125" cy="84125"/>
          </a:xfrm>
          <a:prstGeom prst="ellipse">
            <a:avLst/>
          </a:prstGeom>
          <a:solidFill>
            <a:srgbClr val="176493"/>
          </a:solidFill>
          <a:ln w="5080">
            <a:solidFill>
              <a:srgbClr val="176493"/>
            </a:solidFill>
            <a:prstDash val="solid"/>
          </a:ln>
        </p:spPr>
      </p:sp>
      <p:sp>
        <p:nvSpPr>
          <p:cNvPr id="204" name="Shape 202"/>
          <p:cNvSpPr/>
          <p:nvPr/>
        </p:nvSpPr>
        <p:spPr>
          <a:xfrm>
            <a:off x="5601005" y="4512873"/>
            <a:ext cx="84125" cy="84125"/>
          </a:xfrm>
          <a:prstGeom prst="ellipse">
            <a:avLst/>
          </a:prstGeom>
          <a:solidFill>
            <a:srgbClr val="176493"/>
          </a:solidFill>
          <a:ln w="5080">
            <a:solidFill>
              <a:srgbClr val="176493"/>
            </a:solidFill>
            <a:prstDash val="solid"/>
          </a:ln>
        </p:spPr>
      </p:sp>
      <p:sp>
        <p:nvSpPr>
          <p:cNvPr id="205" name="Shape 203"/>
          <p:cNvSpPr/>
          <p:nvPr/>
        </p:nvSpPr>
        <p:spPr>
          <a:xfrm>
            <a:off x="5243779" y="4630425"/>
            <a:ext cx="84125" cy="84125"/>
          </a:xfrm>
          <a:prstGeom prst="ellipse">
            <a:avLst/>
          </a:prstGeom>
          <a:solidFill>
            <a:srgbClr val="176493"/>
          </a:solidFill>
          <a:ln w="5080">
            <a:solidFill>
              <a:srgbClr val="176493"/>
            </a:solidFill>
            <a:prstDash val="solid"/>
          </a:ln>
        </p:spPr>
      </p:sp>
      <p:sp>
        <p:nvSpPr>
          <p:cNvPr id="206" name="Shape 204"/>
          <p:cNvSpPr/>
          <p:nvPr/>
        </p:nvSpPr>
        <p:spPr>
          <a:xfrm>
            <a:off x="5481930" y="4627070"/>
            <a:ext cx="84125" cy="84125"/>
          </a:xfrm>
          <a:prstGeom prst="ellipse">
            <a:avLst/>
          </a:prstGeom>
          <a:solidFill>
            <a:srgbClr val="176493"/>
          </a:solidFill>
          <a:ln w="5080">
            <a:solidFill>
              <a:srgbClr val="176493"/>
            </a:solidFill>
            <a:prstDash val="solid"/>
          </a:ln>
        </p:spPr>
      </p:sp>
      <p:sp>
        <p:nvSpPr>
          <p:cNvPr id="207" name="Shape 205"/>
          <p:cNvSpPr/>
          <p:nvPr/>
        </p:nvSpPr>
        <p:spPr>
          <a:xfrm>
            <a:off x="5065166" y="4650839"/>
            <a:ext cx="84125" cy="84125"/>
          </a:xfrm>
          <a:prstGeom prst="ellipse">
            <a:avLst/>
          </a:prstGeom>
          <a:solidFill>
            <a:srgbClr val="176493"/>
          </a:solidFill>
          <a:ln w="5080">
            <a:solidFill>
              <a:srgbClr val="176493"/>
            </a:solidFill>
            <a:prstDash val="solid"/>
          </a:ln>
        </p:spPr>
      </p:sp>
      <p:sp>
        <p:nvSpPr>
          <p:cNvPr id="208" name="Shape 206"/>
          <p:cNvSpPr/>
          <p:nvPr/>
        </p:nvSpPr>
        <p:spPr>
          <a:xfrm>
            <a:off x="5511698" y="4628347"/>
            <a:ext cx="84125" cy="84125"/>
          </a:xfrm>
          <a:prstGeom prst="ellipse">
            <a:avLst/>
          </a:prstGeom>
          <a:solidFill>
            <a:srgbClr val="176493"/>
          </a:solidFill>
          <a:ln w="5080">
            <a:solidFill>
              <a:srgbClr val="176493"/>
            </a:solidFill>
            <a:prstDash val="solid"/>
          </a:ln>
        </p:spPr>
      </p:sp>
      <p:sp>
        <p:nvSpPr>
          <p:cNvPr id="209" name="Shape 207"/>
          <p:cNvSpPr/>
          <p:nvPr/>
        </p:nvSpPr>
        <p:spPr>
          <a:xfrm>
            <a:off x="5154473" y="4515135"/>
            <a:ext cx="84125" cy="84125"/>
          </a:xfrm>
          <a:prstGeom prst="ellipse">
            <a:avLst/>
          </a:prstGeom>
          <a:solidFill>
            <a:srgbClr val="176493"/>
          </a:solidFill>
          <a:ln w="5080">
            <a:solidFill>
              <a:srgbClr val="176493"/>
            </a:solidFill>
            <a:prstDash val="solid"/>
          </a:ln>
        </p:spPr>
      </p:sp>
      <p:sp>
        <p:nvSpPr>
          <p:cNvPr id="210" name="Shape 208"/>
          <p:cNvSpPr/>
          <p:nvPr/>
        </p:nvSpPr>
        <p:spPr>
          <a:xfrm>
            <a:off x="5303317" y="4586672"/>
            <a:ext cx="84125" cy="84125"/>
          </a:xfrm>
          <a:prstGeom prst="ellipse">
            <a:avLst/>
          </a:prstGeom>
          <a:solidFill>
            <a:srgbClr val="176493"/>
          </a:solidFill>
          <a:ln w="5080">
            <a:solidFill>
              <a:srgbClr val="176493"/>
            </a:solidFill>
            <a:prstDash val="solid"/>
          </a:ln>
        </p:spPr>
      </p:sp>
      <p:sp>
        <p:nvSpPr>
          <p:cNvPr id="211" name="Shape 209"/>
          <p:cNvSpPr/>
          <p:nvPr/>
        </p:nvSpPr>
        <p:spPr>
          <a:xfrm>
            <a:off x="8010144" y="2066544"/>
            <a:ext cx="3474720" cy="3410712"/>
          </a:xfrm>
          <a:prstGeom prst="rect">
            <a:avLst/>
          </a:prstGeom>
          <a:solidFill>
            <a:srgbClr val="FFFFFF"/>
          </a:solidFill>
          <a:ln w="12700">
            <a:solidFill>
              <a:srgbClr val="FFFFFF">
                <a:alpha val="0"/>
              </a:srgbClr>
            </a:solidFill>
            <a:prstDash val="solid"/>
          </a:ln>
        </p:spPr>
      </p:sp>
      <p:sp>
        <p:nvSpPr>
          <p:cNvPr id="212" name="Shape 210"/>
          <p:cNvSpPr/>
          <p:nvPr/>
        </p:nvSpPr>
        <p:spPr>
          <a:xfrm>
            <a:off x="8586216" y="4745736"/>
            <a:ext cx="2679192" cy="0"/>
          </a:xfrm>
          <a:prstGeom prst="line">
            <a:avLst/>
          </a:prstGeom>
          <a:noFill/>
          <a:ln w="8255">
            <a:solidFill>
              <a:srgbClr val="E3EFF7"/>
            </a:solidFill>
            <a:prstDash val="solid"/>
            <a:headEnd type="none"/>
            <a:tailEnd type="none"/>
          </a:ln>
        </p:spPr>
      </p:sp>
      <p:sp>
        <p:nvSpPr>
          <p:cNvPr id="213" name="Text 211"/>
          <p:cNvSpPr/>
          <p:nvPr/>
        </p:nvSpPr>
        <p:spPr>
          <a:xfrm>
            <a:off x="8028432" y="4636008"/>
            <a:ext cx="475488" cy="201168"/>
          </a:xfrm>
          <a:prstGeom prst="rect">
            <a:avLst/>
          </a:prstGeom>
          <a:noFill/>
          <a:ln/>
        </p:spPr>
        <p:txBody>
          <a:bodyPr wrap="square" lIns="0" tIns="0" rIns="0" bIns="0" rtlCol="0" anchor="ctr"/>
          <a:lstStyle/>
          <a:p>
            <a:pPr algn="r" indent="0" marL="0">
              <a:buNone/>
            </a:pPr>
            <a:r>
              <a:rPr lang="en-US" sz="1300" dirty="0">
                <a:solidFill>
                  <a:srgbClr val="53657A"/>
                </a:solidFill>
                <a:latin typeface="Aptos" pitchFamily="34" charset="0"/>
                <a:ea typeface="Aptos" pitchFamily="34" charset="-122"/>
                <a:cs typeface="Aptos" pitchFamily="34" charset="-120"/>
              </a:rPr>
              <a:t>0</a:t>
            </a:r>
            <a:endParaRPr lang="en-US" sz="1300" dirty="0"/>
          </a:p>
        </p:txBody>
      </p:sp>
      <p:sp>
        <p:nvSpPr>
          <p:cNvPr id="214" name="Shape 212"/>
          <p:cNvSpPr/>
          <p:nvPr/>
        </p:nvSpPr>
        <p:spPr>
          <a:xfrm>
            <a:off x="8586216" y="3735324"/>
            <a:ext cx="2679192" cy="0"/>
          </a:xfrm>
          <a:prstGeom prst="line">
            <a:avLst/>
          </a:prstGeom>
          <a:noFill/>
          <a:ln w="8255">
            <a:solidFill>
              <a:srgbClr val="E3EFF7"/>
            </a:solidFill>
            <a:prstDash val="solid"/>
            <a:headEnd type="none"/>
            <a:tailEnd type="none"/>
          </a:ln>
        </p:spPr>
      </p:sp>
      <p:sp>
        <p:nvSpPr>
          <p:cNvPr id="215" name="Text 213"/>
          <p:cNvSpPr/>
          <p:nvPr/>
        </p:nvSpPr>
        <p:spPr>
          <a:xfrm>
            <a:off x="8028432" y="3625596"/>
            <a:ext cx="475488" cy="201168"/>
          </a:xfrm>
          <a:prstGeom prst="rect">
            <a:avLst/>
          </a:prstGeom>
          <a:noFill/>
          <a:ln/>
        </p:spPr>
        <p:txBody>
          <a:bodyPr wrap="square" lIns="0" tIns="0" rIns="0" bIns="0" rtlCol="0" anchor="ctr"/>
          <a:lstStyle/>
          <a:p>
            <a:pPr algn="r" indent="0" marL="0">
              <a:buNone/>
            </a:pPr>
            <a:r>
              <a:rPr lang="en-US" sz="1300" dirty="0">
                <a:solidFill>
                  <a:srgbClr val="53657A"/>
                </a:solidFill>
                <a:latin typeface="Aptos" pitchFamily="34" charset="0"/>
                <a:ea typeface="Aptos" pitchFamily="34" charset="-122"/>
                <a:cs typeface="Aptos" pitchFamily="34" charset="-120"/>
              </a:rPr>
              <a:t>5k</a:t>
            </a:r>
            <a:endParaRPr lang="en-US" sz="1300" dirty="0"/>
          </a:p>
        </p:txBody>
      </p:sp>
      <p:sp>
        <p:nvSpPr>
          <p:cNvPr id="216" name="Shape 214"/>
          <p:cNvSpPr/>
          <p:nvPr/>
        </p:nvSpPr>
        <p:spPr>
          <a:xfrm>
            <a:off x="8586216" y="2724912"/>
            <a:ext cx="2679192" cy="0"/>
          </a:xfrm>
          <a:prstGeom prst="line">
            <a:avLst/>
          </a:prstGeom>
          <a:noFill/>
          <a:ln w="8255">
            <a:solidFill>
              <a:srgbClr val="E3EFF7"/>
            </a:solidFill>
            <a:prstDash val="solid"/>
            <a:headEnd type="none"/>
            <a:tailEnd type="none"/>
          </a:ln>
        </p:spPr>
      </p:sp>
      <p:sp>
        <p:nvSpPr>
          <p:cNvPr id="217" name="Text 215"/>
          <p:cNvSpPr/>
          <p:nvPr/>
        </p:nvSpPr>
        <p:spPr>
          <a:xfrm>
            <a:off x="8028432" y="2615184"/>
            <a:ext cx="475488" cy="201168"/>
          </a:xfrm>
          <a:prstGeom prst="rect">
            <a:avLst/>
          </a:prstGeom>
          <a:noFill/>
          <a:ln/>
        </p:spPr>
        <p:txBody>
          <a:bodyPr wrap="square" lIns="0" tIns="0" rIns="0" bIns="0" rtlCol="0" anchor="ctr"/>
          <a:lstStyle/>
          <a:p>
            <a:pPr algn="r" indent="0" marL="0">
              <a:buNone/>
            </a:pPr>
            <a:r>
              <a:rPr lang="en-US" sz="1300" dirty="0">
                <a:solidFill>
                  <a:srgbClr val="53657A"/>
                </a:solidFill>
                <a:latin typeface="Aptos" pitchFamily="34" charset="0"/>
                <a:ea typeface="Aptos" pitchFamily="34" charset="-122"/>
                <a:cs typeface="Aptos" pitchFamily="34" charset="-120"/>
              </a:rPr>
              <a:t>10k</a:t>
            </a:r>
            <a:endParaRPr lang="en-US" sz="1300" dirty="0"/>
          </a:p>
        </p:txBody>
      </p:sp>
      <p:sp>
        <p:nvSpPr>
          <p:cNvPr id="218" name="Text 216"/>
          <p:cNvSpPr/>
          <p:nvPr/>
        </p:nvSpPr>
        <p:spPr>
          <a:xfrm>
            <a:off x="8311896" y="4864608"/>
            <a:ext cx="548640" cy="201168"/>
          </a:xfrm>
          <a:prstGeom prst="rect">
            <a:avLst/>
          </a:prstGeom>
          <a:noFill/>
          <a:ln/>
        </p:spPr>
        <p:txBody>
          <a:bodyPr wrap="square" lIns="0" tIns="0" rIns="0" bIns="0" rtlCol="0" anchor="ctr"/>
          <a:lstStyle/>
          <a:p>
            <a:pPr algn="ctr" indent="0" marL="0">
              <a:buNone/>
            </a:pPr>
            <a:r>
              <a:rPr lang="en-US" sz="1300" dirty="0">
                <a:solidFill>
                  <a:srgbClr val="53657A"/>
                </a:solidFill>
                <a:latin typeface="Aptos" pitchFamily="34" charset="0"/>
                <a:ea typeface="Aptos" pitchFamily="34" charset="-122"/>
                <a:cs typeface="Aptos" pitchFamily="34" charset="-120"/>
              </a:rPr>
              <a:t>0</a:t>
            </a:r>
            <a:endParaRPr lang="en-US" sz="1300" dirty="0"/>
          </a:p>
        </p:txBody>
      </p:sp>
      <p:sp>
        <p:nvSpPr>
          <p:cNvPr id="219" name="Text 217"/>
          <p:cNvSpPr/>
          <p:nvPr/>
        </p:nvSpPr>
        <p:spPr>
          <a:xfrm>
            <a:off x="9651492" y="4864608"/>
            <a:ext cx="548640" cy="201168"/>
          </a:xfrm>
          <a:prstGeom prst="rect">
            <a:avLst/>
          </a:prstGeom>
          <a:noFill/>
          <a:ln/>
        </p:spPr>
        <p:txBody>
          <a:bodyPr wrap="square" lIns="0" tIns="0" rIns="0" bIns="0" rtlCol="0" anchor="ctr"/>
          <a:lstStyle/>
          <a:p>
            <a:pPr algn="ctr" indent="0" marL="0">
              <a:buNone/>
            </a:pPr>
            <a:r>
              <a:rPr lang="en-US" sz="1300" dirty="0">
                <a:solidFill>
                  <a:srgbClr val="53657A"/>
                </a:solidFill>
                <a:latin typeface="Aptos" pitchFamily="34" charset="0"/>
                <a:ea typeface="Aptos" pitchFamily="34" charset="-122"/>
                <a:cs typeface="Aptos" pitchFamily="34" charset="-120"/>
              </a:rPr>
              <a:t>9</a:t>
            </a:r>
            <a:endParaRPr lang="en-US" sz="1300" dirty="0"/>
          </a:p>
        </p:txBody>
      </p:sp>
      <p:sp>
        <p:nvSpPr>
          <p:cNvPr id="220" name="Text 218"/>
          <p:cNvSpPr/>
          <p:nvPr/>
        </p:nvSpPr>
        <p:spPr>
          <a:xfrm>
            <a:off x="10991088" y="4864608"/>
            <a:ext cx="548640" cy="201168"/>
          </a:xfrm>
          <a:prstGeom prst="rect">
            <a:avLst/>
          </a:prstGeom>
          <a:noFill/>
          <a:ln/>
        </p:spPr>
        <p:txBody>
          <a:bodyPr wrap="square" lIns="0" tIns="0" rIns="0" bIns="0" rtlCol="0" anchor="ctr"/>
          <a:lstStyle/>
          <a:p>
            <a:pPr algn="ctr" indent="0" marL="0">
              <a:buNone/>
            </a:pPr>
            <a:r>
              <a:rPr lang="en-US" sz="1300" dirty="0">
                <a:solidFill>
                  <a:srgbClr val="53657A"/>
                </a:solidFill>
                <a:latin typeface="Aptos" pitchFamily="34" charset="0"/>
                <a:ea typeface="Aptos" pitchFamily="34" charset="-122"/>
                <a:cs typeface="Aptos" pitchFamily="34" charset="-120"/>
              </a:rPr>
              <a:t>18</a:t>
            </a:r>
            <a:endParaRPr lang="en-US" sz="1300" dirty="0"/>
          </a:p>
        </p:txBody>
      </p:sp>
      <p:sp>
        <p:nvSpPr>
          <p:cNvPr id="221" name="Shape 219"/>
          <p:cNvSpPr/>
          <p:nvPr/>
        </p:nvSpPr>
        <p:spPr>
          <a:xfrm>
            <a:off x="8586216" y="2724912"/>
            <a:ext cx="0" cy="2020824"/>
          </a:xfrm>
          <a:prstGeom prst="line">
            <a:avLst/>
          </a:prstGeom>
          <a:noFill/>
          <a:ln w="12700">
            <a:solidFill>
              <a:srgbClr val="C4D2E2"/>
            </a:solidFill>
            <a:prstDash val="solid"/>
            <a:headEnd type="none"/>
            <a:tailEnd type="none"/>
          </a:ln>
        </p:spPr>
      </p:sp>
      <p:sp>
        <p:nvSpPr>
          <p:cNvPr id="222" name="Shape 220"/>
          <p:cNvSpPr/>
          <p:nvPr/>
        </p:nvSpPr>
        <p:spPr>
          <a:xfrm>
            <a:off x="8586216" y="4745736"/>
            <a:ext cx="2679192" cy="0"/>
          </a:xfrm>
          <a:prstGeom prst="line">
            <a:avLst/>
          </a:prstGeom>
          <a:noFill/>
          <a:ln w="12700">
            <a:solidFill>
              <a:srgbClr val="C4D2E2"/>
            </a:solidFill>
            <a:prstDash val="solid"/>
            <a:headEnd type="none"/>
            <a:tailEnd type="none"/>
          </a:ln>
        </p:spPr>
      </p:sp>
      <p:sp>
        <p:nvSpPr>
          <p:cNvPr id="223" name="Text 221"/>
          <p:cNvSpPr/>
          <p:nvPr/>
        </p:nvSpPr>
        <p:spPr>
          <a:xfrm>
            <a:off x="8165592" y="2176272"/>
            <a:ext cx="3163824" cy="265176"/>
          </a:xfrm>
          <a:prstGeom prst="rect">
            <a:avLst/>
          </a:prstGeom>
          <a:noFill/>
          <a:ln/>
        </p:spPr>
        <p:txBody>
          <a:bodyPr wrap="square" lIns="0" tIns="0" rIns="0" bIns="0" rtlCol="0" anchor="ctr"/>
          <a:lstStyle/>
          <a:p>
            <a:pPr algn="l" indent="0" marL="0">
              <a:buNone/>
            </a:pPr>
            <a:r>
              <a:rPr lang="en-US" sz="1600" b="1" dirty="0">
                <a:solidFill>
                  <a:srgbClr val="172233"/>
                </a:solidFill>
                <a:latin typeface="Aptos" pitchFamily="34" charset="0"/>
                <a:ea typeface="Aptos" pitchFamily="34" charset="-122"/>
                <a:cs typeface="Aptos" pitchFamily="34" charset="-120"/>
              </a:rPr>
              <a:t>More orders, more value?</a:t>
            </a:r>
            <a:endParaRPr lang="en-US" sz="1600" dirty="0"/>
          </a:p>
        </p:txBody>
      </p:sp>
      <p:sp>
        <p:nvSpPr>
          <p:cNvPr id="224" name="Text 222"/>
          <p:cNvSpPr/>
          <p:nvPr/>
        </p:nvSpPr>
        <p:spPr>
          <a:xfrm>
            <a:off x="8586216" y="2441448"/>
            <a:ext cx="2679192" cy="201168"/>
          </a:xfrm>
          <a:prstGeom prst="rect">
            <a:avLst/>
          </a:prstGeom>
          <a:noFill/>
          <a:ln/>
        </p:spPr>
        <p:txBody>
          <a:bodyPr wrap="square" lIns="0" tIns="0" rIns="0" bIns="0" rtlCol="0" anchor="ctr"/>
          <a:lstStyle/>
          <a:p>
            <a:pPr algn="l" indent="0" marL="0">
              <a:buNone/>
            </a:pPr>
            <a:r>
              <a:rPr lang="en-US" sz="1300" dirty="0">
                <a:solidFill>
                  <a:srgbClr val="53657A"/>
                </a:solidFill>
                <a:latin typeface="Aptos" pitchFamily="34" charset="0"/>
                <a:ea typeface="Aptos" pitchFamily="34" charset="-122"/>
                <a:cs typeface="Aptos" pitchFamily="34" charset="-120"/>
              </a:rPr>
              <a:t>Net value (CU)</a:t>
            </a:r>
            <a:endParaRPr lang="en-US" sz="1300" dirty="0"/>
          </a:p>
        </p:txBody>
      </p:sp>
      <p:sp>
        <p:nvSpPr>
          <p:cNvPr id="225" name="Text 223"/>
          <p:cNvSpPr/>
          <p:nvPr/>
        </p:nvSpPr>
        <p:spPr>
          <a:xfrm>
            <a:off x="8586216" y="5248656"/>
            <a:ext cx="2679192" cy="210312"/>
          </a:xfrm>
          <a:prstGeom prst="rect">
            <a:avLst/>
          </a:prstGeom>
          <a:noFill/>
          <a:ln/>
        </p:spPr>
        <p:txBody>
          <a:bodyPr wrap="square" lIns="0" tIns="0" rIns="0" bIns="0" rtlCol="0" anchor="ctr"/>
          <a:lstStyle/>
          <a:p>
            <a:pPr algn="ctr" indent="0" marL="0">
              <a:buNone/>
            </a:pPr>
            <a:r>
              <a:rPr lang="en-US" sz="1300" dirty="0">
                <a:solidFill>
                  <a:srgbClr val="53657A"/>
                </a:solidFill>
                <a:latin typeface="Aptos" pitchFamily="34" charset="0"/>
                <a:ea typeface="Aptos" pitchFamily="34" charset="-122"/>
                <a:cs typeface="Aptos" pitchFamily="34" charset="-120"/>
              </a:rPr>
              <a:t>Frequency (orders)</a:t>
            </a:r>
            <a:endParaRPr lang="en-US" sz="1300" dirty="0"/>
          </a:p>
        </p:txBody>
      </p:sp>
      <p:sp>
        <p:nvSpPr>
          <p:cNvPr id="226" name="Shape 224"/>
          <p:cNvSpPr/>
          <p:nvPr/>
        </p:nvSpPr>
        <p:spPr>
          <a:xfrm>
            <a:off x="8990686" y="4610716"/>
            <a:ext cx="84125" cy="84125"/>
          </a:xfrm>
          <a:prstGeom prst="ellipse">
            <a:avLst/>
          </a:prstGeom>
          <a:solidFill>
            <a:srgbClr val="176493"/>
          </a:solidFill>
          <a:ln w="5080">
            <a:solidFill>
              <a:srgbClr val="176493"/>
            </a:solidFill>
            <a:prstDash val="solid"/>
          </a:ln>
        </p:spPr>
      </p:sp>
      <p:sp>
        <p:nvSpPr>
          <p:cNvPr id="227" name="Shape 225"/>
          <p:cNvSpPr/>
          <p:nvPr/>
        </p:nvSpPr>
        <p:spPr>
          <a:xfrm>
            <a:off x="10776814" y="3679659"/>
            <a:ext cx="84125" cy="84125"/>
          </a:xfrm>
          <a:prstGeom prst="ellipse">
            <a:avLst/>
          </a:prstGeom>
          <a:solidFill>
            <a:srgbClr val="176493"/>
          </a:solidFill>
          <a:ln w="5080">
            <a:solidFill>
              <a:srgbClr val="176493"/>
            </a:solidFill>
            <a:prstDash val="solid"/>
          </a:ln>
        </p:spPr>
      </p:sp>
      <p:sp>
        <p:nvSpPr>
          <p:cNvPr id="228" name="Shape 226"/>
          <p:cNvSpPr/>
          <p:nvPr/>
        </p:nvSpPr>
        <p:spPr>
          <a:xfrm>
            <a:off x="10330282" y="3898395"/>
            <a:ext cx="84125" cy="84125"/>
          </a:xfrm>
          <a:prstGeom prst="ellipse">
            <a:avLst/>
          </a:prstGeom>
          <a:solidFill>
            <a:srgbClr val="176493"/>
          </a:solidFill>
          <a:ln w="5080">
            <a:solidFill>
              <a:srgbClr val="176493"/>
            </a:solidFill>
            <a:prstDash val="solid"/>
          </a:ln>
        </p:spPr>
      </p:sp>
      <p:sp>
        <p:nvSpPr>
          <p:cNvPr id="229" name="Shape 227"/>
          <p:cNvSpPr/>
          <p:nvPr/>
        </p:nvSpPr>
        <p:spPr>
          <a:xfrm>
            <a:off x="10776814" y="4016959"/>
            <a:ext cx="84125" cy="84125"/>
          </a:xfrm>
          <a:prstGeom prst="ellipse">
            <a:avLst/>
          </a:prstGeom>
          <a:solidFill>
            <a:srgbClr val="176493"/>
          </a:solidFill>
          <a:ln w="5080">
            <a:solidFill>
              <a:srgbClr val="176493"/>
            </a:solidFill>
            <a:prstDash val="solid"/>
          </a:ln>
        </p:spPr>
      </p:sp>
      <p:sp>
        <p:nvSpPr>
          <p:cNvPr id="230" name="Shape 228"/>
          <p:cNvSpPr/>
          <p:nvPr/>
        </p:nvSpPr>
        <p:spPr>
          <a:xfrm>
            <a:off x="10627970" y="3249618"/>
            <a:ext cx="84125" cy="84125"/>
          </a:xfrm>
          <a:prstGeom prst="ellipse">
            <a:avLst/>
          </a:prstGeom>
          <a:solidFill>
            <a:srgbClr val="176493"/>
          </a:solidFill>
          <a:ln w="5080">
            <a:solidFill>
              <a:srgbClr val="176493"/>
            </a:solidFill>
            <a:prstDash val="solid"/>
          </a:ln>
        </p:spPr>
      </p:sp>
      <p:sp>
        <p:nvSpPr>
          <p:cNvPr id="231" name="Shape 229"/>
          <p:cNvSpPr/>
          <p:nvPr/>
        </p:nvSpPr>
        <p:spPr>
          <a:xfrm>
            <a:off x="10925658" y="3149961"/>
            <a:ext cx="84125" cy="84125"/>
          </a:xfrm>
          <a:prstGeom prst="ellipse">
            <a:avLst/>
          </a:prstGeom>
          <a:solidFill>
            <a:srgbClr val="176493"/>
          </a:solidFill>
          <a:ln w="5080">
            <a:solidFill>
              <a:srgbClr val="176493"/>
            </a:solidFill>
            <a:prstDash val="solid"/>
          </a:ln>
        </p:spPr>
      </p:sp>
      <p:sp>
        <p:nvSpPr>
          <p:cNvPr id="232" name="Shape 230"/>
          <p:cNvSpPr/>
          <p:nvPr/>
        </p:nvSpPr>
        <p:spPr>
          <a:xfrm>
            <a:off x="10776814" y="3474934"/>
            <a:ext cx="84125" cy="84125"/>
          </a:xfrm>
          <a:prstGeom prst="ellipse">
            <a:avLst/>
          </a:prstGeom>
          <a:solidFill>
            <a:srgbClr val="176493"/>
          </a:solidFill>
          <a:ln w="5080">
            <a:solidFill>
              <a:srgbClr val="176493"/>
            </a:solidFill>
            <a:prstDash val="solid"/>
          </a:ln>
        </p:spPr>
      </p:sp>
      <p:sp>
        <p:nvSpPr>
          <p:cNvPr id="233" name="Shape 231"/>
          <p:cNvSpPr/>
          <p:nvPr/>
        </p:nvSpPr>
        <p:spPr>
          <a:xfrm>
            <a:off x="10479126" y="3584594"/>
            <a:ext cx="84125" cy="84125"/>
          </a:xfrm>
          <a:prstGeom prst="ellipse">
            <a:avLst/>
          </a:prstGeom>
          <a:solidFill>
            <a:srgbClr val="176493"/>
          </a:solidFill>
          <a:ln w="5080">
            <a:solidFill>
              <a:srgbClr val="176493"/>
            </a:solidFill>
            <a:prstDash val="solid"/>
          </a:ln>
        </p:spPr>
      </p:sp>
      <p:sp>
        <p:nvSpPr>
          <p:cNvPr id="234" name="Shape 232"/>
          <p:cNvSpPr/>
          <p:nvPr/>
        </p:nvSpPr>
        <p:spPr>
          <a:xfrm>
            <a:off x="9883750" y="4120755"/>
            <a:ext cx="84125" cy="84125"/>
          </a:xfrm>
          <a:prstGeom prst="ellipse">
            <a:avLst/>
          </a:prstGeom>
          <a:solidFill>
            <a:srgbClr val="176493"/>
          </a:solidFill>
          <a:ln w="5080">
            <a:solidFill>
              <a:srgbClr val="176493"/>
            </a:solidFill>
            <a:prstDash val="solid"/>
          </a:ln>
        </p:spPr>
      </p:sp>
      <p:sp>
        <p:nvSpPr>
          <p:cNvPr id="235" name="Shape 233"/>
          <p:cNvSpPr/>
          <p:nvPr/>
        </p:nvSpPr>
        <p:spPr>
          <a:xfrm>
            <a:off x="10330282" y="3806967"/>
            <a:ext cx="84125" cy="84125"/>
          </a:xfrm>
          <a:prstGeom prst="ellipse">
            <a:avLst/>
          </a:prstGeom>
          <a:solidFill>
            <a:srgbClr val="176493"/>
          </a:solidFill>
          <a:ln w="5080">
            <a:solidFill>
              <a:srgbClr val="176493"/>
            </a:solidFill>
            <a:prstDash val="solid"/>
          </a:ln>
        </p:spPr>
      </p:sp>
      <p:sp>
        <p:nvSpPr>
          <p:cNvPr id="236" name="Shape 234"/>
          <p:cNvSpPr/>
          <p:nvPr/>
        </p:nvSpPr>
        <p:spPr>
          <a:xfrm>
            <a:off x="10330282" y="3798452"/>
            <a:ext cx="84125" cy="84125"/>
          </a:xfrm>
          <a:prstGeom prst="ellipse">
            <a:avLst/>
          </a:prstGeom>
          <a:solidFill>
            <a:srgbClr val="176493"/>
          </a:solidFill>
          <a:ln w="5080">
            <a:solidFill>
              <a:srgbClr val="176493"/>
            </a:solidFill>
            <a:prstDash val="solid"/>
          </a:ln>
        </p:spPr>
      </p:sp>
      <p:sp>
        <p:nvSpPr>
          <p:cNvPr id="237" name="Shape 235"/>
          <p:cNvSpPr/>
          <p:nvPr/>
        </p:nvSpPr>
        <p:spPr>
          <a:xfrm>
            <a:off x="10032594" y="3793761"/>
            <a:ext cx="84125" cy="84125"/>
          </a:xfrm>
          <a:prstGeom prst="ellipse">
            <a:avLst/>
          </a:prstGeom>
          <a:solidFill>
            <a:srgbClr val="176493"/>
          </a:solidFill>
          <a:ln w="5080">
            <a:solidFill>
              <a:srgbClr val="176493"/>
            </a:solidFill>
            <a:prstDash val="solid"/>
          </a:ln>
        </p:spPr>
      </p:sp>
      <p:sp>
        <p:nvSpPr>
          <p:cNvPr id="238" name="Shape 236"/>
          <p:cNvSpPr/>
          <p:nvPr/>
        </p:nvSpPr>
        <p:spPr>
          <a:xfrm>
            <a:off x="10925658" y="3752492"/>
            <a:ext cx="84125" cy="84125"/>
          </a:xfrm>
          <a:prstGeom prst="ellipse">
            <a:avLst/>
          </a:prstGeom>
          <a:solidFill>
            <a:srgbClr val="176493"/>
          </a:solidFill>
          <a:ln w="5080">
            <a:solidFill>
              <a:srgbClr val="176493"/>
            </a:solidFill>
            <a:prstDash val="solid"/>
          </a:ln>
        </p:spPr>
      </p:sp>
      <p:sp>
        <p:nvSpPr>
          <p:cNvPr id="239" name="Shape 237"/>
          <p:cNvSpPr/>
          <p:nvPr/>
        </p:nvSpPr>
        <p:spPr>
          <a:xfrm>
            <a:off x="10776814" y="3615361"/>
            <a:ext cx="84125" cy="84125"/>
          </a:xfrm>
          <a:prstGeom prst="ellipse">
            <a:avLst/>
          </a:prstGeom>
          <a:solidFill>
            <a:srgbClr val="176493"/>
          </a:solidFill>
          <a:ln w="5080">
            <a:solidFill>
              <a:srgbClr val="176493"/>
            </a:solidFill>
            <a:prstDash val="solid"/>
          </a:ln>
        </p:spPr>
      </p:sp>
      <p:sp>
        <p:nvSpPr>
          <p:cNvPr id="240" name="Shape 238"/>
          <p:cNvSpPr/>
          <p:nvPr/>
        </p:nvSpPr>
        <p:spPr>
          <a:xfrm>
            <a:off x="9734906" y="4304236"/>
            <a:ext cx="84125" cy="84125"/>
          </a:xfrm>
          <a:prstGeom prst="ellipse">
            <a:avLst/>
          </a:prstGeom>
          <a:solidFill>
            <a:srgbClr val="176493"/>
          </a:solidFill>
          <a:ln w="5080">
            <a:solidFill>
              <a:srgbClr val="176493"/>
            </a:solidFill>
            <a:prstDash val="solid"/>
          </a:ln>
        </p:spPr>
      </p:sp>
      <p:sp>
        <p:nvSpPr>
          <p:cNvPr id="241" name="Shape 239"/>
          <p:cNvSpPr/>
          <p:nvPr/>
        </p:nvSpPr>
        <p:spPr>
          <a:xfrm>
            <a:off x="10925658" y="3874825"/>
            <a:ext cx="84125" cy="84125"/>
          </a:xfrm>
          <a:prstGeom prst="ellipse">
            <a:avLst/>
          </a:prstGeom>
          <a:solidFill>
            <a:srgbClr val="176493"/>
          </a:solidFill>
          <a:ln w="5080">
            <a:solidFill>
              <a:srgbClr val="176493"/>
            </a:solidFill>
            <a:prstDash val="solid"/>
          </a:ln>
        </p:spPr>
      </p:sp>
      <p:sp>
        <p:nvSpPr>
          <p:cNvPr id="242" name="Shape 240"/>
          <p:cNvSpPr/>
          <p:nvPr/>
        </p:nvSpPr>
        <p:spPr>
          <a:xfrm>
            <a:off x="10627970" y="3499083"/>
            <a:ext cx="84125" cy="84125"/>
          </a:xfrm>
          <a:prstGeom prst="ellipse">
            <a:avLst/>
          </a:prstGeom>
          <a:solidFill>
            <a:srgbClr val="176493"/>
          </a:solidFill>
          <a:ln w="5080">
            <a:solidFill>
              <a:srgbClr val="176493"/>
            </a:solidFill>
            <a:prstDash val="solid"/>
          </a:ln>
        </p:spPr>
      </p:sp>
      <p:sp>
        <p:nvSpPr>
          <p:cNvPr id="243" name="Shape 241"/>
          <p:cNvSpPr/>
          <p:nvPr/>
        </p:nvSpPr>
        <p:spPr>
          <a:xfrm>
            <a:off x="10925658" y="2946250"/>
            <a:ext cx="84125" cy="84125"/>
          </a:xfrm>
          <a:prstGeom prst="ellipse">
            <a:avLst/>
          </a:prstGeom>
          <a:solidFill>
            <a:srgbClr val="176493"/>
          </a:solidFill>
          <a:ln w="5080">
            <a:solidFill>
              <a:srgbClr val="176493"/>
            </a:solidFill>
            <a:prstDash val="solid"/>
          </a:ln>
        </p:spPr>
      </p:sp>
      <p:sp>
        <p:nvSpPr>
          <p:cNvPr id="244" name="Shape 242"/>
          <p:cNvSpPr/>
          <p:nvPr/>
        </p:nvSpPr>
        <p:spPr>
          <a:xfrm>
            <a:off x="11074502" y="3789020"/>
            <a:ext cx="84125" cy="84125"/>
          </a:xfrm>
          <a:prstGeom prst="ellipse">
            <a:avLst/>
          </a:prstGeom>
          <a:solidFill>
            <a:srgbClr val="176493"/>
          </a:solidFill>
          <a:ln w="5080">
            <a:solidFill>
              <a:srgbClr val="176493"/>
            </a:solidFill>
            <a:prstDash val="solid"/>
          </a:ln>
        </p:spPr>
      </p:sp>
      <p:sp>
        <p:nvSpPr>
          <p:cNvPr id="245" name="Shape 243"/>
          <p:cNvSpPr/>
          <p:nvPr/>
        </p:nvSpPr>
        <p:spPr>
          <a:xfrm>
            <a:off x="10479126" y="3825973"/>
            <a:ext cx="84125" cy="84125"/>
          </a:xfrm>
          <a:prstGeom prst="ellipse">
            <a:avLst/>
          </a:prstGeom>
          <a:solidFill>
            <a:srgbClr val="176493"/>
          </a:solidFill>
          <a:ln w="5080">
            <a:solidFill>
              <a:srgbClr val="176493"/>
            </a:solidFill>
            <a:prstDash val="solid"/>
          </a:ln>
        </p:spPr>
      </p:sp>
      <p:sp>
        <p:nvSpPr>
          <p:cNvPr id="246" name="Shape 244"/>
          <p:cNvSpPr/>
          <p:nvPr/>
        </p:nvSpPr>
        <p:spPr>
          <a:xfrm>
            <a:off x="10925658" y="3474766"/>
            <a:ext cx="84125" cy="84125"/>
          </a:xfrm>
          <a:prstGeom prst="ellipse">
            <a:avLst/>
          </a:prstGeom>
          <a:solidFill>
            <a:srgbClr val="176493"/>
          </a:solidFill>
          <a:ln w="5080">
            <a:solidFill>
              <a:srgbClr val="176493"/>
            </a:solidFill>
            <a:prstDash val="solid"/>
          </a:ln>
        </p:spPr>
      </p:sp>
      <p:sp>
        <p:nvSpPr>
          <p:cNvPr id="247" name="Shape 245"/>
          <p:cNvSpPr/>
          <p:nvPr/>
        </p:nvSpPr>
        <p:spPr>
          <a:xfrm>
            <a:off x="10032594" y="3843035"/>
            <a:ext cx="84125" cy="84125"/>
          </a:xfrm>
          <a:prstGeom prst="ellipse">
            <a:avLst/>
          </a:prstGeom>
          <a:solidFill>
            <a:srgbClr val="176493"/>
          </a:solidFill>
          <a:ln w="5080">
            <a:solidFill>
              <a:srgbClr val="176493"/>
            </a:solidFill>
            <a:prstDash val="solid"/>
          </a:ln>
        </p:spPr>
      </p:sp>
      <p:sp>
        <p:nvSpPr>
          <p:cNvPr id="248" name="Shape 246"/>
          <p:cNvSpPr/>
          <p:nvPr/>
        </p:nvSpPr>
        <p:spPr>
          <a:xfrm>
            <a:off x="10627970" y="3412440"/>
            <a:ext cx="84125" cy="84125"/>
          </a:xfrm>
          <a:prstGeom prst="ellipse">
            <a:avLst/>
          </a:prstGeom>
          <a:solidFill>
            <a:srgbClr val="176493"/>
          </a:solidFill>
          <a:ln w="5080">
            <a:solidFill>
              <a:srgbClr val="176493"/>
            </a:solidFill>
            <a:prstDash val="solid"/>
          </a:ln>
        </p:spPr>
      </p:sp>
      <p:sp>
        <p:nvSpPr>
          <p:cNvPr id="249" name="Shape 247"/>
          <p:cNvSpPr/>
          <p:nvPr/>
        </p:nvSpPr>
        <p:spPr>
          <a:xfrm>
            <a:off x="9883750" y="4044485"/>
            <a:ext cx="84125" cy="84125"/>
          </a:xfrm>
          <a:prstGeom prst="ellipse">
            <a:avLst/>
          </a:prstGeom>
          <a:solidFill>
            <a:srgbClr val="176493"/>
          </a:solidFill>
          <a:ln w="5080">
            <a:solidFill>
              <a:srgbClr val="176493"/>
            </a:solidFill>
            <a:prstDash val="solid"/>
          </a:ln>
        </p:spPr>
      </p:sp>
      <p:sp>
        <p:nvSpPr>
          <p:cNvPr id="250" name="Shape 248"/>
          <p:cNvSpPr/>
          <p:nvPr/>
        </p:nvSpPr>
        <p:spPr>
          <a:xfrm>
            <a:off x="10330282" y="4096147"/>
            <a:ext cx="84125" cy="84125"/>
          </a:xfrm>
          <a:prstGeom prst="ellipse">
            <a:avLst/>
          </a:prstGeom>
          <a:solidFill>
            <a:srgbClr val="176493"/>
          </a:solidFill>
          <a:ln w="5080">
            <a:solidFill>
              <a:srgbClr val="176493"/>
            </a:solidFill>
            <a:prstDash val="solid"/>
          </a:ln>
        </p:spPr>
      </p:sp>
      <p:sp>
        <p:nvSpPr>
          <p:cNvPr id="251" name="Shape 249"/>
          <p:cNvSpPr/>
          <p:nvPr/>
        </p:nvSpPr>
        <p:spPr>
          <a:xfrm>
            <a:off x="9883750" y="4039631"/>
            <a:ext cx="84125" cy="84125"/>
          </a:xfrm>
          <a:prstGeom prst="ellipse">
            <a:avLst/>
          </a:prstGeom>
          <a:solidFill>
            <a:srgbClr val="176493"/>
          </a:solidFill>
          <a:ln w="5080">
            <a:solidFill>
              <a:srgbClr val="176493"/>
            </a:solidFill>
            <a:prstDash val="solid"/>
          </a:ln>
        </p:spPr>
      </p:sp>
      <p:sp>
        <p:nvSpPr>
          <p:cNvPr id="252" name="Shape 250"/>
          <p:cNvSpPr/>
          <p:nvPr/>
        </p:nvSpPr>
        <p:spPr>
          <a:xfrm>
            <a:off x="9883750" y="4119278"/>
            <a:ext cx="84125" cy="84125"/>
          </a:xfrm>
          <a:prstGeom prst="ellipse">
            <a:avLst/>
          </a:prstGeom>
          <a:solidFill>
            <a:srgbClr val="176493"/>
          </a:solidFill>
          <a:ln w="5080">
            <a:solidFill>
              <a:srgbClr val="176493"/>
            </a:solidFill>
            <a:prstDash val="solid"/>
          </a:ln>
        </p:spPr>
      </p:sp>
      <p:sp>
        <p:nvSpPr>
          <p:cNvPr id="253" name="Shape 251"/>
          <p:cNvSpPr/>
          <p:nvPr/>
        </p:nvSpPr>
        <p:spPr>
          <a:xfrm>
            <a:off x="10181438" y="4095458"/>
            <a:ext cx="84125" cy="84125"/>
          </a:xfrm>
          <a:prstGeom prst="ellipse">
            <a:avLst/>
          </a:prstGeom>
          <a:solidFill>
            <a:srgbClr val="176493"/>
          </a:solidFill>
          <a:ln w="5080">
            <a:solidFill>
              <a:srgbClr val="176493"/>
            </a:solidFill>
            <a:prstDash val="solid"/>
          </a:ln>
        </p:spPr>
      </p:sp>
      <p:sp>
        <p:nvSpPr>
          <p:cNvPr id="254" name="Shape 252"/>
          <p:cNvSpPr/>
          <p:nvPr/>
        </p:nvSpPr>
        <p:spPr>
          <a:xfrm>
            <a:off x="10330282" y="3298964"/>
            <a:ext cx="84125" cy="84125"/>
          </a:xfrm>
          <a:prstGeom prst="ellipse">
            <a:avLst/>
          </a:prstGeom>
          <a:solidFill>
            <a:srgbClr val="176493"/>
          </a:solidFill>
          <a:ln w="5080">
            <a:solidFill>
              <a:srgbClr val="176493"/>
            </a:solidFill>
            <a:prstDash val="solid"/>
          </a:ln>
        </p:spPr>
      </p:sp>
      <p:sp>
        <p:nvSpPr>
          <p:cNvPr id="255" name="Shape 253"/>
          <p:cNvSpPr/>
          <p:nvPr/>
        </p:nvSpPr>
        <p:spPr>
          <a:xfrm>
            <a:off x="9437218" y="4431966"/>
            <a:ext cx="84125" cy="84125"/>
          </a:xfrm>
          <a:prstGeom prst="ellipse">
            <a:avLst/>
          </a:prstGeom>
          <a:solidFill>
            <a:srgbClr val="176493"/>
          </a:solidFill>
          <a:ln w="5080">
            <a:solidFill>
              <a:srgbClr val="176493"/>
            </a:solidFill>
            <a:prstDash val="solid"/>
          </a:ln>
        </p:spPr>
      </p:sp>
      <p:sp>
        <p:nvSpPr>
          <p:cNvPr id="256" name="Shape 254"/>
          <p:cNvSpPr/>
          <p:nvPr/>
        </p:nvSpPr>
        <p:spPr>
          <a:xfrm>
            <a:off x="8990686" y="4627731"/>
            <a:ext cx="84125" cy="84125"/>
          </a:xfrm>
          <a:prstGeom prst="ellipse">
            <a:avLst/>
          </a:prstGeom>
          <a:solidFill>
            <a:srgbClr val="176493"/>
          </a:solidFill>
          <a:ln w="5080">
            <a:solidFill>
              <a:srgbClr val="176493"/>
            </a:solidFill>
            <a:prstDash val="solid"/>
          </a:ln>
        </p:spPr>
      </p:sp>
      <p:sp>
        <p:nvSpPr>
          <p:cNvPr id="257" name="Shape 255"/>
          <p:cNvSpPr/>
          <p:nvPr/>
        </p:nvSpPr>
        <p:spPr>
          <a:xfrm>
            <a:off x="9437218" y="4439867"/>
            <a:ext cx="84125" cy="84125"/>
          </a:xfrm>
          <a:prstGeom prst="ellipse">
            <a:avLst/>
          </a:prstGeom>
          <a:solidFill>
            <a:srgbClr val="176493"/>
          </a:solidFill>
          <a:ln w="5080">
            <a:solidFill>
              <a:srgbClr val="176493"/>
            </a:solidFill>
            <a:prstDash val="solid"/>
          </a:ln>
        </p:spPr>
      </p:sp>
      <p:sp>
        <p:nvSpPr>
          <p:cNvPr id="258" name="Shape 256"/>
          <p:cNvSpPr/>
          <p:nvPr/>
        </p:nvSpPr>
        <p:spPr>
          <a:xfrm>
            <a:off x="9288374" y="4508696"/>
            <a:ext cx="84125" cy="84125"/>
          </a:xfrm>
          <a:prstGeom prst="ellipse">
            <a:avLst/>
          </a:prstGeom>
          <a:solidFill>
            <a:srgbClr val="176493"/>
          </a:solidFill>
          <a:ln w="5080">
            <a:solidFill>
              <a:srgbClr val="176493"/>
            </a:solidFill>
            <a:prstDash val="solid"/>
          </a:ln>
        </p:spPr>
      </p:sp>
      <p:sp>
        <p:nvSpPr>
          <p:cNvPr id="259" name="Shape 257"/>
          <p:cNvSpPr/>
          <p:nvPr/>
        </p:nvSpPr>
        <p:spPr>
          <a:xfrm>
            <a:off x="9288374" y="4599494"/>
            <a:ext cx="84125" cy="84125"/>
          </a:xfrm>
          <a:prstGeom prst="ellipse">
            <a:avLst/>
          </a:prstGeom>
          <a:solidFill>
            <a:srgbClr val="176493"/>
          </a:solidFill>
          <a:ln w="5080">
            <a:solidFill>
              <a:srgbClr val="176493"/>
            </a:solidFill>
            <a:prstDash val="solid"/>
          </a:ln>
        </p:spPr>
      </p:sp>
      <p:sp>
        <p:nvSpPr>
          <p:cNvPr id="260" name="Shape 258"/>
          <p:cNvSpPr/>
          <p:nvPr/>
        </p:nvSpPr>
        <p:spPr>
          <a:xfrm>
            <a:off x="9437218" y="4579441"/>
            <a:ext cx="84125" cy="84125"/>
          </a:xfrm>
          <a:prstGeom prst="ellipse">
            <a:avLst/>
          </a:prstGeom>
          <a:solidFill>
            <a:srgbClr val="176493"/>
          </a:solidFill>
          <a:ln w="5080">
            <a:solidFill>
              <a:srgbClr val="176493"/>
            </a:solidFill>
            <a:prstDash val="solid"/>
          </a:ln>
        </p:spPr>
      </p:sp>
      <p:sp>
        <p:nvSpPr>
          <p:cNvPr id="261" name="Shape 259"/>
          <p:cNvSpPr/>
          <p:nvPr/>
        </p:nvSpPr>
        <p:spPr>
          <a:xfrm>
            <a:off x="9139530" y="4582444"/>
            <a:ext cx="84125" cy="84125"/>
          </a:xfrm>
          <a:prstGeom prst="ellipse">
            <a:avLst/>
          </a:prstGeom>
          <a:solidFill>
            <a:srgbClr val="176493"/>
          </a:solidFill>
          <a:ln w="5080">
            <a:solidFill>
              <a:srgbClr val="176493"/>
            </a:solidFill>
            <a:prstDash val="solid"/>
          </a:ln>
        </p:spPr>
      </p:sp>
      <p:sp>
        <p:nvSpPr>
          <p:cNvPr id="262" name="Shape 260"/>
          <p:cNvSpPr/>
          <p:nvPr/>
        </p:nvSpPr>
        <p:spPr>
          <a:xfrm>
            <a:off x="9288374" y="4501240"/>
            <a:ext cx="84125" cy="84125"/>
          </a:xfrm>
          <a:prstGeom prst="ellipse">
            <a:avLst/>
          </a:prstGeom>
          <a:solidFill>
            <a:srgbClr val="176493"/>
          </a:solidFill>
          <a:ln w="5080">
            <a:solidFill>
              <a:srgbClr val="176493"/>
            </a:solidFill>
            <a:prstDash val="solid"/>
          </a:ln>
        </p:spPr>
      </p:sp>
      <p:sp>
        <p:nvSpPr>
          <p:cNvPr id="263" name="Shape 261"/>
          <p:cNvSpPr/>
          <p:nvPr/>
        </p:nvSpPr>
        <p:spPr>
          <a:xfrm>
            <a:off x="8990686" y="4607177"/>
            <a:ext cx="84125" cy="84125"/>
          </a:xfrm>
          <a:prstGeom prst="ellipse">
            <a:avLst/>
          </a:prstGeom>
          <a:solidFill>
            <a:srgbClr val="176493"/>
          </a:solidFill>
          <a:ln w="5080">
            <a:solidFill>
              <a:srgbClr val="176493"/>
            </a:solidFill>
            <a:prstDash val="solid"/>
          </a:ln>
        </p:spPr>
      </p:sp>
      <p:sp>
        <p:nvSpPr>
          <p:cNvPr id="264" name="Shape 262"/>
          <p:cNvSpPr/>
          <p:nvPr/>
        </p:nvSpPr>
        <p:spPr>
          <a:xfrm>
            <a:off x="9437218" y="4588909"/>
            <a:ext cx="84125" cy="84125"/>
          </a:xfrm>
          <a:prstGeom prst="ellipse">
            <a:avLst/>
          </a:prstGeom>
          <a:solidFill>
            <a:srgbClr val="176493"/>
          </a:solidFill>
          <a:ln w="5080">
            <a:solidFill>
              <a:srgbClr val="176493"/>
            </a:solidFill>
            <a:prstDash val="solid"/>
          </a:ln>
        </p:spPr>
      </p:sp>
      <p:sp>
        <p:nvSpPr>
          <p:cNvPr id="265" name="Shape 263"/>
          <p:cNvSpPr/>
          <p:nvPr/>
        </p:nvSpPr>
        <p:spPr>
          <a:xfrm>
            <a:off x="8841842" y="4652941"/>
            <a:ext cx="84125" cy="84125"/>
          </a:xfrm>
          <a:prstGeom prst="ellipse">
            <a:avLst/>
          </a:prstGeom>
          <a:solidFill>
            <a:srgbClr val="176493"/>
          </a:solidFill>
          <a:ln w="5080">
            <a:solidFill>
              <a:srgbClr val="176493"/>
            </a:solidFill>
            <a:prstDash val="solid"/>
          </a:ln>
        </p:spPr>
      </p:sp>
      <p:sp>
        <p:nvSpPr>
          <p:cNvPr id="266" name="Shape 264"/>
          <p:cNvSpPr/>
          <p:nvPr/>
        </p:nvSpPr>
        <p:spPr>
          <a:xfrm>
            <a:off x="9437218" y="4561436"/>
            <a:ext cx="84125" cy="84125"/>
          </a:xfrm>
          <a:prstGeom prst="ellipse">
            <a:avLst/>
          </a:prstGeom>
          <a:solidFill>
            <a:srgbClr val="176493"/>
          </a:solidFill>
          <a:ln w="5080">
            <a:solidFill>
              <a:srgbClr val="176493"/>
            </a:solidFill>
            <a:prstDash val="solid"/>
          </a:ln>
        </p:spPr>
      </p:sp>
      <p:sp>
        <p:nvSpPr>
          <p:cNvPr id="267" name="Shape 265"/>
          <p:cNvSpPr/>
          <p:nvPr/>
        </p:nvSpPr>
        <p:spPr>
          <a:xfrm>
            <a:off x="8841842" y="4660390"/>
            <a:ext cx="84125" cy="84125"/>
          </a:xfrm>
          <a:prstGeom prst="ellipse">
            <a:avLst/>
          </a:prstGeom>
          <a:solidFill>
            <a:srgbClr val="176493"/>
          </a:solidFill>
          <a:ln w="5080">
            <a:solidFill>
              <a:srgbClr val="176493"/>
            </a:solidFill>
            <a:prstDash val="solid"/>
          </a:ln>
        </p:spPr>
      </p:sp>
      <p:sp>
        <p:nvSpPr>
          <p:cNvPr id="268" name="Shape 266"/>
          <p:cNvSpPr/>
          <p:nvPr/>
        </p:nvSpPr>
        <p:spPr>
          <a:xfrm>
            <a:off x="8841842" y="4653755"/>
            <a:ext cx="84125" cy="84125"/>
          </a:xfrm>
          <a:prstGeom prst="ellipse">
            <a:avLst/>
          </a:prstGeom>
          <a:solidFill>
            <a:srgbClr val="176493"/>
          </a:solidFill>
          <a:ln w="5080">
            <a:solidFill>
              <a:srgbClr val="176493"/>
            </a:solidFill>
            <a:prstDash val="solid"/>
          </a:ln>
        </p:spPr>
      </p:sp>
      <p:sp>
        <p:nvSpPr>
          <p:cNvPr id="269" name="Shape 267"/>
          <p:cNvSpPr/>
          <p:nvPr/>
        </p:nvSpPr>
        <p:spPr>
          <a:xfrm>
            <a:off x="9139530" y="4566464"/>
            <a:ext cx="84125" cy="84125"/>
          </a:xfrm>
          <a:prstGeom prst="ellipse">
            <a:avLst/>
          </a:prstGeom>
          <a:solidFill>
            <a:srgbClr val="176493"/>
          </a:solidFill>
          <a:ln w="5080">
            <a:solidFill>
              <a:srgbClr val="176493"/>
            </a:solidFill>
            <a:prstDash val="solid"/>
          </a:ln>
        </p:spPr>
      </p:sp>
      <p:sp>
        <p:nvSpPr>
          <p:cNvPr id="270" name="Shape 268"/>
          <p:cNvSpPr/>
          <p:nvPr/>
        </p:nvSpPr>
        <p:spPr>
          <a:xfrm>
            <a:off x="9437218" y="4595646"/>
            <a:ext cx="84125" cy="84125"/>
          </a:xfrm>
          <a:prstGeom prst="ellipse">
            <a:avLst/>
          </a:prstGeom>
          <a:solidFill>
            <a:srgbClr val="176493"/>
          </a:solidFill>
          <a:ln w="5080">
            <a:solidFill>
              <a:srgbClr val="176493"/>
            </a:solidFill>
            <a:prstDash val="solid"/>
          </a:ln>
        </p:spPr>
      </p:sp>
      <p:sp>
        <p:nvSpPr>
          <p:cNvPr id="271" name="Shape 269"/>
          <p:cNvSpPr/>
          <p:nvPr/>
        </p:nvSpPr>
        <p:spPr>
          <a:xfrm>
            <a:off x="9437218" y="4591568"/>
            <a:ext cx="84125" cy="84125"/>
          </a:xfrm>
          <a:prstGeom prst="ellipse">
            <a:avLst/>
          </a:prstGeom>
          <a:solidFill>
            <a:srgbClr val="176493"/>
          </a:solidFill>
          <a:ln w="5080">
            <a:solidFill>
              <a:srgbClr val="176493"/>
            </a:solidFill>
            <a:prstDash val="solid"/>
          </a:ln>
        </p:spPr>
      </p:sp>
      <p:sp>
        <p:nvSpPr>
          <p:cNvPr id="272" name="Shape 270"/>
          <p:cNvSpPr/>
          <p:nvPr/>
        </p:nvSpPr>
        <p:spPr>
          <a:xfrm>
            <a:off x="8990686" y="4630599"/>
            <a:ext cx="84125" cy="84125"/>
          </a:xfrm>
          <a:prstGeom prst="ellipse">
            <a:avLst/>
          </a:prstGeom>
          <a:solidFill>
            <a:srgbClr val="176493"/>
          </a:solidFill>
          <a:ln w="5080">
            <a:solidFill>
              <a:srgbClr val="176493"/>
            </a:solidFill>
            <a:prstDash val="solid"/>
          </a:ln>
        </p:spPr>
      </p:sp>
      <p:sp>
        <p:nvSpPr>
          <p:cNvPr id="273" name="Shape 271"/>
          <p:cNvSpPr/>
          <p:nvPr/>
        </p:nvSpPr>
        <p:spPr>
          <a:xfrm>
            <a:off x="8841842" y="4623613"/>
            <a:ext cx="84125" cy="84125"/>
          </a:xfrm>
          <a:prstGeom prst="ellipse">
            <a:avLst/>
          </a:prstGeom>
          <a:solidFill>
            <a:srgbClr val="176493"/>
          </a:solidFill>
          <a:ln w="5080">
            <a:solidFill>
              <a:srgbClr val="176493"/>
            </a:solidFill>
            <a:prstDash val="solid"/>
          </a:ln>
        </p:spPr>
      </p:sp>
      <p:sp>
        <p:nvSpPr>
          <p:cNvPr id="274" name="Shape 272"/>
          <p:cNvSpPr/>
          <p:nvPr/>
        </p:nvSpPr>
        <p:spPr>
          <a:xfrm>
            <a:off x="8841842" y="4638217"/>
            <a:ext cx="84125" cy="84125"/>
          </a:xfrm>
          <a:prstGeom prst="ellipse">
            <a:avLst/>
          </a:prstGeom>
          <a:solidFill>
            <a:srgbClr val="176493"/>
          </a:solidFill>
          <a:ln w="5080">
            <a:solidFill>
              <a:srgbClr val="176493"/>
            </a:solidFill>
            <a:prstDash val="solid"/>
          </a:ln>
        </p:spPr>
      </p:sp>
      <p:sp>
        <p:nvSpPr>
          <p:cNvPr id="275" name="Shape 273"/>
          <p:cNvSpPr/>
          <p:nvPr/>
        </p:nvSpPr>
        <p:spPr>
          <a:xfrm>
            <a:off x="8990686" y="4602307"/>
            <a:ext cx="84125" cy="84125"/>
          </a:xfrm>
          <a:prstGeom prst="ellipse">
            <a:avLst/>
          </a:prstGeom>
          <a:solidFill>
            <a:srgbClr val="176493"/>
          </a:solidFill>
          <a:ln w="5080">
            <a:solidFill>
              <a:srgbClr val="176493"/>
            </a:solidFill>
            <a:prstDash val="solid"/>
          </a:ln>
        </p:spPr>
      </p:sp>
      <p:sp>
        <p:nvSpPr>
          <p:cNvPr id="276" name="Shape 274"/>
          <p:cNvSpPr/>
          <p:nvPr/>
        </p:nvSpPr>
        <p:spPr>
          <a:xfrm>
            <a:off x="9139530" y="4595551"/>
            <a:ext cx="84125" cy="84125"/>
          </a:xfrm>
          <a:prstGeom prst="ellipse">
            <a:avLst/>
          </a:prstGeom>
          <a:solidFill>
            <a:srgbClr val="176493"/>
          </a:solidFill>
          <a:ln w="5080">
            <a:solidFill>
              <a:srgbClr val="176493"/>
            </a:solidFill>
            <a:prstDash val="solid"/>
          </a:ln>
        </p:spPr>
      </p:sp>
      <p:sp>
        <p:nvSpPr>
          <p:cNvPr id="277" name="Shape 275"/>
          <p:cNvSpPr/>
          <p:nvPr/>
        </p:nvSpPr>
        <p:spPr>
          <a:xfrm>
            <a:off x="8990686" y="4642067"/>
            <a:ext cx="84125" cy="84125"/>
          </a:xfrm>
          <a:prstGeom prst="ellipse">
            <a:avLst/>
          </a:prstGeom>
          <a:solidFill>
            <a:srgbClr val="176493"/>
          </a:solidFill>
          <a:ln w="5080">
            <a:solidFill>
              <a:srgbClr val="176493"/>
            </a:solidFill>
            <a:prstDash val="solid"/>
          </a:ln>
        </p:spPr>
      </p:sp>
      <p:sp>
        <p:nvSpPr>
          <p:cNvPr id="278" name="Shape 276"/>
          <p:cNvSpPr/>
          <p:nvPr/>
        </p:nvSpPr>
        <p:spPr>
          <a:xfrm>
            <a:off x="9288374" y="4610534"/>
            <a:ext cx="84125" cy="84125"/>
          </a:xfrm>
          <a:prstGeom prst="ellipse">
            <a:avLst/>
          </a:prstGeom>
          <a:solidFill>
            <a:srgbClr val="176493"/>
          </a:solidFill>
          <a:ln w="5080">
            <a:solidFill>
              <a:srgbClr val="176493"/>
            </a:solidFill>
            <a:prstDash val="solid"/>
          </a:ln>
        </p:spPr>
      </p:sp>
      <p:sp>
        <p:nvSpPr>
          <p:cNvPr id="279" name="Shape 277"/>
          <p:cNvSpPr/>
          <p:nvPr/>
        </p:nvSpPr>
        <p:spPr>
          <a:xfrm>
            <a:off x="8990686" y="4642087"/>
            <a:ext cx="84125" cy="84125"/>
          </a:xfrm>
          <a:prstGeom prst="ellipse">
            <a:avLst/>
          </a:prstGeom>
          <a:solidFill>
            <a:srgbClr val="176493"/>
          </a:solidFill>
          <a:ln w="5080">
            <a:solidFill>
              <a:srgbClr val="176493"/>
            </a:solidFill>
            <a:prstDash val="solid"/>
          </a:ln>
        </p:spPr>
      </p:sp>
      <p:sp>
        <p:nvSpPr>
          <p:cNvPr id="280" name="Shape 278"/>
          <p:cNvSpPr/>
          <p:nvPr/>
        </p:nvSpPr>
        <p:spPr>
          <a:xfrm>
            <a:off x="9139530" y="4576564"/>
            <a:ext cx="84125" cy="84125"/>
          </a:xfrm>
          <a:prstGeom prst="ellipse">
            <a:avLst/>
          </a:prstGeom>
          <a:solidFill>
            <a:srgbClr val="176493"/>
          </a:solidFill>
          <a:ln w="5080">
            <a:solidFill>
              <a:srgbClr val="176493"/>
            </a:solidFill>
            <a:prstDash val="solid"/>
          </a:ln>
        </p:spPr>
      </p:sp>
      <p:sp>
        <p:nvSpPr>
          <p:cNvPr id="281" name="Shape 279"/>
          <p:cNvSpPr/>
          <p:nvPr/>
        </p:nvSpPr>
        <p:spPr>
          <a:xfrm>
            <a:off x="8841842" y="4662677"/>
            <a:ext cx="84125" cy="84125"/>
          </a:xfrm>
          <a:prstGeom prst="ellipse">
            <a:avLst/>
          </a:prstGeom>
          <a:solidFill>
            <a:srgbClr val="176493"/>
          </a:solidFill>
          <a:ln w="5080">
            <a:solidFill>
              <a:srgbClr val="176493"/>
            </a:solidFill>
            <a:prstDash val="solid"/>
          </a:ln>
        </p:spPr>
      </p:sp>
      <p:sp>
        <p:nvSpPr>
          <p:cNvPr id="282" name="Shape 280"/>
          <p:cNvSpPr/>
          <p:nvPr/>
        </p:nvSpPr>
        <p:spPr>
          <a:xfrm>
            <a:off x="8990686" y="4589934"/>
            <a:ext cx="84125" cy="84125"/>
          </a:xfrm>
          <a:prstGeom prst="ellipse">
            <a:avLst/>
          </a:prstGeom>
          <a:solidFill>
            <a:srgbClr val="176493"/>
          </a:solidFill>
          <a:ln w="5080">
            <a:solidFill>
              <a:srgbClr val="176493"/>
            </a:solidFill>
            <a:prstDash val="solid"/>
          </a:ln>
        </p:spPr>
      </p:sp>
      <p:sp>
        <p:nvSpPr>
          <p:cNvPr id="283" name="Shape 281"/>
          <p:cNvSpPr/>
          <p:nvPr/>
        </p:nvSpPr>
        <p:spPr>
          <a:xfrm>
            <a:off x="8990686" y="4535117"/>
            <a:ext cx="84125" cy="84125"/>
          </a:xfrm>
          <a:prstGeom prst="ellipse">
            <a:avLst/>
          </a:prstGeom>
          <a:solidFill>
            <a:srgbClr val="176493"/>
          </a:solidFill>
          <a:ln w="5080">
            <a:solidFill>
              <a:srgbClr val="176493"/>
            </a:solidFill>
            <a:prstDash val="solid"/>
          </a:ln>
        </p:spPr>
      </p:sp>
      <p:sp>
        <p:nvSpPr>
          <p:cNvPr id="284" name="Shape 282"/>
          <p:cNvSpPr/>
          <p:nvPr/>
        </p:nvSpPr>
        <p:spPr>
          <a:xfrm>
            <a:off x="8990686" y="4578362"/>
            <a:ext cx="84125" cy="84125"/>
          </a:xfrm>
          <a:prstGeom prst="ellipse">
            <a:avLst/>
          </a:prstGeom>
          <a:solidFill>
            <a:srgbClr val="176493"/>
          </a:solidFill>
          <a:ln w="5080">
            <a:solidFill>
              <a:srgbClr val="176493"/>
            </a:solidFill>
            <a:prstDash val="solid"/>
          </a:ln>
        </p:spPr>
      </p:sp>
      <p:sp>
        <p:nvSpPr>
          <p:cNvPr id="285" name="Shape 283"/>
          <p:cNvSpPr/>
          <p:nvPr/>
        </p:nvSpPr>
        <p:spPr>
          <a:xfrm>
            <a:off x="9139530" y="4604283"/>
            <a:ext cx="84125" cy="84125"/>
          </a:xfrm>
          <a:prstGeom prst="ellipse">
            <a:avLst/>
          </a:prstGeom>
          <a:solidFill>
            <a:srgbClr val="176493"/>
          </a:solidFill>
          <a:ln w="5080">
            <a:solidFill>
              <a:srgbClr val="176493"/>
            </a:solidFill>
            <a:prstDash val="solid"/>
          </a:ln>
        </p:spPr>
      </p:sp>
      <p:sp>
        <p:nvSpPr>
          <p:cNvPr id="286" name="Shape 284"/>
          <p:cNvSpPr/>
          <p:nvPr/>
        </p:nvSpPr>
        <p:spPr>
          <a:xfrm>
            <a:off x="9139530" y="4564493"/>
            <a:ext cx="84125" cy="84125"/>
          </a:xfrm>
          <a:prstGeom prst="ellipse">
            <a:avLst/>
          </a:prstGeom>
          <a:solidFill>
            <a:srgbClr val="176493"/>
          </a:solidFill>
          <a:ln w="5080">
            <a:solidFill>
              <a:srgbClr val="176493"/>
            </a:solidFill>
            <a:prstDash val="solid"/>
          </a:ln>
        </p:spPr>
      </p:sp>
      <p:sp>
        <p:nvSpPr>
          <p:cNvPr id="287" name="Shape 285"/>
          <p:cNvSpPr/>
          <p:nvPr/>
        </p:nvSpPr>
        <p:spPr>
          <a:xfrm>
            <a:off x="9139530" y="4531930"/>
            <a:ext cx="84125" cy="84125"/>
          </a:xfrm>
          <a:prstGeom prst="ellipse">
            <a:avLst/>
          </a:prstGeom>
          <a:solidFill>
            <a:srgbClr val="176493"/>
          </a:solidFill>
          <a:ln w="5080">
            <a:solidFill>
              <a:srgbClr val="176493"/>
            </a:solidFill>
            <a:prstDash val="solid"/>
          </a:ln>
        </p:spPr>
      </p:sp>
      <p:sp>
        <p:nvSpPr>
          <p:cNvPr id="288" name="Shape 286"/>
          <p:cNvSpPr/>
          <p:nvPr/>
        </p:nvSpPr>
        <p:spPr>
          <a:xfrm>
            <a:off x="8841842" y="4614000"/>
            <a:ext cx="84125" cy="84125"/>
          </a:xfrm>
          <a:prstGeom prst="ellipse">
            <a:avLst/>
          </a:prstGeom>
          <a:solidFill>
            <a:srgbClr val="176493"/>
          </a:solidFill>
          <a:ln w="5080">
            <a:solidFill>
              <a:srgbClr val="176493"/>
            </a:solidFill>
            <a:prstDash val="solid"/>
          </a:ln>
        </p:spPr>
      </p:sp>
      <p:sp>
        <p:nvSpPr>
          <p:cNvPr id="289" name="Shape 287"/>
          <p:cNvSpPr/>
          <p:nvPr/>
        </p:nvSpPr>
        <p:spPr>
          <a:xfrm>
            <a:off x="8692998" y="4683781"/>
            <a:ext cx="84125" cy="84125"/>
          </a:xfrm>
          <a:prstGeom prst="ellipse">
            <a:avLst/>
          </a:prstGeom>
          <a:solidFill>
            <a:srgbClr val="176493"/>
          </a:solidFill>
          <a:ln w="5080">
            <a:solidFill>
              <a:srgbClr val="176493"/>
            </a:solidFill>
            <a:prstDash val="solid"/>
          </a:ln>
        </p:spPr>
      </p:sp>
      <p:sp>
        <p:nvSpPr>
          <p:cNvPr id="290" name="Shape 288"/>
          <p:cNvSpPr/>
          <p:nvPr/>
        </p:nvSpPr>
        <p:spPr>
          <a:xfrm>
            <a:off x="9139530" y="4599551"/>
            <a:ext cx="84125" cy="84125"/>
          </a:xfrm>
          <a:prstGeom prst="ellipse">
            <a:avLst/>
          </a:prstGeom>
          <a:solidFill>
            <a:srgbClr val="176493"/>
          </a:solidFill>
          <a:ln w="5080">
            <a:solidFill>
              <a:srgbClr val="176493"/>
            </a:solidFill>
            <a:prstDash val="solid"/>
          </a:ln>
        </p:spPr>
      </p:sp>
      <p:sp>
        <p:nvSpPr>
          <p:cNvPr id="291" name="Shape 289"/>
          <p:cNvSpPr/>
          <p:nvPr/>
        </p:nvSpPr>
        <p:spPr>
          <a:xfrm>
            <a:off x="8841842" y="4598439"/>
            <a:ext cx="84125" cy="84125"/>
          </a:xfrm>
          <a:prstGeom prst="ellipse">
            <a:avLst/>
          </a:prstGeom>
          <a:solidFill>
            <a:srgbClr val="176493"/>
          </a:solidFill>
          <a:ln w="5080">
            <a:solidFill>
              <a:srgbClr val="176493"/>
            </a:solidFill>
            <a:prstDash val="solid"/>
          </a:ln>
        </p:spPr>
      </p:sp>
      <p:sp>
        <p:nvSpPr>
          <p:cNvPr id="292" name="Shape 290"/>
          <p:cNvSpPr/>
          <p:nvPr/>
        </p:nvSpPr>
        <p:spPr>
          <a:xfrm>
            <a:off x="8841842" y="4550162"/>
            <a:ext cx="84125" cy="84125"/>
          </a:xfrm>
          <a:prstGeom prst="ellipse">
            <a:avLst/>
          </a:prstGeom>
          <a:solidFill>
            <a:srgbClr val="176493"/>
          </a:solidFill>
          <a:ln w="5080">
            <a:solidFill>
              <a:srgbClr val="176493"/>
            </a:solidFill>
            <a:prstDash val="solid"/>
          </a:ln>
        </p:spPr>
      </p:sp>
      <p:sp>
        <p:nvSpPr>
          <p:cNvPr id="293" name="Shape 291"/>
          <p:cNvSpPr/>
          <p:nvPr/>
        </p:nvSpPr>
        <p:spPr>
          <a:xfrm>
            <a:off x="8841842" y="4554365"/>
            <a:ext cx="84125" cy="84125"/>
          </a:xfrm>
          <a:prstGeom prst="ellipse">
            <a:avLst/>
          </a:prstGeom>
          <a:solidFill>
            <a:srgbClr val="176493"/>
          </a:solidFill>
          <a:ln w="5080">
            <a:solidFill>
              <a:srgbClr val="176493"/>
            </a:solidFill>
            <a:prstDash val="solid"/>
          </a:ln>
        </p:spPr>
      </p:sp>
      <p:sp>
        <p:nvSpPr>
          <p:cNvPr id="294" name="Shape 292"/>
          <p:cNvSpPr/>
          <p:nvPr/>
        </p:nvSpPr>
        <p:spPr>
          <a:xfrm>
            <a:off x="9139530" y="4465028"/>
            <a:ext cx="84125" cy="84125"/>
          </a:xfrm>
          <a:prstGeom prst="ellipse">
            <a:avLst/>
          </a:prstGeom>
          <a:solidFill>
            <a:srgbClr val="176493"/>
          </a:solidFill>
          <a:ln w="5080">
            <a:solidFill>
              <a:srgbClr val="176493"/>
            </a:solidFill>
            <a:prstDash val="solid"/>
          </a:ln>
        </p:spPr>
      </p:sp>
      <p:sp>
        <p:nvSpPr>
          <p:cNvPr id="295" name="Shape 293"/>
          <p:cNvSpPr/>
          <p:nvPr/>
        </p:nvSpPr>
        <p:spPr>
          <a:xfrm>
            <a:off x="9139530" y="4582612"/>
            <a:ext cx="84125" cy="84125"/>
          </a:xfrm>
          <a:prstGeom prst="ellipse">
            <a:avLst/>
          </a:prstGeom>
          <a:solidFill>
            <a:srgbClr val="176493"/>
          </a:solidFill>
          <a:ln w="5080">
            <a:solidFill>
              <a:srgbClr val="176493"/>
            </a:solidFill>
            <a:prstDash val="solid"/>
          </a:ln>
        </p:spPr>
      </p:sp>
      <p:sp>
        <p:nvSpPr>
          <p:cNvPr id="296" name="Shape 294"/>
          <p:cNvSpPr/>
          <p:nvPr/>
        </p:nvSpPr>
        <p:spPr>
          <a:xfrm>
            <a:off x="8990686" y="4571536"/>
            <a:ext cx="84125" cy="84125"/>
          </a:xfrm>
          <a:prstGeom prst="ellipse">
            <a:avLst/>
          </a:prstGeom>
          <a:solidFill>
            <a:srgbClr val="176493"/>
          </a:solidFill>
          <a:ln w="5080">
            <a:solidFill>
              <a:srgbClr val="176493"/>
            </a:solidFill>
            <a:prstDash val="solid"/>
          </a:ln>
        </p:spPr>
      </p:sp>
      <p:sp>
        <p:nvSpPr>
          <p:cNvPr id="297" name="Shape 295"/>
          <p:cNvSpPr/>
          <p:nvPr/>
        </p:nvSpPr>
        <p:spPr>
          <a:xfrm>
            <a:off x="8692998" y="4612625"/>
            <a:ext cx="84125" cy="84125"/>
          </a:xfrm>
          <a:prstGeom prst="ellipse">
            <a:avLst/>
          </a:prstGeom>
          <a:solidFill>
            <a:srgbClr val="176493"/>
          </a:solidFill>
          <a:ln w="5080">
            <a:solidFill>
              <a:srgbClr val="176493"/>
            </a:solidFill>
            <a:prstDash val="solid"/>
          </a:ln>
        </p:spPr>
      </p:sp>
      <p:sp>
        <p:nvSpPr>
          <p:cNvPr id="298" name="Shape 296"/>
          <p:cNvSpPr/>
          <p:nvPr/>
        </p:nvSpPr>
        <p:spPr>
          <a:xfrm>
            <a:off x="9139530" y="4462327"/>
            <a:ext cx="84125" cy="84125"/>
          </a:xfrm>
          <a:prstGeom prst="ellipse">
            <a:avLst/>
          </a:prstGeom>
          <a:solidFill>
            <a:srgbClr val="176493"/>
          </a:solidFill>
          <a:ln w="5080">
            <a:solidFill>
              <a:srgbClr val="176493"/>
            </a:solidFill>
            <a:prstDash val="solid"/>
          </a:ln>
        </p:spPr>
      </p:sp>
      <p:sp>
        <p:nvSpPr>
          <p:cNvPr id="299" name="Shape 297"/>
          <p:cNvSpPr/>
          <p:nvPr/>
        </p:nvSpPr>
        <p:spPr>
          <a:xfrm>
            <a:off x="9139530" y="4564952"/>
            <a:ext cx="84125" cy="84125"/>
          </a:xfrm>
          <a:prstGeom prst="ellipse">
            <a:avLst/>
          </a:prstGeom>
          <a:solidFill>
            <a:srgbClr val="176493"/>
          </a:solidFill>
          <a:ln w="5080">
            <a:solidFill>
              <a:srgbClr val="176493"/>
            </a:solidFill>
            <a:prstDash val="solid"/>
          </a:ln>
        </p:spPr>
      </p:sp>
      <p:sp>
        <p:nvSpPr>
          <p:cNvPr id="300" name="Shape 298"/>
          <p:cNvSpPr/>
          <p:nvPr/>
        </p:nvSpPr>
        <p:spPr>
          <a:xfrm>
            <a:off x="8990686" y="4560529"/>
            <a:ext cx="84125" cy="84125"/>
          </a:xfrm>
          <a:prstGeom prst="ellipse">
            <a:avLst/>
          </a:prstGeom>
          <a:solidFill>
            <a:srgbClr val="176493"/>
          </a:solidFill>
          <a:ln w="5080">
            <a:solidFill>
              <a:srgbClr val="176493"/>
            </a:solidFill>
            <a:prstDash val="solid"/>
          </a:ln>
        </p:spPr>
      </p:sp>
      <p:sp>
        <p:nvSpPr>
          <p:cNvPr id="301" name="Shape 299"/>
          <p:cNvSpPr/>
          <p:nvPr/>
        </p:nvSpPr>
        <p:spPr>
          <a:xfrm>
            <a:off x="9139530" y="4462729"/>
            <a:ext cx="84125" cy="84125"/>
          </a:xfrm>
          <a:prstGeom prst="ellipse">
            <a:avLst/>
          </a:prstGeom>
          <a:solidFill>
            <a:srgbClr val="176493"/>
          </a:solidFill>
          <a:ln w="5080">
            <a:solidFill>
              <a:srgbClr val="176493"/>
            </a:solidFill>
            <a:prstDash val="solid"/>
          </a:ln>
        </p:spPr>
      </p:sp>
      <p:sp>
        <p:nvSpPr>
          <p:cNvPr id="302" name="Shape 300"/>
          <p:cNvSpPr/>
          <p:nvPr/>
        </p:nvSpPr>
        <p:spPr>
          <a:xfrm>
            <a:off x="8841842" y="4615402"/>
            <a:ext cx="84125" cy="84125"/>
          </a:xfrm>
          <a:prstGeom prst="ellipse">
            <a:avLst/>
          </a:prstGeom>
          <a:solidFill>
            <a:srgbClr val="176493"/>
          </a:solidFill>
          <a:ln w="5080">
            <a:solidFill>
              <a:srgbClr val="176493"/>
            </a:solidFill>
            <a:prstDash val="solid"/>
          </a:ln>
        </p:spPr>
      </p:sp>
      <p:sp>
        <p:nvSpPr>
          <p:cNvPr id="303" name="Shape 301"/>
          <p:cNvSpPr/>
          <p:nvPr/>
        </p:nvSpPr>
        <p:spPr>
          <a:xfrm>
            <a:off x="8990686" y="4512873"/>
            <a:ext cx="84125" cy="84125"/>
          </a:xfrm>
          <a:prstGeom prst="ellipse">
            <a:avLst/>
          </a:prstGeom>
          <a:solidFill>
            <a:srgbClr val="176493"/>
          </a:solidFill>
          <a:ln w="5080">
            <a:solidFill>
              <a:srgbClr val="176493"/>
            </a:solidFill>
            <a:prstDash val="solid"/>
          </a:ln>
        </p:spPr>
      </p:sp>
      <p:sp>
        <p:nvSpPr>
          <p:cNvPr id="304" name="Shape 302"/>
          <p:cNvSpPr/>
          <p:nvPr/>
        </p:nvSpPr>
        <p:spPr>
          <a:xfrm>
            <a:off x="8990686" y="4630425"/>
            <a:ext cx="84125" cy="84125"/>
          </a:xfrm>
          <a:prstGeom prst="ellipse">
            <a:avLst/>
          </a:prstGeom>
          <a:solidFill>
            <a:srgbClr val="176493"/>
          </a:solidFill>
          <a:ln w="5080">
            <a:solidFill>
              <a:srgbClr val="176493"/>
            </a:solidFill>
            <a:prstDash val="solid"/>
          </a:ln>
        </p:spPr>
      </p:sp>
      <p:sp>
        <p:nvSpPr>
          <p:cNvPr id="305" name="Shape 303"/>
          <p:cNvSpPr/>
          <p:nvPr/>
        </p:nvSpPr>
        <p:spPr>
          <a:xfrm>
            <a:off x="8692998" y="4627070"/>
            <a:ext cx="84125" cy="84125"/>
          </a:xfrm>
          <a:prstGeom prst="ellipse">
            <a:avLst/>
          </a:prstGeom>
          <a:solidFill>
            <a:srgbClr val="176493"/>
          </a:solidFill>
          <a:ln w="5080">
            <a:solidFill>
              <a:srgbClr val="176493"/>
            </a:solidFill>
            <a:prstDash val="solid"/>
          </a:ln>
        </p:spPr>
      </p:sp>
      <p:sp>
        <p:nvSpPr>
          <p:cNvPr id="306" name="Shape 304"/>
          <p:cNvSpPr/>
          <p:nvPr/>
        </p:nvSpPr>
        <p:spPr>
          <a:xfrm>
            <a:off x="8692998" y="4650839"/>
            <a:ext cx="84125" cy="84125"/>
          </a:xfrm>
          <a:prstGeom prst="ellipse">
            <a:avLst/>
          </a:prstGeom>
          <a:solidFill>
            <a:srgbClr val="176493"/>
          </a:solidFill>
          <a:ln w="5080">
            <a:solidFill>
              <a:srgbClr val="176493"/>
            </a:solidFill>
            <a:prstDash val="solid"/>
          </a:ln>
        </p:spPr>
      </p:sp>
      <p:sp>
        <p:nvSpPr>
          <p:cNvPr id="307" name="Shape 305"/>
          <p:cNvSpPr/>
          <p:nvPr/>
        </p:nvSpPr>
        <p:spPr>
          <a:xfrm>
            <a:off x="8841842" y="4628347"/>
            <a:ext cx="84125" cy="84125"/>
          </a:xfrm>
          <a:prstGeom prst="ellipse">
            <a:avLst/>
          </a:prstGeom>
          <a:solidFill>
            <a:srgbClr val="176493"/>
          </a:solidFill>
          <a:ln w="5080">
            <a:solidFill>
              <a:srgbClr val="176493"/>
            </a:solidFill>
            <a:prstDash val="solid"/>
          </a:ln>
        </p:spPr>
      </p:sp>
      <p:sp>
        <p:nvSpPr>
          <p:cNvPr id="308" name="Shape 306"/>
          <p:cNvSpPr/>
          <p:nvPr/>
        </p:nvSpPr>
        <p:spPr>
          <a:xfrm>
            <a:off x="8990686" y="4515135"/>
            <a:ext cx="84125" cy="84125"/>
          </a:xfrm>
          <a:prstGeom prst="ellipse">
            <a:avLst/>
          </a:prstGeom>
          <a:solidFill>
            <a:srgbClr val="176493"/>
          </a:solidFill>
          <a:ln w="5080">
            <a:solidFill>
              <a:srgbClr val="176493"/>
            </a:solidFill>
            <a:prstDash val="solid"/>
          </a:ln>
        </p:spPr>
      </p:sp>
      <p:sp>
        <p:nvSpPr>
          <p:cNvPr id="309" name="Shape 307"/>
          <p:cNvSpPr/>
          <p:nvPr/>
        </p:nvSpPr>
        <p:spPr>
          <a:xfrm>
            <a:off x="9139530" y="4586672"/>
            <a:ext cx="84125" cy="84125"/>
          </a:xfrm>
          <a:prstGeom prst="ellipse">
            <a:avLst/>
          </a:prstGeom>
          <a:solidFill>
            <a:srgbClr val="176493"/>
          </a:solidFill>
          <a:ln w="5080">
            <a:solidFill>
              <a:srgbClr val="176493"/>
            </a:solidFill>
            <a:prstDash val="solid"/>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0" y="0"/>
            <a:ext cx="12192000" cy="402336"/>
          </a:xfrm>
          <a:prstGeom prst="rect">
            <a:avLst/>
          </a:prstGeom>
          <a:solidFill>
            <a:srgbClr val="E7EEF7"/>
          </a:solidFill>
          <a:ln w="12700">
            <a:solidFill>
              <a:srgbClr val="E7EEF7">
                <a:alpha val="0"/>
              </a:srgbClr>
            </a:solidFill>
            <a:prstDash val="solid"/>
          </a:ln>
        </p:spPr>
      </p:sp>
      <p:sp>
        <p:nvSpPr>
          <p:cNvPr id="3" name="Shape 1"/>
          <p:cNvSpPr/>
          <p:nvPr/>
        </p:nvSpPr>
        <p:spPr>
          <a:xfrm>
            <a:off x="466344" y="123444"/>
            <a:ext cx="64008" cy="146304"/>
          </a:xfrm>
          <a:prstGeom prst="rect">
            <a:avLst/>
          </a:prstGeom>
          <a:solidFill>
            <a:srgbClr val="176493"/>
          </a:solidFill>
          <a:ln w="12700">
            <a:solidFill>
              <a:srgbClr val="176493">
                <a:alpha val="0"/>
              </a:srgbClr>
            </a:solidFill>
            <a:prstDash val="solid"/>
          </a:ln>
        </p:spPr>
      </p:sp>
      <p:sp>
        <p:nvSpPr>
          <p:cNvPr id="4" name="Text 2"/>
          <p:cNvSpPr/>
          <p:nvPr/>
        </p:nvSpPr>
        <p:spPr>
          <a:xfrm>
            <a:off x="594360" y="100584"/>
            <a:ext cx="731520" cy="201168"/>
          </a:xfrm>
          <a:prstGeom prst="rect">
            <a:avLst/>
          </a:prstGeom>
          <a:noFill/>
          <a:ln/>
        </p:spPr>
        <p:txBody>
          <a:bodyPr wrap="square" lIns="0" tIns="0" rIns="0" bIns="0" rtlCol="0" anchor="ctr"/>
          <a:lstStyle/>
          <a:p>
            <a:pPr algn="l" indent="0" marL="0">
              <a:buNone/>
            </a:pPr>
            <a:r>
              <a:rPr lang="en-US" sz="1100" b="1" dirty="0">
                <a:solidFill>
                  <a:srgbClr val="176493"/>
                </a:solidFill>
                <a:latin typeface="Aptos" pitchFamily="34" charset="0"/>
                <a:ea typeface="Aptos" pitchFamily="34" charset="-122"/>
                <a:cs typeface="Aptos" pitchFamily="34" charset="-120"/>
              </a:rPr>
              <a:t>DS101</a:t>
            </a:r>
            <a:endParaRPr lang="en-US" sz="1100" dirty="0"/>
          </a:p>
        </p:txBody>
      </p:sp>
      <p:sp>
        <p:nvSpPr>
          <p:cNvPr id="5" name="Text 3"/>
          <p:cNvSpPr/>
          <p:nvPr/>
        </p:nvSpPr>
        <p:spPr>
          <a:xfrm>
            <a:off x="1463040" y="100584"/>
            <a:ext cx="1828800" cy="201168"/>
          </a:xfrm>
          <a:prstGeom prst="rect">
            <a:avLst/>
          </a:prstGeom>
          <a:noFill/>
          <a:ln/>
        </p:spPr>
        <p:txBody>
          <a:bodyPr wrap="square" lIns="0" tIns="0" rIns="0" bIns="0" rtlCol="0" anchor="ctr"/>
          <a:lstStyle/>
          <a:p>
            <a:pPr algn="l" indent="0" marL="0">
              <a:buNone/>
            </a:pPr>
            <a:r>
              <a:rPr lang="en-US" sz="1000" dirty="0">
                <a:solidFill>
                  <a:srgbClr val="53657A"/>
                </a:solidFill>
                <a:latin typeface="Aptos" pitchFamily="34" charset="0"/>
                <a:ea typeface="Aptos" pitchFamily="34" charset="-122"/>
                <a:cs typeface="Aptos" pitchFamily="34" charset="-120"/>
              </a:rPr>
              <a:t>LECTURE 02</a:t>
            </a:r>
            <a:endParaRPr lang="en-US" sz="1000" dirty="0"/>
          </a:p>
        </p:txBody>
      </p:sp>
      <p:sp>
        <p:nvSpPr>
          <p:cNvPr id="6" name="Text 4"/>
          <p:cNvSpPr/>
          <p:nvPr/>
        </p:nvSpPr>
        <p:spPr>
          <a:xfrm>
            <a:off x="8321040" y="100584"/>
            <a:ext cx="3264408" cy="201168"/>
          </a:xfrm>
          <a:prstGeom prst="rect">
            <a:avLst/>
          </a:prstGeom>
          <a:noFill/>
          <a:ln/>
        </p:spPr>
        <p:txBody>
          <a:bodyPr wrap="square" lIns="0" tIns="0" rIns="0" bIns="0" rtlCol="0" anchor="ctr"/>
          <a:lstStyle/>
          <a:p>
            <a:pPr algn="r" indent="0" marL="0">
              <a:buNone/>
            </a:pPr>
            <a:r>
              <a:rPr lang="en-US" sz="1000" dirty="0">
                <a:solidFill>
                  <a:srgbClr val="53657A"/>
                </a:solidFill>
                <a:latin typeface="Aptos" pitchFamily="34" charset="0"/>
                <a:ea typeface="Aptos" pitchFamily="34" charset="-122"/>
                <a:cs typeface="Aptos" pitchFamily="34" charset="-120"/>
              </a:rPr>
              <a:t>CLUSTERING</a:t>
            </a:r>
            <a:endParaRPr lang="en-US" sz="1000" dirty="0"/>
          </a:p>
        </p:txBody>
      </p:sp>
      <p:sp>
        <p:nvSpPr>
          <p:cNvPr id="7" name="Text 5"/>
          <p:cNvSpPr/>
          <p:nvPr/>
        </p:nvSpPr>
        <p:spPr>
          <a:xfrm>
            <a:off x="594360" y="758952"/>
            <a:ext cx="11000232" cy="658368"/>
          </a:xfrm>
          <a:prstGeom prst="rect">
            <a:avLst/>
          </a:prstGeom>
          <a:noFill/>
          <a:ln/>
        </p:spPr>
        <p:txBody>
          <a:bodyPr wrap="square" lIns="0" tIns="0" rIns="0" bIns="0" rtlCol="0" anchor="ctr"/>
          <a:lstStyle/>
          <a:p>
            <a:pPr algn="l" indent="0" marL="0">
              <a:buNone/>
            </a:pPr>
            <a:r>
              <a:rPr lang="en-US" sz="3000" b="1" dirty="0">
                <a:solidFill>
                  <a:srgbClr val="172233"/>
                </a:solidFill>
                <a:latin typeface="Aptos" pitchFamily="34" charset="0"/>
                <a:ea typeface="Aptos" pitchFamily="34" charset="-122"/>
                <a:cs typeface="Aptos" pitchFamily="34" charset="-120"/>
              </a:rPr>
              <a:t>k-means: assign, move, repeat</a:t>
            </a:r>
            <a:endParaRPr lang="en-US" sz="3000" dirty="0"/>
          </a:p>
        </p:txBody>
      </p:sp>
      <p:sp>
        <p:nvSpPr>
          <p:cNvPr id="8" name="Text 6"/>
          <p:cNvSpPr/>
          <p:nvPr/>
        </p:nvSpPr>
        <p:spPr>
          <a:xfrm>
            <a:off x="594360" y="6510528"/>
            <a:ext cx="3657600" cy="164592"/>
          </a:xfrm>
          <a:prstGeom prst="rect">
            <a:avLst/>
          </a:prstGeom>
          <a:noFill/>
          <a:ln/>
        </p:spPr>
        <p:txBody>
          <a:bodyPr wrap="square" lIns="0" tIns="0" rIns="0" bIns="0" rtlCol="0" anchor="ctr"/>
          <a:lstStyle/>
          <a:p>
            <a:pPr algn="l" indent="0" marL="0">
              <a:buNone/>
            </a:pPr>
            <a:r>
              <a:rPr lang="en-US" sz="900" dirty="0">
                <a:solidFill>
                  <a:srgbClr val="53657A"/>
                </a:solidFill>
                <a:latin typeface="Aptos" pitchFamily="34" charset="0"/>
                <a:ea typeface="Aptos" pitchFamily="34" charset="-122"/>
                <a:cs typeface="Aptos" pitchFamily="34" charset="-120"/>
              </a:rPr>
              <a:t>DS101 | 2026-2027</a:t>
            </a:r>
            <a:endParaRPr lang="en-US" sz="900" dirty="0"/>
          </a:p>
        </p:txBody>
      </p:sp>
      <p:sp>
        <p:nvSpPr>
          <p:cNvPr id="9" name="Text 7"/>
          <p:cNvSpPr/>
          <p:nvPr/>
        </p:nvSpPr>
        <p:spPr>
          <a:xfrm>
            <a:off x="10680192" y="6492240"/>
            <a:ext cx="914400" cy="201168"/>
          </a:xfrm>
          <a:prstGeom prst="rect">
            <a:avLst/>
          </a:prstGeom>
          <a:noFill/>
          <a:ln/>
        </p:spPr>
        <p:txBody>
          <a:bodyPr wrap="square" lIns="0" tIns="0" rIns="0" bIns="0" rtlCol="0" anchor="ctr"/>
          <a:lstStyle/>
          <a:p>
            <a:pPr algn="r" indent="0" marL="0">
              <a:buNone/>
            </a:pPr>
            <a:r>
              <a:rPr lang="en-US" sz="1000" dirty="0">
                <a:solidFill>
                  <a:srgbClr val="53657A"/>
                </a:solidFill>
                <a:latin typeface="Aptos" pitchFamily="34" charset="0"/>
                <a:ea typeface="Aptos" pitchFamily="34" charset="-122"/>
                <a:cs typeface="Aptos" pitchFamily="34" charset="-120"/>
              </a:rPr>
              <a:t>11 / 24</a:t>
            </a:r>
            <a:endParaRPr lang="en-US" sz="1000" dirty="0"/>
          </a:p>
        </p:txBody>
      </p:sp>
      <p:sp>
        <p:nvSpPr>
          <p:cNvPr id="10" name="Shape 8"/>
          <p:cNvSpPr/>
          <p:nvPr/>
        </p:nvSpPr>
        <p:spPr>
          <a:xfrm>
            <a:off x="594360" y="5852160"/>
            <a:ext cx="11000232" cy="438912"/>
          </a:xfrm>
          <a:prstGeom prst="rect">
            <a:avLst/>
          </a:prstGeom>
          <a:solidFill>
            <a:srgbClr val="E3EFF7"/>
          </a:solidFill>
          <a:ln w="12700">
            <a:solidFill>
              <a:srgbClr val="E3EFF7">
                <a:alpha val="0"/>
              </a:srgbClr>
            </a:solidFill>
            <a:prstDash val="solid"/>
          </a:ln>
        </p:spPr>
      </p:sp>
      <p:sp>
        <p:nvSpPr>
          <p:cNvPr id="11" name="Text 9"/>
          <p:cNvSpPr/>
          <p:nvPr/>
        </p:nvSpPr>
        <p:spPr>
          <a:xfrm>
            <a:off x="795528" y="5943600"/>
            <a:ext cx="10607040" cy="256032"/>
          </a:xfrm>
          <a:prstGeom prst="rect">
            <a:avLst/>
          </a:prstGeom>
          <a:noFill/>
          <a:ln/>
        </p:spPr>
        <p:txBody>
          <a:bodyPr wrap="square" lIns="0" tIns="0" rIns="0" bIns="0" rtlCol="0" anchor="ctr"/>
          <a:lstStyle/>
          <a:p>
            <a:pPr algn="l" indent="0" marL="0">
              <a:buNone/>
            </a:pPr>
            <a:r>
              <a:rPr lang="en-US" sz="1700" b="1" dirty="0">
                <a:solidFill>
                  <a:srgbClr val="176493"/>
                </a:solidFill>
                <a:latin typeface="Aptos" pitchFamily="34" charset="0"/>
                <a:ea typeface="Aptos" pitchFamily="34" charset="-122"/>
                <a:cs typeface="Aptos" pitchFamily="34" charset="-120"/>
              </a:rPr>
              <a:t>The centroids move to the means of their assigned points.</a:t>
            </a:r>
            <a:endParaRPr lang="en-US" sz="1700" dirty="0"/>
          </a:p>
        </p:txBody>
      </p:sp>
      <p:sp>
        <p:nvSpPr>
          <p:cNvPr id="12" name="Text 10"/>
          <p:cNvSpPr/>
          <p:nvPr/>
        </p:nvSpPr>
        <p:spPr>
          <a:xfrm>
            <a:off x="749808" y="1645920"/>
            <a:ext cx="9875520" cy="219456"/>
          </a:xfrm>
          <a:prstGeom prst="rect">
            <a:avLst/>
          </a:prstGeom>
          <a:noFill/>
          <a:ln/>
        </p:spPr>
        <p:txBody>
          <a:bodyPr wrap="square" lIns="0" tIns="0" rIns="0" bIns="0" rtlCol="0" anchor="ctr"/>
          <a:lstStyle/>
          <a:p>
            <a:pPr algn="l" indent="0" marL="0">
              <a:buNone/>
            </a:pPr>
            <a:r>
              <a:rPr lang="en-US" sz="1150" b="1" spc="50" kern="0" dirty="0">
                <a:solidFill>
                  <a:srgbClr val="176493"/>
                </a:solidFill>
                <a:latin typeface="Aptos" pitchFamily="34" charset="0"/>
                <a:ea typeface="Aptos" pitchFamily="34" charset="-122"/>
                <a:cs typeface="Aptos" pitchFamily="34" charset="-120"/>
              </a:rPr>
              <a:t>TOY GEOMETRY | K = 2 FOR THIS DEMONSTRATION</a:t>
            </a:r>
            <a:endParaRPr lang="en-US" sz="1150" dirty="0"/>
          </a:p>
        </p:txBody>
      </p:sp>
      <p:sp>
        <p:nvSpPr>
          <p:cNvPr id="13" name="Shape 11"/>
          <p:cNvSpPr/>
          <p:nvPr/>
        </p:nvSpPr>
        <p:spPr>
          <a:xfrm>
            <a:off x="749808" y="2039112"/>
            <a:ext cx="4965192" cy="3566160"/>
          </a:xfrm>
          <a:prstGeom prst="rect">
            <a:avLst/>
          </a:prstGeom>
          <a:solidFill>
            <a:srgbClr val="FFFFFF"/>
          </a:solidFill>
          <a:ln w="12700">
            <a:solidFill>
              <a:srgbClr val="FFFFFF">
                <a:alpha val="0"/>
              </a:srgbClr>
            </a:solidFill>
            <a:prstDash val="solid"/>
          </a:ln>
        </p:spPr>
      </p:sp>
      <p:sp>
        <p:nvSpPr>
          <p:cNvPr id="14" name="Shape 12"/>
          <p:cNvSpPr/>
          <p:nvPr/>
        </p:nvSpPr>
        <p:spPr>
          <a:xfrm>
            <a:off x="1325880" y="4873752"/>
            <a:ext cx="4169664" cy="0"/>
          </a:xfrm>
          <a:prstGeom prst="line">
            <a:avLst/>
          </a:prstGeom>
          <a:noFill/>
          <a:ln w="8255">
            <a:solidFill>
              <a:srgbClr val="E3EFF7"/>
            </a:solidFill>
            <a:prstDash val="solid"/>
            <a:headEnd type="none"/>
            <a:tailEnd type="none"/>
          </a:ln>
        </p:spPr>
      </p:sp>
      <p:sp>
        <p:nvSpPr>
          <p:cNvPr id="15" name="Text 13"/>
          <p:cNvSpPr/>
          <p:nvPr/>
        </p:nvSpPr>
        <p:spPr>
          <a:xfrm>
            <a:off x="768096" y="4764024"/>
            <a:ext cx="475488" cy="201168"/>
          </a:xfrm>
          <a:prstGeom prst="rect">
            <a:avLst/>
          </a:prstGeom>
          <a:noFill/>
          <a:ln/>
        </p:spPr>
        <p:txBody>
          <a:bodyPr wrap="square" lIns="0" tIns="0" rIns="0" bIns="0" rtlCol="0" anchor="ctr"/>
          <a:lstStyle/>
          <a:p>
            <a:pPr algn="r" indent="0" marL="0">
              <a:buNone/>
            </a:pPr>
            <a:r>
              <a:rPr lang="en-US" sz="1300" dirty="0">
                <a:solidFill>
                  <a:srgbClr val="53657A"/>
                </a:solidFill>
                <a:latin typeface="Aptos" pitchFamily="34" charset="0"/>
                <a:ea typeface="Aptos" pitchFamily="34" charset="-122"/>
                <a:cs typeface="Aptos" pitchFamily="34" charset="-120"/>
              </a:rPr>
              <a:t>0</a:t>
            </a:r>
            <a:endParaRPr lang="en-US" sz="1300" dirty="0"/>
          </a:p>
        </p:txBody>
      </p:sp>
      <p:sp>
        <p:nvSpPr>
          <p:cNvPr id="16" name="Shape 14"/>
          <p:cNvSpPr/>
          <p:nvPr/>
        </p:nvSpPr>
        <p:spPr>
          <a:xfrm>
            <a:off x="1325880" y="4148328"/>
            <a:ext cx="4169664" cy="0"/>
          </a:xfrm>
          <a:prstGeom prst="line">
            <a:avLst/>
          </a:prstGeom>
          <a:noFill/>
          <a:ln w="8255">
            <a:solidFill>
              <a:srgbClr val="E3EFF7"/>
            </a:solidFill>
            <a:prstDash val="solid"/>
            <a:headEnd type="none"/>
            <a:tailEnd type="none"/>
          </a:ln>
        </p:spPr>
      </p:sp>
      <p:sp>
        <p:nvSpPr>
          <p:cNvPr id="17" name="Text 15"/>
          <p:cNvSpPr/>
          <p:nvPr/>
        </p:nvSpPr>
        <p:spPr>
          <a:xfrm>
            <a:off x="768096" y="4038600"/>
            <a:ext cx="475488" cy="201168"/>
          </a:xfrm>
          <a:prstGeom prst="rect">
            <a:avLst/>
          </a:prstGeom>
          <a:noFill/>
          <a:ln/>
        </p:spPr>
        <p:txBody>
          <a:bodyPr wrap="square" lIns="0" tIns="0" rIns="0" bIns="0" rtlCol="0" anchor="ctr"/>
          <a:lstStyle/>
          <a:p>
            <a:pPr algn="r" indent="0" marL="0">
              <a:buNone/>
            </a:pPr>
            <a:r>
              <a:rPr lang="en-US" sz="1300" dirty="0">
                <a:solidFill>
                  <a:srgbClr val="53657A"/>
                </a:solidFill>
                <a:latin typeface="Aptos" pitchFamily="34" charset="0"/>
                <a:ea typeface="Aptos" pitchFamily="34" charset="-122"/>
                <a:cs typeface="Aptos" pitchFamily="34" charset="-120"/>
              </a:rPr>
              <a:t>3</a:t>
            </a:r>
            <a:endParaRPr lang="en-US" sz="1300" dirty="0"/>
          </a:p>
        </p:txBody>
      </p:sp>
      <p:sp>
        <p:nvSpPr>
          <p:cNvPr id="18" name="Shape 16"/>
          <p:cNvSpPr/>
          <p:nvPr/>
        </p:nvSpPr>
        <p:spPr>
          <a:xfrm>
            <a:off x="1325880" y="3422904"/>
            <a:ext cx="4169664" cy="0"/>
          </a:xfrm>
          <a:prstGeom prst="line">
            <a:avLst/>
          </a:prstGeom>
          <a:noFill/>
          <a:ln w="8255">
            <a:solidFill>
              <a:srgbClr val="E3EFF7"/>
            </a:solidFill>
            <a:prstDash val="solid"/>
            <a:headEnd type="none"/>
            <a:tailEnd type="none"/>
          </a:ln>
        </p:spPr>
      </p:sp>
      <p:sp>
        <p:nvSpPr>
          <p:cNvPr id="19" name="Text 17"/>
          <p:cNvSpPr/>
          <p:nvPr/>
        </p:nvSpPr>
        <p:spPr>
          <a:xfrm>
            <a:off x="768096" y="3313176"/>
            <a:ext cx="475488" cy="201168"/>
          </a:xfrm>
          <a:prstGeom prst="rect">
            <a:avLst/>
          </a:prstGeom>
          <a:noFill/>
          <a:ln/>
        </p:spPr>
        <p:txBody>
          <a:bodyPr wrap="square" lIns="0" tIns="0" rIns="0" bIns="0" rtlCol="0" anchor="ctr"/>
          <a:lstStyle/>
          <a:p>
            <a:pPr algn="r" indent="0" marL="0">
              <a:buNone/>
            </a:pPr>
            <a:r>
              <a:rPr lang="en-US" sz="1300" dirty="0">
                <a:solidFill>
                  <a:srgbClr val="53657A"/>
                </a:solidFill>
                <a:latin typeface="Aptos" pitchFamily="34" charset="0"/>
                <a:ea typeface="Aptos" pitchFamily="34" charset="-122"/>
                <a:cs typeface="Aptos" pitchFamily="34" charset="-120"/>
              </a:rPr>
              <a:t>6</a:t>
            </a:r>
            <a:endParaRPr lang="en-US" sz="1300" dirty="0"/>
          </a:p>
        </p:txBody>
      </p:sp>
      <p:sp>
        <p:nvSpPr>
          <p:cNvPr id="20" name="Shape 18"/>
          <p:cNvSpPr/>
          <p:nvPr/>
        </p:nvSpPr>
        <p:spPr>
          <a:xfrm>
            <a:off x="1325880" y="2697480"/>
            <a:ext cx="4169664" cy="0"/>
          </a:xfrm>
          <a:prstGeom prst="line">
            <a:avLst/>
          </a:prstGeom>
          <a:noFill/>
          <a:ln w="8255">
            <a:solidFill>
              <a:srgbClr val="E3EFF7"/>
            </a:solidFill>
            <a:prstDash val="solid"/>
            <a:headEnd type="none"/>
            <a:tailEnd type="none"/>
          </a:ln>
        </p:spPr>
      </p:sp>
      <p:sp>
        <p:nvSpPr>
          <p:cNvPr id="21" name="Text 19"/>
          <p:cNvSpPr/>
          <p:nvPr/>
        </p:nvSpPr>
        <p:spPr>
          <a:xfrm>
            <a:off x="768096" y="2587752"/>
            <a:ext cx="475488" cy="201168"/>
          </a:xfrm>
          <a:prstGeom prst="rect">
            <a:avLst/>
          </a:prstGeom>
          <a:noFill/>
          <a:ln/>
        </p:spPr>
        <p:txBody>
          <a:bodyPr wrap="square" lIns="0" tIns="0" rIns="0" bIns="0" rtlCol="0" anchor="ctr"/>
          <a:lstStyle/>
          <a:p>
            <a:pPr algn="r" indent="0" marL="0">
              <a:buNone/>
            </a:pPr>
            <a:r>
              <a:rPr lang="en-US" sz="1300" dirty="0">
                <a:solidFill>
                  <a:srgbClr val="53657A"/>
                </a:solidFill>
                <a:latin typeface="Aptos" pitchFamily="34" charset="0"/>
                <a:ea typeface="Aptos" pitchFamily="34" charset="-122"/>
                <a:cs typeface="Aptos" pitchFamily="34" charset="-120"/>
              </a:rPr>
              <a:t>9</a:t>
            </a:r>
            <a:endParaRPr lang="en-US" sz="1300" dirty="0"/>
          </a:p>
        </p:txBody>
      </p:sp>
      <p:sp>
        <p:nvSpPr>
          <p:cNvPr id="22" name="Text 20"/>
          <p:cNvSpPr/>
          <p:nvPr/>
        </p:nvSpPr>
        <p:spPr>
          <a:xfrm>
            <a:off x="1051560" y="4992624"/>
            <a:ext cx="548640" cy="201168"/>
          </a:xfrm>
          <a:prstGeom prst="rect">
            <a:avLst/>
          </a:prstGeom>
          <a:noFill/>
          <a:ln/>
        </p:spPr>
        <p:txBody>
          <a:bodyPr wrap="square" lIns="0" tIns="0" rIns="0" bIns="0" rtlCol="0" anchor="ctr"/>
          <a:lstStyle/>
          <a:p>
            <a:pPr algn="ctr" indent="0" marL="0">
              <a:buNone/>
            </a:pPr>
            <a:r>
              <a:rPr lang="en-US" sz="1300" dirty="0">
                <a:solidFill>
                  <a:srgbClr val="53657A"/>
                </a:solidFill>
                <a:latin typeface="Aptos" pitchFamily="34" charset="0"/>
                <a:ea typeface="Aptos" pitchFamily="34" charset="-122"/>
                <a:cs typeface="Aptos" pitchFamily="34" charset="-120"/>
              </a:rPr>
              <a:t>0</a:t>
            </a:r>
            <a:endParaRPr lang="en-US" sz="1300" dirty="0"/>
          </a:p>
        </p:txBody>
      </p:sp>
      <p:sp>
        <p:nvSpPr>
          <p:cNvPr id="23" name="Text 21"/>
          <p:cNvSpPr/>
          <p:nvPr/>
        </p:nvSpPr>
        <p:spPr>
          <a:xfrm>
            <a:off x="2441448" y="4992624"/>
            <a:ext cx="548640" cy="201168"/>
          </a:xfrm>
          <a:prstGeom prst="rect">
            <a:avLst/>
          </a:prstGeom>
          <a:noFill/>
          <a:ln/>
        </p:spPr>
        <p:txBody>
          <a:bodyPr wrap="square" lIns="0" tIns="0" rIns="0" bIns="0" rtlCol="0" anchor="ctr"/>
          <a:lstStyle/>
          <a:p>
            <a:pPr algn="ctr" indent="0" marL="0">
              <a:buNone/>
            </a:pPr>
            <a:r>
              <a:rPr lang="en-US" sz="1300" dirty="0">
                <a:solidFill>
                  <a:srgbClr val="53657A"/>
                </a:solidFill>
                <a:latin typeface="Aptos" pitchFamily="34" charset="0"/>
                <a:ea typeface="Aptos" pitchFamily="34" charset="-122"/>
                <a:cs typeface="Aptos" pitchFamily="34" charset="-120"/>
              </a:rPr>
              <a:t>3</a:t>
            </a:r>
            <a:endParaRPr lang="en-US" sz="1300" dirty="0"/>
          </a:p>
        </p:txBody>
      </p:sp>
      <p:sp>
        <p:nvSpPr>
          <p:cNvPr id="24" name="Text 22"/>
          <p:cNvSpPr/>
          <p:nvPr/>
        </p:nvSpPr>
        <p:spPr>
          <a:xfrm>
            <a:off x="3831336" y="4992624"/>
            <a:ext cx="548640" cy="201168"/>
          </a:xfrm>
          <a:prstGeom prst="rect">
            <a:avLst/>
          </a:prstGeom>
          <a:noFill/>
          <a:ln/>
        </p:spPr>
        <p:txBody>
          <a:bodyPr wrap="square" lIns="0" tIns="0" rIns="0" bIns="0" rtlCol="0" anchor="ctr"/>
          <a:lstStyle/>
          <a:p>
            <a:pPr algn="ctr" indent="0" marL="0">
              <a:buNone/>
            </a:pPr>
            <a:r>
              <a:rPr lang="en-US" sz="1300" dirty="0">
                <a:solidFill>
                  <a:srgbClr val="53657A"/>
                </a:solidFill>
                <a:latin typeface="Aptos" pitchFamily="34" charset="0"/>
                <a:ea typeface="Aptos" pitchFamily="34" charset="-122"/>
                <a:cs typeface="Aptos" pitchFamily="34" charset="-120"/>
              </a:rPr>
              <a:t>6</a:t>
            </a:r>
            <a:endParaRPr lang="en-US" sz="1300" dirty="0"/>
          </a:p>
        </p:txBody>
      </p:sp>
      <p:sp>
        <p:nvSpPr>
          <p:cNvPr id="25" name="Text 23"/>
          <p:cNvSpPr/>
          <p:nvPr/>
        </p:nvSpPr>
        <p:spPr>
          <a:xfrm>
            <a:off x="5221224" y="4992624"/>
            <a:ext cx="548640" cy="201168"/>
          </a:xfrm>
          <a:prstGeom prst="rect">
            <a:avLst/>
          </a:prstGeom>
          <a:noFill/>
          <a:ln/>
        </p:spPr>
        <p:txBody>
          <a:bodyPr wrap="square" lIns="0" tIns="0" rIns="0" bIns="0" rtlCol="0" anchor="ctr"/>
          <a:lstStyle/>
          <a:p>
            <a:pPr algn="ctr" indent="0" marL="0">
              <a:buNone/>
            </a:pPr>
            <a:r>
              <a:rPr lang="en-US" sz="1300" dirty="0">
                <a:solidFill>
                  <a:srgbClr val="53657A"/>
                </a:solidFill>
                <a:latin typeface="Aptos" pitchFamily="34" charset="0"/>
                <a:ea typeface="Aptos" pitchFamily="34" charset="-122"/>
                <a:cs typeface="Aptos" pitchFamily="34" charset="-120"/>
              </a:rPr>
              <a:t>9</a:t>
            </a:r>
            <a:endParaRPr lang="en-US" sz="1300" dirty="0"/>
          </a:p>
        </p:txBody>
      </p:sp>
      <p:sp>
        <p:nvSpPr>
          <p:cNvPr id="26" name="Shape 24"/>
          <p:cNvSpPr/>
          <p:nvPr/>
        </p:nvSpPr>
        <p:spPr>
          <a:xfrm>
            <a:off x="1325880" y="2697480"/>
            <a:ext cx="0" cy="2176272"/>
          </a:xfrm>
          <a:prstGeom prst="line">
            <a:avLst/>
          </a:prstGeom>
          <a:noFill/>
          <a:ln w="12700">
            <a:solidFill>
              <a:srgbClr val="C4D2E2"/>
            </a:solidFill>
            <a:prstDash val="solid"/>
            <a:headEnd type="none"/>
            <a:tailEnd type="none"/>
          </a:ln>
        </p:spPr>
      </p:sp>
      <p:sp>
        <p:nvSpPr>
          <p:cNvPr id="27" name="Shape 25"/>
          <p:cNvSpPr/>
          <p:nvPr/>
        </p:nvSpPr>
        <p:spPr>
          <a:xfrm>
            <a:off x="1325880" y="4873752"/>
            <a:ext cx="4169664" cy="0"/>
          </a:xfrm>
          <a:prstGeom prst="line">
            <a:avLst/>
          </a:prstGeom>
          <a:noFill/>
          <a:ln w="12700">
            <a:solidFill>
              <a:srgbClr val="C4D2E2"/>
            </a:solidFill>
            <a:prstDash val="solid"/>
            <a:headEnd type="none"/>
            <a:tailEnd type="none"/>
          </a:ln>
        </p:spPr>
      </p:sp>
      <p:sp>
        <p:nvSpPr>
          <p:cNvPr id="28" name="Text 26"/>
          <p:cNvSpPr/>
          <p:nvPr/>
        </p:nvSpPr>
        <p:spPr>
          <a:xfrm>
            <a:off x="905256" y="2148840"/>
            <a:ext cx="4654296" cy="265176"/>
          </a:xfrm>
          <a:prstGeom prst="rect">
            <a:avLst/>
          </a:prstGeom>
          <a:noFill/>
          <a:ln/>
        </p:spPr>
        <p:txBody>
          <a:bodyPr wrap="square" lIns="0" tIns="0" rIns="0" bIns="0" rtlCol="0" anchor="ctr"/>
          <a:lstStyle/>
          <a:p>
            <a:pPr algn="l" indent="0" marL="0">
              <a:buNone/>
            </a:pPr>
            <a:r>
              <a:rPr lang="en-US" sz="1700" b="1" dirty="0">
                <a:solidFill>
                  <a:srgbClr val="172233"/>
                </a:solidFill>
                <a:latin typeface="Aptos" pitchFamily="34" charset="0"/>
                <a:ea typeface="Aptos" pitchFamily="34" charset="-122"/>
                <a:cs typeface="Aptos" pitchFamily="34" charset="-120"/>
              </a:rPr>
              <a:t>1. Assign to the nearest centroid</a:t>
            </a:r>
            <a:endParaRPr lang="en-US" sz="1700" dirty="0"/>
          </a:p>
        </p:txBody>
      </p:sp>
      <p:sp>
        <p:nvSpPr>
          <p:cNvPr id="29" name="Text 27"/>
          <p:cNvSpPr/>
          <p:nvPr/>
        </p:nvSpPr>
        <p:spPr>
          <a:xfrm>
            <a:off x="1325880" y="2414016"/>
            <a:ext cx="4169664" cy="201168"/>
          </a:xfrm>
          <a:prstGeom prst="rect">
            <a:avLst/>
          </a:prstGeom>
          <a:noFill/>
          <a:ln/>
        </p:spPr>
        <p:txBody>
          <a:bodyPr wrap="square" lIns="0" tIns="0" rIns="0" bIns="0" rtlCol="0" anchor="ctr"/>
          <a:lstStyle/>
          <a:p>
            <a:pPr algn="l" indent="0" marL="0">
              <a:buNone/>
            </a:pPr>
            <a:r>
              <a:rPr lang="en-US" sz="1300" dirty="0">
                <a:solidFill>
                  <a:srgbClr val="53657A"/>
                </a:solidFill>
                <a:latin typeface="Aptos" pitchFamily="34" charset="0"/>
                <a:ea typeface="Aptos" pitchFamily="34" charset="-122"/>
                <a:cs typeface="Aptos" pitchFamily="34" charset="-120"/>
              </a:rPr>
              <a:t>Feature 2</a:t>
            </a:r>
            <a:endParaRPr lang="en-US" sz="1300" dirty="0"/>
          </a:p>
        </p:txBody>
      </p:sp>
      <p:sp>
        <p:nvSpPr>
          <p:cNvPr id="30" name="Text 28"/>
          <p:cNvSpPr/>
          <p:nvPr/>
        </p:nvSpPr>
        <p:spPr>
          <a:xfrm>
            <a:off x="1325880" y="5376672"/>
            <a:ext cx="4169664" cy="210312"/>
          </a:xfrm>
          <a:prstGeom prst="rect">
            <a:avLst/>
          </a:prstGeom>
          <a:noFill/>
          <a:ln/>
        </p:spPr>
        <p:txBody>
          <a:bodyPr wrap="square" lIns="0" tIns="0" rIns="0" bIns="0" rtlCol="0" anchor="ctr"/>
          <a:lstStyle/>
          <a:p>
            <a:pPr algn="ctr" indent="0" marL="0">
              <a:buNone/>
            </a:pPr>
            <a:r>
              <a:rPr lang="en-US" sz="1300" dirty="0">
                <a:solidFill>
                  <a:srgbClr val="53657A"/>
                </a:solidFill>
                <a:latin typeface="Aptos" pitchFamily="34" charset="0"/>
                <a:ea typeface="Aptos" pitchFamily="34" charset="-122"/>
                <a:cs typeface="Aptos" pitchFamily="34" charset="-120"/>
              </a:rPr>
              <a:t>Feature 1</a:t>
            </a:r>
            <a:endParaRPr lang="en-US" sz="1300" dirty="0"/>
          </a:p>
        </p:txBody>
      </p:sp>
      <p:sp>
        <p:nvSpPr>
          <p:cNvPr id="31" name="Shape 29"/>
          <p:cNvSpPr/>
          <p:nvPr/>
        </p:nvSpPr>
        <p:spPr>
          <a:xfrm>
            <a:off x="1706880" y="4549648"/>
            <a:ext cx="164592" cy="164592"/>
          </a:xfrm>
          <a:prstGeom prst="ellipse">
            <a:avLst/>
          </a:prstGeom>
          <a:solidFill>
            <a:srgbClr val="176493"/>
          </a:solidFill>
          <a:ln w="5080">
            <a:solidFill>
              <a:srgbClr val="176493"/>
            </a:solidFill>
            <a:prstDash val="solid"/>
          </a:ln>
        </p:spPr>
      </p:sp>
      <p:sp>
        <p:nvSpPr>
          <p:cNvPr id="32" name="Shape 30"/>
          <p:cNvSpPr/>
          <p:nvPr/>
        </p:nvSpPr>
        <p:spPr>
          <a:xfrm>
            <a:off x="1892198" y="4380382"/>
            <a:ext cx="164592" cy="164592"/>
          </a:xfrm>
          <a:prstGeom prst="ellipse">
            <a:avLst/>
          </a:prstGeom>
          <a:solidFill>
            <a:srgbClr val="176493"/>
          </a:solidFill>
          <a:ln w="5080">
            <a:solidFill>
              <a:srgbClr val="176493"/>
            </a:solidFill>
            <a:prstDash val="solid"/>
          </a:ln>
        </p:spPr>
      </p:sp>
      <p:sp>
        <p:nvSpPr>
          <p:cNvPr id="33" name="Shape 31"/>
          <p:cNvSpPr/>
          <p:nvPr/>
        </p:nvSpPr>
        <p:spPr>
          <a:xfrm>
            <a:off x="2170176" y="4549648"/>
            <a:ext cx="164592" cy="164592"/>
          </a:xfrm>
          <a:prstGeom prst="ellipse">
            <a:avLst/>
          </a:prstGeom>
          <a:solidFill>
            <a:srgbClr val="176493"/>
          </a:solidFill>
          <a:ln w="5080">
            <a:solidFill>
              <a:srgbClr val="176493"/>
            </a:solidFill>
            <a:prstDash val="solid"/>
          </a:ln>
        </p:spPr>
      </p:sp>
      <p:sp>
        <p:nvSpPr>
          <p:cNvPr id="34" name="Shape 32"/>
          <p:cNvSpPr/>
          <p:nvPr/>
        </p:nvSpPr>
        <p:spPr>
          <a:xfrm>
            <a:off x="2309165" y="4283659"/>
            <a:ext cx="164592" cy="164592"/>
          </a:xfrm>
          <a:prstGeom prst="ellipse">
            <a:avLst/>
          </a:prstGeom>
          <a:solidFill>
            <a:srgbClr val="176493"/>
          </a:solidFill>
          <a:ln w="5080">
            <a:solidFill>
              <a:srgbClr val="176493"/>
            </a:solidFill>
            <a:prstDash val="solid"/>
          </a:ln>
        </p:spPr>
      </p:sp>
      <p:sp>
        <p:nvSpPr>
          <p:cNvPr id="35" name="Shape 33"/>
          <p:cNvSpPr/>
          <p:nvPr/>
        </p:nvSpPr>
        <p:spPr>
          <a:xfrm>
            <a:off x="4023360" y="3340608"/>
            <a:ext cx="164592" cy="164592"/>
          </a:xfrm>
          <a:prstGeom prst="diamond">
            <a:avLst/>
          </a:prstGeom>
          <a:solidFill>
            <a:srgbClr val="167C85"/>
          </a:solidFill>
          <a:ln w="5080">
            <a:solidFill>
              <a:srgbClr val="167C85"/>
            </a:solidFill>
            <a:prstDash val="solid"/>
          </a:ln>
        </p:spPr>
      </p:sp>
      <p:sp>
        <p:nvSpPr>
          <p:cNvPr id="36" name="Shape 34"/>
          <p:cNvSpPr/>
          <p:nvPr/>
        </p:nvSpPr>
        <p:spPr>
          <a:xfrm>
            <a:off x="4255008" y="3098800"/>
            <a:ext cx="164592" cy="164592"/>
          </a:xfrm>
          <a:prstGeom prst="diamond">
            <a:avLst/>
          </a:prstGeom>
          <a:solidFill>
            <a:srgbClr val="167C85"/>
          </a:solidFill>
          <a:ln w="5080">
            <a:solidFill>
              <a:srgbClr val="167C85"/>
            </a:solidFill>
            <a:prstDash val="solid"/>
          </a:ln>
        </p:spPr>
      </p:sp>
      <p:sp>
        <p:nvSpPr>
          <p:cNvPr id="37" name="Shape 35"/>
          <p:cNvSpPr/>
          <p:nvPr/>
        </p:nvSpPr>
        <p:spPr>
          <a:xfrm>
            <a:off x="4671974" y="3340608"/>
            <a:ext cx="164592" cy="164592"/>
          </a:xfrm>
          <a:prstGeom prst="diamond">
            <a:avLst/>
          </a:prstGeom>
          <a:solidFill>
            <a:srgbClr val="167C85"/>
          </a:solidFill>
          <a:ln w="5080">
            <a:solidFill>
              <a:srgbClr val="167C85"/>
            </a:solidFill>
            <a:prstDash val="solid"/>
          </a:ln>
        </p:spPr>
      </p:sp>
      <p:sp>
        <p:nvSpPr>
          <p:cNvPr id="38" name="Shape 36"/>
          <p:cNvSpPr/>
          <p:nvPr/>
        </p:nvSpPr>
        <p:spPr>
          <a:xfrm>
            <a:off x="4718304" y="2977896"/>
            <a:ext cx="164592" cy="164592"/>
          </a:xfrm>
          <a:prstGeom prst="diamond">
            <a:avLst/>
          </a:prstGeom>
          <a:solidFill>
            <a:srgbClr val="167C85"/>
          </a:solidFill>
          <a:ln w="5080">
            <a:solidFill>
              <a:srgbClr val="167C85"/>
            </a:solidFill>
            <a:prstDash val="solid"/>
          </a:ln>
        </p:spPr>
      </p:sp>
      <p:sp>
        <p:nvSpPr>
          <p:cNvPr id="39" name="Shape 37"/>
          <p:cNvSpPr/>
          <p:nvPr/>
        </p:nvSpPr>
        <p:spPr>
          <a:xfrm>
            <a:off x="6291072" y="2039112"/>
            <a:ext cx="4965192" cy="3566160"/>
          </a:xfrm>
          <a:prstGeom prst="rect">
            <a:avLst/>
          </a:prstGeom>
          <a:solidFill>
            <a:srgbClr val="FFFFFF"/>
          </a:solidFill>
          <a:ln w="12700">
            <a:solidFill>
              <a:srgbClr val="FFFFFF">
                <a:alpha val="0"/>
              </a:srgbClr>
            </a:solidFill>
            <a:prstDash val="solid"/>
          </a:ln>
        </p:spPr>
      </p:sp>
      <p:sp>
        <p:nvSpPr>
          <p:cNvPr id="40" name="Shape 38"/>
          <p:cNvSpPr/>
          <p:nvPr/>
        </p:nvSpPr>
        <p:spPr>
          <a:xfrm>
            <a:off x="6867144" y="4873752"/>
            <a:ext cx="4169664" cy="0"/>
          </a:xfrm>
          <a:prstGeom prst="line">
            <a:avLst/>
          </a:prstGeom>
          <a:noFill/>
          <a:ln w="8255">
            <a:solidFill>
              <a:srgbClr val="E3EFF7"/>
            </a:solidFill>
            <a:prstDash val="solid"/>
            <a:headEnd type="none"/>
            <a:tailEnd type="none"/>
          </a:ln>
        </p:spPr>
      </p:sp>
      <p:sp>
        <p:nvSpPr>
          <p:cNvPr id="41" name="Text 39"/>
          <p:cNvSpPr/>
          <p:nvPr/>
        </p:nvSpPr>
        <p:spPr>
          <a:xfrm>
            <a:off x="6309360" y="4764024"/>
            <a:ext cx="475488" cy="201168"/>
          </a:xfrm>
          <a:prstGeom prst="rect">
            <a:avLst/>
          </a:prstGeom>
          <a:noFill/>
          <a:ln/>
        </p:spPr>
        <p:txBody>
          <a:bodyPr wrap="square" lIns="0" tIns="0" rIns="0" bIns="0" rtlCol="0" anchor="ctr"/>
          <a:lstStyle/>
          <a:p>
            <a:pPr algn="r" indent="0" marL="0">
              <a:buNone/>
            </a:pPr>
            <a:r>
              <a:rPr lang="en-US" sz="1300" dirty="0">
                <a:solidFill>
                  <a:srgbClr val="53657A"/>
                </a:solidFill>
                <a:latin typeface="Aptos" pitchFamily="34" charset="0"/>
                <a:ea typeface="Aptos" pitchFamily="34" charset="-122"/>
                <a:cs typeface="Aptos" pitchFamily="34" charset="-120"/>
              </a:rPr>
              <a:t>0</a:t>
            </a:r>
            <a:endParaRPr lang="en-US" sz="1300" dirty="0"/>
          </a:p>
        </p:txBody>
      </p:sp>
      <p:sp>
        <p:nvSpPr>
          <p:cNvPr id="42" name="Shape 40"/>
          <p:cNvSpPr/>
          <p:nvPr/>
        </p:nvSpPr>
        <p:spPr>
          <a:xfrm>
            <a:off x="6867144" y="4148328"/>
            <a:ext cx="4169664" cy="0"/>
          </a:xfrm>
          <a:prstGeom prst="line">
            <a:avLst/>
          </a:prstGeom>
          <a:noFill/>
          <a:ln w="8255">
            <a:solidFill>
              <a:srgbClr val="E3EFF7"/>
            </a:solidFill>
            <a:prstDash val="solid"/>
            <a:headEnd type="none"/>
            <a:tailEnd type="none"/>
          </a:ln>
        </p:spPr>
      </p:sp>
      <p:sp>
        <p:nvSpPr>
          <p:cNvPr id="43" name="Text 41"/>
          <p:cNvSpPr/>
          <p:nvPr/>
        </p:nvSpPr>
        <p:spPr>
          <a:xfrm>
            <a:off x="6309360" y="4038600"/>
            <a:ext cx="475488" cy="201168"/>
          </a:xfrm>
          <a:prstGeom prst="rect">
            <a:avLst/>
          </a:prstGeom>
          <a:noFill/>
          <a:ln/>
        </p:spPr>
        <p:txBody>
          <a:bodyPr wrap="square" lIns="0" tIns="0" rIns="0" bIns="0" rtlCol="0" anchor="ctr"/>
          <a:lstStyle/>
          <a:p>
            <a:pPr algn="r" indent="0" marL="0">
              <a:buNone/>
            </a:pPr>
            <a:r>
              <a:rPr lang="en-US" sz="1300" dirty="0">
                <a:solidFill>
                  <a:srgbClr val="53657A"/>
                </a:solidFill>
                <a:latin typeface="Aptos" pitchFamily="34" charset="0"/>
                <a:ea typeface="Aptos" pitchFamily="34" charset="-122"/>
                <a:cs typeface="Aptos" pitchFamily="34" charset="-120"/>
              </a:rPr>
              <a:t>3</a:t>
            </a:r>
            <a:endParaRPr lang="en-US" sz="1300" dirty="0"/>
          </a:p>
        </p:txBody>
      </p:sp>
      <p:sp>
        <p:nvSpPr>
          <p:cNvPr id="44" name="Shape 42"/>
          <p:cNvSpPr/>
          <p:nvPr/>
        </p:nvSpPr>
        <p:spPr>
          <a:xfrm>
            <a:off x="6867144" y="3422904"/>
            <a:ext cx="4169664" cy="0"/>
          </a:xfrm>
          <a:prstGeom prst="line">
            <a:avLst/>
          </a:prstGeom>
          <a:noFill/>
          <a:ln w="8255">
            <a:solidFill>
              <a:srgbClr val="E3EFF7"/>
            </a:solidFill>
            <a:prstDash val="solid"/>
            <a:headEnd type="none"/>
            <a:tailEnd type="none"/>
          </a:ln>
        </p:spPr>
      </p:sp>
      <p:sp>
        <p:nvSpPr>
          <p:cNvPr id="45" name="Text 43"/>
          <p:cNvSpPr/>
          <p:nvPr/>
        </p:nvSpPr>
        <p:spPr>
          <a:xfrm>
            <a:off x="6309360" y="3313176"/>
            <a:ext cx="475488" cy="201168"/>
          </a:xfrm>
          <a:prstGeom prst="rect">
            <a:avLst/>
          </a:prstGeom>
          <a:noFill/>
          <a:ln/>
        </p:spPr>
        <p:txBody>
          <a:bodyPr wrap="square" lIns="0" tIns="0" rIns="0" bIns="0" rtlCol="0" anchor="ctr"/>
          <a:lstStyle/>
          <a:p>
            <a:pPr algn="r" indent="0" marL="0">
              <a:buNone/>
            </a:pPr>
            <a:r>
              <a:rPr lang="en-US" sz="1300" dirty="0">
                <a:solidFill>
                  <a:srgbClr val="53657A"/>
                </a:solidFill>
                <a:latin typeface="Aptos" pitchFamily="34" charset="0"/>
                <a:ea typeface="Aptos" pitchFamily="34" charset="-122"/>
                <a:cs typeface="Aptos" pitchFamily="34" charset="-120"/>
              </a:rPr>
              <a:t>6</a:t>
            </a:r>
            <a:endParaRPr lang="en-US" sz="1300" dirty="0"/>
          </a:p>
        </p:txBody>
      </p:sp>
      <p:sp>
        <p:nvSpPr>
          <p:cNvPr id="46" name="Shape 44"/>
          <p:cNvSpPr/>
          <p:nvPr/>
        </p:nvSpPr>
        <p:spPr>
          <a:xfrm>
            <a:off x="6867144" y="2697480"/>
            <a:ext cx="4169664" cy="0"/>
          </a:xfrm>
          <a:prstGeom prst="line">
            <a:avLst/>
          </a:prstGeom>
          <a:noFill/>
          <a:ln w="8255">
            <a:solidFill>
              <a:srgbClr val="E3EFF7"/>
            </a:solidFill>
            <a:prstDash val="solid"/>
            <a:headEnd type="none"/>
            <a:tailEnd type="none"/>
          </a:ln>
        </p:spPr>
      </p:sp>
      <p:sp>
        <p:nvSpPr>
          <p:cNvPr id="47" name="Text 45"/>
          <p:cNvSpPr/>
          <p:nvPr/>
        </p:nvSpPr>
        <p:spPr>
          <a:xfrm>
            <a:off x="6309360" y="2587752"/>
            <a:ext cx="475488" cy="201168"/>
          </a:xfrm>
          <a:prstGeom prst="rect">
            <a:avLst/>
          </a:prstGeom>
          <a:noFill/>
          <a:ln/>
        </p:spPr>
        <p:txBody>
          <a:bodyPr wrap="square" lIns="0" tIns="0" rIns="0" bIns="0" rtlCol="0" anchor="ctr"/>
          <a:lstStyle/>
          <a:p>
            <a:pPr algn="r" indent="0" marL="0">
              <a:buNone/>
            </a:pPr>
            <a:r>
              <a:rPr lang="en-US" sz="1300" dirty="0">
                <a:solidFill>
                  <a:srgbClr val="53657A"/>
                </a:solidFill>
                <a:latin typeface="Aptos" pitchFamily="34" charset="0"/>
                <a:ea typeface="Aptos" pitchFamily="34" charset="-122"/>
                <a:cs typeface="Aptos" pitchFamily="34" charset="-120"/>
              </a:rPr>
              <a:t>9</a:t>
            </a:r>
            <a:endParaRPr lang="en-US" sz="1300" dirty="0"/>
          </a:p>
        </p:txBody>
      </p:sp>
      <p:sp>
        <p:nvSpPr>
          <p:cNvPr id="48" name="Text 46"/>
          <p:cNvSpPr/>
          <p:nvPr/>
        </p:nvSpPr>
        <p:spPr>
          <a:xfrm>
            <a:off x="6592824" y="4992624"/>
            <a:ext cx="548640" cy="201168"/>
          </a:xfrm>
          <a:prstGeom prst="rect">
            <a:avLst/>
          </a:prstGeom>
          <a:noFill/>
          <a:ln/>
        </p:spPr>
        <p:txBody>
          <a:bodyPr wrap="square" lIns="0" tIns="0" rIns="0" bIns="0" rtlCol="0" anchor="ctr"/>
          <a:lstStyle/>
          <a:p>
            <a:pPr algn="ctr" indent="0" marL="0">
              <a:buNone/>
            </a:pPr>
            <a:r>
              <a:rPr lang="en-US" sz="1300" dirty="0">
                <a:solidFill>
                  <a:srgbClr val="53657A"/>
                </a:solidFill>
                <a:latin typeface="Aptos" pitchFamily="34" charset="0"/>
                <a:ea typeface="Aptos" pitchFamily="34" charset="-122"/>
                <a:cs typeface="Aptos" pitchFamily="34" charset="-120"/>
              </a:rPr>
              <a:t>0</a:t>
            </a:r>
            <a:endParaRPr lang="en-US" sz="1300" dirty="0"/>
          </a:p>
        </p:txBody>
      </p:sp>
      <p:sp>
        <p:nvSpPr>
          <p:cNvPr id="49" name="Text 47"/>
          <p:cNvSpPr/>
          <p:nvPr/>
        </p:nvSpPr>
        <p:spPr>
          <a:xfrm>
            <a:off x="7982712" y="4992624"/>
            <a:ext cx="548640" cy="201168"/>
          </a:xfrm>
          <a:prstGeom prst="rect">
            <a:avLst/>
          </a:prstGeom>
          <a:noFill/>
          <a:ln/>
        </p:spPr>
        <p:txBody>
          <a:bodyPr wrap="square" lIns="0" tIns="0" rIns="0" bIns="0" rtlCol="0" anchor="ctr"/>
          <a:lstStyle/>
          <a:p>
            <a:pPr algn="ctr" indent="0" marL="0">
              <a:buNone/>
            </a:pPr>
            <a:r>
              <a:rPr lang="en-US" sz="1300" dirty="0">
                <a:solidFill>
                  <a:srgbClr val="53657A"/>
                </a:solidFill>
                <a:latin typeface="Aptos" pitchFamily="34" charset="0"/>
                <a:ea typeface="Aptos" pitchFamily="34" charset="-122"/>
                <a:cs typeface="Aptos" pitchFamily="34" charset="-120"/>
              </a:rPr>
              <a:t>3</a:t>
            </a:r>
            <a:endParaRPr lang="en-US" sz="1300" dirty="0"/>
          </a:p>
        </p:txBody>
      </p:sp>
      <p:sp>
        <p:nvSpPr>
          <p:cNvPr id="50" name="Text 48"/>
          <p:cNvSpPr/>
          <p:nvPr/>
        </p:nvSpPr>
        <p:spPr>
          <a:xfrm>
            <a:off x="9372600" y="4992624"/>
            <a:ext cx="548640" cy="201168"/>
          </a:xfrm>
          <a:prstGeom prst="rect">
            <a:avLst/>
          </a:prstGeom>
          <a:noFill/>
          <a:ln/>
        </p:spPr>
        <p:txBody>
          <a:bodyPr wrap="square" lIns="0" tIns="0" rIns="0" bIns="0" rtlCol="0" anchor="ctr"/>
          <a:lstStyle/>
          <a:p>
            <a:pPr algn="ctr" indent="0" marL="0">
              <a:buNone/>
            </a:pPr>
            <a:r>
              <a:rPr lang="en-US" sz="1300" dirty="0">
                <a:solidFill>
                  <a:srgbClr val="53657A"/>
                </a:solidFill>
                <a:latin typeface="Aptos" pitchFamily="34" charset="0"/>
                <a:ea typeface="Aptos" pitchFamily="34" charset="-122"/>
                <a:cs typeface="Aptos" pitchFamily="34" charset="-120"/>
              </a:rPr>
              <a:t>6</a:t>
            </a:r>
            <a:endParaRPr lang="en-US" sz="1300" dirty="0"/>
          </a:p>
        </p:txBody>
      </p:sp>
      <p:sp>
        <p:nvSpPr>
          <p:cNvPr id="51" name="Text 49"/>
          <p:cNvSpPr/>
          <p:nvPr/>
        </p:nvSpPr>
        <p:spPr>
          <a:xfrm>
            <a:off x="10762488" y="4992624"/>
            <a:ext cx="548640" cy="201168"/>
          </a:xfrm>
          <a:prstGeom prst="rect">
            <a:avLst/>
          </a:prstGeom>
          <a:noFill/>
          <a:ln/>
        </p:spPr>
        <p:txBody>
          <a:bodyPr wrap="square" lIns="0" tIns="0" rIns="0" bIns="0" rtlCol="0" anchor="ctr"/>
          <a:lstStyle/>
          <a:p>
            <a:pPr algn="ctr" indent="0" marL="0">
              <a:buNone/>
            </a:pPr>
            <a:r>
              <a:rPr lang="en-US" sz="1300" dirty="0">
                <a:solidFill>
                  <a:srgbClr val="53657A"/>
                </a:solidFill>
                <a:latin typeface="Aptos" pitchFamily="34" charset="0"/>
                <a:ea typeface="Aptos" pitchFamily="34" charset="-122"/>
                <a:cs typeface="Aptos" pitchFamily="34" charset="-120"/>
              </a:rPr>
              <a:t>9</a:t>
            </a:r>
            <a:endParaRPr lang="en-US" sz="1300" dirty="0"/>
          </a:p>
        </p:txBody>
      </p:sp>
      <p:sp>
        <p:nvSpPr>
          <p:cNvPr id="52" name="Shape 50"/>
          <p:cNvSpPr/>
          <p:nvPr/>
        </p:nvSpPr>
        <p:spPr>
          <a:xfrm>
            <a:off x="6867144" y="2697480"/>
            <a:ext cx="0" cy="2176272"/>
          </a:xfrm>
          <a:prstGeom prst="line">
            <a:avLst/>
          </a:prstGeom>
          <a:noFill/>
          <a:ln w="12700">
            <a:solidFill>
              <a:srgbClr val="C4D2E2"/>
            </a:solidFill>
            <a:prstDash val="solid"/>
            <a:headEnd type="none"/>
            <a:tailEnd type="none"/>
          </a:ln>
        </p:spPr>
      </p:sp>
      <p:sp>
        <p:nvSpPr>
          <p:cNvPr id="53" name="Shape 51"/>
          <p:cNvSpPr/>
          <p:nvPr/>
        </p:nvSpPr>
        <p:spPr>
          <a:xfrm>
            <a:off x="6867144" y="4873752"/>
            <a:ext cx="4169664" cy="0"/>
          </a:xfrm>
          <a:prstGeom prst="line">
            <a:avLst/>
          </a:prstGeom>
          <a:noFill/>
          <a:ln w="12700">
            <a:solidFill>
              <a:srgbClr val="C4D2E2"/>
            </a:solidFill>
            <a:prstDash val="solid"/>
            <a:headEnd type="none"/>
            <a:tailEnd type="none"/>
          </a:ln>
        </p:spPr>
      </p:sp>
      <p:sp>
        <p:nvSpPr>
          <p:cNvPr id="54" name="Text 52"/>
          <p:cNvSpPr/>
          <p:nvPr/>
        </p:nvSpPr>
        <p:spPr>
          <a:xfrm>
            <a:off x="6446520" y="2148840"/>
            <a:ext cx="4654296" cy="265176"/>
          </a:xfrm>
          <a:prstGeom prst="rect">
            <a:avLst/>
          </a:prstGeom>
          <a:noFill/>
          <a:ln/>
        </p:spPr>
        <p:txBody>
          <a:bodyPr wrap="square" lIns="0" tIns="0" rIns="0" bIns="0" rtlCol="0" anchor="ctr"/>
          <a:lstStyle/>
          <a:p>
            <a:pPr algn="l" indent="0" marL="0">
              <a:buNone/>
            </a:pPr>
            <a:r>
              <a:rPr lang="en-US" sz="1700" b="1" dirty="0">
                <a:solidFill>
                  <a:srgbClr val="172233"/>
                </a:solidFill>
                <a:latin typeface="Aptos" pitchFamily="34" charset="0"/>
                <a:ea typeface="Aptos" pitchFamily="34" charset="-122"/>
                <a:cs typeface="Aptos" pitchFamily="34" charset="-120"/>
              </a:rPr>
              <a:t>2. Move each centroid to the mean</a:t>
            </a:r>
            <a:endParaRPr lang="en-US" sz="1700" dirty="0"/>
          </a:p>
        </p:txBody>
      </p:sp>
      <p:sp>
        <p:nvSpPr>
          <p:cNvPr id="55" name="Text 53"/>
          <p:cNvSpPr/>
          <p:nvPr/>
        </p:nvSpPr>
        <p:spPr>
          <a:xfrm>
            <a:off x="6867144" y="2414016"/>
            <a:ext cx="4169664" cy="201168"/>
          </a:xfrm>
          <a:prstGeom prst="rect">
            <a:avLst/>
          </a:prstGeom>
          <a:noFill/>
          <a:ln/>
        </p:spPr>
        <p:txBody>
          <a:bodyPr wrap="square" lIns="0" tIns="0" rIns="0" bIns="0" rtlCol="0" anchor="ctr"/>
          <a:lstStyle/>
          <a:p>
            <a:pPr algn="l" indent="0" marL="0">
              <a:buNone/>
            </a:pPr>
            <a:r>
              <a:rPr lang="en-US" sz="1300" dirty="0">
                <a:solidFill>
                  <a:srgbClr val="53657A"/>
                </a:solidFill>
                <a:latin typeface="Aptos" pitchFamily="34" charset="0"/>
                <a:ea typeface="Aptos" pitchFamily="34" charset="-122"/>
                <a:cs typeface="Aptos" pitchFamily="34" charset="-120"/>
              </a:rPr>
              <a:t>Feature 2</a:t>
            </a:r>
            <a:endParaRPr lang="en-US" sz="1300" dirty="0"/>
          </a:p>
        </p:txBody>
      </p:sp>
      <p:sp>
        <p:nvSpPr>
          <p:cNvPr id="56" name="Text 54"/>
          <p:cNvSpPr/>
          <p:nvPr/>
        </p:nvSpPr>
        <p:spPr>
          <a:xfrm>
            <a:off x="6867144" y="5376672"/>
            <a:ext cx="4169664" cy="210312"/>
          </a:xfrm>
          <a:prstGeom prst="rect">
            <a:avLst/>
          </a:prstGeom>
          <a:noFill/>
          <a:ln/>
        </p:spPr>
        <p:txBody>
          <a:bodyPr wrap="square" lIns="0" tIns="0" rIns="0" bIns="0" rtlCol="0" anchor="ctr"/>
          <a:lstStyle/>
          <a:p>
            <a:pPr algn="ctr" indent="0" marL="0">
              <a:buNone/>
            </a:pPr>
            <a:r>
              <a:rPr lang="en-US" sz="1300" dirty="0">
                <a:solidFill>
                  <a:srgbClr val="53657A"/>
                </a:solidFill>
                <a:latin typeface="Aptos" pitchFamily="34" charset="0"/>
                <a:ea typeface="Aptos" pitchFamily="34" charset="-122"/>
                <a:cs typeface="Aptos" pitchFamily="34" charset="-120"/>
              </a:rPr>
              <a:t>Feature 1</a:t>
            </a:r>
            <a:endParaRPr lang="en-US" sz="1300" dirty="0"/>
          </a:p>
        </p:txBody>
      </p:sp>
      <p:sp>
        <p:nvSpPr>
          <p:cNvPr id="57" name="Shape 55"/>
          <p:cNvSpPr/>
          <p:nvPr/>
        </p:nvSpPr>
        <p:spPr>
          <a:xfrm>
            <a:off x="7248144" y="4549648"/>
            <a:ext cx="164592" cy="164592"/>
          </a:xfrm>
          <a:prstGeom prst="ellipse">
            <a:avLst/>
          </a:prstGeom>
          <a:solidFill>
            <a:srgbClr val="176493"/>
          </a:solidFill>
          <a:ln w="5080">
            <a:solidFill>
              <a:srgbClr val="176493"/>
            </a:solidFill>
            <a:prstDash val="solid"/>
          </a:ln>
        </p:spPr>
      </p:sp>
      <p:sp>
        <p:nvSpPr>
          <p:cNvPr id="58" name="Shape 56"/>
          <p:cNvSpPr/>
          <p:nvPr/>
        </p:nvSpPr>
        <p:spPr>
          <a:xfrm>
            <a:off x="7433462" y="4380382"/>
            <a:ext cx="164592" cy="164592"/>
          </a:xfrm>
          <a:prstGeom prst="ellipse">
            <a:avLst/>
          </a:prstGeom>
          <a:solidFill>
            <a:srgbClr val="176493"/>
          </a:solidFill>
          <a:ln w="5080">
            <a:solidFill>
              <a:srgbClr val="176493"/>
            </a:solidFill>
            <a:prstDash val="solid"/>
          </a:ln>
        </p:spPr>
      </p:sp>
      <p:sp>
        <p:nvSpPr>
          <p:cNvPr id="59" name="Shape 57"/>
          <p:cNvSpPr/>
          <p:nvPr/>
        </p:nvSpPr>
        <p:spPr>
          <a:xfrm>
            <a:off x="7711440" y="4549648"/>
            <a:ext cx="164592" cy="164592"/>
          </a:xfrm>
          <a:prstGeom prst="ellipse">
            <a:avLst/>
          </a:prstGeom>
          <a:solidFill>
            <a:srgbClr val="176493"/>
          </a:solidFill>
          <a:ln w="5080">
            <a:solidFill>
              <a:srgbClr val="176493"/>
            </a:solidFill>
            <a:prstDash val="solid"/>
          </a:ln>
        </p:spPr>
      </p:sp>
      <p:sp>
        <p:nvSpPr>
          <p:cNvPr id="60" name="Shape 58"/>
          <p:cNvSpPr/>
          <p:nvPr/>
        </p:nvSpPr>
        <p:spPr>
          <a:xfrm>
            <a:off x="7850429" y="4283659"/>
            <a:ext cx="164592" cy="164592"/>
          </a:xfrm>
          <a:prstGeom prst="ellipse">
            <a:avLst/>
          </a:prstGeom>
          <a:solidFill>
            <a:srgbClr val="176493"/>
          </a:solidFill>
          <a:ln w="5080">
            <a:solidFill>
              <a:srgbClr val="176493"/>
            </a:solidFill>
            <a:prstDash val="solid"/>
          </a:ln>
        </p:spPr>
      </p:sp>
      <p:sp>
        <p:nvSpPr>
          <p:cNvPr id="61" name="Shape 59"/>
          <p:cNvSpPr/>
          <p:nvPr/>
        </p:nvSpPr>
        <p:spPr>
          <a:xfrm>
            <a:off x="9564624" y="3340608"/>
            <a:ext cx="164592" cy="164592"/>
          </a:xfrm>
          <a:prstGeom prst="diamond">
            <a:avLst/>
          </a:prstGeom>
          <a:solidFill>
            <a:srgbClr val="167C85"/>
          </a:solidFill>
          <a:ln w="5080">
            <a:solidFill>
              <a:srgbClr val="167C85"/>
            </a:solidFill>
            <a:prstDash val="solid"/>
          </a:ln>
        </p:spPr>
      </p:sp>
      <p:sp>
        <p:nvSpPr>
          <p:cNvPr id="62" name="Shape 60"/>
          <p:cNvSpPr/>
          <p:nvPr/>
        </p:nvSpPr>
        <p:spPr>
          <a:xfrm>
            <a:off x="9796272" y="3098800"/>
            <a:ext cx="164592" cy="164592"/>
          </a:xfrm>
          <a:prstGeom prst="diamond">
            <a:avLst/>
          </a:prstGeom>
          <a:solidFill>
            <a:srgbClr val="167C85"/>
          </a:solidFill>
          <a:ln w="5080">
            <a:solidFill>
              <a:srgbClr val="167C85"/>
            </a:solidFill>
            <a:prstDash val="solid"/>
          </a:ln>
        </p:spPr>
      </p:sp>
      <p:sp>
        <p:nvSpPr>
          <p:cNvPr id="63" name="Shape 61"/>
          <p:cNvSpPr/>
          <p:nvPr/>
        </p:nvSpPr>
        <p:spPr>
          <a:xfrm>
            <a:off x="10213238" y="3340608"/>
            <a:ext cx="164592" cy="164592"/>
          </a:xfrm>
          <a:prstGeom prst="diamond">
            <a:avLst/>
          </a:prstGeom>
          <a:solidFill>
            <a:srgbClr val="167C85"/>
          </a:solidFill>
          <a:ln w="5080">
            <a:solidFill>
              <a:srgbClr val="167C85"/>
            </a:solidFill>
            <a:prstDash val="solid"/>
          </a:ln>
        </p:spPr>
      </p:sp>
      <p:sp>
        <p:nvSpPr>
          <p:cNvPr id="64" name="Shape 62"/>
          <p:cNvSpPr/>
          <p:nvPr/>
        </p:nvSpPr>
        <p:spPr>
          <a:xfrm>
            <a:off x="10259568" y="2977896"/>
            <a:ext cx="164592" cy="164592"/>
          </a:xfrm>
          <a:prstGeom prst="diamond">
            <a:avLst/>
          </a:prstGeom>
          <a:solidFill>
            <a:srgbClr val="167C85"/>
          </a:solidFill>
          <a:ln w="5080">
            <a:solidFill>
              <a:srgbClr val="167C85"/>
            </a:solidFill>
            <a:prstDash val="solid"/>
          </a:ln>
        </p:spPr>
      </p:sp>
      <p:sp>
        <p:nvSpPr>
          <p:cNvPr id="65" name="Shape 63"/>
          <p:cNvSpPr/>
          <p:nvPr/>
        </p:nvSpPr>
        <p:spPr>
          <a:xfrm>
            <a:off x="1656588" y="4064102"/>
            <a:ext cx="265176" cy="265176"/>
          </a:xfrm>
          <a:prstGeom prst="diamond">
            <a:avLst/>
          </a:prstGeom>
          <a:solidFill>
            <a:srgbClr val="FFFFFF"/>
          </a:solidFill>
          <a:ln w="19050">
            <a:solidFill>
              <a:srgbClr val="176493"/>
            </a:solidFill>
            <a:prstDash val="solid"/>
          </a:ln>
        </p:spPr>
      </p:sp>
      <p:sp>
        <p:nvSpPr>
          <p:cNvPr id="66" name="Shape 64"/>
          <p:cNvSpPr/>
          <p:nvPr/>
        </p:nvSpPr>
        <p:spPr>
          <a:xfrm>
            <a:off x="7330440" y="4196690"/>
            <a:ext cx="312725" cy="326441"/>
          </a:xfrm>
          <a:prstGeom prst="line">
            <a:avLst/>
          </a:prstGeom>
          <a:noFill/>
          <a:ln w="19050">
            <a:solidFill>
              <a:srgbClr val="176493"/>
            </a:solidFill>
            <a:prstDash val="solid"/>
            <a:headEnd type="none"/>
            <a:tailEnd type="triangle"/>
          </a:ln>
        </p:spPr>
      </p:sp>
      <p:sp>
        <p:nvSpPr>
          <p:cNvPr id="67" name="Shape 65"/>
          <p:cNvSpPr/>
          <p:nvPr/>
        </p:nvSpPr>
        <p:spPr>
          <a:xfrm>
            <a:off x="7510577" y="4390542"/>
            <a:ext cx="265176" cy="265176"/>
          </a:xfrm>
          <a:prstGeom prst="diamond">
            <a:avLst/>
          </a:prstGeom>
          <a:solidFill>
            <a:srgbClr val="FFFFFF"/>
          </a:solidFill>
          <a:ln w="19050">
            <a:solidFill>
              <a:srgbClr val="176493"/>
            </a:solidFill>
            <a:prstDash val="solid"/>
          </a:ln>
        </p:spPr>
      </p:sp>
      <p:sp>
        <p:nvSpPr>
          <p:cNvPr id="68" name="Shape 66"/>
          <p:cNvSpPr/>
          <p:nvPr/>
        </p:nvSpPr>
        <p:spPr>
          <a:xfrm>
            <a:off x="4807001" y="3532124"/>
            <a:ext cx="265176" cy="265176"/>
          </a:xfrm>
          <a:prstGeom prst="diamond">
            <a:avLst/>
          </a:prstGeom>
          <a:solidFill>
            <a:srgbClr val="FFFFFF"/>
          </a:solidFill>
          <a:ln w="19050">
            <a:solidFill>
              <a:srgbClr val="167C85"/>
            </a:solidFill>
            <a:prstDash val="solid"/>
          </a:ln>
        </p:spPr>
      </p:sp>
      <p:sp>
        <p:nvSpPr>
          <p:cNvPr id="69" name="Shape 67"/>
          <p:cNvSpPr/>
          <p:nvPr/>
        </p:nvSpPr>
        <p:spPr>
          <a:xfrm flipH="1" flipV="1">
            <a:off x="10040722" y="3271774"/>
            <a:ext cx="440131" cy="392938"/>
          </a:xfrm>
          <a:prstGeom prst="line">
            <a:avLst/>
          </a:prstGeom>
          <a:noFill/>
          <a:ln w="19050">
            <a:solidFill>
              <a:srgbClr val="167C85"/>
            </a:solidFill>
            <a:prstDash val="solid"/>
            <a:headEnd type="none"/>
            <a:tailEnd type="triangle"/>
          </a:ln>
        </p:spPr>
      </p:sp>
      <p:sp>
        <p:nvSpPr>
          <p:cNvPr id="70" name="Shape 68"/>
          <p:cNvSpPr/>
          <p:nvPr/>
        </p:nvSpPr>
        <p:spPr>
          <a:xfrm>
            <a:off x="9908134" y="3139186"/>
            <a:ext cx="265176" cy="265176"/>
          </a:xfrm>
          <a:prstGeom prst="diamond">
            <a:avLst/>
          </a:prstGeom>
          <a:solidFill>
            <a:srgbClr val="FFFFFF"/>
          </a:solidFill>
          <a:ln w="19050">
            <a:solidFill>
              <a:srgbClr val="167C85"/>
            </a:solidFill>
            <a:prstDash val="solid"/>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0" y="0"/>
            <a:ext cx="12192000" cy="402336"/>
          </a:xfrm>
          <a:prstGeom prst="rect">
            <a:avLst/>
          </a:prstGeom>
          <a:solidFill>
            <a:srgbClr val="E7EEF7"/>
          </a:solidFill>
          <a:ln w="12700">
            <a:solidFill>
              <a:srgbClr val="E7EEF7">
                <a:alpha val="0"/>
              </a:srgbClr>
            </a:solidFill>
            <a:prstDash val="solid"/>
          </a:ln>
        </p:spPr>
      </p:sp>
      <p:sp>
        <p:nvSpPr>
          <p:cNvPr id="3" name="Shape 1"/>
          <p:cNvSpPr/>
          <p:nvPr/>
        </p:nvSpPr>
        <p:spPr>
          <a:xfrm>
            <a:off x="466344" y="123444"/>
            <a:ext cx="64008" cy="146304"/>
          </a:xfrm>
          <a:prstGeom prst="rect">
            <a:avLst/>
          </a:prstGeom>
          <a:solidFill>
            <a:srgbClr val="176493"/>
          </a:solidFill>
          <a:ln w="12700">
            <a:solidFill>
              <a:srgbClr val="176493">
                <a:alpha val="0"/>
              </a:srgbClr>
            </a:solidFill>
            <a:prstDash val="solid"/>
          </a:ln>
        </p:spPr>
      </p:sp>
      <p:sp>
        <p:nvSpPr>
          <p:cNvPr id="4" name="Text 2"/>
          <p:cNvSpPr/>
          <p:nvPr/>
        </p:nvSpPr>
        <p:spPr>
          <a:xfrm>
            <a:off x="594360" y="100584"/>
            <a:ext cx="731520" cy="201168"/>
          </a:xfrm>
          <a:prstGeom prst="rect">
            <a:avLst/>
          </a:prstGeom>
          <a:noFill/>
          <a:ln/>
        </p:spPr>
        <p:txBody>
          <a:bodyPr wrap="square" lIns="0" tIns="0" rIns="0" bIns="0" rtlCol="0" anchor="ctr"/>
          <a:lstStyle/>
          <a:p>
            <a:pPr algn="l" indent="0" marL="0">
              <a:buNone/>
            </a:pPr>
            <a:r>
              <a:rPr lang="en-US" sz="1100" b="1" dirty="0">
                <a:solidFill>
                  <a:srgbClr val="176493"/>
                </a:solidFill>
                <a:latin typeface="Aptos" pitchFamily="34" charset="0"/>
                <a:ea typeface="Aptos" pitchFamily="34" charset="-122"/>
                <a:cs typeface="Aptos" pitchFamily="34" charset="-120"/>
              </a:rPr>
              <a:t>DS101</a:t>
            </a:r>
            <a:endParaRPr lang="en-US" sz="1100" dirty="0"/>
          </a:p>
        </p:txBody>
      </p:sp>
      <p:sp>
        <p:nvSpPr>
          <p:cNvPr id="5" name="Text 3"/>
          <p:cNvSpPr/>
          <p:nvPr/>
        </p:nvSpPr>
        <p:spPr>
          <a:xfrm>
            <a:off x="1463040" y="100584"/>
            <a:ext cx="1828800" cy="201168"/>
          </a:xfrm>
          <a:prstGeom prst="rect">
            <a:avLst/>
          </a:prstGeom>
          <a:noFill/>
          <a:ln/>
        </p:spPr>
        <p:txBody>
          <a:bodyPr wrap="square" lIns="0" tIns="0" rIns="0" bIns="0" rtlCol="0" anchor="ctr"/>
          <a:lstStyle/>
          <a:p>
            <a:pPr algn="l" indent="0" marL="0">
              <a:buNone/>
            </a:pPr>
            <a:r>
              <a:rPr lang="en-US" sz="1000" dirty="0">
                <a:solidFill>
                  <a:srgbClr val="53657A"/>
                </a:solidFill>
                <a:latin typeface="Aptos" pitchFamily="34" charset="0"/>
                <a:ea typeface="Aptos" pitchFamily="34" charset="-122"/>
                <a:cs typeface="Aptos" pitchFamily="34" charset="-120"/>
              </a:rPr>
              <a:t>LECTURE 02</a:t>
            </a:r>
            <a:endParaRPr lang="en-US" sz="1000" dirty="0"/>
          </a:p>
        </p:txBody>
      </p:sp>
      <p:sp>
        <p:nvSpPr>
          <p:cNvPr id="6" name="Text 4"/>
          <p:cNvSpPr/>
          <p:nvPr/>
        </p:nvSpPr>
        <p:spPr>
          <a:xfrm>
            <a:off x="8321040" y="100584"/>
            <a:ext cx="3264408" cy="201168"/>
          </a:xfrm>
          <a:prstGeom prst="rect">
            <a:avLst/>
          </a:prstGeom>
          <a:noFill/>
          <a:ln/>
        </p:spPr>
        <p:txBody>
          <a:bodyPr wrap="square" lIns="0" tIns="0" rIns="0" bIns="0" rtlCol="0" anchor="ctr"/>
          <a:lstStyle/>
          <a:p>
            <a:pPr algn="r" indent="0" marL="0">
              <a:buNone/>
            </a:pPr>
            <a:r>
              <a:rPr lang="en-US" sz="1000" dirty="0">
                <a:solidFill>
                  <a:srgbClr val="53657A"/>
                </a:solidFill>
                <a:latin typeface="Aptos" pitchFamily="34" charset="0"/>
                <a:ea typeface="Aptos" pitchFamily="34" charset="-122"/>
                <a:cs typeface="Aptos" pitchFamily="34" charset="-120"/>
              </a:rPr>
              <a:t>CLUSTERING CHOICES</a:t>
            </a:r>
            <a:endParaRPr lang="en-US" sz="1000" dirty="0"/>
          </a:p>
        </p:txBody>
      </p:sp>
      <p:sp>
        <p:nvSpPr>
          <p:cNvPr id="7" name="Text 5"/>
          <p:cNvSpPr/>
          <p:nvPr/>
        </p:nvSpPr>
        <p:spPr>
          <a:xfrm>
            <a:off x="594360" y="758952"/>
            <a:ext cx="11000232" cy="658368"/>
          </a:xfrm>
          <a:prstGeom prst="rect">
            <a:avLst/>
          </a:prstGeom>
          <a:noFill/>
          <a:ln/>
        </p:spPr>
        <p:txBody>
          <a:bodyPr wrap="square" lIns="0" tIns="0" rIns="0" bIns="0" rtlCol="0" anchor="ctr"/>
          <a:lstStyle/>
          <a:p>
            <a:pPr algn="l" indent="0" marL="0">
              <a:buNone/>
            </a:pPr>
            <a:r>
              <a:rPr lang="en-US" sz="3000" b="1" dirty="0">
                <a:solidFill>
                  <a:srgbClr val="172233"/>
                </a:solidFill>
                <a:latin typeface="Aptos" pitchFamily="34" charset="0"/>
                <a:ea typeface="Aptos" pitchFamily="34" charset="-122"/>
                <a:cs typeface="Aptos" pitchFamily="34" charset="-120"/>
              </a:rPr>
              <a:t>Scaling changes what distance means</a:t>
            </a:r>
            <a:endParaRPr lang="en-US" sz="3000" dirty="0"/>
          </a:p>
        </p:txBody>
      </p:sp>
      <p:sp>
        <p:nvSpPr>
          <p:cNvPr id="8" name="Text 6"/>
          <p:cNvSpPr/>
          <p:nvPr/>
        </p:nvSpPr>
        <p:spPr>
          <a:xfrm>
            <a:off x="594360" y="6510528"/>
            <a:ext cx="3657600" cy="164592"/>
          </a:xfrm>
          <a:prstGeom prst="rect">
            <a:avLst/>
          </a:prstGeom>
          <a:noFill/>
          <a:ln/>
        </p:spPr>
        <p:txBody>
          <a:bodyPr wrap="square" lIns="0" tIns="0" rIns="0" bIns="0" rtlCol="0" anchor="ctr"/>
          <a:lstStyle/>
          <a:p>
            <a:pPr algn="l" indent="0" marL="0">
              <a:buNone/>
            </a:pPr>
            <a:r>
              <a:rPr lang="en-US" sz="900" dirty="0">
                <a:solidFill>
                  <a:srgbClr val="53657A"/>
                </a:solidFill>
                <a:latin typeface="Aptos" pitchFamily="34" charset="0"/>
                <a:ea typeface="Aptos" pitchFamily="34" charset="-122"/>
                <a:cs typeface="Aptos" pitchFamily="34" charset="-120"/>
              </a:rPr>
              <a:t>DS101 | 2026-2027</a:t>
            </a:r>
            <a:endParaRPr lang="en-US" sz="900" dirty="0"/>
          </a:p>
        </p:txBody>
      </p:sp>
      <p:sp>
        <p:nvSpPr>
          <p:cNvPr id="9" name="Text 7"/>
          <p:cNvSpPr/>
          <p:nvPr/>
        </p:nvSpPr>
        <p:spPr>
          <a:xfrm>
            <a:off x="10680192" y="6492240"/>
            <a:ext cx="914400" cy="201168"/>
          </a:xfrm>
          <a:prstGeom prst="rect">
            <a:avLst/>
          </a:prstGeom>
          <a:noFill/>
          <a:ln/>
        </p:spPr>
        <p:txBody>
          <a:bodyPr wrap="square" lIns="0" tIns="0" rIns="0" bIns="0" rtlCol="0" anchor="ctr"/>
          <a:lstStyle/>
          <a:p>
            <a:pPr algn="r" indent="0" marL="0">
              <a:buNone/>
            </a:pPr>
            <a:r>
              <a:rPr lang="en-US" sz="1000" dirty="0">
                <a:solidFill>
                  <a:srgbClr val="53657A"/>
                </a:solidFill>
                <a:latin typeface="Aptos" pitchFamily="34" charset="0"/>
                <a:ea typeface="Aptos" pitchFamily="34" charset="-122"/>
                <a:cs typeface="Aptos" pitchFamily="34" charset="-120"/>
              </a:rPr>
              <a:t>12 / 24</a:t>
            </a:r>
            <a:endParaRPr lang="en-US" sz="1000" dirty="0"/>
          </a:p>
        </p:txBody>
      </p:sp>
      <p:sp>
        <p:nvSpPr>
          <p:cNvPr id="10" name="Shape 8"/>
          <p:cNvSpPr/>
          <p:nvPr/>
        </p:nvSpPr>
        <p:spPr>
          <a:xfrm>
            <a:off x="594360" y="5852160"/>
            <a:ext cx="11000232" cy="438912"/>
          </a:xfrm>
          <a:prstGeom prst="rect">
            <a:avLst/>
          </a:prstGeom>
          <a:solidFill>
            <a:srgbClr val="E3EFF7"/>
          </a:solidFill>
          <a:ln w="12700">
            <a:solidFill>
              <a:srgbClr val="E3EFF7">
                <a:alpha val="0"/>
              </a:srgbClr>
            </a:solidFill>
            <a:prstDash val="solid"/>
          </a:ln>
        </p:spPr>
      </p:sp>
      <p:sp>
        <p:nvSpPr>
          <p:cNvPr id="11" name="Text 9"/>
          <p:cNvSpPr/>
          <p:nvPr/>
        </p:nvSpPr>
        <p:spPr>
          <a:xfrm>
            <a:off x="795528" y="5943600"/>
            <a:ext cx="10607040" cy="256032"/>
          </a:xfrm>
          <a:prstGeom prst="rect">
            <a:avLst/>
          </a:prstGeom>
          <a:noFill/>
          <a:ln/>
        </p:spPr>
        <p:txBody>
          <a:bodyPr wrap="square" lIns="0" tIns="0" rIns="0" bIns="0" rtlCol="0" anchor="ctr"/>
          <a:lstStyle/>
          <a:p>
            <a:pPr algn="l" indent="0" marL="0">
              <a:buNone/>
            </a:pPr>
            <a:r>
              <a:rPr lang="en-US" sz="1700" b="1" dirty="0">
                <a:solidFill>
                  <a:srgbClr val="176493"/>
                </a:solidFill>
                <a:latin typeface="Aptos" pitchFamily="34" charset="0"/>
                <a:ea typeface="Aptos" pitchFamily="34" charset="-122"/>
                <a:cs typeface="Aptos" pitchFamily="34" charset="-120"/>
              </a:rPr>
              <a:t>Our k = 3 is a demonstration choice, not a discovered business truth.</a:t>
            </a:r>
            <a:endParaRPr lang="en-US" sz="1700" dirty="0"/>
          </a:p>
        </p:txBody>
      </p:sp>
      <p:sp>
        <p:nvSpPr>
          <p:cNvPr id="12" name="Text 10"/>
          <p:cNvSpPr/>
          <p:nvPr/>
        </p:nvSpPr>
        <p:spPr>
          <a:xfrm>
            <a:off x="749808" y="1664208"/>
            <a:ext cx="5943600" cy="219456"/>
          </a:xfrm>
          <a:prstGeom prst="rect">
            <a:avLst/>
          </a:prstGeom>
          <a:noFill/>
          <a:ln/>
        </p:spPr>
        <p:txBody>
          <a:bodyPr wrap="square" lIns="0" tIns="0" rIns="0" bIns="0" rtlCol="0" anchor="ctr"/>
          <a:lstStyle/>
          <a:p>
            <a:pPr algn="l" indent="0" marL="0">
              <a:buNone/>
            </a:pPr>
            <a:r>
              <a:rPr lang="en-US" sz="1150" b="1" spc="50" kern="0" dirty="0">
                <a:solidFill>
                  <a:srgbClr val="176493"/>
                </a:solidFill>
                <a:latin typeface="Aptos" pitchFamily="34" charset="0"/>
                <a:ea typeface="Aptos" pitchFamily="34" charset="-122"/>
                <a:cs typeface="Aptos" pitchFamily="34" charset="-120"/>
              </a:rPr>
              <a:t>ILLUSTRATIVE DIFFERENCE BETWEEN TWO ACCOUNTS</a:t>
            </a:r>
            <a:endParaRPr lang="en-US" sz="1150" dirty="0"/>
          </a:p>
        </p:txBody>
      </p:sp>
      <p:sp>
        <p:nvSpPr>
          <p:cNvPr id="13" name="Shape 11"/>
          <p:cNvSpPr/>
          <p:nvPr/>
        </p:nvSpPr>
        <p:spPr>
          <a:xfrm>
            <a:off x="749808" y="2048256"/>
            <a:ext cx="5148072" cy="3154680"/>
          </a:xfrm>
          <a:prstGeom prst="rect">
            <a:avLst/>
          </a:prstGeom>
          <a:solidFill>
            <a:srgbClr val="FFFFFF"/>
          </a:solidFill>
          <a:ln w="12700">
            <a:solidFill>
              <a:srgbClr val="FFFFFF">
                <a:alpha val="0"/>
              </a:srgbClr>
            </a:solidFill>
            <a:prstDash val="solid"/>
          </a:ln>
        </p:spPr>
      </p:sp>
      <p:sp>
        <p:nvSpPr>
          <p:cNvPr id="14" name="Text 12"/>
          <p:cNvSpPr/>
          <p:nvPr/>
        </p:nvSpPr>
        <p:spPr>
          <a:xfrm>
            <a:off x="950976" y="2322576"/>
            <a:ext cx="4700016" cy="393192"/>
          </a:xfrm>
          <a:prstGeom prst="rect">
            <a:avLst/>
          </a:prstGeom>
          <a:noFill/>
          <a:ln/>
        </p:spPr>
        <p:txBody>
          <a:bodyPr wrap="square" lIns="0" tIns="0" rIns="0" bIns="0" rtlCol="0" anchor="ctr"/>
          <a:lstStyle/>
          <a:p>
            <a:pPr algn="l" indent="0" marL="0">
              <a:buNone/>
            </a:pPr>
            <a:r>
              <a:rPr lang="en-US" sz="2100" b="1" dirty="0">
                <a:solidFill>
                  <a:srgbClr val="172233"/>
                </a:solidFill>
                <a:latin typeface="Aptos" pitchFamily="34" charset="0"/>
                <a:ea typeface="Aptos" pitchFamily="34" charset="-122"/>
                <a:cs typeface="Aptos" pitchFamily="34" charset="-120"/>
              </a:rPr>
              <a:t>Frequency difference: 5 orders</a:t>
            </a:r>
            <a:endParaRPr lang="en-US" sz="2100" dirty="0"/>
          </a:p>
        </p:txBody>
      </p:sp>
      <p:sp>
        <p:nvSpPr>
          <p:cNvPr id="15" name="Text 13"/>
          <p:cNvSpPr/>
          <p:nvPr/>
        </p:nvSpPr>
        <p:spPr>
          <a:xfrm>
            <a:off x="950976" y="2935224"/>
            <a:ext cx="4700016" cy="393192"/>
          </a:xfrm>
          <a:prstGeom prst="rect">
            <a:avLst/>
          </a:prstGeom>
          <a:noFill/>
          <a:ln/>
        </p:spPr>
        <p:txBody>
          <a:bodyPr wrap="square" lIns="0" tIns="0" rIns="0" bIns="0" rtlCol="0" anchor="ctr"/>
          <a:lstStyle/>
          <a:p>
            <a:pPr algn="l" indent="0" marL="0">
              <a:buNone/>
            </a:pPr>
            <a:r>
              <a:rPr lang="en-US" sz="2100" b="1" dirty="0">
                <a:solidFill>
                  <a:srgbClr val="172233"/>
                </a:solidFill>
                <a:latin typeface="Aptos" pitchFamily="34" charset="0"/>
                <a:ea typeface="Aptos" pitchFamily="34" charset="-122"/>
                <a:cs typeface="Aptos" pitchFamily="34" charset="-120"/>
              </a:rPr>
              <a:t>Value difference: 500 CU</a:t>
            </a:r>
            <a:endParaRPr lang="en-US" sz="2100" dirty="0"/>
          </a:p>
        </p:txBody>
      </p:sp>
      <p:sp>
        <p:nvSpPr>
          <p:cNvPr id="16" name="Text 14"/>
          <p:cNvSpPr/>
          <p:nvPr/>
        </p:nvSpPr>
        <p:spPr>
          <a:xfrm>
            <a:off x="950976" y="3694176"/>
            <a:ext cx="4700016" cy="530352"/>
          </a:xfrm>
          <a:prstGeom prst="rect">
            <a:avLst/>
          </a:prstGeom>
          <a:noFill/>
          <a:ln/>
        </p:spPr>
        <p:txBody>
          <a:bodyPr wrap="square" lIns="0" tIns="0" rIns="0" bIns="0" rtlCol="0" anchor="ctr"/>
          <a:lstStyle/>
          <a:p>
            <a:pPr algn="l" indent="0" marL="0">
              <a:buNone/>
            </a:pPr>
            <a:r>
              <a:rPr lang="en-US" sz="2800" b="1" dirty="0">
                <a:solidFill>
                  <a:srgbClr val="176493"/>
                </a:solidFill>
                <a:latin typeface="Aptos" pitchFamily="34" charset="0"/>
                <a:ea typeface="Aptos" pitchFamily="34" charset="-122"/>
                <a:cs typeface="Aptos" pitchFamily="34" charset="-120"/>
              </a:rPr>
              <a:t>5² + 500² = 250,025</a:t>
            </a:r>
            <a:endParaRPr lang="en-US" sz="2800" dirty="0"/>
          </a:p>
        </p:txBody>
      </p:sp>
      <p:sp>
        <p:nvSpPr>
          <p:cNvPr id="17" name="Text 15"/>
          <p:cNvSpPr/>
          <p:nvPr/>
        </p:nvSpPr>
        <p:spPr>
          <a:xfrm>
            <a:off x="950976" y="4498848"/>
            <a:ext cx="4572000" cy="420624"/>
          </a:xfrm>
          <a:prstGeom prst="rect">
            <a:avLst/>
          </a:prstGeom>
          <a:noFill/>
          <a:ln/>
        </p:spPr>
        <p:txBody>
          <a:bodyPr wrap="square" lIns="0" tIns="0" rIns="0" bIns="0" rtlCol="0" anchor="ctr"/>
          <a:lstStyle/>
          <a:p>
            <a:pPr algn="l" indent="0" marL="0">
              <a:buNone/>
            </a:pPr>
            <a:r>
              <a:rPr lang="en-US" sz="1900" dirty="0">
                <a:solidFill>
                  <a:srgbClr val="53657A"/>
                </a:solidFill>
                <a:latin typeface="Aptos" pitchFamily="34" charset="0"/>
                <a:ea typeface="Aptos" pitchFamily="34" charset="-122"/>
                <a:cs typeface="Aptos" pitchFamily="34" charset="-120"/>
              </a:rPr>
              <a:t>The units dominate the squared distance.</a:t>
            </a:r>
            <a:endParaRPr lang="en-US" sz="1900" dirty="0"/>
          </a:p>
        </p:txBody>
      </p:sp>
      <p:sp>
        <p:nvSpPr>
          <p:cNvPr id="18" name="Shape 16"/>
          <p:cNvSpPr/>
          <p:nvPr/>
        </p:nvSpPr>
        <p:spPr>
          <a:xfrm>
            <a:off x="6409944" y="2194560"/>
            <a:ext cx="292608" cy="292608"/>
          </a:xfrm>
          <a:prstGeom prst="ellipse">
            <a:avLst/>
          </a:prstGeom>
          <a:solidFill>
            <a:srgbClr val="167C85"/>
          </a:solidFill>
          <a:ln w="5080">
            <a:solidFill>
              <a:srgbClr val="167C85"/>
            </a:solidFill>
            <a:prstDash val="solid"/>
          </a:ln>
        </p:spPr>
      </p:sp>
      <p:sp>
        <p:nvSpPr>
          <p:cNvPr id="19" name="Text 17"/>
          <p:cNvSpPr/>
          <p:nvPr/>
        </p:nvSpPr>
        <p:spPr>
          <a:xfrm>
            <a:off x="6437376" y="2221992"/>
            <a:ext cx="246888" cy="246888"/>
          </a:xfrm>
          <a:prstGeom prst="rect">
            <a:avLst/>
          </a:prstGeom>
          <a:noFill/>
          <a:ln/>
        </p:spPr>
        <p:txBody>
          <a:bodyPr wrap="square" lIns="0" tIns="0" rIns="0" bIns="0" rtlCol="0" anchor="ctr"/>
          <a:lstStyle/>
          <a:p>
            <a:pPr algn="ctr" indent="0" marL="0">
              <a:buNone/>
            </a:pPr>
            <a:r>
              <a:rPr lang="en-US" sz="1400" b="1" dirty="0">
                <a:solidFill>
                  <a:srgbClr val="FFFFFF"/>
                </a:solidFill>
                <a:latin typeface="Aptos" pitchFamily="34" charset="0"/>
                <a:ea typeface="Aptos" pitchFamily="34" charset="-122"/>
                <a:cs typeface="Aptos" pitchFamily="34" charset="-120"/>
              </a:rPr>
              <a:t>1</a:t>
            </a:r>
            <a:endParaRPr lang="en-US" sz="1400" dirty="0"/>
          </a:p>
        </p:txBody>
      </p:sp>
      <p:sp>
        <p:nvSpPr>
          <p:cNvPr id="20" name="Text 18"/>
          <p:cNvSpPr/>
          <p:nvPr/>
        </p:nvSpPr>
        <p:spPr>
          <a:xfrm>
            <a:off x="6885432" y="2148840"/>
            <a:ext cx="4251960" cy="502920"/>
          </a:xfrm>
          <a:prstGeom prst="rect">
            <a:avLst/>
          </a:prstGeom>
          <a:noFill/>
          <a:ln/>
        </p:spPr>
        <p:txBody>
          <a:bodyPr wrap="square" lIns="0" tIns="0" rIns="0" bIns="0" rtlCol="0" anchor="ctr"/>
          <a:lstStyle/>
          <a:p>
            <a:pPr algn="l" indent="0" marL="0">
              <a:buNone/>
            </a:pPr>
            <a:r>
              <a:rPr lang="en-US" sz="2100" dirty="0">
                <a:solidFill>
                  <a:srgbClr val="172233"/>
                </a:solidFill>
                <a:latin typeface="Aptos" pitchFamily="34" charset="0"/>
                <a:ea typeface="Aptos" pitchFamily="34" charset="-122"/>
                <a:cs typeface="Aptos" pitchFamily="34" charset="-120"/>
              </a:rPr>
              <a:t>Define R, F and net M</a:t>
            </a:r>
            <a:endParaRPr lang="en-US" sz="2100" dirty="0"/>
          </a:p>
        </p:txBody>
      </p:sp>
      <p:sp>
        <p:nvSpPr>
          <p:cNvPr id="21" name="Shape 19"/>
          <p:cNvSpPr/>
          <p:nvPr/>
        </p:nvSpPr>
        <p:spPr>
          <a:xfrm>
            <a:off x="6409944" y="2953512"/>
            <a:ext cx="292608" cy="292608"/>
          </a:xfrm>
          <a:prstGeom prst="ellipse">
            <a:avLst/>
          </a:prstGeom>
          <a:solidFill>
            <a:srgbClr val="167C85"/>
          </a:solidFill>
          <a:ln w="5080">
            <a:solidFill>
              <a:srgbClr val="167C85"/>
            </a:solidFill>
            <a:prstDash val="solid"/>
          </a:ln>
        </p:spPr>
      </p:sp>
      <p:sp>
        <p:nvSpPr>
          <p:cNvPr id="22" name="Text 20"/>
          <p:cNvSpPr/>
          <p:nvPr/>
        </p:nvSpPr>
        <p:spPr>
          <a:xfrm>
            <a:off x="6437376" y="2980944"/>
            <a:ext cx="246888" cy="246888"/>
          </a:xfrm>
          <a:prstGeom prst="rect">
            <a:avLst/>
          </a:prstGeom>
          <a:noFill/>
          <a:ln/>
        </p:spPr>
        <p:txBody>
          <a:bodyPr wrap="square" lIns="0" tIns="0" rIns="0" bIns="0" rtlCol="0" anchor="ctr"/>
          <a:lstStyle/>
          <a:p>
            <a:pPr algn="ctr" indent="0" marL="0">
              <a:buNone/>
            </a:pPr>
            <a:r>
              <a:rPr lang="en-US" sz="1400" b="1" dirty="0">
                <a:solidFill>
                  <a:srgbClr val="FFFFFF"/>
                </a:solidFill>
                <a:latin typeface="Aptos" pitchFamily="34" charset="0"/>
                <a:ea typeface="Aptos" pitchFamily="34" charset="-122"/>
                <a:cs typeface="Aptos" pitchFamily="34" charset="-120"/>
              </a:rPr>
              <a:t>2</a:t>
            </a:r>
            <a:endParaRPr lang="en-US" sz="1400" dirty="0"/>
          </a:p>
        </p:txBody>
      </p:sp>
      <p:sp>
        <p:nvSpPr>
          <p:cNvPr id="23" name="Text 21"/>
          <p:cNvSpPr/>
          <p:nvPr/>
        </p:nvSpPr>
        <p:spPr>
          <a:xfrm>
            <a:off x="6885432" y="2907792"/>
            <a:ext cx="4251960" cy="502920"/>
          </a:xfrm>
          <a:prstGeom prst="rect">
            <a:avLst/>
          </a:prstGeom>
          <a:noFill/>
          <a:ln/>
        </p:spPr>
        <p:txBody>
          <a:bodyPr wrap="square" lIns="0" tIns="0" rIns="0" bIns="0" rtlCol="0" anchor="ctr"/>
          <a:lstStyle/>
          <a:p>
            <a:pPr algn="l" indent="0" marL="0">
              <a:buNone/>
            </a:pPr>
            <a:r>
              <a:rPr lang="en-US" sz="2100" dirty="0">
                <a:solidFill>
                  <a:srgbClr val="172233"/>
                </a:solidFill>
                <a:latin typeface="Aptos" pitchFamily="34" charset="0"/>
                <a:ea typeface="Aptos" pitchFamily="34" charset="-122"/>
                <a:cs typeface="Aptos" pitchFamily="34" charset="-120"/>
              </a:rPr>
              <a:t>Apply log1p to each feature</a:t>
            </a:r>
            <a:endParaRPr lang="en-US" sz="2100" dirty="0"/>
          </a:p>
        </p:txBody>
      </p:sp>
      <p:sp>
        <p:nvSpPr>
          <p:cNvPr id="24" name="Shape 22"/>
          <p:cNvSpPr/>
          <p:nvPr/>
        </p:nvSpPr>
        <p:spPr>
          <a:xfrm>
            <a:off x="6409944" y="3712464"/>
            <a:ext cx="292608" cy="292608"/>
          </a:xfrm>
          <a:prstGeom prst="ellipse">
            <a:avLst/>
          </a:prstGeom>
          <a:solidFill>
            <a:srgbClr val="167C85"/>
          </a:solidFill>
          <a:ln w="5080">
            <a:solidFill>
              <a:srgbClr val="167C85"/>
            </a:solidFill>
            <a:prstDash val="solid"/>
          </a:ln>
        </p:spPr>
      </p:sp>
      <p:sp>
        <p:nvSpPr>
          <p:cNvPr id="25" name="Text 23"/>
          <p:cNvSpPr/>
          <p:nvPr/>
        </p:nvSpPr>
        <p:spPr>
          <a:xfrm>
            <a:off x="6437376" y="3739896"/>
            <a:ext cx="246888" cy="246888"/>
          </a:xfrm>
          <a:prstGeom prst="rect">
            <a:avLst/>
          </a:prstGeom>
          <a:noFill/>
          <a:ln/>
        </p:spPr>
        <p:txBody>
          <a:bodyPr wrap="square" lIns="0" tIns="0" rIns="0" bIns="0" rtlCol="0" anchor="ctr"/>
          <a:lstStyle/>
          <a:p>
            <a:pPr algn="ctr" indent="0" marL="0">
              <a:buNone/>
            </a:pPr>
            <a:r>
              <a:rPr lang="en-US" sz="1400" b="1" dirty="0">
                <a:solidFill>
                  <a:srgbClr val="FFFFFF"/>
                </a:solidFill>
                <a:latin typeface="Aptos" pitchFamily="34" charset="0"/>
                <a:ea typeface="Aptos" pitchFamily="34" charset="-122"/>
                <a:cs typeface="Aptos" pitchFamily="34" charset="-120"/>
              </a:rPr>
              <a:t>3</a:t>
            </a:r>
            <a:endParaRPr lang="en-US" sz="1400" dirty="0"/>
          </a:p>
        </p:txBody>
      </p:sp>
      <p:sp>
        <p:nvSpPr>
          <p:cNvPr id="26" name="Text 24"/>
          <p:cNvSpPr/>
          <p:nvPr/>
        </p:nvSpPr>
        <p:spPr>
          <a:xfrm>
            <a:off x="6885432" y="3666744"/>
            <a:ext cx="4251960" cy="502920"/>
          </a:xfrm>
          <a:prstGeom prst="rect">
            <a:avLst/>
          </a:prstGeom>
          <a:noFill/>
          <a:ln/>
        </p:spPr>
        <p:txBody>
          <a:bodyPr wrap="square" lIns="0" tIns="0" rIns="0" bIns="0" rtlCol="0" anchor="ctr"/>
          <a:lstStyle/>
          <a:p>
            <a:pPr algn="l" indent="0" marL="0">
              <a:buNone/>
            </a:pPr>
            <a:r>
              <a:rPr lang="en-US" sz="2100" dirty="0">
                <a:solidFill>
                  <a:srgbClr val="172233"/>
                </a:solidFill>
                <a:latin typeface="Aptos" pitchFamily="34" charset="0"/>
                <a:ea typeface="Aptos" pitchFamily="34" charset="-122"/>
                <a:cs typeface="Aptos" pitchFamily="34" charset="-120"/>
              </a:rPr>
              <a:t>Standardize the logged features</a:t>
            </a:r>
            <a:endParaRPr lang="en-US" sz="2100" dirty="0"/>
          </a:p>
        </p:txBody>
      </p:sp>
      <p:sp>
        <p:nvSpPr>
          <p:cNvPr id="27" name="Shape 25"/>
          <p:cNvSpPr/>
          <p:nvPr/>
        </p:nvSpPr>
        <p:spPr>
          <a:xfrm>
            <a:off x="6409944" y="4471416"/>
            <a:ext cx="292608" cy="292608"/>
          </a:xfrm>
          <a:prstGeom prst="ellipse">
            <a:avLst/>
          </a:prstGeom>
          <a:solidFill>
            <a:srgbClr val="167C85"/>
          </a:solidFill>
          <a:ln w="5080">
            <a:solidFill>
              <a:srgbClr val="167C85"/>
            </a:solidFill>
            <a:prstDash val="solid"/>
          </a:ln>
        </p:spPr>
      </p:sp>
      <p:sp>
        <p:nvSpPr>
          <p:cNvPr id="28" name="Text 26"/>
          <p:cNvSpPr/>
          <p:nvPr/>
        </p:nvSpPr>
        <p:spPr>
          <a:xfrm>
            <a:off x="6437376" y="4498848"/>
            <a:ext cx="246888" cy="246888"/>
          </a:xfrm>
          <a:prstGeom prst="rect">
            <a:avLst/>
          </a:prstGeom>
          <a:noFill/>
          <a:ln/>
        </p:spPr>
        <p:txBody>
          <a:bodyPr wrap="square" lIns="0" tIns="0" rIns="0" bIns="0" rtlCol="0" anchor="ctr"/>
          <a:lstStyle/>
          <a:p>
            <a:pPr algn="ctr" indent="0" marL="0">
              <a:buNone/>
            </a:pPr>
            <a:r>
              <a:rPr lang="en-US" sz="1400" b="1" dirty="0">
                <a:solidFill>
                  <a:srgbClr val="FFFFFF"/>
                </a:solidFill>
                <a:latin typeface="Aptos" pitchFamily="34" charset="0"/>
                <a:ea typeface="Aptos" pitchFamily="34" charset="-122"/>
                <a:cs typeface="Aptos" pitchFamily="34" charset="-120"/>
              </a:rPr>
              <a:t>4</a:t>
            </a:r>
            <a:endParaRPr lang="en-US" sz="1400" dirty="0"/>
          </a:p>
        </p:txBody>
      </p:sp>
      <p:sp>
        <p:nvSpPr>
          <p:cNvPr id="29" name="Text 27"/>
          <p:cNvSpPr/>
          <p:nvPr/>
        </p:nvSpPr>
        <p:spPr>
          <a:xfrm>
            <a:off x="6885432" y="4425696"/>
            <a:ext cx="4251960" cy="502920"/>
          </a:xfrm>
          <a:prstGeom prst="rect">
            <a:avLst/>
          </a:prstGeom>
          <a:noFill/>
          <a:ln/>
        </p:spPr>
        <p:txBody>
          <a:bodyPr wrap="square" lIns="0" tIns="0" rIns="0" bIns="0" rtlCol="0" anchor="ctr"/>
          <a:lstStyle/>
          <a:p>
            <a:pPr algn="l" indent="0" marL="0">
              <a:buNone/>
            </a:pPr>
            <a:r>
              <a:rPr lang="en-US" sz="2100" b="1" dirty="0">
                <a:solidFill>
                  <a:srgbClr val="172233"/>
                </a:solidFill>
                <a:latin typeface="Aptos" pitchFamily="34" charset="0"/>
                <a:ea typeface="Aptos" pitchFamily="34" charset="-122"/>
                <a:cs typeface="Aptos" pitchFamily="34" charset="-120"/>
              </a:rPr>
              <a:t>Fit k-means: k = 3; seed = 42</a:t>
            </a:r>
            <a:endParaRPr lang="en-US" sz="2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0" y="0"/>
            <a:ext cx="12192000" cy="402336"/>
          </a:xfrm>
          <a:prstGeom prst="rect">
            <a:avLst/>
          </a:prstGeom>
          <a:solidFill>
            <a:srgbClr val="E7EEF7"/>
          </a:solidFill>
          <a:ln w="12700">
            <a:solidFill>
              <a:srgbClr val="E7EEF7">
                <a:alpha val="0"/>
              </a:srgbClr>
            </a:solidFill>
            <a:prstDash val="solid"/>
          </a:ln>
        </p:spPr>
      </p:sp>
      <p:sp>
        <p:nvSpPr>
          <p:cNvPr id="3" name="Shape 1"/>
          <p:cNvSpPr/>
          <p:nvPr/>
        </p:nvSpPr>
        <p:spPr>
          <a:xfrm>
            <a:off x="466344" y="123444"/>
            <a:ext cx="64008" cy="146304"/>
          </a:xfrm>
          <a:prstGeom prst="rect">
            <a:avLst/>
          </a:prstGeom>
          <a:solidFill>
            <a:srgbClr val="176493"/>
          </a:solidFill>
          <a:ln w="12700">
            <a:solidFill>
              <a:srgbClr val="176493">
                <a:alpha val="0"/>
              </a:srgbClr>
            </a:solidFill>
            <a:prstDash val="solid"/>
          </a:ln>
        </p:spPr>
      </p:sp>
      <p:sp>
        <p:nvSpPr>
          <p:cNvPr id="4" name="Text 2"/>
          <p:cNvSpPr/>
          <p:nvPr/>
        </p:nvSpPr>
        <p:spPr>
          <a:xfrm>
            <a:off x="594360" y="100584"/>
            <a:ext cx="731520" cy="201168"/>
          </a:xfrm>
          <a:prstGeom prst="rect">
            <a:avLst/>
          </a:prstGeom>
          <a:noFill/>
          <a:ln/>
        </p:spPr>
        <p:txBody>
          <a:bodyPr wrap="square" lIns="0" tIns="0" rIns="0" bIns="0" rtlCol="0" anchor="ctr"/>
          <a:lstStyle/>
          <a:p>
            <a:pPr algn="l" indent="0" marL="0">
              <a:buNone/>
            </a:pPr>
            <a:r>
              <a:rPr lang="en-US" sz="1100" b="1" dirty="0">
                <a:solidFill>
                  <a:srgbClr val="176493"/>
                </a:solidFill>
                <a:latin typeface="Aptos" pitchFamily="34" charset="0"/>
                <a:ea typeface="Aptos" pitchFamily="34" charset="-122"/>
                <a:cs typeface="Aptos" pitchFamily="34" charset="-120"/>
              </a:rPr>
              <a:t>DS101</a:t>
            </a:r>
            <a:endParaRPr lang="en-US" sz="1100" dirty="0"/>
          </a:p>
        </p:txBody>
      </p:sp>
      <p:sp>
        <p:nvSpPr>
          <p:cNvPr id="5" name="Text 3"/>
          <p:cNvSpPr/>
          <p:nvPr/>
        </p:nvSpPr>
        <p:spPr>
          <a:xfrm>
            <a:off x="1463040" y="100584"/>
            <a:ext cx="1828800" cy="201168"/>
          </a:xfrm>
          <a:prstGeom prst="rect">
            <a:avLst/>
          </a:prstGeom>
          <a:noFill/>
          <a:ln/>
        </p:spPr>
        <p:txBody>
          <a:bodyPr wrap="square" lIns="0" tIns="0" rIns="0" bIns="0" rtlCol="0" anchor="ctr"/>
          <a:lstStyle/>
          <a:p>
            <a:pPr algn="l" indent="0" marL="0">
              <a:buNone/>
            </a:pPr>
            <a:r>
              <a:rPr lang="en-US" sz="1000" dirty="0">
                <a:solidFill>
                  <a:srgbClr val="53657A"/>
                </a:solidFill>
                <a:latin typeface="Aptos" pitchFamily="34" charset="0"/>
                <a:ea typeface="Aptos" pitchFamily="34" charset="-122"/>
                <a:cs typeface="Aptos" pitchFamily="34" charset="-120"/>
              </a:rPr>
              <a:t>LECTURE 02</a:t>
            </a:r>
            <a:endParaRPr lang="en-US" sz="1000" dirty="0"/>
          </a:p>
        </p:txBody>
      </p:sp>
      <p:sp>
        <p:nvSpPr>
          <p:cNvPr id="6" name="Text 4"/>
          <p:cNvSpPr/>
          <p:nvPr/>
        </p:nvSpPr>
        <p:spPr>
          <a:xfrm>
            <a:off x="8321040" y="100584"/>
            <a:ext cx="3264408" cy="201168"/>
          </a:xfrm>
          <a:prstGeom prst="rect">
            <a:avLst/>
          </a:prstGeom>
          <a:noFill/>
          <a:ln/>
        </p:spPr>
        <p:txBody>
          <a:bodyPr wrap="square" lIns="0" tIns="0" rIns="0" bIns="0" rtlCol="0" anchor="ctr"/>
          <a:lstStyle/>
          <a:p>
            <a:pPr algn="r" indent="0" marL="0">
              <a:buNone/>
            </a:pPr>
            <a:r>
              <a:rPr lang="en-US" sz="1000" dirty="0">
                <a:solidFill>
                  <a:srgbClr val="53657A"/>
                </a:solidFill>
                <a:latin typeface="Aptos" pitchFamily="34" charset="0"/>
                <a:ea typeface="Aptos" pitchFamily="34" charset="-122"/>
                <a:cs typeface="Aptos" pitchFamily="34" charset="-120"/>
              </a:rPr>
              <a:t>T-SNE</a:t>
            </a:r>
            <a:endParaRPr lang="en-US" sz="1000" dirty="0"/>
          </a:p>
        </p:txBody>
      </p:sp>
      <p:sp>
        <p:nvSpPr>
          <p:cNvPr id="7" name="Text 5"/>
          <p:cNvSpPr/>
          <p:nvPr/>
        </p:nvSpPr>
        <p:spPr>
          <a:xfrm>
            <a:off x="594360" y="758952"/>
            <a:ext cx="11000232" cy="658368"/>
          </a:xfrm>
          <a:prstGeom prst="rect">
            <a:avLst/>
          </a:prstGeom>
          <a:noFill/>
          <a:ln/>
        </p:spPr>
        <p:txBody>
          <a:bodyPr wrap="square" lIns="0" tIns="0" rIns="0" bIns="0" rtlCol="0" anchor="ctr"/>
          <a:lstStyle/>
          <a:p>
            <a:pPr algn="l" indent="0" marL="0">
              <a:buNone/>
            </a:pPr>
            <a:r>
              <a:rPr lang="en-US" sz="3000" b="1" dirty="0">
                <a:solidFill>
                  <a:srgbClr val="172233"/>
                </a:solidFill>
                <a:latin typeface="Aptos" pitchFamily="34" charset="0"/>
                <a:ea typeface="Aptos" pitchFamily="34" charset="-122"/>
                <a:cs typeface="Aptos" pitchFamily="34" charset="-120"/>
              </a:rPr>
              <a:t>Clustering is not projection</a:t>
            </a:r>
            <a:endParaRPr lang="en-US" sz="3000" dirty="0"/>
          </a:p>
        </p:txBody>
      </p:sp>
      <p:sp>
        <p:nvSpPr>
          <p:cNvPr id="8" name="Text 6"/>
          <p:cNvSpPr/>
          <p:nvPr/>
        </p:nvSpPr>
        <p:spPr>
          <a:xfrm>
            <a:off x="594360" y="6510528"/>
            <a:ext cx="3657600" cy="164592"/>
          </a:xfrm>
          <a:prstGeom prst="rect">
            <a:avLst/>
          </a:prstGeom>
          <a:noFill/>
          <a:ln/>
        </p:spPr>
        <p:txBody>
          <a:bodyPr wrap="square" lIns="0" tIns="0" rIns="0" bIns="0" rtlCol="0" anchor="ctr"/>
          <a:lstStyle/>
          <a:p>
            <a:pPr algn="l" indent="0" marL="0">
              <a:buNone/>
            </a:pPr>
            <a:r>
              <a:rPr lang="en-US" sz="900" dirty="0">
                <a:solidFill>
                  <a:srgbClr val="53657A"/>
                </a:solidFill>
                <a:latin typeface="Aptos" pitchFamily="34" charset="0"/>
                <a:ea typeface="Aptos" pitchFamily="34" charset="-122"/>
                <a:cs typeface="Aptos" pitchFamily="34" charset="-120"/>
              </a:rPr>
              <a:t>DS101 | 2026-2027</a:t>
            </a:r>
            <a:endParaRPr lang="en-US" sz="900" dirty="0"/>
          </a:p>
        </p:txBody>
      </p:sp>
      <p:sp>
        <p:nvSpPr>
          <p:cNvPr id="9" name="Text 7"/>
          <p:cNvSpPr/>
          <p:nvPr/>
        </p:nvSpPr>
        <p:spPr>
          <a:xfrm>
            <a:off x="10680192" y="6492240"/>
            <a:ext cx="914400" cy="201168"/>
          </a:xfrm>
          <a:prstGeom prst="rect">
            <a:avLst/>
          </a:prstGeom>
          <a:noFill/>
          <a:ln/>
        </p:spPr>
        <p:txBody>
          <a:bodyPr wrap="square" lIns="0" tIns="0" rIns="0" bIns="0" rtlCol="0" anchor="ctr"/>
          <a:lstStyle/>
          <a:p>
            <a:pPr algn="r" indent="0" marL="0">
              <a:buNone/>
            </a:pPr>
            <a:r>
              <a:rPr lang="en-US" sz="1000" dirty="0">
                <a:solidFill>
                  <a:srgbClr val="53657A"/>
                </a:solidFill>
                <a:latin typeface="Aptos" pitchFamily="34" charset="0"/>
                <a:ea typeface="Aptos" pitchFamily="34" charset="-122"/>
                <a:cs typeface="Aptos" pitchFamily="34" charset="-120"/>
              </a:rPr>
              <a:t>13 / 24</a:t>
            </a:r>
            <a:endParaRPr lang="en-US" sz="1000" dirty="0"/>
          </a:p>
        </p:txBody>
      </p:sp>
      <p:sp>
        <p:nvSpPr>
          <p:cNvPr id="10" name="Shape 8"/>
          <p:cNvSpPr/>
          <p:nvPr/>
        </p:nvSpPr>
        <p:spPr>
          <a:xfrm>
            <a:off x="594360" y="5852160"/>
            <a:ext cx="11000232" cy="438912"/>
          </a:xfrm>
          <a:prstGeom prst="rect">
            <a:avLst/>
          </a:prstGeom>
          <a:solidFill>
            <a:srgbClr val="E3EFF7"/>
          </a:solidFill>
          <a:ln w="12700">
            <a:solidFill>
              <a:srgbClr val="E3EFF7">
                <a:alpha val="0"/>
              </a:srgbClr>
            </a:solidFill>
            <a:prstDash val="solid"/>
          </a:ln>
        </p:spPr>
      </p:sp>
      <p:sp>
        <p:nvSpPr>
          <p:cNvPr id="11" name="Text 9"/>
          <p:cNvSpPr/>
          <p:nvPr/>
        </p:nvSpPr>
        <p:spPr>
          <a:xfrm>
            <a:off x="795528" y="5943600"/>
            <a:ext cx="10607040" cy="256032"/>
          </a:xfrm>
          <a:prstGeom prst="rect">
            <a:avLst/>
          </a:prstGeom>
          <a:noFill/>
          <a:ln/>
        </p:spPr>
        <p:txBody>
          <a:bodyPr wrap="square" lIns="0" tIns="0" rIns="0" bIns="0" rtlCol="0" anchor="ctr"/>
          <a:lstStyle/>
          <a:p>
            <a:pPr algn="l" indent="0" marL="0">
              <a:buNone/>
            </a:pPr>
            <a:r>
              <a:rPr lang="en-US" sz="1700" b="1" dirty="0">
                <a:solidFill>
                  <a:srgbClr val="176493"/>
                </a:solidFill>
                <a:latin typeface="Aptos" pitchFamily="34" charset="0"/>
                <a:ea typeface="Aptos" pitchFamily="34" charset="-122"/>
                <a:cs typeface="Aptos" pitchFamily="34" charset="-120"/>
              </a:rPr>
              <a:t>Colors come from the clustering. Coordinates come from the projection.</a:t>
            </a:r>
            <a:endParaRPr lang="en-US" sz="1700" dirty="0"/>
          </a:p>
        </p:txBody>
      </p:sp>
      <p:sp>
        <p:nvSpPr>
          <p:cNvPr id="12" name="Shape 10"/>
          <p:cNvSpPr/>
          <p:nvPr/>
        </p:nvSpPr>
        <p:spPr>
          <a:xfrm>
            <a:off x="786384" y="2871216"/>
            <a:ext cx="2148840" cy="1005840"/>
          </a:xfrm>
          <a:prstGeom prst="rect">
            <a:avLst/>
          </a:prstGeom>
          <a:solidFill>
            <a:srgbClr val="FFFFFF"/>
          </a:solidFill>
          <a:ln w="12700">
            <a:solidFill>
              <a:srgbClr val="FFFFFF">
                <a:alpha val="0"/>
              </a:srgbClr>
            </a:solidFill>
            <a:prstDash val="solid"/>
          </a:ln>
        </p:spPr>
      </p:sp>
      <p:sp>
        <p:nvSpPr>
          <p:cNvPr id="13" name="Text 11"/>
          <p:cNvSpPr/>
          <p:nvPr/>
        </p:nvSpPr>
        <p:spPr>
          <a:xfrm>
            <a:off x="950976" y="3063240"/>
            <a:ext cx="1810512" cy="585216"/>
          </a:xfrm>
          <a:prstGeom prst="rect">
            <a:avLst/>
          </a:prstGeom>
          <a:noFill/>
          <a:ln/>
        </p:spPr>
        <p:txBody>
          <a:bodyPr wrap="square" lIns="0" tIns="0" rIns="0" bIns="0" rtlCol="0" anchor="ctr"/>
          <a:lstStyle/>
          <a:p>
            <a:pPr algn="ctr" indent="0" marL="0">
              <a:buNone/>
            </a:pPr>
            <a:r>
              <a:rPr lang="en-US" sz="2300" b="1" dirty="0">
                <a:solidFill>
                  <a:srgbClr val="172233"/>
                </a:solidFill>
                <a:latin typeface="Aptos" pitchFamily="34" charset="0"/>
                <a:ea typeface="Aptos" pitchFamily="34" charset="-122"/>
                <a:cs typeface="Aptos" pitchFamily="34" charset="-120"/>
              </a:rPr>
              <a:t>Scaled RFM</a:t>
            </a:r>
            <a:endParaRPr lang="en-US" sz="2300" dirty="0"/>
          </a:p>
          <a:p>
            <a:pPr algn="ctr" indent="0" marL="0">
              <a:buNone/>
            </a:pPr>
            <a:r>
              <a:rPr lang="en-US" sz="2300" b="1" dirty="0">
                <a:solidFill>
                  <a:srgbClr val="172233"/>
                </a:solidFill>
                <a:latin typeface="Aptos" pitchFamily="34" charset="0"/>
                <a:ea typeface="Aptos" pitchFamily="34" charset="-122"/>
                <a:cs typeface="Aptos" pitchFamily="34" charset="-120"/>
              </a:rPr>
              <a:t>features</a:t>
            </a:r>
            <a:endParaRPr lang="en-US" sz="2300" dirty="0"/>
          </a:p>
        </p:txBody>
      </p:sp>
      <p:sp>
        <p:nvSpPr>
          <p:cNvPr id="14" name="Shape 12"/>
          <p:cNvSpPr/>
          <p:nvPr/>
        </p:nvSpPr>
        <p:spPr>
          <a:xfrm>
            <a:off x="2971800" y="3374136"/>
            <a:ext cx="521208" cy="0"/>
          </a:xfrm>
          <a:prstGeom prst="line">
            <a:avLst/>
          </a:prstGeom>
          <a:noFill/>
          <a:ln w="22860">
            <a:solidFill>
              <a:srgbClr val="C4D2E2"/>
            </a:solidFill>
            <a:prstDash val="solid"/>
            <a:headEnd type="none"/>
            <a:tailEnd type="none"/>
          </a:ln>
        </p:spPr>
      </p:sp>
      <p:sp>
        <p:nvSpPr>
          <p:cNvPr id="15" name="Shape 13"/>
          <p:cNvSpPr/>
          <p:nvPr/>
        </p:nvSpPr>
        <p:spPr>
          <a:xfrm>
            <a:off x="3493008" y="2514600"/>
            <a:ext cx="0" cy="1792224"/>
          </a:xfrm>
          <a:prstGeom prst="line">
            <a:avLst/>
          </a:prstGeom>
          <a:noFill/>
          <a:ln w="22860">
            <a:solidFill>
              <a:srgbClr val="C4D2E2"/>
            </a:solidFill>
            <a:prstDash val="solid"/>
            <a:headEnd type="none"/>
            <a:tailEnd type="none"/>
          </a:ln>
        </p:spPr>
      </p:sp>
      <p:sp>
        <p:nvSpPr>
          <p:cNvPr id="16" name="Shape 14"/>
          <p:cNvSpPr/>
          <p:nvPr/>
        </p:nvSpPr>
        <p:spPr>
          <a:xfrm>
            <a:off x="3493008" y="2514600"/>
            <a:ext cx="484632" cy="0"/>
          </a:xfrm>
          <a:prstGeom prst="line">
            <a:avLst/>
          </a:prstGeom>
          <a:noFill/>
          <a:ln w="22860">
            <a:solidFill>
              <a:srgbClr val="176493"/>
            </a:solidFill>
            <a:prstDash val="solid"/>
            <a:headEnd type="none"/>
            <a:tailEnd type="triangle"/>
          </a:ln>
        </p:spPr>
      </p:sp>
      <p:sp>
        <p:nvSpPr>
          <p:cNvPr id="17" name="Shape 15"/>
          <p:cNvSpPr/>
          <p:nvPr/>
        </p:nvSpPr>
        <p:spPr>
          <a:xfrm>
            <a:off x="3493008" y="4306824"/>
            <a:ext cx="484632" cy="0"/>
          </a:xfrm>
          <a:prstGeom prst="line">
            <a:avLst/>
          </a:prstGeom>
          <a:noFill/>
          <a:ln w="22860">
            <a:solidFill>
              <a:srgbClr val="167C85"/>
            </a:solidFill>
            <a:prstDash val="solid"/>
            <a:headEnd type="none"/>
            <a:tailEnd type="triangle"/>
          </a:ln>
        </p:spPr>
      </p:sp>
      <p:sp>
        <p:nvSpPr>
          <p:cNvPr id="18" name="Shape 16"/>
          <p:cNvSpPr/>
          <p:nvPr/>
        </p:nvSpPr>
        <p:spPr>
          <a:xfrm>
            <a:off x="4142232" y="2002536"/>
            <a:ext cx="2377440" cy="1024128"/>
          </a:xfrm>
          <a:prstGeom prst="rect">
            <a:avLst/>
          </a:prstGeom>
          <a:solidFill>
            <a:srgbClr val="FFFFFF"/>
          </a:solidFill>
          <a:ln w="12700">
            <a:solidFill>
              <a:srgbClr val="FFFFFF">
                <a:alpha val="0"/>
              </a:srgbClr>
            </a:solidFill>
            <a:prstDash val="solid"/>
          </a:ln>
        </p:spPr>
      </p:sp>
      <p:sp>
        <p:nvSpPr>
          <p:cNvPr id="19" name="Text 17"/>
          <p:cNvSpPr/>
          <p:nvPr/>
        </p:nvSpPr>
        <p:spPr>
          <a:xfrm>
            <a:off x="4325112" y="2304288"/>
            <a:ext cx="2011680" cy="438912"/>
          </a:xfrm>
          <a:prstGeom prst="rect">
            <a:avLst/>
          </a:prstGeom>
          <a:noFill/>
          <a:ln/>
        </p:spPr>
        <p:txBody>
          <a:bodyPr wrap="square" lIns="0" tIns="0" rIns="0" bIns="0" rtlCol="0" anchor="ctr"/>
          <a:lstStyle/>
          <a:p>
            <a:pPr algn="ctr" indent="0" marL="0">
              <a:buNone/>
            </a:pPr>
            <a:r>
              <a:rPr lang="en-US" sz="2600" b="1" dirty="0">
                <a:solidFill>
                  <a:srgbClr val="176493"/>
                </a:solidFill>
                <a:latin typeface="Aptos" pitchFamily="34" charset="0"/>
                <a:ea typeface="Aptos" pitchFamily="34" charset="-122"/>
                <a:cs typeface="Aptos" pitchFamily="34" charset="-120"/>
              </a:rPr>
              <a:t>k-means</a:t>
            </a:r>
            <a:endParaRPr lang="en-US" sz="2600" dirty="0"/>
          </a:p>
        </p:txBody>
      </p:sp>
      <p:sp>
        <p:nvSpPr>
          <p:cNvPr id="20" name="Shape 18"/>
          <p:cNvSpPr/>
          <p:nvPr/>
        </p:nvSpPr>
        <p:spPr>
          <a:xfrm>
            <a:off x="4142232" y="3794760"/>
            <a:ext cx="2377440" cy="1024128"/>
          </a:xfrm>
          <a:prstGeom prst="rect">
            <a:avLst/>
          </a:prstGeom>
          <a:solidFill>
            <a:srgbClr val="FFFFFF"/>
          </a:solidFill>
          <a:ln w="12700">
            <a:solidFill>
              <a:srgbClr val="FFFFFF">
                <a:alpha val="0"/>
              </a:srgbClr>
            </a:solidFill>
            <a:prstDash val="solid"/>
          </a:ln>
        </p:spPr>
      </p:sp>
      <p:sp>
        <p:nvSpPr>
          <p:cNvPr id="21" name="Text 19"/>
          <p:cNvSpPr/>
          <p:nvPr/>
        </p:nvSpPr>
        <p:spPr>
          <a:xfrm>
            <a:off x="4325112" y="4096512"/>
            <a:ext cx="2011680" cy="438912"/>
          </a:xfrm>
          <a:prstGeom prst="rect">
            <a:avLst/>
          </a:prstGeom>
          <a:noFill/>
          <a:ln/>
        </p:spPr>
        <p:txBody>
          <a:bodyPr wrap="square" lIns="0" tIns="0" rIns="0" bIns="0" rtlCol="0" anchor="ctr"/>
          <a:lstStyle/>
          <a:p>
            <a:pPr algn="ctr" indent="0" marL="0">
              <a:buNone/>
            </a:pPr>
            <a:r>
              <a:rPr lang="en-US" sz="2600" b="1" dirty="0">
                <a:solidFill>
                  <a:srgbClr val="167C85"/>
                </a:solidFill>
                <a:latin typeface="Aptos" pitchFamily="34" charset="0"/>
                <a:ea typeface="Aptos" pitchFamily="34" charset="-122"/>
                <a:cs typeface="Aptos" pitchFamily="34" charset="-120"/>
              </a:rPr>
              <a:t>t-SNE</a:t>
            </a:r>
            <a:endParaRPr lang="en-US" sz="2600" dirty="0"/>
          </a:p>
        </p:txBody>
      </p:sp>
      <p:sp>
        <p:nvSpPr>
          <p:cNvPr id="22" name="Shape 20"/>
          <p:cNvSpPr/>
          <p:nvPr/>
        </p:nvSpPr>
        <p:spPr>
          <a:xfrm>
            <a:off x="6629400" y="2514600"/>
            <a:ext cx="713232" cy="0"/>
          </a:xfrm>
          <a:prstGeom prst="line">
            <a:avLst/>
          </a:prstGeom>
          <a:noFill/>
          <a:ln w="21590">
            <a:solidFill>
              <a:srgbClr val="176493"/>
            </a:solidFill>
            <a:prstDash val="solid"/>
            <a:headEnd type="none"/>
            <a:tailEnd type="triangle"/>
          </a:ln>
        </p:spPr>
      </p:sp>
      <p:sp>
        <p:nvSpPr>
          <p:cNvPr id="23" name="Shape 21"/>
          <p:cNvSpPr/>
          <p:nvPr/>
        </p:nvSpPr>
        <p:spPr>
          <a:xfrm>
            <a:off x="6629400" y="4306824"/>
            <a:ext cx="713232" cy="0"/>
          </a:xfrm>
          <a:prstGeom prst="line">
            <a:avLst/>
          </a:prstGeom>
          <a:noFill/>
          <a:ln w="21590">
            <a:solidFill>
              <a:srgbClr val="167C85"/>
            </a:solidFill>
            <a:prstDash val="solid"/>
            <a:headEnd type="none"/>
            <a:tailEnd type="triangle"/>
          </a:ln>
        </p:spPr>
      </p:sp>
      <p:sp>
        <p:nvSpPr>
          <p:cNvPr id="24" name="Text 22"/>
          <p:cNvSpPr/>
          <p:nvPr/>
        </p:nvSpPr>
        <p:spPr>
          <a:xfrm>
            <a:off x="7479792" y="2276856"/>
            <a:ext cx="2926080" cy="438912"/>
          </a:xfrm>
          <a:prstGeom prst="rect">
            <a:avLst/>
          </a:prstGeom>
          <a:noFill/>
          <a:ln/>
        </p:spPr>
        <p:txBody>
          <a:bodyPr wrap="square" lIns="0" tIns="0" rIns="0" bIns="0" rtlCol="0" anchor="ctr"/>
          <a:lstStyle/>
          <a:p>
            <a:pPr algn="l" indent="0" marL="0">
              <a:buNone/>
            </a:pPr>
            <a:r>
              <a:rPr lang="en-US" sz="2400" b="1" dirty="0">
                <a:solidFill>
                  <a:srgbClr val="176493"/>
                </a:solidFill>
                <a:latin typeface="Aptos" pitchFamily="34" charset="0"/>
                <a:ea typeface="Aptos" pitchFamily="34" charset="-122"/>
                <a:cs typeface="Aptos" pitchFamily="34" charset="-120"/>
              </a:rPr>
              <a:t>Cluster labels</a:t>
            </a:r>
            <a:endParaRPr lang="en-US" sz="2400" dirty="0"/>
          </a:p>
        </p:txBody>
      </p:sp>
      <p:sp>
        <p:nvSpPr>
          <p:cNvPr id="25" name="Text 23"/>
          <p:cNvSpPr/>
          <p:nvPr/>
        </p:nvSpPr>
        <p:spPr>
          <a:xfrm>
            <a:off x="7479792" y="4069080"/>
            <a:ext cx="2926080" cy="438912"/>
          </a:xfrm>
          <a:prstGeom prst="rect">
            <a:avLst/>
          </a:prstGeom>
          <a:noFill/>
          <a:ln/>
        </p:spPr>
        <p:txBody>
          <a:bodyPr wrap="square" lIns="0" tIns="0" rIns="0" bIns="0" rtlCol="0" anchor="ctr"/>
          <a:lstStyle/>
          <a:p>
            <a:pPr algn="l" indent="0" marL="0">
              <a:buNone/>
            </a:pPr>
            <a:r>
              <a:rPr lang="en-US" sz="2400" b="1" dirty="0">
                <a:solidFill>
                  <a:srgbClr val="167C85"/>
                </a:solidFill>
                <a:latin typeface="Aptos" pitchFamily="34" charset="0"/>
                <a:ea typeface="Aptos" pitchFamily="34" charset="-122"/>
                <a:cs typeface="Aptos" pitchFamily="34" charset="-120"/>
              </a:rPr>
              <a:t>2-D coordinates</a:t>
            </a:r>
            <a:endParaRPr lang="en-US" sz="2400" dirty="0"/>
          </a:p>
        </p:txBody>
      </p:sp>
      <p:sp>
        <p:nvSpPr>
          <p:cNvPr id="26" name="Text 24"/>
          <p:cNvSpPr/>
          <p:nvPr/>
        </p:nvSpPr>
        <p:spPr>
          <a:xfrm>
            <a:off x="7461504" y="3172968"/>
            <a:ext cx="3657600" cy="429768"/>
          </a:xfrm>
          <a:prstGeom prst="rect">
            <a:avLst/>
          </a:prstGeom>
          <a:noFill/>
          <a:ln/>
        </p:spPr>
        <p:txBody>
          <a:bodyPr wrap="square" lIns="0" tIns="0" rIns="0" bIns="0" rtlCol="0" anchor="ctr"/>
          <a:lstStyle/>
          <a:p>
            <a:pPr algn="l" indent="0" marL="0">
              <a:buNone/>
            </a:pPr>
            <a:r>
              <a:rPr lang="en-US" sz="2100" b="1" dirty="0">
                <a:solidFill>
                  <a:srgbClr val="172233"/>
                </a:solidFill>
                <a:latin typeface="Aptos" pitchFamily="34" charset="0"/>
                <a:ea typeface="Aptos" pitchFamily="34" charset="-122"/>
                <a:cs typeface="Aptos" pitchFamily="34" charset="-120"/>
              </a:rPr>
              <a:t>Combine only for display</a:t>
            </a:r>
            <a:endParaRPr lang="en-US" sz="2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0" y="0"/>
            <a:ext cx="12192000" cy="402336"/>
          </a:xfrm>
          <a:prstGeom prst="rect">
            <a:avLst/>
          </a:prstGeom>
          <a:solidFill>
            <a:srgbClr val="E7EEF7"/>
          </a:solidFill>
          <a:ln w="12700">
            <a:solidFill>
              <a:srgbClr val="E7EEF7">
                <a:alpha val="0"/>
              </a:srgbClr>
            </a:solidFill>
            <a:prstDash val="solid"/>
          </a:ln>
        </p:spPr>
      </p:sp>
      <p:sp>
        <p:nvSpPr>
          <p:cNvPr id="3" name="Shape 1"/>
          <p:cNvSpPr/>
          <p:nvPr/>
        </p:nvSpPr>
        <p:spPr>
          <a:xfrm>
            <a:off x="466344" y="123444"/>
            <a:ext cx="64008" cy="146304"/>
          </a:xfrm>
          <a:prstGeom prst="rect">
            <a:avLst/>
          </a:prstGeom>
          <a:solidFill>
            <a:srgbClr val="176493"/>
          </a:solidFill>
          <a:ln w="12700">
            <a:solidFill>
              <a:srgbClr val="176493">
                <a:alpha val="0"/>
              </a:srgbClr>
            </a:solidFill>
            <a:prstDash val="solid"/>
          </a:ln>
        </p:spPr>
      </p:sp>
      <p:sp>
        <p:nvSpPr>
          <p:cNvPr id="4" name="Text 2"/>
          <p:cNvSpPr/>
          <p:nvPr/>
        </p:nvSpPr>
        <p:spPr>
          <a:xfrm>
            <a:off x="594360" y="100584"/>
            <a:ext cx="731520" cy="201168"/>
          </a:xfrm>
          <a:prstGeom prst="rect">
            <a:avLst/>
          </a:prstGeom>
          <a:noFill/>
          <a:ln/>
        </p:spPr>
        <p:txBody>
          <a:bodyPr wrap="square" lIns="0" tIns="0" rIns="0" bIns="0" rtlCol="0" anchor="ctr"/>
          <a:lstStyle/>
          <a:p>
            <a:pPr algn="l" indent="0" marL="0">
              <a:buNone/>
            </a:pPr>
            <a:r>
              <a:rPr lang="en-US" sz="1100" b="1" dirty="0">
                <a:solidFill>
                  <a:srgbClr val="176493"/>
                </a:solidFill>
                <a:latin typeface="Aptos" pitchFamily="34" charset="0"/>
                <a:ea typeface="Aptos" pitchFamily="34" charset="-122"/>
                <a:cs typeface="Aptos" pitchFamily="34" charset="-120"/>
              </a:rPr>
              <a:t>DS101</a:t>
            </a:r>
            <a:endParaRPr lang="en-US" sz="1100" dirty="0"/>
          </a:p>
        </p:txBody>
      </p:sp>
      <p:sp>
        <p:nvSpPr>
          <p:cNvPr id="5" name="Text 3"/>
          <p:cNvSpPr/>
          <p:nvPr/>
        </p:nvSpPr>
        <p:spPr>
          <a:xfrm>
            <a:off x="1463040" y="100584"/>
            <a:ext cx="1828800" cy="201168"/>
          </a:xfrm>
          <a:prstGeom prst="rect">
            <a:avLst/>
          </a:prstGeom>
          <a:noFill/>
          <a:ln/>
        </p:spPr>
        <p:txBody>
          <a:bodyPr wrap="square" lIns="0" tIns="0" rIns="0" bIns="0" rtlCol="0" anchor="ctr"/>
          <a:lstStyle/>
          <a:p>
            <a:pPr algn="l" indent="0" marL="0">
              <a:buNone/>
            </a:pPr>
            <a:r>
              <a:rPr lang="en-US" sz="1000" dirty="0">
                <a:solidFill>
                  <a:srgbClr val="53657A"/>
                </a:solidFill>
                <a:latin typeface="Aptos" pitchFamily="34" charset="0"/>
                <a:ea typeface="Aptos" pitchFamily="34" charset="-122"/>
                <a:cs typeface="Aptos" pitchFamily="34" charset="-120"/>
              </a:rPr>
              <a:t>LECTURE 02</a:t>
            </a:r>
            <a:endParaRPr lang="en-US" sz="1000" dirty="0"/>
          </a:p>
        </p:txBody>
      </p:sp>
      <p:sp>
        <p:nvSpPr>
          <p:cNvPr id="6" name="Text 4"/>
          <p:cNvSpPr/>
          <p:nvPr/>
        </p:nvSpPr>
        <p:spPr>
          <a:xfrm>
            <a:off x="8321040" y="100584"/>
            <a:ext cx="3264408" cy="201168"/>
          </a:xfrm>
          <a:prstGeom prst="rect">
            <a:avLst/>
          </a:prstGeom>
          <a:noFill/>
          <a:ln/>
        </p:spPr>
        <p:txBody>
          <a:bodyPr wrap="square" lIns="0" tIns="0" rIns="0" bIns="0" rtlCol="0" anchor="ctr"/>
          <a:lstStyle/>
          <a:p>
            <a:pPr algn="r" indent="0" marL="0">
              <a:buNone/>
            </a:pPr>
            <a:r>
              <a:rPr lang="en-US" sz="1000" dirty="0">
                <a:solidFill>
                  <a:srgbClr val="53657A"/>
                </a:solidFill>
                <a:latin typeface="Aptos" pitchFamily="34" charset="0"/>
                <a:ea typeface="Aptos" pitchFamily="34" charset="-122"/>
                <a:cs typeface="Aptos" pitchFamily="34" charset="-120"/>
              </a:rPr>
              <a:t>PROJECTION SENSITIVITY</a:t>
            </a:r>
            <a:endParaRPr lang="en-US" sz="1000" dirty="0"/>
          </a:p>
        </p:txBody>
      </p:sp>
      <p:sp>
        <p:nvSpPr>
          <p:cNvPr id="7" name="Text 5"/>
          <p:cNvSpPr/>
          <p:nvPr/>
        </p:nvSpPr>
        <p:spPr>
          <a:xfrm>
            <a:off x="594360" y="758952"/>
            <a:ext cx="11000232" cy="658368"/>
          </a:xfrm>
          <a:prstGeom prst="rect">
            <a:avLst/>
          </a:prstGeom>
          <a:noFill/>
          <a:ln/>
        </p:spPr>
        <p:txBody>
          <a:bodyPr wrap="square" lIns="0" tIns="0" rIns="0" bIns="0" rtlCol="0" anchor="ctr"/>
          <a:lstStyle/>
          <a:p>
            <a:pPr algn="l" indent="0" marL="0">
              <a:buNone/>
            </a:pPr>
            <a:r>
              <a:rPr lang="en-US" sz="3000" b="1" dirty="0">
                <a:solidFill>
                  <a:srgbClr val="172233"/>
                </a:solidFill>
                <a:latin typeface="Aptos" pitchFamily="34" charset="0"/>
                <a:ea typeface="Aptos" pitchFamily="34" charset="-122"/>
                <a:cs typeface="Aptos" pitchFamily="34" charset="-120"/>
              </a:rPr>
              <a:t>Same accounts. Different t-SNE settings.</a:t>
            </a:r>
            <a:endParaRPr lang="en-US" sz="3000" dirty="0"/>
          </a:p>
        </p:txBody>
      </p:sp>
      <p:sp>
        <p:nvSpPr>
          <p:cNvPr id="8" name="Text 6"/>
          <p:cNvSpPr/>
          <p:nvPr/>
        </p:nvSpPr>
        <p:spPr>
          <a:xfrm>
            <a:off x="594360" y="6510528"/>
            <a:ext cx="3657600" cy="164592"/>
          </a:xfrm>
          <a:prstGeom prst="rect">
            <a:avLst/>
          </a:prstGeom>
          <a:noFill/>
          <a:ln/>
        </p:spPr>
        <p:txBody>
          <a:bodyPr wrap="square" lIns="0" tIns="0" rIns="0" bIns="0" rtlCol="0" anchor="ctr"/>
          <a:lstStyle/>
          <a:p>
            <a:pPr algn="l" indent="0" marL="0">
              <a:buNone/>
            </a:pPr>
            <a:r>
              <a:rPr lang="en-US" sz="900" dirty="0">
                <a:solidFill>
                  <a:srgbClr val="53657A"/>
                </a:solidFill>
                <a:latin typeface="Aptos" pitchFamily="34" charset="0"/>
                <a:ea typeface="Aptos" pitchFamily="34" charset="-122"/>
                <a:cs typeface="Aptos" pitchFamily="34" charset="-120"/>
              </a:rPr>
              <a:t>DS101 | 2026-2027</a:t>
            </a:r>
            <a:endParaRPr lang="en-US" sz="900" dirty="0"/>
          </a:p>
        </p:txBody>
      </p:sp>
      <p:sp>
        <p:nvSpPr>
          <p:cNvPr id="9" name="Text 7"/>
          <p:cNvSpPr/>
          <p:nvPr/>
        </p:nvSpPr>
        <p:spPr>
          <a:xfrm>
            <a:off x="10680192" y="6492240"/>
            <a:ext cx="914400" cy="201168"/>
          </a:xfrm>
          <a:prstGeom prst="rect">
            <a:avLst/>
          </a:prstGeom>
          <a:noFill/>
          <a:ln/>
        </p:spPr>
        <p:txBody>
          <a:bodyPr wrap="square" lIns="0" tIns="0" rIns="0" bIns="0" rtlCol="0" anchor="ctr"/>
          <a:lstStyle/>
          <a:p>
            <a:pPr algn="r" indent="0" marL="0">
              <a:buNone/>
            </a:pPr>
            <a:r>
              <a:rPr lang="en-US" sz="1000" dirty="0">
                <a:solidFill>
                  <a:srgbClr val="53657A"/>
                </a:solidFill>
                <a:latin typeface="Aptos" pitchFamily="34" charset="0"/>
                <a:ea typeface="Aptos" pitchFamily="34" charset="-122"/>
                <a:cs typeface="Aptos" pitchFamily="34" charset="-120"/>
              </a:rPr>
              <a:t>14 / 24</a:t>
            </a:r>
            <a:endParaRPr lang="en-US" sz="1000" dirty="0"/>
          </a:p>
        </p:txBody>
      </p:sp>
      <p:sp>
        <p:nvSpPr>
          <p:cNvPr id="10" name="Shape 8"/>
          <p:cNvSpPr/>
          <p:nvPr/>
        </p:nvSpPr>
        <p:spPr>
          <a:xfrm>
            <a:off x="594360" y="5852160"/>
            <a:ext cx="11000232" cy="438912"/>
          </a:xfrm>
          <a:prstGeom prst="rect">
            <a:avLst/>
          </a:prstGeom>
          <a:solidFill>
            <a:srgbClr val="E3EFF7"/>
          </a:solidFill>
          <a:ln w="12700">
            <a:solidFill>
              <a:srgbClr val="E3EFF7">
                <a:alpha val="0"/>
              </a:srgbClr>
            </a:solidFill>
            <a:prstDash val="solid"/>
          </a:ln>
        </p:spPr>
      </p:sp>
      <p:sp>
        <p:nvSpPr>
          <p:cNvPr id="11" name="Text 9"/>
          <p:cNvSpPr/>
          <p:nvPr/>
        </p:nvSpPr>
        <p:spPr>
          <a:xfrm>
            <a:off x="795528" y="5943600"/>
            <a:ext cx="10607040" cy="256032"/>
          </a:xfrm>
          <a:prstGeom prst="rect">
            <a:avLst/>
          </a:prstGeom>
          <a:noFill/>
          <a:ln/>
        </p:spPr>
        <p:txBody>
          <a:bodyPr wrap="square" lIns="0" tIns="0" rIns="0" bIns="0" rtlCol="0" anchor="ctr"/>
          <a:lstStyle/>
          <a:p>
            <a:pPr algn="l" indent="0" marL="0">
              <a:buNone/>
            </a:pPr>
            <a:r>
              <a:rPr lang="en-US" sz="1700" b="1" dirty="0">
                <a:solidFill>
                  <a:srgbClr val="176493"/>
                </a:solidFill>
                <a:latin typeface="Aptos" pitchFamily="34" charset="0"/>
                <a:ea typeface="Aptos" pitchFamily="34" charset="-122"/>
                <a:cs typeface="Aptos" pitchFamily="34" charset="-120"/>
              </a:rPr>
              <a:t>A different map does not mean the accounts changed.</a:t>
            </a:r>
            <a:endParaRPr lang="en-US" sz="1700" dirty="0"/>
          </a:p>
        </p:txBody>
      </p:sp>
      <p:sp>
        <p:nvSpPr>
          <p:cNvPr id="12" name="Text 10"/>
          <p:cNvSpPr/>
          <p:nvPr/>
        </p:nvSpPr>
        <p:spPr>
          <a:xfrm>
            <a:off x="749808" y="1618488"/>
            <a:ext cx="10607040" cy="219456"/>
          </a:xfrm>
          <a:prstGeom prst="rect">
            <a:avLst/>
          </a:prstGeom>
          <a:noFill/>
          <a:ln/>
        </p:spPr>
        <p:txBody>
          <a:bodyPr wrap="square" lIns="0" tIns="0" rIns="0" bIns="0" rtlCol="0" anchor="ctr"/>
          <a:lstStyle/>
          <a:p>
            <a:pPr algn="l" indent="0" marL="0">
              <a:buNone/>
            </a:pPr>
            <a:r>
              <a:rPr lang="en-US" sz="1150" b="1" spc="50" kern="0" dirty="0">
                <a:solidFill>
                  <a:srgbClr val="176493"/>
                </a:solidFill>
                <a:latin typeface="Aptos" pitchFamily="34" charset="0"/>
                <a:ea typeface="Aptos" pitchFamily="34" charset="-122"/>
                <a:cs typeface="Aptos" pitchFamily="34" charset="-120"/>
              </a:rPr>
              <a:t>SYNTHETIC RFM | SEED 42 | PCA INITIALIZATION | FIXED CLUSTER LABELS</a:t>
            </a:r>
            <a:endParaRPr lang="en-US" sz="1150" dirty="0"/>
          </a:p>
        </p:txBody>
      </p:sp>
      <p:sp>
        <p:nvSpPr>
          <p:cNvPr id="13" name="Shape 11"/>
          <p:cNvSpPr/>
          <p:nvPr/>
        </p:nvSpPr>
        <p:spPr>
          <a:xfrm>
            <a:off x="749808" y="2048256"/>
            <a:ext cx="5120640" cy="3456432"/>
          </a:xfrm>
          <a:prstGeom prst="rect">
            <a:avLst/>
          </a:prstGeom>
          <a:solidFill>
            <a:srgbClr val="FFFFFF"/>
          </a:solidFill>
          <a:ln w="12700">
            <a:solidFill>
              <a:srgbClr val="FFFFFF">
                <a:alpha val="0"/>
              </a:srgbClr>
            </a:solidFill>
            <a:prstDash val="solid"/>
          </a:ln>
        </p:spPr>
      </p:sp>
      <p:sp>
        <p:nvSpPr>
          <p:cNvPr id="14" name="Shape 12"/>
          <p:cNvSpPr/>
          <p:nvPr/>
        </p:nvSpPr>
        <p:spPr>
          <a:xfrm>
            <a:off x="1325880" y="4773168"/>
            <a:ext cx="4325112" cy="0"/>
          </a:xfrm>
          <a:prstGeom prst="line">
            <a:avLst/>
          </a:prstGeom>
          <a:noFill/>
          <a:ln w="8255">
            <a:solidFill>
              <a:srgbClr val="E3EFF7"/>
            </a:solidFill>
            <a:prstDash val="solid"/>
            <a:headEnd type="none"/>
            <a:tailEnd type="none"/>
          </a:ln>
        </p:spPr>
      </p:sp>
      <p:sp>
        <p:nvSpPr>
          <p:cNvPr id="15" name="Shape 13"/>
          <p:cNvSpPr/>
          <p:nvPr/>
        </p:nvSpPr>
        <p:spPr>
          <a:xfrm>
            <a:off x="1325880" y="3739896"/>
            <a:ext cx="4325112" cy="0"/>
          </a:xfrm>
          <a:prstGeom prst="line">
            <a:avLst/>
          </a:prstGeom>
          <a:noFill/>
          <a:ln w="8255">
            <a:solidFill>
              <a:srgbClr val="E3EFF7"/>
            </a:solidFill>
            <a:prstDash val="solid"/>
            <a:headEnd type="none"/>
            <a:tailEnd type="none"/>
          </a:ln>
        </p:spPr>
      </p:sp>
      <p:sp>
        <p:nvSpPr>
          <p:cNvPr id="16" name="Shape 14"/>
          <p:cNvSpPr/>
          <p:nvPr/>
        </p:nvSpPr>
        <p:spPr>
          <a:xfrm>
            <a:off x="1325880" y="2706624"/>
            <a:ext cx="4325112" cy="0"/>
          </a:xfrm>
          <a:prstGeom prst="line">
            <a:avLst/>
          </a:prstGeom>
          <a:noFill/>
          <a:ln w="8255">
            <a:solidFill>
              <a:srgbClr val="E3EFF7"/>
            </a:solidFill>
            <a:prstDash val="solid"/>
            <a:headEnd type="none"/>
            <a:tailEnd type="none"/>
          </a:ln>
        </p:spPr>
      </p:sp>
      <p:sp>
        <p:nvSpPr>
          <p:cNvPr id="17" name="Shape 15"/>
          <p:cNvSpPr/>
          <p:nvPr/>
        </p:nvSpPr>
        <p:spPr>
          <a:xfrm>
            <a:off x="1325880" y="2706624"/>
            <a:ext cx="0" cy="2066544"/>
          </a:xfrm>
          <a:prstGeom prst="line">
            <a:avLst/>
          </a:prstGeom>
          <a:noFill/>
          <a:ln w="12700">
            <a:solidFill>
              <a:srgbClr val="C4D2E2"/>
            </a:solidFill>
            <a:prstDash val="solid"/>
            <a:headEnd type="none"/>
            <a:tailEnd type="none"/>
          </a:ln>
        </p:spPr>
      </p:sp>
      <p:sp>
        <p:nvSpPr>
          <p:cNvPr id="18" name="Shape 16"/>
          <p:cNvSpPr/>
          <p:nvPr/>
        </p:nvSpPr>
        <p:spPr>
          <a:xfrm>
            <a:off x="1325880" y="4773168"/>
            <a:ext cx="4325112" cy="0"/>
          </a:xfrm>
          <a:prstGeom prst="line">
            <a:avLst/>
          </a:prstGeom>
          <a:noFill/>
          <a:ln w="12700">
            <a:solidFill>
              <a:srgbClr val="C4D2E2"/>
            </a:solidFill>
            <a:prstDash val="solid"/>
            <a:headEnd type="none"/>
            <a:tailEnd type="none"/>
          </a:ln>
        </p:spPr>
      </p:sp>
      <p:sp>
        <p:nvSpPr>
          <p:cNvPr id="19" name="Text 17"/>
          <p:cNvSpPr/>
          <p:nvPr/>
        </p:nvSpPr>
        <p:spPr>
          <a:xfrm>
            <a:off x="905256" y="2157984"/>
            <a:ext cx="4809744" cy="265176"/>
          </a:xfrm>
          <a:prstGeom prst="rect">
            <a:avLst/>
          </a:prstGeom>
          <a:noFill/>
          <a:ln/>
        </p:spPr>
        <p:txBody>
          <a:bodyPr wrap="square" lIns="0" tIns="0" rIns="0" bIns="0" rtlCol="0" anchor="ctr"/>
          <a:lstStyle/>
          <a:p>
            <a:pPr algn="l" indent="0" marL="0">
              <a:buNone/>
            </a:pPr>
            <a:r>
              <a:rPr lang="en-US" sz="1700" b="1" dirty="0">
                <a:solidFill>
                  <a:srgbClr val="172233"/>
                </a:solidFill>
                <a:latin typeface="Aptos" pitchFamily="34" charset="0"/>
                <a:ea typeface="Aptos" pitchFamily="34" charset="-122"/>
                <a:cs typeface="Aptos" pitchFamily="34" charset="-120"/>
              </a:rPr>
              <a:t>Perplexity = 5</a:t>
            </a:r>
            <a:endParaRPr lang="en-US" sz="1700" dirty="0"/>
          </a:p>
        </p:txBody>
      </p:sp>
      <p:sp>
        <p:nvSpPr>
          <p:cNvPr id="20" name="Text 18"/>
          <p:cNvSpPr/>
          <p:nvPr/>
        </p:nvSpPr>
        <p:spPr>
          <a:xfrm>
            <a:off x="1325880" y="2423160"/>
            <a:ext cx="4325112" cy="201168"/>
          </a:xfrm>
          <a:prstGeom prst="rect">
            <a:avLst/>
          </a:prstGeom>
          <a:noFill/>
          <a:ln/>
        </p:spPr>
        <p:txBody>
          <a:bodyPr wrap="square" lIns="0" tIns="0" rIns="0" bIns="0" rtlCol="0" anchor="ctr"/>
          <a:lstStyle/>
          <a:p>
            <a:pPr algn="l" indent="0" marL="0">
              <a:buNone/>
            </a:pPr>
            <a:r>
              <a:rPr lang="en-US" sz="1300" dirty="0">
                <a:solidFill>
                  <a:srgbClr val="53657A"/>
                </a:solidFill>
                <a:latin typeface="Aptos" pitchFamily="34" charset="0"/>
                <a:ea typeface="Aptos" pitchFamily="34" charset="-122"/>
                <a:cs typeface="Aptos" pitchFamily="34" charset="-120"/>
              </a:rPr>
              <a:t>t-SNE 2</a:t>
            </a:r>
            <a:endParaRPr lang="en-US" sz="1300" dirty="0"/>
          </a:p>
        </p:txBody>
      </p:sp>
      <p:sp>
        <p:nvSpPr>
          <p:cNvPr id="21" name="Text 19"/>
          <p:cNvSpPr/>
          <p:nvPr/>
        </p:nvSpPr>
        <p:spPr>
          <a:xfrm>
            <a:off x="1325880" y="5276088"/>
            <a:ext cx="4325112" cy="210312"/>
          </a:xfrm>
          <a:prstGeom prst="rect">
            <a:avLst/>
          </a:prstGeom>
          <a:noFill/>
          <a:ln/>
        </p:spPr>
        <p:txBody>
          <a:bodyPr wrap="square" lIns="0" tIns="0" rIns="0" bIns="0" rtlCol="0" anchor="ctr"/>
          <a:lstStyle/>
          <a:p>
            <a:pPr algn="ctr" indent="0" marL="0">
              <a:buNone/>
            </a:pPr>
            <a:r>
              <a:rPr lang="en-US" sz="1300" dirty="0">
                <a:solidFill>
                  <a:srgbClr val="53657A"/>
                </a:solidFill>
                <a:latin typeface="Aptos" pitchFamily="34" charset="0"/>
                <a:ea typeface="Aptos" pitchFamily="34" charset="-122"/>
                <a:cs typeface="Aptos" pitchFamily="34" charset="-120"/>
              </a:rPr>
              <a:t>t-SNE 1 (arbitrary units)</a:t>
            </a:r>
            <a:endParaRPr lang="en-US" sz="1300" dirty="0"/>
          </a:p>
        </p:txBody>
      </p:sp>
      <p:sp>
        <p:nvSpPr>
          <p:cNvPr id="22" name="Shape 20"/>
          <p:cNvSpPr/>
          <p:nvPr/>
        </p:nvSpPr>
        <p:spPr>
          <a:xfrm>
            <a:off x="1685282" y="3094239"/>
            <a:ext cx="128016" cy="128016"/>
          </a:xfrm>
          <a:prstGeom prst="diamond">
            <a:avLst/>
          </a:prstGeom>
          <a:solidFill>
            <a:srgbClr val="167C85"/>
          </a:solidFill>
          <a:ln w="5080">
            <a:solidFill>
              <a:srgbClr val="167C85"/>
            </a:solidFill>
            <a:prstDash val="solid"/>
          </a:ln>
        </p:spPr>
      </p:sp>
      <p:sp>
        <p:nvSpPr>
          <p:cNvPr id="23" name="Shape 21"/>
          <p:cNvSpPr/>
          <p:nvPr/>
        </p:nvSpPr>
        <p:spPr>
          <a:xfrm>
            <a:off x="5043131" y="2967959"/>
            <a:ext cx="128016" cy="128016"/>
          </a:xfrm>
          <a:prstGeom prst="ellipse">
            <a:avLst/>
          </a:prstGeom>
          <a:solidFill>
            <a:srgbClr val="176493"/>
          </a:solidFill>
          <a:ln w="5080">
            <a:solidFill>
              <a:srgbClr val="176493"/>
            </a:solidFill>
            <a:prstDash val="solid"/>
          </a:ln>
        </p:spPr>
      </p:sp>
      <p:sp>
        <p:nvSpPr>
          <p:cNvPr id="24" name="Shape 22"/>
          <p:cNvSpPr/>
          <p:nvPr/>
        </p:nvSpPr>
        <p:spPr>
          <a:xfrm>
            <a:off x="4926311" y="3137159"/>
            <a:ext cx="128016" cy="128016"/>
          </a:xfrm>
          <a:prstGeom prst="ellipse">
            <a:avLst/>
          </a:prstGeom>
          <a:solidFill>
            <a:srgbClr val="176493"/>
          </a:solidFill>
          <a:ln w="5080">
            <a:solidFill>
              <a:srgbClr val="176493"/>
            </a:solidFill>
            <a:prstDash val="solid"/>
          </a:ln>
        </p:spPr>
      </p:sp>
      <p:sp>
        <p:nvSpPr>
          <p:cNvPr id="25" name="Shape 23"/>
          <p:cNvSpPr/>
          <p:nvPr/>
        </p:nvSpPr>
        <p:spPr>
          <a:xfrm>
            <a:off x="4837739" y="3317468"/>
            <a:ext cx="128016" cy="128016"/>
          </a:xfrm>
          <a:prstGeom prst="ellipse">
            <a:avLst/>
          </a:prstGeom>
          <a:solidFill>
            <a:srgbClr val="176493"/>
          </a:solidFill>
          <a:ln w="5080">
            <a:solidFill>
              <a:srgbClr val="176493"/>
            </a:solidFill>
            <a:prstDash val="solid"/>
          </a:ln>
        </p:spPr>
      </p:sp>
      <p:sp>
        <p:nvSpPr>
          <p:cNvPr id="26" name="Shape 24"/>
          <p:cNvSpPr/>
          <p:nvPr/>
        </p:nvSpPr>
        <p:spPr>
          <a:xfrm>
            <a:off x="5190199" y="3304580"/>
            <a:ext cx="128016" cy="128016"/>
          </a:xfrm>
          <a:prstGeom prst="ellipse">
            <a:avLst/>
          </a:prstGeom>
          <a:solidFill>
            <a:srgbClr val="176493"/>
          </a:solidFill>
          <a:ln w="5080">
            <a:solidFill>
              <a:srgbClr val="176493"/>
            </a:solidFill>
            <a:prstDash val="solid"/>
          </a:ln>
        </p:spPr>
      </p:sp>
      <p:sp>
        <p:nvSpPr>
          <p:cNvPr id="27" name="Shape 25"/>
          <p:cNvSpPr/>
          <p:nvPr/>
        </p:nvSpPr>
        <p:spPr>
          <a:xfrm>
            <a:off x="5228146" y="3272415"/>
            <a:ext cx="128016" cy="128016"/>
          </a:xfrm>
          <a:prstGeom prst="ellipse">
            <a:avLst/>
          </a:prstGeom>
          <a:solidFill>
            <a:srgbClr val="176493"/>
          </a:solidFill>
          <a:ln w="5080">
            <a:solidFill>
              <a:srgbClr val="176493"/>
            </a:solidFill>
            <a:prstDash val="solid"/>
          </a:ln>
        </p:spPr>
      </p:sp>
      <p:sp>
        <p:nvSpPr>
          <p:cNvPr id="28" name="Shape 26"/>
          <p:cNvSpPr/>
          <p:nvPr/>
        </p:nvSpPr>
        <p:spPr>
          <a:xfrm>
            <a:off x="5091042" y="3007594"/>
            <a:ext cx="128016" cy="128016"/>
          </a:xfrm>
          <a:prstGeom prst="ellipse">
            <a:avLst/>
          </a:prstGeom>
          <a:solidFill>
            <a:srgbClr val="176493"/>
          </a:solidFill>
          <a:ln w="5080">
            <a:solidFill>
              <a:srgbClr val="176493"/>
            </a:solidFill>
            <a:prstDash val="solid"/>
          </a:ln>
        </p:spPr>
      </p:sp>
      <p:sp>
        <p:nvSpPr>
          <p:cNvPr id="29" name="Shape 27"/>
          <p:cNvSpPr/>
          <p:nvPr/>
        </p:nvSpPr>
        <p:spPr>
          <a:xfrm>
            <a:off x="5112216" y="3343323"/>
            <a:ext cx="128016" cy="128016"/>
          </a:xfrm>
          <a:prstGeom prst="ellipse">
            <a:avLst/>
          </a:prstGeom>
          <a:solidFill>
            <a:srgbClr val="176493"/>
          </a:solidFill>
          <a:ln w="5080">
            <a:solidFill>
              <a:srgbClr val="176493"/>
            </a:solidFill>
            <a:prstDash val="solid"/>
          </a:ln>
        </p:spPr>
      </p:sp>
      <p:sp>
        <p:nvSpPr>
          <p:cNvPr id="30" name="Shape 28"/>
          <p:cNvSpPr/>
          <p:nvPr/>
        </p:nvSpPr>
        <p:spPr>
          <a:xfrm>
            <a:off x="5143115" y="3565780"/>
            <a:ext cx="128016" cy="128016"/>
          </a:xfrm>
          <a:prstGeom prst="ellipse">
            <a:avLst/>
          </a:prstGeom>
          <a:solidFill>
            <a:srgbClr val="176493"/>
          </a:solidFill>
          <a:ln w="5080">
            <a:solidFill>
              <a:srgbClr val="176493"/>
            </a:solidFill>
            <a:prstDash val="solid"/>
          </a:ln>
        </p:spPr>
      </p:sp>
      <p:sp>
        <p:nvSpPr>
          <p:cNvPr id="31" name="Shape 29"/>
          <p:cNvSpPr/>
          <p:nvPr/>
        </p:nvSpPr>
        <p:spPr>
          <a:xfrm>
            <a:off x="5087102" y="3423505"/>
            <a:ext cx="128016" cy="128016"/>
          </a:xfrm>
          <a:prstGeom prst="ellipse">
            <a:avLst/>
          </a:prstGeom>
          <a:solidFill>
            <a:srgbClr val="176493"/>
          </a:solidFill>
          <a:ln w="5080">
            <a:solidFill>
              <a:srgbClr val="176493"/>
            </a:solidFill>
            <a:prstDash val="solid"/>
          </a:ln>
        </p:spPr>
      </p:sp>
      <p:sp>
        <p:nvSpPr>
          <p:cNvPr id="32" name="Shape 30"/>
          <p:cNvSpPr/>
          <p:nvPr/>
        </p:nvSpPr>
        <p:spPr>
          <a:xfrm>
            <a:off x="4954731" y="3476536"/>
            <a:ext cx="128016" cy="128016"/>
          </a:xfrm>
          <a:prstGeom prst="ellipse">
            <a:avLst/>
          </a:prstGeom>
          <a:solidFill>
            <a:srgbClr val="176493"/>
          </a:solidFill>
          <a:ln w="5080">
            <a:solidFill>
              <a:srgbClr val="176493"/>
            </a:solidFill>
            <a:prstDash val="solid"/>
          </a:ln>
        </p:spPr>
      </p:sp>
      <p:sp>
        <p:nvSpPr>
          <p:cNvPr id="33" name="Shape 31"/>
          <p:cNvSpPr/>
          <p:nvPr/>
        </p:nvSpPr>
        <p:spPr>
          <a:xfrm>
            <a:off x="5105717" y="3461188"/>
            <a:ext cx="128016" cy="128016"/>
          </a:xfrm>
          <a:prstGeom prst="ellipse">
            <a:avLst/>
          </a:prstGeom>
          <a:solidFill>
            <a:srgbClr val="176493"/>
          </a:solidFill>
          <a:ln w="5080">
            <a:solidFill>
              <a:srgbClr val="176493"/>
            </a:solidFill>
            <a:prstDash val="solid"/>
          </a:ln>
        </p:spPr>
      </p:sp>
      <p:sp>
        <p:nvSpPr>
          <p:cNvPr id="34" name="Shape 32"/>
          <p:cNvSpPr/>
          <p:nvPr/>
        </p:nvSpPr>
        <p:spPr>
          <a:xfrm>
            <a:off x="4944695" y="3305592"/>
            <a:ext cx="128016" cy="128016"/>
          </a:xfrm>
          <a:prstGeom prst="ellipse">
            <a:avLst/>
          </a:prstGeom>
          <a:solidFill>
            <a:srgbClr val="176493"/>
          </a:solidFill>
          <a:ln w="5080">
            <a:solidFill>
              <a:srgbClr val="176493"/>
            </a:solidFill>
            <a:prstDash val="solid"/>
          </a:ln>
        </p:spPr>
      </p:sp>
      <p:sp>
        <p:nvSpPr>
          <p:cNvPr id="35" name="Shape 33"/>
          <p:cNvSpPr/>
          <p:nvPr/>
        </p:nvSpPr>
        <p:spPr>
          <a:xfrm>
            <a:off x="5014809" y="2925255"/>
            <a:ext cx="128016" cy="128016"/>
          </a:xfrm>
          <a:prstGeom prst="ellipse">
            <a:avLst/>
          </a:prstGeom>
          <a:solidFill>
            <a:srgbClr val="176493"/>
          </a:solidFill>
          <a:ln w="5080">
            <a:solidFill>
              <a:srgbClr val="176493"/>
            </a:solidFill>
            <a:prstDash val="solid"/>
          </a:ln>
        </p:spPr>
      </p:sp>
      <p:sp>
        <p:nvSpPr>
          <p:cNvPr id="36" name="Shape 34"/>
          <p:cNvSpPr/>
          <p:nvPr/>
        </p:nvSpPr>
        <p:spPr>
          <a:xfrm>
            <a:off x="5181311" y="3608397"/>
            <a:ext cx="128016" cy="128016"/>
          </a:xfrm>
          <a:prstGeom prst="ellipse">
            <a:avLst/>
          </a:prstGeom>
          <a:solidFill>
            <a:srgbClr val="176493"/>
          </a:solidFill>
          <a:ln w="5080">
            <a:solidFill>
              <a:srgbClr val="176493"/>
            </a:solidFill>
            <a:prstDash val="solid"/>
          </a:ln>
        </p:spPr>
      </p:sp>
      <p:sp>
        <p:nvSpPr>
          <p:cNvPr id="37" name="Shape 35"/>
          <p:cNvSpPr/>
          <p:nvPr/>
        </p:nvSpPr>
        <p:spPr>
          <a:xfrm>
            <a:off x="4901153" y="3330471"/>
            <a:ext cx="128016" cy="128016"/>
          </a:xfrm>
          <a:prstGeom prst="ellipse">
            <a:avLst/>
          </a:prstGeom>
          <a:solidFill>
            <a:srgbClr val="176493"/>
          </a:solidFill>
          <a:ln w="5080">
            <a:solidFill>
              <a:srgbClr val="176493"/>
            </a:solidFill>
            <a:prstDash val="solid"/>
          </a:ln>
        </p:spPr>
      </p:sp>
      <p:sp>
        <p:nvSpPr>
          <p:cNvPr id="38" name="Shape 36"/>
          <p:cNvSpPr/>
          <p:nvPr/>
        </p:nvSpPr>
        <p:spPr>
          <a:xfrm>
            <a:off x="5044168" y="3195019"/>
            <a:ext cx="128016" cy="128016"/>
          </a:xfrm>
          <a:prstGeom prst="ellipse">
            <a:avLst/>
          </a:prstGeom>
          <a:solidFill>
            <a:srgbClr val="176493"/>
          </a:solidFill>
          <a:ln w="5080">
            <a:solidFill>
              <a:srgbClr val="176493"/>
            </a:solidFill>
            <a:prstDash val="solid"/>
          </a:ln>
        </p:spPr>
      </p:sp>
      <p:sp>
        <p:nvSpPr>
          <p:cNvPr id="39" name="Shape 37"/>
          <p:cNvSpPr/>
          <p:nvPr/>
        </p:nvSpPr>
        <p:spPr>
          <a:xfrm>
            <a:off x="5288700" y="3287028"/>
            <a:ext cx="128016" cy="128016"/>
          </a:xfrm>
          <a:prstGeom prst="ellipse">
            <a:avLst/>
          </a:prstGeom>
          <a:solidFill>
            <a:srgbClr val="176493"/>
          </a:solidFill>
          <a:ln w="5080">
            <a:solidFill>
              <a:srgbClr val="176493"/>
            </a:solidFill>
            <a:prstDash val="solid"/>
          </a:ln>
        </p:spPr>
      </p:sp>
      <p:sp>
        <p:nvSpPr>
          <p:cNvPr id="40" name="Shape 38"/>
          <p:cNvSpPr/>
          <p:nvPr/>
        </p:nvSpPr>
        <p:spPr>
          <a:xfrm>
            <a:off x="4857591" y="3432714"/>
            <a:ext cx="128016" cy="128016"/>
          </a:xfrm>
          <a:prstGeom prst="ellipse">
            <a:avLst/>
          </a:prstGeom>
          <a:solidFill>
            <a:srgbClr val="176493"/>
          </a:solidFill>
          <a:ln w="5080">
            <a:solidFill>
              <a:srgbClr val="176493"/>
            </a:solidFill>
            <a:prstDash val="solid"/>
          </a:ln>
        </p:spPr>
      </p:sp>
      <p:sp>
        <p:nvSpPr>
          <p:cNvPr id="41" name="Shape 39"/>
          <p:cNvSpPr/>
          <p:nvPr/>
        </p:nvSpPr>
        <p:spPr>
          <a:xfrm>
            <a:off x="4947394" y="2935359"/>
            <a:ext cx="128016" cy="128016"/>
          </a:xfrm>
          <a:prstGeom prst="ellipse">
            <a:avLst/>
          </a:prstGeom>
          <a:solidFill>
            <a:srgbClr val="176493"/>
          </a:solidFill>
          <a:ln w="5080">
            <a:solidFill>
              <a:srgbClr val="176493"/>
            </a:solidFill>
            <a:prstDash val="solid"/>
          </a:ln>
        </p:spPr>
      </p:sp>
      <p:sp>
        <p:nvSpPr>
          <p:cNvPr id="42" name="Shape 40"/>
          <p:cNvSpPr/>
          <p:nvPr/>
        </p:nvSpPr>
        <p:spPr>
          <a:xfrm>
            <a:off x="5062046" y="3228759"/>
            <a:ext cx="128016" cy="128016"/>
          </a:xfrm>
          <a:prstGeom prst="ellipse">
            <a:avLst/>
          </a:prstGeom>
          <a:solidFill>
            <a:srgbClr val="176493"/>
          </a:solidFill>
          <a:ln w="5080">
            <a:solidFill>
              <a:srgbClr val="176493"/>
            </a:solidFill>
            <a:prstDash val="solid"/>
          </a:ln>
        </p:spPr>
      </p:sp>
      <p:sp>
        <p:nvSpPr>
          <p:cNvPr id="43" name="Shape 41"/>
          <p:cNvSpPr/>
          <p:nvPr/>
        </p:nvSpPr>
        <p:spPr>
          <a:xfrm>
            <a:off x="5007497" y="3505066"/>
            <a:ext cx="128016" cy="128016"/>
          </a:xfrm>
          <a:prstGeom prst="ellipse">
            <a:avLst/>
          </a:prstGeom>
          <a:solidFill>
            <a:srgbClr val="176493"/>
          </a:solidFill>
          <a:ln w="5080">
            <a:solidFill>
              <a:srgbClr val="176493"/>
            </a:solidFill>
            <a:prstDash val="solid"/>
          </a:ln>
        </p:spPr>
      </p:sp>
      <p:sp>
        <p:nvSpPr>
          <p:cNvPr id="44" name="Shape 42"/>
          <p:cNvSpPr/>
          <p:nvPr/>
        </p:nvSpPr>
        <p:spPr>
          <a:xfrm>
            <a:off x="5110480" y="3046404"/>
            <a:ext cx="128016" cy="128016"/>
          </a:xfrm>
          <a:prstGeom prst="ellipse">
            <a:avLst/>
          </a:prstGeom>
          <a:solidFill>
            <a:srgbClr val="176493"/>
          </a:solidFill>
          <a:ln w="5080">
            <a:solidFill>
              <a:srgbClr val="176493"/>
            </a:solidFill>
            <a:prstDash val="solid"/>
          </a:ln>
        </p:spPr>
      </p:sp>
      <p:sp>
        <p:nvSpPr>
          <p:cNvPr id="45" name="Shape 43"/>
          <p:cNvSpPr/>
          <p:nvPr/>
        </p:nvSpPr>
        <p:spPr>
          <a:xfrm>
            <a:off x="5098120" y="3545495"/>
            <a:ext cx="128016" cy="128016"/>
          </a:xfrm>
          <a:prstGeom prst="ellipse">
            <a:avLst/>
          </a:prstGeom>
          <a:solidFill>
            <a:srgbClr val="176493"/>
          </a:solidFill>
          <a:ln w="5080">
            <a:solidFill>
              <a:srgbClr val="176493"/>
            </a:solidFill>
            <a:prstDash val="solid"/>
          </a:ln>
        </p:spPr>
      </p:sp>
      <p:sp>
        <p:nvSpPr>
          <p:cNvPr id="46" name="Shape 44"/>
          <p:cNvSpPr/>
          <p:nvPr/>
        </p:nvSpPr>
        <p:spPr>
          <a:xfrm>
            <a:off x="4832329" y="3010879"/>
            <a:ext cx="128016" cy="128016"/>
          </a:xfrm>
          <a:prstGeom prst="ellipse">
            <a:avLst/>
          </a:prstGeom>
          <a:solidFill>
            <a:srgbClr val="176493"/>
          </a:solidFill>
          <a:ln w="5080">
            <a:solidFill>
              <a:srgbClr val="176493"/>
            </a:solidFill>
            <a:prstDash val="solid"/>
          </a:ln>
        </p:spPr>
      </p:sp>
      <p:sp>
        <p:nvSpPr>
          <p:cNvPr id="47" name="Shape 45"/>
          <p:cNvSpPr/>
          <p:nvPr/>
        </p:nvSpPr>
        <p:spPr>
          <a:xfrm>
            <a:off x="4852791" y="3110463"/>
            <a:ext cx="128016" cy="128016"/>
          </a:xfrm>
          <a:prstGeom prst="ellipse">
            <a:avLst/>
          </a:prstGeom>
          <a:solidFill>
            <a:srgbClr val="176493"/>
          </a:solidFill>
          <a:ln w="5080">
            <a:solidFill>
              <a:srgbClr val="176493"/>
            </a:solidFill>
            <a:prstDash val="solid"/>
          </a:ln>
        </p:spPr>
      </p:sp>
      <p:sp>
        <p:nvSpPr>
          <p:cNvPr id="48" name="Shape 46"/>
          <p:cNvSpPr/>
          <p:nvPr/>
        </p:nvSpPr>
        <p:spPr>
          <a:xfrm>
            <a:off x="5233167" y="3569245"/>
            <a:ext cx="128016" cy="128016"/>
          </a:xfrm>
          <a:prstGeom prst="ellipse">
            <a:avLst/>
          </a:prstGeom>
          <a:solidFill>
            <a:srgbClr val="176493"/>
          </a:solidFill>
          <a:ln w="5080">
            <a:solidFill>
              <a:srgbClr val="176493"/>
            </a:solidFill>
            <a:prstDash val="solid"/>
          </a:ln>
        </p:spPr>
      </p:sp>
      <p:sp>
        <p:nvSpPr>
          <p:cNvPr id="49" name="Shape 47"/>
          <p:cNvSpPr/>
          <p:nvPr/>
        </p:nvSpPr>
        <p:spPr>
          <a:xfrm>
            <a:off x="4845862" y="2983383"/>
            <a:ext cx="128016" cy="128016"/>
          </a:xfrm>
          <a:prstGeom prst="ellipse">
            <a:avLst/>
          </a:prstGeom>
          <a:solidFill>
            <a:srgbClr val="176493"/>
          </a:solidFill>
          <a:ln w="5080">
            <a:solidFill>
              <a:srgbClr val="176493"/>
            </a:solidFill>
            <a:prstDash val="solid"/>
          </a:ln>
        </p:spPr>
      </p:sp>
      <p:sp>
        <p:nvSpPr>
          <p:cNvPr id="50" name="Shape 48"/>
          <p:cNvSpPr/>
          <p:nvPr/>
        </p:nvSpPr>
        <p:spPr>
          <a:xfrm>
            <a:off x="5107615" y="3086566"/>
            <a:ext cx="128016" cy="128016"/>
          </a:xfrm>
          <a:prstGeom prst="ellipse">
            <a:avLst/>
          </a:prstGeom>
          <a:solidFill>
            <a:srgbClr val="176493"/>
          </a:solidFill>
          <a:ln w="5080">
            <a:solidFill>
              <a:srgbClr val="176493"/>
            </a:solidFill>
            <a:prstDash val="solid"/>
          </a:ln>
        </p:spPr>
      </p:sp>
      <p:sp>
        <p:nvSpPr>
          <p:cNvPr id="51" name="Shape 49"/>
          <p:cNvSpPr/>
          <p:nvPr/>
        </p:nvSpPr>
        <p:spPr>
          <a:xfrm>
            <a:off x="3677142" y="4498085"/>
            <a:ext cx="128016" cy="128016"/>
          </a:xfrm>
          <a:prstGeom prst="triangle">
            <a:avLst/>
          </a:prstGeom>
          <a:solidFill>
            <a:srgbClr val="7056C2"/>
          </a:solidFill>
          <a:ln w="5080">
            <a:solidFill>
              <a:srgbClr val="7056C2"/>
            </a:solidFill>
            <a:prstDash val="solid"/>
          </a:ln>
        </p:spPr>
      </p:sp>
      <p:sp>
        <p:nvSpPr>
          <p:cNvPr id="52" name="Shape 50"/>
          <p:cNvSpPr/>
          <p:nvPr/>
        </p:nvSpPr>
        <p:spPr>
          <a:xfrm>
            <a:off x="2643492" y="4119838"/>
            <a:ext cx="128016" cy="128016"/>
          </a:xfrm>
          <a:prstGeom prst="triangle">
            <a:avLst/>
          </a:prstGeom>
          <a:solidFill>
            <a:srgbClr val="7056C2"/>
          </a:solidFill>
          <a:ln w="5080">
            <a:solidFill>
              <a:srgbClr val="7056C2"/>
            </a:solidFill>
            <a:prstDash val="solid"/>
          </a:ln>
        </p:spPr>
      </p:sp>
      <p:sp>
        <p:nvSpPr>
          <p:cNvPr id="53" name="Shape 51"/>
          <p:cNvSpPr/>
          <p:nvPr/>
        </p:nvSpPr>
        <p:spPr>
          <a:xfrm>
            <a:off x="3724999" y="4483486"/>
            <a:ext cx="128016" cy="128016"/>
          </a:xfrm>
          <a:prstGeom prst="triangle">
            <a:avLst/>
          </a:prstGeom>
          <a:solidFill>
            <a:srgbClr val="7056C2"/>
          </a:solidFill>
          <a:ln w="5080">
            <a:solidFill>
              <a:srgbClr val="7056C2"/>
            </a:solidFill>
            <a:prstDash val="solid"/>
          </a:ln>
        </p:spPr>
      </p:sp>
      <p:sp>
        <p:nvSpPr>
          <p:cNvPr id="54" name="Shape 52"/>
          <p:cNvSpPr/>
          <p:nvPr/>
        </p:nvSpPr>
        <p:spPr>
          <a:xfrm>
            <a:off x="3647217" y="4441491"/>
            <a:ext cx="128016" cy="128016"/>
          </a:xfrm>
          <a:prstGeom prst="triangle">
            <a:avLst/>
          </a:prstGeom>
          <a:solidFill>
            <a:srgbClr val="7056C2"/>
          </a:solidFill>
          <a:ln w="5080">
            <a:solidFill>
              <a:srgbClr val="7056C2"/>
            </a:solidFill>
            <a:prstDash val="solid"/>
          </a:ln>
        </p:spPr>
      </p:sp>
      <p:sp>
        <p:nvSpPr>
          <p:cNvPr id="55" name="Shape 53"/>
          <p:cNvSpPr/>
          <p:nvPr/>
        </p:nvSpPr>
        <p:spPr>
          <a:xfrm>
            <a:off x="3125546" y="4492484"/>
            <a:ext cx="128016" cy="128016"/>
          </a:xfrm>
          <a:prstGeom prst="triangle">
            <a:avLst/>
          </a:prstGeom>
          <a:solidFill>
            <a:srgbClr val="7056C2"/>
          </a:solidFill>
          <a:ln w="5080">
            <a:solidFill>
              <a:srgbClr val="7056C2"/>
            </a:solidFill>
            <a:prstDash val="solid"/>
          </a:ln>
        </p:spPr>
      </p:sp>
      <p:sp>
        <p:nvSpPr>
          <p:cNvPr id="56" name="Shape 54"/>
          <p:cNvSpPr/>
          <p:nvPr/>
        </p:nvSpPr>
        <p:spPr>
          <a:xfrm>
            <a:off x="3187780" y="4564086"/>
            <a:ext cx="128016" cy="128016"/>
          </a:xfrm>
          <a:prstGeom prst="triangle">
            <a:avLst/>
          </a:prstGeom>
          <a:solidFill>
            <a:srgbClr val="7056C2"/>
          </a:solidFill>
          <a:ln w="5080">
            <a:solidFill>
              <a:srgbClr val="7056C2"/>
            </a:solidFill>
            <a:prstDash val="solid"/>
          </a:ln>
        </p:spPr>
      </p:sp>
      <p:sp>
        <p:nvSpPr>
          <p:cNvPr id="57" name="Shape 55"/>
          <p:cNvSpPr/>
          <p:nvPr/>
        </p:nvSpPr>
        <p:spPr>
          <a:xfrm>
            <a:off x="3022206" y="4301433"/>
            <a:ext cx="128016" cy="128016"/>
          </a:xfrm>
          <a:prstGeom prst="triangle">
            <a:avLst/>
          </a:prstGeom>
          <a:solidFill>
            <a:srgbClr val="7056C2"/>
          </a:solidFill>
          <a:ln w="5080">
            <a:solidFill>
              <a:srgbClr val="7056C2"/>
            </a:solidFill>
            <a:prstDash val="solid"/>
          </a:ln>
        </p:spPr>
      </p:sp>
      <p:sp>
        <p:nvSpPr>
          <p:cNvPr id="58" name="Shape 56"/>
          <p:cNvSpPr/>
          <p:nvPr/>
        </p:nvSpPr>
        <p:spPr>
          <a:xfrm>
            <a:off x="3690961" y="4430260"/>
            <a:ext cx="128016" cy="128016"/>
          </a:xfrm>
          <a:prstGeom prst="triangle">
            <a:avLst/>
          </a:prstGeom>
          <a:solidFill>
            <a:srgbClr val="7056C2"/>
          </a:solidFill>
          <a:ln w="5080">
            <a:solidFill>
              <a:srgbClr val="7056C2"/>
            </a:solidFill>
            <a:prstDash val="solid"/>
          </a:ln>
        </p:spPr>
      </p:sp>
      <p:sp>
        <p:nvSpPr>
          <p:cNvPr id="59" name="Shape 57"/>
          <p:cNvSpPr/>
          <p:nvPr/>
        </p:nvSpPr>
        <p:spPr>
          <a:xfrm>
            <a:off x="2672120" y="4158664"/>
            <a:ext cx="128016" cy="128016"/>
          </a:xfrm>
          <a:prstGeom prst="triangle">
            <a:avLst/>
          </a:prstGeom>
          <a:solidFill>
            <a:srgbClr val="7056C2"/>
          </a:solidFill>
          <a:ln w="5080">
            <a:solidFill>
              <a:srgbClr val="7056C2"/>
            </a:solidFill>
            <a:prstDash val="solid"/>
          </a:ln>
        </p:spPr>
      </p:sp>
      <p:sp>
        <p:nvSpPr>
          <p:cNvPr id="60" name="Shape 58"/>
          <p:cNvSpPr/>
          <p:nvPr/>
        </p:nvSpPr>
        <p:spPr>
          <a:xfrm>
            <a:off x="3066562" y="4566640"/>
            <a:ext cx="128016" cy="128016"/>
          </a:xfrm>
          <a:prstGeom prst="triangle">
            <a:avLst/>
          </a:prstGeom>
          <a:solidFill>
            <a:srgbClr val="7056C2"/>
          </a:solidFill>
          <a:ln w="5080">
            <a:solidFill>
              <a:srgbClr val="7056C2"/>
            </a:solidFill>
            <a:prstDash val="solid"/>
          </a:ln>
        </p:spPr>
      </p:sp>
      <p:sp>
        <p:nvSpPr>
          <p:cNvPr id="61" name="Shape 59"/>
          <p:cNvSpPr/>
          <p:nvPr/>
        </p:nvSpPr>
        <p:spPr>
          <a:xfrm>
            <a:off x="2505353" y="3870181"/>
            <a:ext cx="128016" cy="128016"/>
          </a:xfrm>
          <a:prstGeom prst="triangle">
            <a:avLst/>
          </a:prstGeom>
          <a:solidFill>
            <a:srgbClr val="7056C2"/>
          </a:solidFill>
          <a:ln w="5080">
            <a:solidFill>
              <a:srgbClr val="7056C2"/>
            </a:solidFill>
            <a:prstDash val="solid"/>
          </a:ln>
        </p:spPr>
      </p:sp>
      <p:sp>
        <p:nvSpPr>
          <p:cNvPr id="62" name="Shape 60"/>
          <p:cNvSpPr/>
          <p:nvPr/>
        </p:nvSpPr>
        <p:spPr>
          <a:xfrm>
            <a:off x="3332428" y="4566160"/>
            <a:ext cx="128016" cy="128016"/>
          </a:xfrm>
          <a:prstGeom prst="triangle">
            <a:avLst/>
          </a:prstGeom>
          <a:solidFill>
            <a:srgbClr val="7056C2"/>
          </a:solidFill>
          <a:ln w="5080">
            <a:solidFill>
              <a:srgbClr val="7056C2"/>
            </a:solidFill>
            <a:prstDash val="solid"/>
          </a:ln>
        </p:spPr>
      </p:sp>
      <p:sp>
        <p:nvSpPr>
          <p:cNvPr id="63" name="Shape 61"/>
          <p:cNvSpPr/>
          <p:nvPr/>
        </p:nvSpPr>
        <p:spPr>
          <a:xfrm>
            <a:off x="2456053" y="3835202"/>
            <a:ext cx="128016" cy="128016"/>
          </a:xfrm>
          <a:prstGeom prst="triangle">
            <a:avLst/>
          </a:prstGeom>
          <a:solidFill>
            <a:srgbClr val="7056C2"/>
          </a:solidFill>
          <a:ln w="5080">
            <a:solidFill>
              <a:srgbClr val="7056C2"/>
            </a:solidFill>
            <a:prstDash val="solid"/>
          </a:ln>
        </p:spPr>
      </p:sp>
      <p:sp>
        <p:nvSpPr>
          <p:cNvPr id="64" name="Shape 62"/>
          <p:cNvSpPr/>
          <p:nvPr/>
        </p:nvSpPr>
        <p:spPr>
          <a:xfrm>
            <a:off x="2578723" y="3864954"/>
            <a:ext cx="128016" cy="128016"/>
          </a:xfrm>
          <a:prstGeom prst="triangle">
            <a:avLst/>
          </a:prstGeom>
          <a:solidFill>
            <a:srgbClr val="7056C2"/>
          </a:solidFill>
          <a:ln w="5080">
            <a:solidFill>
              <a:srgbClr val="7056C2"/>
            </a:solidFill>
            <a:prstDash val="solid"/>
          </a:ln>
        </p:spPr>
      </p:sp>
      <p:sp>
        <p:nvSpPr>
          <p:cNvPr id="65" name="Shape 63"/>
          <p:cNvSpPr/>
          <p:nvPr/>
        </p:nvSpPr>
        <p:spPr>
          <a:xfrm>
            <a:off x="3103072" y="4294086"/>
            <a:ext cx="128016" cy="128016"/>
          </a:xfrm>
          <a:prstGeom prst="triangle">
            <a:avLst/>
          </a:prstGeom>
          <a:solidFill>
            <a:srgbClr val="7056C2"/>
          </a:solidFill>
          <a:ln w="5080">
            <a:solidFill>
              <a:srgbClr val="7056C2"/>
            </a:solidFill>
            <a:prstDash val="solid"/>
          </a:ln>
        </p:spPr>
      </p:sp>
      <p:sp>
        <p:nvSpPr>
          <p:cNvPr id="66" name="Shape 64"/>
          <p:cNvSpPr/>
          <p:nvPr/>
        </p:nvSpPr>
        <p:spPr>
          <a:xfrm>
            <a:off x="3277442" y="4545577"/>
            <a:ext cx="128016" cy="128016"/>
          </a:xfrm>
          <a:prstGeom prst="triangle">
            <a:avLst/>
          </a:prstGeom>
          <a:solidFill>
            <a:srgbClr val="7056C2"/>
          </a:solidFill>
          <a:ln w="5080">
            <a:solidFill>
              <a:srgbClr val="7056C2"/>
            </a:solidFill>
            <a:prstDash val="solid"/>
          </a:ln>
        </p:spPr>
      </p:sp>
      <p:sp>
        <p:nvSpPr>
          <p:cNvPr id="67" name="Shape 65"/>
          <p:cNvSpPr/>
          <p:nvPr/>
        </p:nvSpPr>
        <p:spPr>
          <a:xfrm>
            <a:off x="3126652" y="4550614"/>
            <a:ext cx="128016" cy="128016"/>
          </a:xfrm>
          <a:prstGeom prst="triangle">
            <a:avLst/>
          </a:prstGeom>
          <a:solidFill>
            <a:srgbClr val="7056C2"/>
          </a:solidFill>
          <a:ln w="5080">
            <a:solidFill>
              <a:srgbClr val="7056C2"/>
            </a:solidFill>
            <a:prstDash val="solid"/>
          </a:ln>
        </p:spPr>
      </p:sp>
      <p:sp>
        <p:nvSpPr>
          <p:cNvPr id="68" name="Shape 66"/>
          <p:cNvSpPr/>
          <p:nvPr/>
        </p:nvSpPr>
        <p:spPr>
          <a:xfrm>
            <a:off x="2772497" y="4067517"/>
            <a:ext cx="128016" cy="128016"/>
          </a:xfrm>
          <a:prstGeom prst="triangle">
            <a:avLst/>
          </a:prstGeom>
          <a:solidFill>
            <a:srgbClr val="7056C2"/>
          </a:solidFill>
          <a:ln w="5080">
            <a:solidFill>
              <a:srgbClr val="7056C2"/>
            </a:solidFill>
            <a:prstDash val="solid"/>
          </a:ln>
        </p:spPr>
      </p:sp>
      <p:sp>
        <p:nvSpPr>
          <p:cNvPr id="69" name="Shape 67"/>
          <p:cNvSpPr/>
          <p:nvPr/>
        </p:nvSpPr>
        <p:spPr>
          <a:xfrm>
            <a:off x="2857419" y="4030463"/>
            <a:ext cx="128016" cy="128016"/>
          </a:xfrm>
          <a:prstGeom prst="triangle">
            <a:avLst/>
          </a:prstGeom>
          <a:solidFill>
            <a:srgbClr val="7056C2"/>
          </a:solidFill>
          <a:ln w="5080">
            <a:solidFill>
              <a:srgbClr val="7056C2"/>
            </a:solidFill>
            <a:prstDash val="solid"/>
          </a:ln>
        </p:spPr>
      </p:sp>
      <p:sp>
        <p:nvSpPr>
          <p:cNvPr id="70" name="Shape 68"/>
          <p:cNvSpPr/>
          <p:nvPr/>
        </p:nvSpPr>
        <p:spPr>
          <a:xfrm>
            <a:off x="2570806" y="3905294"/>
            <a:ext cx="128016" cy="128016"/>
          </a:xfrm>
          <a:prstGeom prst="triangle">
            <a:avLst/>
          </a:prstGeom>
          <a:solidFill>
            <a:srgbClr val="7056C2"/>
          </a:solidFill>
          <a:ln w="5080">
            <a:solidFill>
              <a:srgbClr val="7056C2"/>
            </a:solidFill>
            <a:prstDash val="solid"/>
          </a:ln>
        </p:spPr>
      </p:sp>
      <p:sp>
        <p:nvSpPr>
          <p:cNvPr id="71" name="Shape 69"/>
          <p:cNvSpPr/>
          <p:nvPr/>
        </p:nvSpPr>
        <p:spPr>
          <a:xfrm>
            <a:off x="2854053" y="4148342"/>
            <a:ext cx="128016" cy="128016"/>
          </a:xfrm>
          <a:prstGeom prst="triangle">
            <a:avLst/>
          </a:prstGeom>
          <a:solidFill>
            <a:srgbClr val="7056C2"/>
          </a:solidFill>
          <a:ln w="5080">
            <a:solidFill>
              <a:srgbClr val="7056C2"/>
            </a:solidFill>
            <a:prstDash val="solid"/>
          </a:ln>
        </p:spPr>
      </p:sp>
      <p:sp>
        <p:nvSpPr>
          <p:cNvPr id="72" name="Shape 70"/>
          <p:cNvSpPr/>
          <p:nvPr/>
        </p:nvSpPr>
        <p:spPr>
          <a:xfrm>
            <a:off x="3017322" y="4347971"/>
            <a:ext cx="128016" cy="128016"/>
          </a:xfrm>
          <a:prstGeom prst="triangle">
            <a:avLst/>
          </a:prstGeom>
          <a:solidFill>
            <a:srgbClr val="7056C2"/>
          </a:solidFill>
          <a:ln w="5080">
            <a:solidFill>
              <a:srgbClr val="7056C2"/>
            </a:solidFill>
            <a:prstDash val="solid"/>
          </a:ln>
        </p:spPr>
      </p:sp>
      <p:sp>
        <p:nvSpPr>
          <p:cNvPr id="73" name="Shape 71"/>
          <p:cNvSpPr/>
          <p:nvPr/>
        </p:nvSpPr>
        <p:spPr>
          <a:xfrm>
            <a:off x="2702894" y="4061379"/>
            <a:ext cx="128016" cy="128016"/>
          </a:xfrm>
          <a:prstGeom prst="triangle">
            <a:avLst/>
          </a:prstGeom>
          <a:solidFill>
            <a:srgbClr val="7056C2"/>
          </a:solidFill>
          <a:ln w="5080">
            <a:solidFill>
              <a:srgbClr val="7056C2"/>
            </a:solidFill>
            <a:prstDash val="solid"/>
          </a:ln>
        </p:spPr>
      </p:sp>
      <p:sp>
        <p:nvSpPr>
          <p:cNvPr id="74" name="Shape 72"/>
          <p:cNvSpPr/>
          <p:nvPr/>
        </p:nvSpPr>
        <p:spPr>
          <a:xfrm>
            <a:off x="3051174" y="4503765"/>
            <a:ext cx="128016" cy="128016"/>
          </a:xfrm>
          <a:prstGeom prst="triangle">
            <a:avLst/>
          </a:prstGeom>
          <a:solidFill>
            <a:srgbClr val="7056C2"/>
          </a:solidFill>
          <a:ln w="5080">
            <a:solidFill>
              <a:srgbClr val="7056C2"/>
            </a:solidFill>
            <a:prstDash val="solid"/>
          </a:ln>
        </p:spPr>
      </p:sp>
      <p:sp>
        <p:nvSpPr>
          <p:cNvPr id="75" name="Shape 73"/>
          <p:cNvSpPr/>
          <p:nvPr/>
        </p:nvSpPr>
        <p:spPr>
          <a:xfrm>
            <a:off x="2624363" y="4084206"/>
            <a:ext cx="128016" cy="128016"/>
          </a:xfrm>
          <a:prstGeom prst="triangle">
            <a:avLst/>
          </a:prstGeom>
          <a:solidFill>
            <a:srgbClr val="7056C2"/>
          </a:solidFill>
          <a:ln w="5080">
            <a:solidFill>
              <a:srgbClr val="7056C2"/>
            </a:solidFill>
            <a:prstDash val="solid"/>
          </a:ln>
        </p:spPr>
      </p:sp>
      <p:sp>
        <p:nvSpPr>
          <p:cNvPr id="76" name="Shape 74"/>
          <p:cNvSpPr/>
          <p:nvPr/>
        </p:nvSpPr>
        <p:spPr>
          <a:xfrm>
            <a:off x="3081610" y="4324643"/>
            <a:ext cx="128016" cy="128016"/>
          </a:xfrm>
          <a:prstGeom prst="triangle">
            <a:avLst/>
          </a:prstGeom>
          <a:solidFill>
            <a:srgbClr val="7056C2"/>
          </a:solidFill>
          <a:ln w="5080">
            <a:solidFill>
              <a:srgbClr val="7056C2"/>
            </a:solidFill>
            <a:prstDash val="solid"/>
          </a:ln>
        </p:spPr>
      </p:sp>
      <p:sp>
        <p:nvSpPr>
          <p:cNvPr id="77" name="Shape 75"/>
          <p:cNvSpPr/>
          <p:nvPr/>
        </p:nvSpPr>
        <p:spPr>
          <a:xfrm>
            <a:off x="2545537" y="3829051"/>
            <a:ext cx="128016" cy="128016"/>
          </a:xfrm>
          <a:prstGeom prst="triangle">
            <a:avLst/>
          </a:prstGeom>
          <a:solidFill>
            <a:srgbClr val="7056C2"/>
          </a:solidFill>
          <a:ln w="5080">
            <a:solidFill>
              <a:srgbClr val="7056C2"/>
            </a:solidFill>
            <a:prstDash val="solid"/>
          </a:ln>
        </p:spPr>
      </p:sp>
      <p:sp>
        <p:nvSpPr>
          <p:cNvPr id="78" name="Shape 76"/>
          <p:cNvSpPr/>
          <p:nvPr/>
        </p:nvSpPr>
        <p:spPr>
          <a:xfrm>
            <a:off x="2839923" y="4175032"/>
            <a:ext cx="128016" cy="128016"/>
          </a:xfrm>
          <a:prstGeom prst="triangle">
            <a:avLst/>
          </a:prstGeom>
          <a:solidFill>
            <a:srgbClr val="7056C2"/>
          </a:solidFill>
          <a:ln w="5080">
            <a:solidFill>
              <a:srgbClr val="7056C2"/>
            </a:solidFill>
            <a:prstDash val="solid"/>
          </a:ln>
        </p:spPr>
      </p:sp>
      <p:sp>
        <p:nvSpPr>
          <p:cNvPr id="79" name="Shape 77"/>
          <p:cNvSpPr/>
          <p:nvPr/>
        </p:nvSpPr>
        <p:spPr>
          <a:xfrm>
            <a:off x="2431541" y="2967961"/>
            <a:ext cx="128016" cy="128016"/>
          </a:xfrm>
          <a:prstGeom prst="diamond">
            <a:avLst/>
          </a:prstGeom>
          <a:solidFill>
            <a:srgbClr val="167C85"/>
          </a:solidFill>
          <a:ln w="5080">
            <a:solidFill>
              <a:srgbClr val="167C85"/>
            </a:solidFill>
            <a:prstDash val="solid"/>
          </a:ln>
        </p:spPr>
      </p:sp>
      <p:sp>
        <p:nvSpPr>
          <p:cNvPr id="80" name="Shape 78"/>
          <p:cNvSpPr/>
          <p:nvPr/>
        </p:nvSpPr>
        <p:spPr>
          <a:xfrm>
            <a:off x="1622151" y="3219217"/>
            <a:ext cx="128016" cy="128016"/>
          </a:xfrm>
          <a:prstGeom prst="diamond">
            <a:avLst/>
          </a:prstGeom>
          <a:solidFill>
            <a:srgbClr val="167C85"/>
          </a:solidFill>
          <a:ln w="5080">
            <a:solidFill>
              <a:srgbClr val="167C85"/>
            </a:solidFill>
            <a:prstDash val="solid"/>
          </a:ln>
        </p:spPr>
      </p:sp>
      <p:sp>
        <p:nvSpPr>
          <p:cNvPr id="81" name="Shape 79"/>
          <p:cNvSpPr/>
          <p:nvPr/>
        </p:nvSpPr>
        <p:spPr>
          <a:xfrm>
            <a:off x="2300350" y="2785136"/>
            <a:ext cx="128016" cy="128016"/>
          </a:xfrm>
          <a:prstGeom prst="triangle">
            <a:avLst/>
          </a:prstGeom>
          <a:solidFill>
            <a:srgbClr val="7056C2"/>
          </a:solidFill>
          <a:ln w="5080">
            <a:solidFill>
              <a:srgbClr val="7056C2"/>
            </a:solidFill>
            <a:prstDash val="solid"/>
          </a:ln>
        </p:spPr>
      </p:sp>
      <p:sp>
        <p:nvSpPr>
          <p:cNvPr id="82" name="Shape 80"/>
          <p:cNvSpPr/>
          <p:nvPr/>
        </p:nvSpPr>
        <p:spPr>
          <a:xfrm>
            <a:off x="2185731" y="2866934"/>
            <a:ext cx="128016" cy="128016"/>
          </a:xfrm>
          <a:prstGeom prst="diamond">
            <a:avLst/>
          </a:prstGeom>
          <a:solidFill>
            <a:srgbClr val="167C85"/>
          </a:solidFill>
          <a:ln w="5080">
            <a:solidFill>
              <a:srgbClr val="167C85"/>
            </a:solidFill>
            <a:prstDash val="solid"/>
          </a:ln>
        </p:spPr>
      </p:sp>
      <p:sp>
        <p:nvSpPr>
          <p:cNvPr id="83" name="Shape 81"/>
          <p:cNvSpPr/>
          <p:nvPr/>
        </p:nvSpPr>
        <p:spPr>
          <a:xfrm>
            <a:off x="1560156" y="3230601"/>
            <a:ext cx="128016" cy="128016"/>
          </a:xfrm>
          <a:prstGeom prst="diamond">
            <a:avLst/>
          </a:prstGeom>
          <a:solidFill>
            <a:srgbClr val="167C85"/>
          </a:solidFill>
          <a:ln w="5080">
            <a:solidFill>
              <a:srgbClr val="167C85"/>
            </a:solidFill>
            <a:prstDash val="solid"/>
          </a:ln>
        </p:spPr>
      </p:sp>
      <p:sp>
        <p:nvSpPr>
          <p:cNvPr id="84" name="Shape 82"/>
          <p:cNvSpPr/>
          <p:nvPr/>
        </p:nvSpPr>
        <p:spPr>
          <a:xfrm>
            <a:off x="1755507" y="3145890"/>
            <a:ext cx="128016" cy="128016"/>
          </a:xfrm>
          <a:prstGeom prst="diamond">
            <a:avLst/>
          </a:prstGeom>
          <a:solidFill>
            <a:srgbClr val="167C85"/>
          </a:solidFill>
          <a:ln w="5080">
            <a:solidFill>
              <a:srgbClr val="167C85"/>
            </a:solidFill>
            <a:prstDash val="solid"/>
          </a:ln>
        </p:spPr>
      </p:sp>
      <p:sp>
        <p:nvSpPr>
          <p:cNvPr id="85" name="Shape 83"/>
          <p:cNvSpPr/>
          <p:nvPr/>
        </p:nvSpPr>
        <p:spPr>
          <a:xfrm>
            <a:off x="2194147" y="3286836"/>
            <a:ext cx="128016" cy="128016"/>
          </a:xfrm>
          <a:prstGeom prst="diamond">
            <a:avLst/>
          </a:prstGeom>
          <a:solidFill>
            <a:srgbClr val="167C85"/>
          </a:solidFill>
          <a:ln w="5080">
            <a:solidFill>
              <a:srgbClr val="167C85"/>
            </a:solidFill>
            <a:prstDash val="solid"/>
          </a:ln>
        </p:spPr>
      </p:sp>
      <p:sp>
        <p:nvSpPr>
          <p:cNvPr id="86" name="Shape 84"/>
          <p:cNvSpPr/>
          <p:nvPr/>
        </p:nvSpPr>
        <p:spPr>
          <a:xfrm>
            <a:off x="2272346" y="2816191"/>
            <a:ext cx="128016" cy="128016"/>
          </a:xfrm>
          <a:prstGeom prst="diamond">
            <a:avLst/>
          </a:prstGeom>
          <a:solidFill>
            <a:srgbClr val="167C85"/>
          </a:solidFill>
          <a:ln w="5080">
            <a:solidFill>
              <a:srgbClr val="167C85"/>
            </a:solidFill>
            <a:prstDash val="solid"/>
          </a:ln>
        </p:spPr>
      </p:sp>
      <p:sp>
        <p:nvSpPr>
          <p:cNvPr id="87" name="Shape 85"/>
          <p:cNvSpPr/>
          <p:nvPr/>
        </p:nvSpPr>
        <p:spPr>
          <a:xfrm>
            <a:off x="1704957" y="3198011"/>
            <a:ext cx="128016" cy="128016"/>
          </a:xfrm>
          <a:prstGeom prst="diamond">
            <a:avLst/>
          </a:prstGeom>
          <a:solidFill>
            <a:srgbClr val="167C85"/>
          </a:solidFill>
          <a:ln w="5080">
            <a:solidFill>
              <a:srgbClr val="167C85"/>
            </a:solidFill>
            <a:prstDash val="solid"/>
          </a:ln>
        </p:spPr>
      </p:sp>
      <p:sp>
        <p:nvSpPr>
          <p:cNvPr id="88" name="Shape 86"/>
          <p:cNvSpPr/>
          <p:nvPr/>
        </p:nvSpPr>
        <p:spPr>
          <a:xfrm>
            <a:off x="1880298" y="3071509"/>
            <a:ext cx="128016" cy="128016"/>
          </a:xfrm>
          <a:prstGeom prst="diamond">
            <a:avLst/>
          </a:prstGeom>
          <a:solidFill>
            <a:srgbClr val="167C85"/>
          </a:solidFill>
          <a:ln w="5080">
            <a:solidFill>
              <a:srgbClr val="167C85"/>
            </a:solidFill>
            <a:prstDash val="solid"/>
          </a:ln>
        </p:spPr>
      </p:sp>
      <p:sp>
        <p:nvSpPr>
          <p:cNvPr id="89" name="Shape 87"/>
          <p:cNvSpPr/>
          <p:nvPr/>
        </p:nvSpPr>
        <p:spPr>
          <a:xfrm>
            <a:off x="2419588" y="3036422"/>
            <a:ext cx="128016" cy="128016"/>
          </a:xfrm>
          <a:prstGeom prst="diamond">
            <a:avLst/>
          </a:prstGeom>
          <a:solidFill>
            <a:srgbClr val="167C85"/>
          </a:solidFill>
          <a:ln w="5080">
            <a:solidFill>
              <a:srgbClr val="167C85"/>
            </a:solidFill>
            <a:prstDash val="solid"/>
          </a:ln>
        </p:spPr>
      </p:sp>
      <p:sp>
        <p:nvSpPr>
          <p:cNvPr id="90" name="Shape 88"/>
          <p:cNvSpPr/>
          <p:nvPr/>
        </p:nvSpPr>
        <p:spPr>
          <a:xfrm>
            <a:off x="2635244" y="2935030"/>
            <a:ext cx="128016" cy="128016"/>
          </a:xfrm>
          <a:prstGeom prst="triangle">
            <a:avLst/>
          </a:prstGeom>
          <a:solidFill>
            <a:srgbClr val="7056C2"/>
          </a:solidFill>
          <a:ln w="5080">
            <a:solidFill>
              <a:srgbClr val="7056C2"/>
            </a:solidFill>
            <a:prstDash val="solid"/>
          </a:ln>
        </p:spPr>
      </p:sp>
      <p:sp>
        <p:nvSpPr>
          <p:cNvPr id="91" name="Shape 89"/>
          <p:cNvSpPr/>
          <p:nvPr/>
        </p:nvSpPr>
        <p:spPr>
          <a:xfrm>
            <a:off x="2376220" y="2797891"/>
            <a:ext cx="128016" cy="128016"/>
          </a:xfrm>
          <a:prstGeom prst="triangle">
            <a:avLst/>
          </a:prstGeom>
          <a:solidFill>
            <a:srgbClr val="7056C2"/>
          </a:solidFill>
          <a:ln w="5080">
            <a:solidFill>
              <a:srgbClr val="7056C2"/>
            </a:solidFill>
            <a:prstDash val="solid"/>
          </a:ln>
        </p:spPr>
      </p:sp>
      <p:sp>
        <p:nvSpPr>
          <p:cNvPr id="92" name="Shape 90"/>
          <p:cNvSpPr/>
          <p:nvPr/>
        </p:nvSpPr>
        <p:spPr>
          <a:xfrm>
            <a:off x="1741446" y="3046319"/>
            <a:ext cx="128016" cy="128016"/>
          </a:xfrm>
          <a:prstGeom prst="diamond">
            <a:avLst/>
          </a:prstGeom>
          <a:solidFill>
            <a:srgbClr val="167C85"/>
          </a:solidFill>
          <a:ln w="5080">
            <a:solidFill>
              <a:srgbClr val="167C85"/>
            </a:solidFill>
            <a:prstDash val="solid"/>
          </a:ln>
        </p:spPr>
      </p:sp>
      <p:sp>
        <p:nvSpPr>
          <p:cNvPr id="93" name="Shape 91"/>
          <p:cNvSpPr/>
          <p:nvPr/>
        </p:nvSpPr>
        <p:spPr>
          <a:xfrm>
            <a:off x="2067355" y="3230970"/>
            <a:ext cx="128016" cy="128016"/>
          </a:xfrm>
          <a:prstGeom prst="diamond">
            <a:avLst/>
          </a:prstGeom>
          <a:solidFill>
            <a:srgbClr val="167C85"/>
          </a:solidFill>
          <a:ln w="5080">
            <a:solidFill>
              <a:srgbClr val="167C85"/>
            </a:solidFill>
            <a:prstDash val="solid"/>
          </a:ln>
        </p:spPr>
      </p:sp>
      <p:sp>
        <p:nvSpPr>
          <p:cNvPr id="94" name="Shape 92"/>
          <p:cNvSpPr/>
          <p:nvPr/>
        </p:nvSpPr>
        <p:spPr>
          <a:xfrm>
            <a:off x="2612565" y="2901984"/>
            <a:ext cx="128016" cy="128016"/>
          </a:xfrm>
          <a:prstGeom prst="triangle">
            <a:avLst/>
          </a:prstGeom>
          <a:solidFill>
            <a:srgbClr val="7056C2"/>
          </a:solidFill>
          <a:ln w="5080">
            <a:solidFill>
              <a:srgbClr val="7056C2"/>
            </a:solidFill>
            <a:prstDash val="solid"/>
          </a:ln>
        </p:spPr>
      </p:sp>
      <p:sp>
        <p:nvSpPr>
          <p:cNvPr id="95" name="Shape 93"/>
          <p:cNvSpPr/>
          <p:nvPr/>
        </p:nvSpPr>
        <p:spPr>
          <a:xfrm>
            <a:off x="2409249" y="2822375"/>
            <a:ext cx="128016" cy="128016"/>
          </a:xfrm>
          <a:prstGeom prst="triangle">
            <a:avLst/>
          </a:prstGeom>
          <a:solidFill>
            <a:srgbClr val="7056C2"/>
          </a:solidFill>
          <a:ln w="5080">
            <a:solidFill>
              <a:srgbClr val="7056C2"/>
            </a:solidFill>
            <a:prstDash val="solid"/>
          </a:ln>
        </p:spPr>
      </p:sp>
      <p:sp>
        <p:nvSpPr>
          <p:cNvPr id="96" name="Shape 94"/>
          <p:cNvSpPr/>
          <p:nvPr/>
        </p:nvSpPr>
        <p:spPr>
          <a:xfrm>
            <a:off x="1801021" y="3041496"/>
            <a:ext cx="128016" cy="128016"/>
          </a:xfrm>
          <a:prstGeom prst="diamond">
            <a:avLst/>
          </a:prstGeom>
          <a:solidFill>
            <a:srgbClr val="167C85"/>
          </a:solidFill>
          <a:ln w="5080">
            <a:solidFill>
              <a:srgbClr val="167C85"/>
            </a:solidFill>
            <a:prstDash val="solid"/>
          </a:ln>
        </p:spPr>
      </p:sp>
      <p:sp>
        <p:nvSpPr>
          <p:cNvPr id="97" name="Shape 95"/>
          <p:cNvSpPr/>
          <p:nvPr/>
        </p:nvSpPr>
        <p:spPr>
          <a:xfrm>
            <a:off x="2681931" y="2908401"/>
            <a:ext cx="128016" cy="128016"/>
          </a:xfrm>
          <a:prstGeom prst="triangle">
            <a:avLst/>
          </a:prstGeom>
          <a:solidFill>
            <a:srgbClr val="7056C2"/>
          </a:solidFill>
          <a:ln w="5080">
            <a:solidFill>
              <a:srgbClr val="7056C2"/>
            </a:solidFill>
            <a:prstDash val="solid"/>
          </a:ln>
        </p:spPr>
      </p:sp>
      <p:sp>
        <p:nvSpPr>
          <p:cNvPr id="98" name="Shape 96"/>
          <p:cNvSpPr/>
          <p:nvPr/>
        </p:nvSpPr>
        <p:spPr>
          <a:xfrm>
            <a:off x="2232225" y="3165136"/>
            <a:ext cx="128016" cy="128016"/>
          </a:xfrm>
          <a:prstGeom prst="diamond">
            <a:avLst/>
          </a:prstGeom>
          <a:solidFill>
            <a:srgbClr val="167C85"/>
          </a:solidFill>
          <a:ln w="5080">
            <a:solidFill>
              <a:srgbClr val="167C85"/>
            </a:solidFill>
            <a:prstDash val="solid"/>
          </a:ln>
        </p:spPr>
      </p:sp>
      <p:sp>
        <p:nvSpPr>
          <p:cNvPr id="99" name="Shape 97"/>
          <p:cNvSpPr/>
          <p:nvPr/>
        </p:nvSpPr>
        <p:spPr>
          <a:xfrm>
            <a:off x="2481674" y="2974221"/>
            <a:ext cx="128016" cy="128016"/>
          </a:xfrm>
          <a:prstGeom prst="diamond">
            <a:avLst/>
          </a:prstGeom>
          <a:solidFill>
            <a:srgbClr val="167C85"/>
          </a:solidFill>
          <a:ln w="5080">
            <a:solidFill>
              <a:srgbClr val="167C85"/>
            </a:solidFill>
            <a:prstDash val="solid"/>
          </a:ln>
        </p:spPr>
      </p:sp>
      <p:sp>
        <p:nvSpPr>
          <p:cNvPr id="100" name="Shape 98"/>
          <p:cNvSpPr/>
          <p:nvPr/>
        </p:nvSpPr>
        <p:spPr>
          <a:xfrm>
            <a:off x="1622085" y="3093942"/>
            <a:ext cx="128016" cy="128016"/>
          </a:xfrm>
          <a:prstGeom prst="diamond">
            <a:avLst/>
          </a:prstGeom>
          <a:solidFill>
            <a:srgbClr val="167C85"/>
          </a:solidFill>
          <a:ln w="5080">
            <a:solidFill>
              <a:srgbClr val="167C85"/>
            </a:solidFill>
            <a:prstDash val="solid"/>
          </a:ln>
        </p:spPr>
      </p:sp>
      <p:sp>
        <p:nvSpPr>
          <p:cNvPr id="101" name="Shape 99"/>
          <p:cNvSpPr/>
          <p:nvPr/>
        </p:nvSpPr>
        <p:spPr>
          <a:xfrm>
            <a:off x="2131755" y="3240454"/>
            <a:ext cx="128016" cy="128016"/>
          </a:xfrm>
          <a:prstGeom prst="diamond">
            <a:avLst/>
          </a:prstGeom>
          <a:solidFill>
            <a:srgbClr val="167C85"/>
          </a:solidFill>
          <a:ln w="5080">
            <a:solidFill>
              <a:srgbClr val="167C85"/>
            </a:solidFill>
            <a:prstDash val="solid"/>
          </a:ln>
        </p:spPr>
      </p:sp>
      <p:sp>
        <p:nvSpPr>
          <p:cNvPr id="102" name="Shape 100"/>
          <p:cNvSpPr/>
          <p:nvPr/>
        </p:nvSpPr>
        <p:spPr>
          <a:xfrm>
            <a:off x="1913805" y="3222569"/>
            <a:ext cx="128016" cy="128016"/>
          </a:xfrm>
          <a:prstGeom prst="diamond">
            <a:avLst/>
          </a:prstGeom>
          <a:solidFill>
            <a:srgbClr val="167C85"/>
          </a:solidFill>
          <a:ln w="5080">
            <a:solidFill>
              <a:srgbClr val="167C85"/>
            </a:solidFill>
            <a:prstDash val="solid"/>
          </a:ln>
        </p:spPr>
      </p:sp>
      <p:sp>
        <p:nvSpPr>
          <p:cNvPr id="103" name="Shape 101"/>
          <p:cNvSpPr/>
          <p:nvPr/>
        </p:nvSpPr>
        <p:spPr>
          <a:xfrm>
            <a:off x="2243005" y="3185929"/>
            <a:ext cx="128016" cy="128016"/>
          </a:xfrm>
          <a:prstGeom prst="diamond">
            <a:avLst/>
          </a:prstGeom>
          <a:solidFill>
            <a:srgbClr val="167C85"/>
          </a:solidFill>
          <a:ln w="5080">
            <a:solidFill>
              <a:srgbClr val="167C85"/>
            </a:solidFill>
            <a:prstDash val="solid"/>
          </a:ln>
        </p:spPr>
      </p:sp>
      <p:sp>
        <p:nvSpPr>
          <p:cNvPr id="104" name="Shape 102"/>
          <p:cNvSpPr/>
          <p:nvPr/>
        </p:nvSpPr>
        <p:spPr>
          <a:xfrm>
            <a:off x="1788340" y="3005817"/>
            <a:ext cx="128016" cy="128016"/>
          </a:xfrm>
          <a:prstGeom prst="diamond">
            <a:avLst/>
          </a:prstGeom>
          <a:solidFill>
            <a:srgbClr val="167C85"/>
          </a:solidFill>
          <a:ln w="5080">
            <a:solidFill>
              <a:srgbClr val="167C85"/>
            </a:solidFill>
            <a:prstDash val="solid"/>
          </a:ln>
        </p:spPr>
      </p:sp>
      <p:sp>
        <p:nvSpPr>
          <p:cNvPr id="105" name="Shape 103"/>
          <p:cNvSpPr/>
          <p:nvPr/>
        </p:nvSpPr>
        <p:spPr>
          <a:xfrm>
            <a:off x="2131432" y="2872518"/>
            <a:ext cx="128016" cy="128016"/>
          </a:xfrm>
          <a:prstGeom prst="diamond">
            <a:avLst/>
          </a:prstGeom>
          <a:solidFill>
            <a:srgbClr val="167C85"/>
          </a:solidFill>
          <a:ln w="5080">
            <a:solidFill>
              <a:srgbClr val="167C85"/>
            </a:solidFill>
            <a:prstDash val="solid"/>
          </a:ln>
        </p:spPr>
      </p:sp>
      <p:sp>
        <p:nvSpPr>
          <p:cNvPr id="106" name="Shape 104"/>
          <p:cNvSpPr/>
          <p:nvPr/>
        </p:nvSpPr>
        <p:spPr>
          <a:xfrm>
            <a:off x="6336792" y="2048256"/>
            <a:ext cx="5120640" cy="3456432"/>
          </a:xfrm>
          <a:prstGeom prst="rect">
            <a:avLst/>
          </a:prstGeom>
          <a:solidFill>
            <a:srgbClr val="FFFFFF"/>
          </a:solidFill>
          <a:ln w="12700">
            <a:solidFill>
              <a:srgbClr val="FFFFFF">
                <a:alpha val="0"/>
              </a:srgbClr>
            </a:solidFill>
            <a:prstDash val="solid"/>
          </a:ln>
        </p:spPr>
      </p:sp>
      <p:sp>
        <p:nvSpPr>
          <p:cNvPr id="107" name="Shape 105"/>
          <p:cNvSpPr/>
          <p:nvPr/>
        </p:nvSpPr>
        <p:spPr>
          <a:xfrm>
            <a:off x="6912864" y="4773168"/>
            <a:ext cx="4325112" cy="0"/>
          </a:xfrm>
          <a:prstGeom prst="line">
            <a:avLst/>
          </a:prstGeom>
          <a:noFill/>
          <a:ln w="8255">
            <a:solidFill>
              <a:srgbClr val="E3EFF7"/>
            </a:solidFill>
            <a:prstDash val="solid"/>
            <a:headEnd type="none"/>
            <a:tailEnd type="none"/>
          </a:ln>
        </p:spPr>
      </p:sp>
      <p:sp>
        <p:nvSpPr>
          <p:cNvPr id="108" name="Shape 106"/>
          <p:cNvSpPr/>
          <p:nvPr/>
        </p:nvSpPr>
        <p:spPr>
          <a:xfrm>
            <a:off x="6912864" y="3739896"/>
            <a:ext cx="4325112" cy="0"/>
          </a:xfrm>
          <a:prstGeom prst="line">
            <a:avLst/>
          </a:prstGeom>
          <a:noFill/>
          <a:ln w="8255">
            <a:solidFill>
              <a:srgbClr val="E3EFF7"/>
            </a:solidFill>
            <a:prstDash val="solid"/>
            <a:headEnd type="none"/>
            <a:tailEnd type="none"/>
          </a:ln>
        </p:spPr>
      </p:sp>
      <p:sp>
        <p:nvSpPr>
          <p:cNvPr id="109" name="Shape 107"/>
          <p:cNvSpPr/>
          <p:nvPr/>
        </p:nvSpPr>
        <p:spPr>
          <a:xfrm>
            <a:off x="6912864" y="2706624"/>
            <a:ext cx="4325112" cy="0"/>
          </a:xfrm>
          <a:prstGeom prst="line">
            <a:avLst/>
          </a:prstGeom>
          <a:noFill/>
          <a:ln w="8255">
            <a:solidFill>
              <a:srgbClr val="E3EFF7"/>
            </a:solidFill>
            <a:prstDash val="solid"/>
            <a:headEnd type="none"/>
            <a:tailEnd type="none"/>
          </a:ln>
        </p:spPr>
      </p:sp>
      <p:sp>
        <p:nvSpPr>
          <p:cNvPr id="110" name="Shape 108"/>
          <p:cNvSpPr/>
          <p:nvPr/>
        </p:nvSpPr>
        <p:spPr>
          <a:xfrm>
            <a:off x="6912864" y="2706624"/>
            <a:ext cx="0" cy="2066544"/>
          </a:xfrm>
          <a:prstGeom prst="line">
            <a:avLst/>
          </a:prstGeom>
          <a:noFill/>
          <a:ln w="12700">
            <a:solidFill>
              <a:srgbClr val="C4D2E2"/>
            </a:solidFill>
            <a:prstDash val="solid"/>
            <a:headEnd type="none"/>
            <a:tailEnd type="none"/>
          </a:ln>
        </p:spPr>
      </p:sp>
      <p:sp>
        <p:nvSpPr>
          <p:cNvPr id="111" name="Shape 109"/>
          <p:cNvSpPr/>
          <p:nvPr/>
        </p:nvSpPr>
        <p:spPr>
          <a:xfrm>
            <a:off x="6912864" y="4773168"/>
            <a:ext cx="4325112" cy="0"/>
          </a:xfrm>
          <a:prstGeom prst="line">
            <a:avLst/>
          </a:prstGeom>
          <a:noFill/>
          <a:ln w="12700">
            <a:solidFill>
              <a:srgbClr val="C4D2E2"/>
            </a:solidFill>
            <a:prstDash val="solid"/>
            <a:headEnd type="none"/>
            <a:tailEnd type="none"/>
          </a:ln>
        </p:spPr>
      </p:sp>
      <p:sp>
        <p:nvSpPr>
          <p:cNvPr id="112" name="Text 110"/>
          <p:cNvSpPr/>
          <p:nvPr/>
        </p:nvSpPr>
        <p:spPr>
          <a:xfrm>
            <a:off x="6492240" y="2157984"/>
            <a:ext cx="4809744" cy="265176"/>
          </a:xfrm>
          <a:prstGeom prst="rect">
            <a:avLst/>
          </a:prstGeom>
          <a:noFill/>
          <a:ln/>
        </p:spPr>
        <p:txBody>
          <a:bodyPr wrap="square" lIns="0" tIns="0" rIns="0" bIns="0" rtlCol="0" anchor="ctr"/>
          <a:lstStyle/>
          <a:p>
            <a:pPr algn="l" indent="0" marL="0">
              <a:buNone/>
            </a:pPr>
            <a:r>
              <a:rPr lang="en-US" sz="1700" b="1" dirty="0">
                <a:solidFill>
                  <a:srgbClr val="172233"/>
                </a:solidFill>
                <a:latin typeface="Aptos" pitchFamily="34" charset="0"/>
                <a:ea typeface="Aptos" pitchFamily="34" charset="-122"/>
                <a:cs typeface="Aptos" pitchFamily="34" charset="-120"/>
              </a:rPr>
              <a:t>Perplexity = 25</a:t>
            </a:r>
            <a:endParaRPr lang="en-US" sz="1700" dirty="0"/>
          </a:p>
        </p:txBody>
      </p:sp>
      <p:sp>
        <p:nvSpPr>
          <p:cNvPr id="113" name="Text 111"/>
          <p:cNvSpPr/>
          <p:nvPr/>
        </p:nvSpPr>
        <p:spPr>
          <a:xfrm>
            <a:off x="6912864" y="2423160"/>
            <a:ext cx="4325112" cy="201168"/>
          </a:xfrm>
          <a:prstGeom prst="rect">
            <a:avLst/>
          </a:prstGeom>
          <a:noFill/>
          <a:ln/>
        </p:spPr>
        <p:txBody>
          <a:bodyPr wrap="square" lIns="0" tIns="0" rIns="0" bIns="0" rtlCol="0" anchor="ctr"/>
          <a:lstStyle/>
          <a:p>
            <a:pPr algn="l" indent="0" marL="0">
              <a:buNone/>
            </a:pPr>
            <a:r>
              <a:rPr lang="en-US" sz="1300" dirty="0">
                <a:solidFill>
                  <a:srgbClr val="53657A"/>
                </a:solidFill>
                <a:latin typeface="Aptos" pitchFamily="34" charset="0"/>
                <a:ea typeface="Aptos" pitchFamily="34" charset="-122"/>
                <a:cs typeface="Aptos" pitchFamily="34" charset="-120"/>
              </a:rPr>
              <a:t>t-SNE 2</a:t>
            </a:r>
            <a:endParaRPr lang="en-US" sz="1300" dirty="0"/>
          </a:p>
        </p:txBody>
      </p:sp>
      <p:sp>
        <p:nvSpPr>
          <p:cNvPr id="114" name="Text 112"/>
          <p:cNvSpPr/>
          <p:nvPr/>
        </p:nvSpPr>
        <p:spPr>
          <a:xfrm>
            <a:off x="6912864" y="5276088"/>
            <a:ext cx="4325112" cy="210312"/>
          </a:xfrm>
          <a:prstGeom prst="rect">
            <a:avLst/>
          </a:prstGeom>
          <a:noFill/>
          <a:ln/>
        </p:spPr>
        <p:txBody>
          <a:bodyPr wrap="square" lIns="0" tIns="0" rIns="0" bIns="0" rtlCol="0" anchor="ctr"/>
          <a:lstStyle/>
          <a:p>
            <a:pPr algn="ctr" indent="0" marL="0">
              <a:buNone/>
            </a:pPr>
            <a:r>
              <a:rPr lang="en-US" sz="1300" dirty="0">
                <a:solidFill>
                  <a:srgbClr val="53657A"/>
                </a:solidFill>
                <a:latin typeface="Aptos" pitchFamily="34" charset="0"/>
                <a:ea typeface="Aptos" pitchFamily="34" charset="-122"/>
                <a:cs typeface="Aptos" pitchFamily="34" charset="-120"/>
              </a:rPr>
              <a:t>t-SNE 1 (arbitrary units)</a:t>
            </a:r>
            <a:endParaRPr lang="en-US" sz="1300" dirty="0"/>
          </a:p>
        </p:txBody>
      </p:sp>
      <p:sp>
        <p:nvSpPr>
          <p:cNvPr id="115" name="Shape 113"/>
          <p:cNvSpPr/>
          <p:nvPr/>
        </p:nvSpPr>
        <p:spPr>
          <a:xfrm>
            <a:off x="8939801" y="3193998"/>
            <a:ext cx="128016" cy="128016"/>
          </a:xfrm>
          <a:prstGeom prst="diamond">
            <a:avLst/>
          </a:prstGeom>
          <a:solidFill>
            <a:srgbClr val="167C85"/>
          </a:solidFill>
          <a:ln w="5080">
            <a:solidFill>
              <a:srgbClr val="167C85"/>
            </a:solidFill>
            <a:prstDash val="solid"/>
          </a:ln>
        </p:spPr>
      </p:sp>
      <p:sp>
        <p:nvSpPr>
          <p:cNvPr id="116" name="Shape 114"/>
          <p:cNvSpPr/>
          <p:nvPr/>
        </p:nvSpPr>
        <p:spPr>
          <a:xfrm>
            <a:off x="10445129" y="4536441"/>
            <a:ext cx="128016" cy="128016"/>
          </a:xfrm>
          <a:prstGeom prst="ellipse">
            <a:avLst/>
          </a:prstGeom>
          <a:solidFill>
            <a:srgbClr val="176493"/>
          </a:solidFill>
          <a:ln w="5080">
            <a:solidFill>
              <a:srgbClr val="176493"/>
            </a:solidFill>
            <a:prstDash val="solid"/>
          </a:ln>
        </p:spPr>
      </p:sp>
      <p:sp>
        <p:nvSpPr>
          <p:cNvPr id="117" name="Shape 115"/>
          <p:cNvSpPr/>
          <p:nvPr/>
        </p:nvSpPr>
        <p:spPr>
          <a:xfrm>
            <a:off x="10388654" y="4427226"/>
            <a:ext cx="128016" cy="128016"/>
          </a:xfrm>
          <a:prstGeom prst="ellipse">
            <a:avLst/>
          </a:prstGeom>
          <a:solidFill>
            <a:srgbClr val="176493"/>
          </a:solidFill>
          <a:ln w="5080">
            <a:solidFill>
              <a:srgbClr val="176493"/>
            </a:solidFill>
            <a:prstDash val="solid"/>
          </a:ln>
        </p:spPr>
      </p:sp>
      <p:sp>
        <p:nvSpPr>
          <p:cNvPr id="118" name="Shape 116"/>
          <p:cNvSpPr/>
          <p:nvPr/>
        </p:nvSpPr>
        <p:spPr>
          <a:xfrm>
            <a:off x="10498375" y="4376776"/>
            <a:ext cx="128016" cy="128016"/>
          </a:xfrm>
          <a:prstGeom prst="ellipse">
            <a:avLst/>
          </a:prstGeom>
          <a:solidFill>
            <a:srgbClr val="176493"/>
          </a:solidFill>
          <a:ln w="5080">
            <a:solidFill>
              <a:srgbClr val="176493"/>
            </a:solidFill>
            <a:prstDash val="solid"/>
          </a:ln>
        </p:spPr>
      </p:sp>
      <p:sp>
        <p:nvSpPr>
          <p:cNvPr id="119" name="Shape 117"/>
          <p:cNvSpPr/>
          <p:nvPr/>
        </p:nvSpPr>
        <p:spPr>
          <a:xfrm>
            <a:off x="10760344" y="4381556"/>
            <a:ext cx="128016" cy="128016"/>
          </a:xfrm>
          <a:prstGeom prst="ellipse">
            <a:avLst/>
          </a:prstGeom>
          <a:solidFill>
            <a:srgbClr val="176493"/>
          </a:solidFill>
          <a:ln w="5080">
            <a:solidFill>
              <a:srgbClr val="176493"/>
            </a:solidFill>
            <a:prstDash val="solid"/>
          </a:ln>
        </p:spPr>
      </p:sp>
      <p:sp>
        <p:nvSpPr>
          <p:cNvPr id="120" name="Shape 118"/>
          <p:cNvSpPr/>
          <p:nvPr/>
        </p:nvSpPr>
        <p:spPr>
          <a:xfrm>
            <a:off x="10833492" y="4401982"/>
            <a:ext cx="128016" cy="128016"/>
          </a:xfrm>
          <a:prstGeom prst="ellipse">
            <a:avLst/>
          </a:prstGeom>
          <a:solidFill>
            <a:srgbClr val="176493"/>
          </a:solidFill>
          <a:ln w="5080">
            <a:solidFill>
              <a:srgbClr val="176493"/>
            </a:solidFill>
            <a:prstDash val="solid"/>
          </a:ln>
        </p:spPr>
      </p:sp>
      <p:sp>
        <p:nvSpPr>
          <p:cNvPr id="121" name="Shape 119"/>
          <p:cNvSpPr/>
          <p:nvPr/>
        </p:nvSpPr>
        <p:spPr>
          <a:xfrm>
            <a:off x="10546228" y="4516093"/>
            <a:ext cx="128016" cy="128016"/>
          </a:xfrm>
          <a:prstGeom prst="ellipse">
            <a:avLst/>
          </a:prstGeom>
          <a:solidFill>
            <a:srgbClr val="176493"/>
          </a:solidFill>
          <a:ln w="5080">
            <a:solidFill>
              <a:srgbClr val="176493"/>
            </a:solidFill>
            <a:prstDash val="solid"/>
          </a:ln>
        </p:spPr>
      </p:sp>
      <p:sp>
        <p:nvSpPr>
          <p:cNvPr id="122" name="Shape 120"/>
          <p:cNvSpPr/>
          <p:nvPr/>
        </p:nvSpPr>
        <p:spPr>
          <a:xfrm>
            <a:off x="10571062" y="4383418"/>
            <a:ext cx="128016" cy="128016"/>
          </a:xfrm>
          <a:prstGeom prst="ellipse">
            <a:avLst/>
          </a:prstGeom>
          <a:solidFill>
            <a:srgbClr val="176493"/>
          </a:solidFill>
          <a:ln w="5080">
            <a:solidFill>
              <a:srgbClr val="176493"/>
            </a:solidFill>
            <a:prstDash val="solid"/>
          </a:ln>
        </p:spPr>
      </p:sp>
      <p:sp>
        <p:nvSpPr>
          <p:cNvPr id="123" name="Shape 121"/>
          <p:cNvSpPr/>
          <p:nvPr/>
        </p:nvSpPr>
        <p:spPr>
          <a:xfrm>
            <a:off x="10294130" y="4301455"/>
            <a:ext cx="128016" cy="128016"/>
          </a:xfrm>
          <a:prstGeom prst="ellipse">
            <a:avLst/>
          </a:prstGeom>
          <a:solidFill>
            <a:srgbClr val="176493"/>
          </a:solidFill>
          <a:ln w="5080">
            <a:solidFill>
              <a:srgbClr val="176493"/>
            </a:solidFill>
            <a:prstDash val="solid"/>
          </a:ln>
        </p:spPr>
      </p:sp>
      <p:sp>
        <p:nvSpPr>
          <p:cNvPr id="124" name="Shape 122"/>
          <p:cNvSpPr/>
          <p:nvPr/>
        </p:nvSpPr>
        <p:spPr>
          <a:xfrm>
            <a:off x="10518782" y="4340506"/>
            <a:ext cx="128016" cy="128016"/>
          </a:xfrm>
          <a:prstGeom prst="ellipse">
            <a:avLst/>
          </a:prstGeom>
          <a:solidFill>
            <a:srgbClr val="176493"/>
          </a:solidFill>
          <a:ln w="5080">
            <a:solidFill>
              <a:srgbClr val="176493"/>
            </a:solidFill>
            <a:prstDash val="solid"/>
          </a:ln>
        </p:spPr>
      </p:sp>
      <p:sp>
        <p:nvSpPr>
          <p:cNvPr id="125" name="Shape 123"/>
          <p:cNvSpPr/>
          <p:nvPr/>
        </p:nvSpPr>
        <p:spPr>
          <a:xfrm>
            <a:off x="10597060" y="4296720"/>
            <a:ext cx="128016" cy="128016"/>
          </a:xfrm>
          <a:prstGeom prst="ellipse">
            <a:avLst/>
          </a:prstGeom>
          <a:solidFill>
            <a:srgbClr val="176493"/>
          </a:solidFill>
          <a:ln w="5080">
            <a:solidFill>
              <a:srgbClr val="176493"/>
            </a:solidFill>
            <a:prstDash val="solid"/>
          </a:ln>
        </p:spPr>
      </p:sp>
      <p:sp>
        <p:nvSpPr>
          <p:cNvPr id="126" name="Shape 124"/>
          <p:cNvSpPr/>
          <p:nvPr/>
        </p:nvSpPr>
        <p:spPr>
          <a:xfrm>
            <a:off x="10410472" y="4336654"/>
            <a:ext cx="128016" cy="128016"/>
          </a:xfrm>
          <a:prstGeom prst="ellipse">
            <a:avLst/>
          </a:prstGeom>
          <a:solidFill>
            <a:srgbClr val="176493"/>
          </a:solidFill>
          <a:ln w="5080">
            <a:solidFill>
              <a:srgbClr val="176493"/>
            </a:solidFill>
            <a:prstDash val="solid"/>
          </a:ln>
        </p:spPr>
      </p:sp>
      <p:sp>
        <p:nvSpPr>
          <p:cNvPr id="127" name="Shape 125"/>
          <p:cNvSpPr/>
          <p:nvPr/>
        </p:nvSpPr>
        <p:spPr>
          <a:xfrm>
            <a:off x="10660705" y="4387873"/>
            <a:ext cx="128016" cy="128016"/>
          </a:xfrm>
          <a:prstGeom prst="ellipse">
            <a:avLst/>
          </a:prstGeom>
          <a:solidFill>
            <a:srgbClr val="176493"/>
          </a:solidFill>
          <a:ln w="5080">
            <a:solidFill>
              <a:srgbClr val="176493"/>
            </a:solidFill>
            <a:prstDash val="solid"/>
          </a:ln>
        </p:spPr>
      </p:sp>
      <p:sp>
        <p:nvSpPr>
          <p:cNvPr id="128" name="Shape 126"/>
          <p:cNvSpPr/>
          <p:nvPr/>
        </p:nvSpPr>
        <p:spPr>
          <a:xfrm>
            <a:off x="10410636" y="4566640"/>
            <a:ext cx="128016" cy="128016"/>
          </a:xfrm>
          <a:prstGeom prst="ellipse">
            <a:avLst/>
          </a:prstGeom>
          <a:solidFill>
            <a:srgbClr val="176493"/>
          </a:solidFill>
          <a:ln w="5080">
            <a:solidFill>
              <a:srgbClr val="176493"/>
            </a:solidFill>
            <a:prstDash val="solid"/>
          </a:ln>
        </p:spPr>
      </p:sp>
      <p:sp>
        <p:nvSpPr>
          <p:cNvPr id="129" name="Shape 127"/>
          <p:cNvSpPr/>
          <p:nvPr/>
        </p:nvSpPr>
        <p:spPr>
          <a:xfrm>
            <a:off x="10174947" y="4297353"/>
            <a:ext cx="128016" cy="128016"/>
          </a:xfrm>
          <a:prstGeom prst="ellipse">
            <a:avLst/>
          </a:prstGeom>
          <a:solidFill>
            <a:srgbClr val="176493"/>
          </a:solidFill>
          <a:ln w="5080">
            <a:solidFill>
              <a:srgbClr val="176493"/>
            </a:solidFill>
            <a:prstDash val="solid"/>
          </a:ln>
        </p:spPr>
      </p:sp>
      <p:sp>
        <p:nvSpPr>
          <p:cNvPr id="130" name="Shape 128"/>
          <p:cNvSpPr/>
          <p:nvPr/>
        </p:nvSpPr>
        <p:spPr>
          <a:xfrm>
            <a:off x="10673955" y="4354425"/>
            <a:ext cx="128016" cy="128016"/>
          </a:xfrm>
          <a:prstGeom prst="ellipse">
            <a:avLst/>
          </a:prstGeom>
          <a:solidFill>
            <a:srgbClr val="176493"/>
          </a:solidFill>
          <a:ln w="5080">
            <a:solidFill>
              <a:srgbClr val="176493"/>
            </a:solidFill>
            <a:prstDash val="solid"/>
          </a:ln>
        </p:spPr>
      </p:sp>
      <p:sp>
        <p:nvSpPr>
          <p:cNvPr id="131" name="Shape 129"/>
          <p:cNvSpPr/>
          <p:nvPr/>
        </p:nvSpPr>
        <p:spPr>
          <a:xfrm>
            <a:off x="10609253" y="4435129"/>
            <a:ext cx="128016" cy="128016"/>
          </a:xfrm>
          <a:prstGeom prst="ellipse">
            <a:avLst/>
          </a:prstGeom>
          <a:solidFill>
            <a:srgbClr val="176493"/>
          </a:solidFill>
          <a:ln w="5080">
            <a:solidFill>
              <a:srgbClr val="176493"/>
            </a:solidFill>
            <a:prstDash val="solid"/>
          </a:ln>
        </p:spPr>
      </p:sp>
      <p:sp>
        <p:nvSpPr>
          <p:cNvPr id="132" name="Shape 130"/>
          <p:cNvSpPr/>
          <p:nvPr/>
        </p:nvSpPr>
        <p:spPr>
          <a:xfrm>
            <a:off x="10875684" y="4368719"/>
            <a:ext cx="128016" cy="128016"/>
          </a:xfrm>
          <a:prstGeom prst="ellipse">
            <a:avLst/>
          </a:prstGeom>
          <a:solidFill>
            <a:srgbClr val="176493"/>
          </a:solidFill>
          <a:ln w="5080">
            <a:solidFill>
              <a:srgbClr val="176493"/>
            </a:solidFill>
            <a:prstDash val="solid"/>
          </a:ln>
        </p:spPr>
      </p:sp>
      <p:sp>
        <p:nvSpPr>
          <p:cNvPr id="133" name="Shape 131"/>
          <p:cNvSpPr/>
          <p:nvPr/>
        </p:nvSpPr>
        <p:spPr>
          <a:xfrm>
            <a:off x="10782081" y="4307623"/>
            <a:ext cx="128016" cy="128016"/>
          </a:xfrm>
          <a:prstGeom prst="ellipse">
            <a:avLst/>
          </a:prstGeom>
          <a:solidFill>
            <a:srgbClr val="176493"/>
          </a:solidFill>
          <a:ln w="5080">
            <a:solidFill>
              <a:srgbClr val="176493"/>
            </a:solidFill>
            <a:prstDash val="solid"/>
          </a:ln>
        </p:spPr>
      </p:sp>
      <p:sp>
        <p:nvSpPr>
          <p:cNvPr id="134" name="Shape 132"/>
          <p:cNvSpPr/>
          <p:nvPr/>
        </p:nvSpPr>
        <p:spPr>
          <a:xfrm>
            <a:off x="10327357" y="4558661"/>
            <a:ext cx="128016" cy="128016"/>
          </a:xfrm>
          <a:prstGeom prst="ellipse">
            <a:avLst/>
          </a:prstGeom>
          <a:solidFill>
            <a:srgbClr val="176493"/>
          </a:solidFill>
          <a:ln w="5080">
            <a:solidFill>
              <a:srgbClr val="176493"/>
            </a:solidFill>
            <a:prstDash val="solid"/>
          </a:ln>
        </p:spPr>
      </p:sp>
      <p:sp>
        <p:nvSpPr>
          <p:cNvPr id="135" name="Shape 133"/>
          <p:cNvSpPr/>
          <p:nvPr/>
        </p:nvSpPr>
        <p:spPr>
          <a:xfrm>
            <a:off x="10726333" y="4432906"/>
            <a:ext cx="128016" cy="128016"/>
          </a:xfrm>
          <a:prstGeom prst="ellipse">
            <a:avLst/>
          </a:prstGeom>
          <a:solidFill>
            <a:srgbClr val="176493"/>
          </a:solidFill>
          <a:ln w="5080">
            <a:solidFill>
              <a:srgbClr val="176493"/>
            </a:solidFill>
            <a:prstDash val="solid"/>
          </a:ln>
        </p:spPr>
      </p:sp>
      <p:sp>
        <p:nvSpPr>
          <p:cNvPr id="136" name="Shape 134"/>
          <p:cNvSpPr/>
          <p:nvPr/>
        </p:nvSpPr>
        <p:spPr>
          <a:xfrm>
            <a:off x="10484672" y="4285330"/>
            <a:ext cx="128016" cy="128016"/>
          </a:xfrm>
          <a:prstGeom prst="ellipse">
            <a:avLst/>
          </a:prstGeom>
          <a:solidFill>
            <a:srgbClr val="176493"/>
          </a:solidFill>
          <a:ln w="5080">
            <a:solidFill>
              <a:srgbClr val="176493"/>
            </a:solidFill>
            <a:prstDash val="solid"/>
          </a:ln>
        </p:spPr>
      </p:sp>
      <p:sp>
        <p:nvSpPr>
          <p:cNvPr id="137" name="Shape 135"/>
          <p:cNvSpPr/>
          <p:nvPr/>
        </p:nvSpPr>
        <p:spPr>
          <a:xfrm>
            <a:off x="10574309" y="4490979"/>
            <a:ext cx="128016" cy="128016"/>
          </a:xfrm>
          <a:prstGeom prst="ellipse">
            <a:avLst/>
          </a:prstGeom>
          <a:solidFill>
            <a:srgbClr val="176493"/>
          </a:solidFill>
          <a:ln w="5080">
            <a:solidFill>
              <a:srgbClr val="176493"/>
            </a:solidFill>
            <a:prstDash val="solid"/>
          </a:ln>
        </p:spPr>
      </p:sp>
      <p:sp>
        <p:nvSpPr>
          <p:cNvPr id="138" name="Shape 136"/>
          <p:cNvSpPr/>
          <p:nvPr/>
        </p:nvSpPr>
        <p:spPr>
          <a:xfrm>
            <a:off x="10338362" y="4295055"/>
            <a:ext cx="128016" cy="128016"/>
          </a:xfrm>
          <a:prstGeom prst="ellipse">
            <a:avLst/>
          </a:prstGeom>
          <a:solidFill>
            <a:srgbClr val="176493"/>
          </a:solidFill>
          <a:ln w="5080">
            <a:solidFill>
              <a:srgbClr val="176493"/>
            </a:solidFill>
            <a:prstDash val="solid"/>
          </a:ln>
        </p:spPr>
      </p:sp>
      <p:sp>
        <p:nvSpPr>
          <p:cNvPr id="139" name="Shape 137"/>
          <p:cNvSpPr/>
          <p:nvPr/>
        </p:nvSpPr>
        <p:spPr>
          <a:xfrm>
            <a:off x="10279474" y="4491062"/>
            <a:ext cx="128016" cy="128016"/>
          </a:xfrm>
          <a:prstGeom prst="ellipse">
            <a:avLst/>
          </a:prstGeom>
          <a:solidFill>
            <a:srgbClr val="176493"/>
          </a:solidFill>
          <a:ln w="5080">
            <a:solidFill>
              <a:srgbClr val="176493"/>
            </a:solidFill>
            <a:prstDash val="solid"/>
          </a:ln>
        </p:spPr>
      </p:sp>
      <p:sp>
        <p:nvSpPr>
          <p:cNvPr id="140" name="Shape 138"/>
          <p:cNvSpPr/>
          <p:nvPr/>
        </p:nvSpPr>
        <p:spPr>
          <a:xfrm>
            <a:off x="10230408" y="4428494"/>
            <a:ext cx="128016" cy="128016"/>
          </a:xfrm>
          <a:prstGeom prst="ellipse">
            <a:avLst/>
          </a:prstGeom>
          <a:solidFill>
            <a:srgbClr val="176493"/>
          </a:solidFill>
          <a:ln w="5080">
            <a:solidFill>
              <a:srgbClr val="176493"/>
            </a:solidFill>
            <a:prstDash val="solid"/>
          </a:ln>
        </p:spPr>
      </p:sp>
      <p:sp>
        <p:nvSpPr>
          <p:cNvPr id="141" name="Shape 139"/>
          <p:cNvSpPr/>
          <p:nvPr/>
        </p:nvSpPr>
        <p:spPr>
          <a:xfrm>
            <a:off x="10239069" y="4351477"/>
            <a:ext cx="128016" cy="128016"/>
          </a:xfrm>
          <a:prstGeom prst="ellipse">
            <a:avLst/>
          </a:prstGeom>
          <a:solidFill>
            <a:srgbClr val="176493"/>
          </a:solidFill>
          <a:ln w="5080">
            <a:solidFill>
              <a:srgbClr val="176493"/>
            </a:solidFill>
            <a:prstDash val="solid"/>
          </a:ln>
        </p:spPr>
      </p:sp>
      <p:sp>
        <p:nvSpPr>
          <p:cNvPr id="142" name="Shape 140"/>
          <p:cNvSpPr/>
          <p:nvPr/>
        </p:nvSpPr>
        <p:spPr>
          <a:xfrm>
            <a:off x="10249751" y="4518845"/>
            <a:ext cx="128016" cy="128016"/>
          </a:xfrm>
          <a:prstGeom prst="ellipse">
            <a:avLst/>
          </a:prstGeom>
          <a:solidFill>
            <a:srgbClr val="176493"/>
          </a:solidFill>
          <a:ln w="5080">
            <a:solidFill>
              <a:srgbClr val="176493"/>
            </a:solidFill>
            <a:prstDash val="solid"/>
          </a:ln>
        </p:spPr>
      </p:sp>
      <p:sp>
        <p:nvSpPr>
          <p:cNvPr id="143" name="Shape 141"/>
          <p:cNvSpPr/>
          <p:nvPr/>
        </p:nvSpPr>
        <p:spPr>
          <a:xfrm>
            <a:off x="10546600" y="4466573"/>
            <a:ext cx="128016" cy="128016"/>
          </a:xfrm>
          <a:prstGeom prst="ellipse">
            <a:avLst/>
          </a:prstGeom>
          <a:solidFill>
            <a:srgbClr val="176493"/>
          </a:solidFill>
          <a:ln w="5080">
            <a:solidFill>
              <a:srgbClr val="176493"/>
            </a:solidFill>
            <a:prstDash val="solid"/>
          </a:ln>
        </p:spPr>
      </p:sp>
      <p:sp>
        <p:nvSpPr>
          <p:cNvPr id="144" name="Shape 142"/>
          <p:cNvSpPr/>
          <p:nvPr/>
        </p:nvSpPr>
        <p:spPr>
          <a:xfrm>
            <a:off x="7193887" y="3118771"/>
            <a:ext cx="128016" cy="128016"/>
          </a:xfrm>
          <a:prstGeom prst="triangle">
            <a:avLst/>
          </a:prstGeom>
          <a:solidFill>
            <a:srgbClr val="7056C2"/>
          </a:solidFill>
          <a:ln w="5080">
            <a:solidFill>
              <a:srgbClr val="7056C2"/>
            </a:solidFill>
            <a:prstDash val="solid"/>
          </a:ln>
        </p:spPr>
      </p:sp>
      <p:sp>
        <p:nvSpPr>
          <p:cNvPr id="145" name="Shape 143"/>
          <p:cNvSpPr/>
          <p:nvPr/>
        </p:nvSpPr>
        <p:spPr>
          <a:xfrm>
            <a:off x="7749109" y="2858152"/>
            <a:ext cx="128016" cy="128016"/>
          </a:xfrm>
          <a:prstGeom prst="triangle">
            <a:avLst/>
          </a:prstGeom>
          <a:solidFill>
            <a:srgbClr val="7056C2"/>
          </a:solidFill>
          <a:ln w="5080">
            <a:solidFill>
              <a:srgbClr val="7056C2"/>
            </a:solidFill>
            <a:prstDash val="solid"/>
          </a:ln>
        </p:spPr>
      </p:sp>
      <p:sp>
        <p:nvSpPr>
          <p:cNvPr id="146" name="Shape 144"/>
          <p:cNvSpPr/>
          <p:nvPr/>
        </p:nvSpPr>
        <p:spPr>
          <a:xfrm>
            <a:off x="7176309" y="3111980"/>
            <a:ext cx="128016" cy="128016"/>
          </a:xfrm>
          <a:prstGeom prst="triangle">
            <a:avLst/>
          </a:prstGeom>
          <a:solidFill>
            <a:srgbClr val="7056C2"/>
          </a:solidFill>
          <a:ln w="5080">
            <a:solidFill>
              <a:srgbClr val="7056C2"/>
            </a:solidFill>
            <a:prstDash val="solid"/>
          </a:ln>
        </p:spPr>
      </p:sp>
      <p:sp>
        <p:nvSpPr>
          <p:cNvPr id="147" name="Shape 145"/>
          <p:cNvSpPr/>
          <p:nvPr/>
        </p:nvSpPr>
        <p:spPr>
          <a:xfrm>
            <a:off x="7260376" y="3072511"/>
            <a:ext cx="128016" cy="128016"/>
          </a:xfrm>
          <a:prstGeom prst="triangle">
            <a:avLst/>
          </a:prstGeom>
          <a:solidFill>
            <a:srgbClr val="7056C2"/>
          </a:solidFill>
          <a:ln w="5080">
            <a:solidFill>
              <a:srgbClr val="7056C2"/>
            </a:solidFill>
            <a:prstDash val="solid"/>
          </a:ln>
        </p:spPr>
      </p:sp>
      <p:sp>
        <p:nvSpPr>
          <p:cNvPr id="148" name="Shape 146"/>
          <p:cNvSpPr/>
          <p:nvPr/>
        </p:nvSpPr>
        <p:spPr>
          <a:xfrm>
            <a:off x="7419942" y="2994551"/>
            <a:ext cx="128016" cy="128016"/>
          </a:xfrm>
          <a:prstGeom prst="triangle">
            <a:avLst/>
          </a:prstGeom>
          <a:solidFill>
            <a:srgbClr val="7056C2"/>
          </a:solidFill>
          <a:ln w="5080">
            <a:solidFill>
              <a:srgbClr val="7056C2"/>
            </a:solidFill>
            <a:prstDash val="solid"/>
          </a:ln>
        </p:spPr>
      </p:sp>
      <p:sp>
        <p:nvSpPr>
          <p:cNvPr id="149" name="Shape 147"/>
          <p:cNvSpPr/>
          <p:nvPr/>
        </p:nvSpPr>
        <p:spPr>
          <a:xfrm>
            <a:off x="7313711" y="3032735"/>
            <a:ext cx="128016" cy="128016"/>
          </a:xfrm>
          <a:prstGeom prst="triangle">
            <a:avLst/>
          </a:prstGeom>
          <a:solidFill>
            <a:srgbClr val="7056C2"/>
          </a:solidFill>
          <a:ln w="5080">
            <a:solidFill>
              <a:srgbClr val="7056C2"/>
            </a:solidFill>
            <a:prstDash val="solid"/>
          </a:ln>
        </p:spPr>
      </p:sp>
      <p:sp>
        <p:nvSpPr>
          <p:cNvPr id="150" name="Shape 148"/>
          <p:cNvSpPr/>
          <p:nvPr/>
        </p:nvSpPr>
        <p:spPr>
          <a:xfrm>
            <a:off x="7632370" y="2993305"/>
            <a:ext cx="128016" cy="128016"/>
          </a:xfrm>
          <a:prstGeom prst="triangle">
            <a:avLst/>
          </a:prstGeom>
          <a:solidFill>
            <a:srgbClr val="7056C2"/>
          </a:solidFill>
          <a:ln w="5080">
            <a:solidFill>
              <a:srgbClr val="7056C2"/>
            </a:solidFill>
            <a:prstDash val="solid"/>
          </a:ln>
        </p:spPr>
      </p:sp>
      <p:sp>
        <p:nvSpPr>
          <p:cNvPr id="151" name="Shape 149"/>
          <p:cNvSpPr/>
          <p:nvPr/>
        </p:nvSpPr>
        <p:spPr>
          <a:xfrm>
            <a:off x="7147140" y="3061508"/>
            <a:ext cx="128016" cy="128016"/>
          </a:xfrm>
          <a:prstGeom prst="triangle">
            <a:avLst/>
          </a:prstGeom>
          <a:solidFill>
            <a:srgbClr val="7056C2"/>
          </a:solidFill>
          <a:ln w="5080">
            <a:solidFill>
              <a:srgbClr val="7056C2"/>
            </a:solidFill>
            <a:prstDash val="solid"/>
          </a:ln>
        </p:spPr>
      </p:sp>
      <p:sp>
        <p:nvSpPr>
          <p:cNvPr id="152" name="Shape 150"/>
          <p:cNvSpPr/>
          <p:nvPr/>
        </p:nvSpPr>
        <p:spPr>
          <a:xfrm>
            <a:off x="7649388" y="2875968"/>
            <a:ext cx="128016" cy="128016"/>
          </a:xfrm>
          <a:prstGeom prst="triangle">
            <a:avLst/>
          </a:prstGeom>
          <a:solidFill>
            <a:srgbClr val="7056C2"/>
          </a:solidFill>
          <a:ln w="5080">
            <a:solidFill>
              <a:srgbClr val="7056C2"/>
            </a:solidFill>
            <a:prstDash val="solid"/>
          </a:ln>
        </p:spPr>
      </p:sp>
      <p:sp>
        <p:nvSpPr>
          <p:cNvPr id="153" name="Shape 151"/>
          <p:cNvSpPr/>
          <p:nvPr/>
        </p:nvSpPr>
        <p:spPr>
          <a:xfrm>
            <a:off x="7207618" y="2998337"/>
            <a:ext cx="128016" cy="128016"/>
          </a:xfrm>
          <a:prstGeom prst="triangle">
            <a:avLst/>
          </a:prstGeom>
          <a:solidFill>
            <a:srgbClr val="7056C2"/>
          </a:solidFill>
          <a:ln w="5080">
            <a:solidFill>
              <a:srgbClr val="7056C2"/>
            </a:solidFill>
            <a:prstDash val="solid"/>
          </a:ln>
        </p:spPr>
      </p:sp>
      <p:sp>
        <p:nvSpPr>
          <p:cNvPr id="154" name="Shape 152"/>
          <p:cNvSpPr/>
          <p:nvPr/>
        </p:nvSpPr>
        <p:spPr>
          <a:xfrm>
            <a:off x="8073090" y="2810966"/>
            <a:ext cx="128016" cy="128016"/>
          </a:xfrm>
          <a:prstGeom prst="triangle">
            <a:avLst/>
          </a:prstGeom>
          <a:solidFill>
            <a:srgbClr val="7056C2"/>
          </a:solidFill>
          <a:ln w="5080">
            <a:solidFill>
              <a:srgbClr val="7056C2"/>
            </a:solidFill>
            <a:prstDash val="solid"/>
          </a:ln>
        </p:spPr>
      </p:sp>
      <p:sp>
        <p:nvSpPr>
          <p:cNvPr id="155" name="Shape 153"/>
          <p:cNvSpPr/>
          <p:nvPr/>
        </p:nvSpPr>
        <p:spPr>
          <a:xfrm>
            <a:off x="7468305" y="3087835"/>
            <a:ext cx="128016" cy="128016"/>
          </a:xfrm>
          <a:prstGeom prst="triangle">
            <a:avLst/>
          </a:prstGeom>
          <a:solidFill>
            <a:srgbClr val="7056C2"/>
          </a:solidFill>
          <a:ln w="5080">
            <a:solidFill>
              <a:srgbClr val="7056C2"/>
            </a:solidFill>
            <a:prstDash val="solid"/>
          </a:ln>
        </p:spPr>
      </p:sp>
      <p:sp>
        <p:nvSpPr>
          <p:cNvPr id="156" name="Shape 154"/>
          <p:cNvSpPr/>
          <p:nvPr/>
        </p:nvSpPr>
        <p:spPr>
          <a:xfrm>
            <a:off x="8163187" y="2815070"/>
            <a:ext cx="128016" cy="128016"/>
          </a:xfrm>
          <a:prstGeom prst="triangle">
            <a:avLst/>
          </a:prstGeom>
          <a:solidFill>
            <a:srgbClr val="7056C2"/>
          </a:solidFill>
          <a:ln w="5080">
            <a:solidFill>
              <a:srgbClr val="7056C2"/>
            </a:solidFill>
            <a:prstDash val="solid"/>
          </a:ln>
        </p:spPr>
      </p:sp>
      <p:sp>
        <p:nvSpPr>
          <p:cNvPr id="157" name="Shape 155"/>
          <p:cNvSpPr/>
          <p:nvPr/>
        </p:nvSpPr>
        <p:spPr>
          <a:xfrm>
            <a:off x="8012351" y="2791770"/>
            <a:ext cx="128016" cy="128016"/>
          </a:xfrm>
          <a:prstGeom prst="triangle">
            <a:avLst/>
          </a:prstGeom>
          <a:solidFill>
            <a:srgbClr val="7056C2"/>
          </a:solidFill>
          <a:ln w="5080">
            <a:solidFill>
              <a:srgbClr val="7056C2"/>
            </a:solidFill>
            <a:prstDash val="solid"/>
          </a:ln>
        </p:spPr>
      </p:sp>
      <p:sp>
        <p:nvSpPr>
          <p:cNvPr id="158" name="Shape 156"/>
          <p:cNvSpPr/>
          <p:nvPr/>
        </p:nvSpPr>
        <p:spPr>
          <a:xfrm>
            <a:off x="7572036" y="2996207"/>
            <a:ext cx="128016" cy="128016"/>
          </a:xfrm>
          <a:prstGeom prst="triangle">
            <a:avLst/>
          </a:prstGeom>
          <a:solidFill>
            <a:srgbClr val="7056C2"/>
          </a:solidFill>
          <a:ln w="5080">
            <a:solidFill>
              <a:srgbClr val="7056C2"/>
            </a:solidFill>
            <a:prstDash val="solid"/>
          </a:ln>
        </p:spPr>
      </p:sp>
      <p:sp>
        <p:nvSpPr>
          <p:cNvPr id="159" name="Shape 157"/>
          <p:cNvSpPr/>
          <p:nvPr/>
        </p:nvSpPr>
        <p:spPr>
          <a:xfrm>
            <a:off x="7448779" y="3055031"/>
            <a:ext cx="128016" cy="128016"/>
          </a:xfrm>
          <a:prstGeom prst="triangle">
            <a:avLst/>
          </a:prstGeom>
          <a:solidFill>
            <a:srgbClr val="7056C2"/>
          </a:solidFill>
          <a:ln w="5080">
            <a:solidFill>
              <a:srgbClr val="7056C2"/>
            </a:solidFill>
            <a:prstDash val="solid"/>
          </a:ln>
        </p:spPr>
      </p:sp>
      <p:sp>
        <p:nvSpPr>
          <p:cNvPr id="160" name="Shape 158"/>
          <p:cNvSpPr/>
          <p:nvPr/>
        </p:nvSpPr>
        <p:spPr>
          <a:xfrm>
            <a:off x="7258631" y="3006318"/>
            <a:ext cx="128016" cy="128016"/>
          </a:xfrm>
          <a:prstGeom prst="triangle">
            <a:avLst/>
          </a:prstGeom>
          <a:solidFill>
            <a:srgbClr val="7056C2"/>
          </a:solidFill>
          <a:ln w="5080">
            <a:solidFill>
              <a:srgbClr val="7056C2"/>
            </a:solidFill>
            <a:prstDash val="solid"/>
          </a:ln>
        </p:spPr>
      </p:sp>
      <p:sp>
        <p:nvSpPr>
          <p:cNvPr id="161" name="Shape 159"/>
          <p:cNvSpPr/>
          <p:nvPr/>
        </p:nvSpPr>
        <p:spPr>
          <a:xfrm>
            <a:off x="7907052" y="2890313"/>
            <a:ext cx="128016" cy="128016"/>
          </a:xfrm>
          <a:prstGeom prst="triangle">
            <a:avLst/>
          </a:prstGeom>
          <a:solidFill>
            <a:srgbClr val="7056C2"/>
          </a:solidFill>
          <a:ln w="5080">
            <a:solidFill>
              <a:srgbClr val="7056C2"/>
            </a:solidFill>
            <a:prstDash val="solid"/>
          </a:ln>
        </p:spPr>
      </p:sp>
      <p:sp>
        <p:nvSpPr>
          <p:cNvPr id="162" name="Shape 160"/>
          <p:cNvSpPr/>
          <p:nvPr/>
        </p:nvSpPr>
        <p:spPr>
          <a:xfrm>
            <a:off x="8176757" y="2886039"/>
            <a:ext cx="128016" cy="128016"/>
          </a:xfrm>
          <a:prstGeom prst="triangle">
            <a:avLst/>
          </a:prstGeom>
          <a:solidFill>
            <a:srgbClr val="7056C2"/>
          </a:solidFill>
          <a:ln w="5080">
            <a:solidFill>
              <a:srgbClr val="7056C2"/>
            </a:solidFill>
            <a:prstDash val="solid"/>
          </a:ln>
        </p:spPr>
      </p:sp>
      <p:sp>
        <p:nvSpPr>
          <p:cNvPr id="163" name="Shape 161"/>
          <p:cNvSpPr/>
          <p:nvPr/>
        </p:nvSpPr>
        <p:spPr>
          <a:xfrm>
            <a:off x="7945909" y="2804309"/>
            <a:ext cx="128016" cy="128016"/>
          </a:xfrm>
          <a:prstGeom prst="triangle">
            <a:avLst/>
          </a:prstGeom>
          <a:solidFill>
            <a:srgbClr val="7056C2"/>
          </a:solidFill>
          <a:ln w="5080">
            <a:solidFill>
              <a:srgbClr val="7056C2"/>
            </a:solidFill>
            <a:prstDash val="solid"/>
          </a:ln>
        </p:spPr>
      </p:sp>
      <p:sp>
        <p:nvSpPr>
          <p:cNvPr id="164" name="Shape 162"/>
          <p:cNvSpPr/>
          <p:nvPr/>
        </p:nvSpPr>
        <p:spPr>
          <a:xfrm>
            <a:off x="7819039" y="2929347"/>
            <a:ext cx="128016" cy="128016"/>
          </a:xfrm>
          <a:prstGeom prst="triangle">
            <a:avLst/>
          </a:prstGeom>
          <a:solidFill>
            <a:srgbClr val="7056C2"/>
          </a:solidFill>
          <a:ln w="5080">
            <a:solidFill>
              <a:srgbClr val="7056C2"/>
            </a:solidFill>
            <a:prstDash val="solid"/>
          </a:ln>
        </p:spPr>
      </p:sp>
      <p:sp>
        <p:nvSpPr>
          <p:cNvPr id="165" name="Shape 163"/>
          <p:cNvSpPr/>
          <p:nvPr/>
        </p:nvSpPr>
        <p:spPr>
          <a:xfrm>
            <a:off x="7537344" y="2949018"/>
            <a:ext cx="128016" cy="128016"/>
          </a:xfrm>
          <a:prstGeom prst="triangle">
            <a:avLst/>
          </a:prstGeom>
          <a:solidFill>
            <a:srgbClr val="7056C2"/>
          </a:solidFill>
          <a:ln w="5080">
            <a:solidFill>
              <a:srgbClr val="7056C2"/>
            </a:solidFill>
            <a:prstDash val="solid"/>
          </a:ln>
        </p:spPr>
      </p:sp>
      <p:sp>
        <p:nvSpPr>
          <p:cNvPr id="166" name="Shape 164"/>
          <p:cNvSpPr/>
          <p:nvPr/>
        </p:nvSpPr>
        <p:spPr>
          <a:xfrm>
            <a:off x="7912267" y="2861786"/>
            <a:ext cx="128016" cy="128016"/>
          </a:xfrm>
          <a:prstGeom prst="triangle">
            <a:avLst/>
          </a:prstGeom>
          <a:solidFill>
            <a:srgbClr val="7056C2"/>
          </a:solidFill>
          <a:ln w="5080">
            <a:solidFill>
              <a:srgbClr val="7056C2"/>
            </a:solidFill>
            <a:prstDash val="solid"/>
          </a:ln>
        </p:spPr>
      </p:sp>
      <p:sp>
        <p:nvSpPr>
          <p:cNvPr id="167" name="Shape 165"/>
          <p:cNvSpPr/>
          <p:nvPr/>
        </p:nvSpPr>
        <p:spPr>
          <a:xfrm>
            <a:off x="7337331" y="2953275"/>
            <a:ext cx="128016" cy="128016"/>
          </a:xfrm>
          <a:prstGeom prst="triangle">
            <a:avLst/>
          </a:prstGeom>
          <a:solidFill>
            <a:srgbClr val="7056C2"/>
          </a:solidFill>
          <a:ln w="5080">
            <a:solidFill>
              <a:srgbClr val="7056C2"/>
            </a:solidFill>
            <a:prstDash val="solid"/>
          </a:ln>
        </p:spPr>
      </p:sp>
      <p:sp>
        <p:nvSpPr>
          <p:cNvPr id="168" name="Shape 166"/>
          <p:cNvSpPr/>
          <p:nvPr/>
        </p:nvSpPr>
        <p:spPr>
          <a:xfrm>
            <a:off x="7806738" y="2833702"/>
            <a:ext cx="128016" cy="128016"/>
          </a:xfrm>
          <a:prstGeom prst="triangle">
            <a:avLst/>
          </a:prstGeom>
          <a:solidFill>
            <a:srgbClr val="7056C2"/>
          </a:solidFill>
          <a:ln w="5080">
            <a:solidFill>
              <a:srgbClr val="7056C2"/>
            </a:solidFill>
            <a:prstDash val="solid"/>
          </a:ln>
        </p:spPr>
      </p:sp>
      <p:sp>
        <p:nvSpPr>
          <p:cNvPr id="169" name="Shape 167"/>
          <p:cNvSpPr/>
          <p:nvPr/>
        </p:nvSpPr>
        <p:spPr>
          <a:xfrm>
            <a:off x="7591271" y="2988678"/>
            <a:ext cx="128016" cy="128016"/>
          </a:xfrm>
          <a:prstGeom prst="triangle">
            <a:avLst/>
          </a:prstGeom>
          <a:solidFill>
            <a:srgbClr val="7056C2"/>
          </a:solidFill>
          <a:ln w="5080">
            <a:solidFill>
              <a:srgbClr val="7056C2"/>
            </a:solidFill>
            <a:prstDash val="solid"/>
          </a:ln>
        </p:spPr>
      </p:sp>
      <p:sp>
        <p:nvSpPr>
          <p:cNvPr id="170" name="Shape 168"/>
          <p:cNvSpPr/>
          <p:nvPr/>
        </p:nvSpPr>
        <p:spPr>
          <a:xfrm>
            <a:off x="8074821" y="2785136"/>
            <a:ext cx="128016" cy="128016"/>
          </a:xfrm>
          <a:prstGeom prst="triangle">
            <a:avLst/>
          </a:prstGeom>
          <a:solidFill>
            <a:srgbClr val="7056C2"/>
          </a:solidFill>
          <a:ln w="5080">
            <a:solidFill>
              <a:srgbClr val="7056C2"/>
            </a:solidFill>
            <a:prstDash val="solid"/>
          </a:ln>
        </p:spPr>
      </p:sp>
      <p:sp>
        <p:nvSpPr>
          <p:cNvPr id="171" name="Shape 169"/>
          <p:cNvSpPr/>
          <p:nvPr/>
        </p:nvSpPr>
        <p:spPr>
          <a:xfrm>
            <a:off x="7734571" y="2925865"/>
            <a:ext cx="128016" cy="128016"/>
          </a:xfrm>
          <a:prstGeom prst="triangle">
            <a:avLst/>
          </a:prstGeom>
          <a:solidFill>
            <a:srgbClr val="7056C2"/>
          </a:solidFill>
          <a:ln w="5080">
            <a:solidFill>
              <a:srgbClr val="7056C2"/>
            </a:solidFill>
            <a:prstDash val="solid"/>
          </a:ln>
        </p:spPr>
      </p:sp>
      <p:sp>
        <p:nvSpPr>
          <p:cNvPr id="172" name="Shape 170"/>
          <p:cNvSpPr/>
          <p:nvPr/>
        </p:nvSpPr>
        <p:spPr>
          <a:xfrm>
            <a:off x="8469965" y="3190592"/>
            <a:ext cx="128016" cy="128016"/>
          </a:xfrm>
          <a:prstGeom prst="diamond">
            <a:avLst/>
          </a:prstGeom>
          <a:solidFill>
            <a:srgbClr val="167C85"/>
          </a:solidFill>
          <a:ln w="5080">
            <a:solidFill>
              <a:srgbClr val="167C85"/>
            </a:solidFill>
            <a:prstDash val="solid"/>
          </a:ln>
        </p:spPr>
      </p:sp>
      <p:sp>
        <p:nvSpPr>
          <p:cNvPr id="173" name="Shape 171"/>
          <p:cNvSpPr/>
          <p:nvPr/>
        </p:nvSpPr>
        <p:spPr>
          <a:xfrm>
            <a:off x="9189361" y="3252365"/>
            <a:ext cx="128016" cy="128016"/>
          </a:xfrm>
          <a:prstGeom prst="diamond">
            <a:avLst/>
          </a:prstGeom>
          <a:solidFill>
            <a:srgbClr val="167C85"/>
          </a:solidFill>
          <a:ln w="5080">
            <a:solidFill>
              <a:srgbClr val="167C85"/>
            </a:solidFill>
            <a:prstDash val="solid"/>
          </a:ln>
        </p:spPr>
      </p:sp>
      <p:sp>
        <p:nvSpPr>
          <p:cNvPr id="174" name="Shape 172"/>
          <p:cNvSpPr/>
          <p:nvPr/>
        </p:nvSpPr>
        <p:spPr>
          <a:xfrm>
            <a:off x="8300204" y="3133647"/>
            <a:ext cx="128016" cy="128016"/>
          </a:xfrm>
          <a:prstGeom prst="triangle">
            <a:avLst/>
          </a:prstGeom>
          <a:solidFill>
            <a:srgbClr val="7056C2"/>
          </a:solidFill>
          <a:ln w="5080">
            <a:solidFill>
              <a:srgbClr val="7056C2"/>
            </a:solidFill>
            <a:prstDash val="solid"/>
          </a:ln>
        </p:spPr>
      </p:sp>
      <p:sp>
        <p:nvSpPr>
          <p:cNvPr id="175" name="Shape 173"/>
          <p:cNvSpPr/>
          <p:nvPr/>
        </p:nvSpPr>
        <p:spPr>
          <a:xfrm>
            <a:off x="8499861" y="3206985"/>
            <a:ext cx="128016" cy="128016"/>
          </a:xfrm>
          <a:prstGeom prst="diamond">
            <a:avLst/>
          </a:prstGeom>
          <a:solidFill>
            <a:srgbClr val="167C85"/>
          </a:solidFill>
          <a:ln w="5080">
            <a:solidFill>
              <a:srgbClr val="167C85"/>
            </a:solidFill>
            <a:prstDash val="solid"/>
          </a:ln>
        </p:spPr>
      </p:sp>
      <p:sp>
        <p:nvSpPr>
          <p:cNvPr id="176" name="Shape 174"/>
          <p:cNvSpPr/>
          <p:nvPr/>
        </p:nvSpPr>
        <p:spPr>
          <a:xfrm>
            <a:off x="9212189" y="3285226"/>
            <a:ext cx="128016" cy="128016"/>
          </a:xfrm>
          <a:prstGeom prst="diamond">
            <a:avLst/>
          </a:prstGeom>
          <a:solidFill>
            <a:srgbClr val="167C85"/>
          </a:solidFill>
          <a:ln w="5080">
            <a:solidFill>
              <a:srgbClr val="167C85"/>
            </a:solidFill>
            <a:prstDash val="solid"/>
          </a:ln>
        </p:spPr>
      </p:sp>
      <p:sp>
        <p:nvSpPr>
          <p:cNvPr id="177" name="Shape 175"/>
          <p:cNvSpPr/>
          <p:nvPr/>
        </p:nvSpPr>
        <p:spPr>
          <a:xfrm>
            <a:off x="9098198" y="3153184"/>
            <a:ext cx="128016" cy="128016"/>
          </a:xfrm>
          <a:prstGeom prst="diamond">
            <a:avLst/>
          </a:prstGeom>
          <a:solidFill>
            <a:srgbClr val="167C85"/>
          </a:solidFill>
          <a:ln w="5080">
            <a:solidFill>
              <a:srgbClr val="167C85"/>
            </a:solidFill>
            <a:prstDash val="solid"/>
          </a:ln>
        </p:spPr>
      </p:sp>
      <p:sp>
        <p:nvSpPr>
          <p:cNvPr id="178" name="Shape 176"/>
          <p:cNvSpPr/>
          <p:nvPr/>
        </p:nvSpPr>
        <p:spPr>
          <a:xfrm>
            <a:off x="8927551" y="2940151"/>
            <a:ext cx="128016" cy="128016"/>
          </a:xfrm>
          <a:prstGeom prst="diamond">
            <a:avLst/>
          </a:prstGeom>
          <a:solidFill>
            <a:srgbClr val="167C85"/>
          </a:solidFill>
          <a:ln w="5080">
            <a:solidFill>
              <a:srgbClr val="167C85"/>
            </a:solidFill>
            <a:prstDash val="solid"/>
          </a:ln>
        </p:spPr>
      </p:sp>
      <p:sp>
        <p:nvSpPr>
          <p:cNvPr id="179" name="Shape 177"/>
          <p:cNvSpPr/>
          <p:nvPr/>
        </p:nvSpPr>
        <p:spPr>
          <a:xfrm>
            <a:off x="8378758" y="3151623"/>
            <a:ext cx="128016" cy="128016"/>
          </a:xfrm>
          <a:prstGeom prst="diamond">
            <a:avLst/>
          </a:prstGeom>
          <a:solidFill>
            <a:srgbClr val="167C85"/>
          </a:solidFill>
          <a:ln w="5080">
            <a:solidFill>
              <a:srgbClr val="167C85"/>
            </a:solidFill>
            <a:prstDash val="solid"/>
          </a:ln>
        </p:spPr>
      </p:sp>
      <p:sp>
        <p:nvSpPr>
          <p:cNvPr id="180" name="Shape 178"/>
          <p:cNvSpPr/>
          <p:nvPr/>
        </p:nvSpPr>
        <p:spPr>
          <a:xfrm>
            <a:off x="9218221" y="3199150"/>
            <a:ext cx="128016" cy="128016"/>
          </a:xfrm>
          <a:prstGeom prst="diamond">
            <a:avLst/>
          </a:prstGeom>
          <a:solidFill>
            <a:srgbClr val="167C85"/>
          </a:solidFill>
          <a:ln w="5080">
            <a:solidFill>
              <a:srgbClr val="167C85"/>
            </a:solidFill>
            <a:prstDash val="solid"/>
          </a:ln>
        </p:spPr>
      </p:sp>
      <p:sp>
        <p:nvSpPr>
          <p:cNvPr id="181" name="Shape 179"/>
          <p:cNvSpPr/>
          <p:nvPr/>
        </p:nvSpPr>
        <p:spPr>
          <a:xfrm>
            <a:off x="8956403" y="3159699"/>
            <a:ext cx="128016" cy="128016"/>
          </a:xfrm>
          <a:prstGeom prst="diamond">
            <a:avLst/>
          </a:prstGeom>
          <a:solidFill>
            <a:srgbClr val="167C85"/>
          </a:solidFill>
          <a:ln w="5080">
            <a:solidFill>
              <a:srgbClr val="167C85"/>
            </a:solidFill>
            <a:prstDash val="solid"/>
          </a:ln>
        </p:spPr>
      </p:sp>
      <p:sp>
        <p:nvSpPr>
          <p:cNvPr id="182" name="Shape 180"/>
          <p:cNvSpPr/>
          <p:nvPr/>
        </p:nvSpPr>
        <p:spPr>
          <a:xfrm>
            <a:off x="8567836" y="3078828"/>
            <a:ext cx="128016" cy="128016"/>
          </a:xfrm>
          <a:prstGeom prst="diamond">
            <a:avLst/>
          </a:prstGeom>
          <a:solidFill>
            <a:srgbClr val="167C85"/>
          </a:solidFill>
          <a:ln w="5080">
            <a:solidFill>
              <a:srgbClr val="167C85"/>
            </a:solidFill>
            <a:prstDash val="solid"/>
          </a:ln>
        </p:spPr>
      </p:sp>
      <p:sp>
        <p:nvSpPr>
          <p:cNvPr id="183" name="Shape 181"/>
          <p:cNvSpPr/>
          <p:nvPr/>
        </p:nvSpPr>
        <p:spPr>
          <a:xfrm>
            <a:off x="8130063" y="3222997"/>
            <a:ext cx="128016" cy="128016"/>
          </a:xfrm>
          <a:prstGeom prst="triangle">
            <a:avLst/>
          </a:prstGeom>
          <a:solidFill>
            <a:srgbClr val="7056C2"/>
          </a:solidFill>
          <a:ln w="5080">
            <a:solidFill>
              <a:srgbClr val="7056C2"/>
            </a:solidFill>
            <a:prstDash val="solid"/>
          </a:ln>
        </p:spPr>
      </p:sp>
      <p:sp>
        <p:nvSpPr>
          <p:cNvPr id="184" name="Shape 182"/>
          <p:cNvSpPr/>
          <p:nvPr/>
        </p:nvSpPr>
        <p:spPr>
          <a:xfrm>
            <a:off x="8200763" y="3138899"/>
            <a:ext cx="128016" cy="128016"/>
          </a:xfrm>
          <a:prstGeom prst="triangle">
            <a:avLst/>
          </a:prstGeom>
          <a:solidFill>
            <a:srgbClr val="7056C2"/>
          </a:solidFill>
          <a:ln w="5080">
            <a:solidFill>
              <a:srgbClr val="7056C2"/>
            </a:solidFill>
            <a:prstDash val="solid"/>
          </a:ln>
        </p:spPr>
      </p:sp>
      <p:sp>
        <p:nvSpPr>
          <p:cNvPr id="185" name="Shape 183"/>
          <p:cNvSpPr/>
          <p:nvPr/>
        </p:nvSpPr>
        <p:spPr>
          <a:xfrm>
            <a:off x="8958839" y="3225750"/>
            <a:ext cx="128016" cy="128016"/>
          </a:xfrm>
          <a:prstGeom prst="diamond">
            <a:avLst/>
          </a:prstGeom>
          <a:solidFill>
            <a:srgbClr val="167C85"/>
          </a:solidFill>
          <a:ln w="5080">
            <a:solidFill>
              <a:srgbClr val="167C85"/>
            </a:solidFill>
            <a:prstDash val="solid"/>
          </a:ln>
        </p:spPr>
      </p:sp>
      <p:sp>
        <p:nvSpPr>
          <p:cNvPr id="186" name="Shape 184"/>
          <p:cNvSpPr/>
          <p:nvPr/>
        </p:nvSpPr>
        <p:spPr>
          <a:xfrm>
            <a:off x="9096530" y="3065573"/>
            <a:ext cx="128016" cy="128016"/>
          </a:xfrm>
          <a:prstGeom prst="diamond">
            <a:avLst/>
          </a:prstGeom>
          <a:solidFill>
            <a:srgbClr val="167C85"/>
          </a:solidFill>
          <a:ln w="5080">
            <a:solidFill>
              <a:srgbClr val="167C85"/>
            </a:solidFill>
            <a:prstDash val="solid"/>
          </a:ln>
        </p:spPr>
      </p:sp>
      <p:sp>
        <p:nvSpPr>
          <p:cNvPr id="187" name="Shape 185"/>
          <p:cNvSpPr/>
          <p:nvPr/>
        </p:nvSpPr>
        <p:spPr>
          <a:xfrm>
            <a:off x="8106251" y="3220926"/>
            <a:ext cx="128016" cy="128016"/>
          </a:xfrm>
          <a:prstGeom prst="triangle">
            <a:avLst/>
          </a:prstGeom>
          <a:solidFill>
            <a:srgbClr val="7056C2"/>
          </a:solidFill>
          <a:ln w="5080">
            <a:solidFill>
              <a:srgbClr val="7056C2"/>
            </a:solidFill>
            <a:prstDash val="solid"/>
          </a:ln>
        </p:spPr>
      </p:sp>
      <p:sp>
        <p:nvSpPr>
          <p:cNvPr id="188" name="Shape 186"/>
          <p:cNvSpPr/>
          <p:nvPr/>
        </p:nvSpPr>
        <p:spPr>
          <a:xfrm>
            <a:off x="8180743" y="3154543"/>
            <a:ext cx="128016" cy="128016"/>
          </a:xfrm>
          <a:prstGeom prst="triangle">
            <a:avLst/>
          </a:prstGeom>
          <a:solidFill>
            <a:srgbClr val="7056C2"/>
          </a:solidFill>
          <a:ln w="5080">
            <a:solidFill>
              <a:srgbClr val="7056C2"/>
            </a:solidFill>
            <a:prstDash val="solid"/>
          </a:ln>
        </p:spPr>
      </p:sp>
      <p:sp>
        <p:nvSpPr>
          <p:cNvPr id="189" name="Shape 187"/>
          <p:cNvSpPr/>
          <p:nvPr/>
        </p:nvSpPr>
        <p:spPr>
          <a:xfrm>
            <a:off x="8883169" y="3226482"/>
            <a:ext cx="128016" cy="128016"/>
          </a:xfrm>
          <a:prstGeom prst="diamond">
            <a:avLst/>
          </a:prstGeom>
          <a:solidFill>
            <a:srgbClr val="167C85"/>
          </a:solidFill>
          <a:ln w="5080">
            <a:solidFill>
              <a:srgbClr val="167C85"/>
            </a:solidFill>
            <a:prstDash val="solid"/>
          </a:ln>
        </p:spPr>
      </p:sp>
      <p:sp>
        <p:nvSpPr>
          <p:cNvPr id="190" name="Shape 188"/>
          <p:cNvSpPr/>
          <p:nvPr/>
        </p:nvSpPr>
        <p:spPr>
          <a:xfrm>
            <a:off x="8085950" y="3217985"/>
            <a:ext cx="128016" cy="128016"/>
          </a:xfrm>
          <a:prstGeom prst="triangle">
            <a:avLst/>
          </a:prstGeom>
          <a:solidFill>
            <a:srgbClr val="7056C2"/>
          </a:solidFill>
          <a:ln w="5080">
            <a:solidFill>
              <a:srgbClr val="7056C2"/>
            </a:solidFill>
            <a:prstDash val="solid"/>
          </a:ln>
        </p:spPr>
      </p:sp>
      <p:sp>
        <p:nvSpPr>
          <p:cNvPr id="191" name="Shape 189"/>
          <p:cNvSpPr/>
          <p:nvPr/>
        </p:nvSpPr>
        <p:spPr>
          <a:xfrm>
            <a:off x="8835024" y="3082205"/>
            <a:ext cx="128016" cy="128016"/>
          </a:xfrm>
          <a:prstGeom prst="diamond">
            <a:avLst/>
          </a:prstGeom>
          <a:solidFill>
            <a:srgbClr val="167C85"/>
          </a:solidFill>
          <a:ln w="5080">
            <a:solidFill>
              <a:srgbClr val="167C85"/>
            </a:solidFill>
            <a:prstDash val="solid"/>
          </a:ln>
        </p:spPr>
      </p:sp>
      <p:sp>
        <p:nvSpPr>
          <p:cNvPr id="192" name="Shape 190"/>
          <p:cNvSpPr/>
          <p:nvPr/>
        </p:nvSpPr>
        <p:spPr>
          <a:xfrm>
            <a:off x="8326690" y="3205049"/>
            <a:ext cx="128016" cy="128016"/>
          </a:xfrm>
          <a:prstGeom prst="diamond">
            <a:avLst/>
          </a:prstGeom>
          <a:solidFill>
            <a:srgbClr val="167C85"/>
          </a:solidFill>
          <a:ln w="5080">
            <a:solidFill>
              <a:srgbClr val="167C85"/>
            </a:solidFill>
            <a:prstDash val="solid"/>
          </a:ln>
        </p:spPr>
      </p:sp>
      <p:sp>
        <p:nvSpPr>
          <p:cNvPr id="193" name="Shape 191"/>
          <p:cNvSpPr/>
          <p:nvPr/>
        </p:nvSpPr>
        <p:spPr>
          <a:xfrm>
            <a:off x="8874568" y="3162811"/>
            <a:ext cx="128016" cy="128016"/>
          </a:xfrm>
          <a:prstGeom prst="diamond">
            <a:avLst/>
          </a:prstGeom>
          <a:solidFill>
            <a:srgbClr val="167C85"/>
          </a:solidFill>
          <a:ln w="5080">
            <a:solidFill>
              <a:srgbClr val="167C85"/>
            </a:solidFill>
            <a:prstDash val="solid"/>
          </a:ln>
        </p:spPr>
      </p:sp>
      <p:sp>
        <p:nvSpPr>
          <p:cNvPr id="194" name="Shape 192"/>
          <p:cNvSpPr/>
          <p:nvPr/>
        </p:nvSpPr>
        <p:spPr>
          <a:xfrm>
            <a:off x="9001765" y="3029593"/>
            <a:ext cx="128016" cy="128016"/>
          </a:xfrm>
          <a:prstGeom prst="diamond">
            <a:avLst/>
          </a:prstGeom>
          <a:solidFill>
            <a:srgbClr val="167C85"/>
          </a:solidFill>
          <a:ln w="5080">
            <a:solidFill>
              <a:srgbClr val="167C85"/>
            </a:solidFill>
            <a:prstDash val="solid"/>
          </a:ln>
        </p:spPr>
      </p:sp>
      <p:sp>
        <p:nvSpPr>
          <p:cNvPr id="195" name="Shape 193"/>
          <p:cNvSpPr/>
          <p:nvPr/>
        </p:nvSpPr>
        <p:spPr>
          <a:xfrm>
            <a:off x="9267806" y="3098819"/>
            <a:ext cx="128016" cy="128016"/>
          </a:xfrm>
          <a:prstGeom prst="diamond">
            <a:avLst/>
          </a:prstGeom>
          <a:solidFill>
            <a:srgbClr val="167C85"/>
          </a:solidFill>
          <a:ln w="5080">
            <a:solidFill>
              <a:srgbClr val="167C85"/>
            </a:solidFill>
            <a:prstDash val="solid"/>
          </a:ln>
        </p:spPr>
      </p:sp>
      <p:sp>
        <p:nvSpPr>
          <p:cNvPr id="196" name="Shape 194"/>
          <p:cNvSpPr/>
          <p:nvPr/>
        </p:nvSpPr>
        <p:spPr>
          <a:xfrm>
            <a:off x="8822263" y="3063213"/>
            <a:ext cx="128016" cy="128016"/>
          </a:xfrm>
          <a:prstGeom prst="diamond">
            <a:avLst/>
          </a:prstGeom>
          <a:solidFill>
            <a:srgbClr val="167C85"/>
          </a:solidFill>
          <a:ln w="5080">
            <a:solidFill>
              <a:srgbClr val="167C85"/>
            </a:solidFill>
            <a:prstDash val="solid"/>
          </a:ln>
        </p:spPr>
      </p:sp>
      <p:sp>
        <p:nvSpPr>
          <p:cNvPr id="197" name="Shape 195"/>
          <p:cNvSpPr/>
          <p:nvPr/>
        </p:nvSpPr>
        <p:spPr>
          <a:xfrm>
            <a:off x="8924068" y="3253436"/>
            <a:ext cx="128016" cy="128016"/>
          </a:xfrm>
          <a:prstGeom prst="diamond">
            <a:avLst/>
          </a:prstGeom>
          <a:solidFill>
            <a:srgbClr val="167C85"/>
          </a:solidFill>
          <a:ln w="5080">
            <a:solidFill>
              <a:srgbClr val="167C85"/>
            </a:solidFill>
            <a:prstDash val="solid"/>
          </a:ln>
        </p:spPr>
      </p:sp>
      <p:sp>
        <p:nvSpPr>
          <p:cNvPr id="198" name="Shape 196"/>
          <p:cNvSpPr/>
          <p:nvPr/>
        </p:nvSpPr>
        <p:spPr>
          <a:xfrm>
            <a:off x="8647746" y="3213054"/>
            <a:ext cx="128016" cy="128016"/>
          </a:xfrm>
          <a:prstGeom prst="diamond">
            <a:avLst/>
          </a:prstGeom>
          <a:solidFill>
            <a:srgbClr val="167C85"/>
          </a:solidFill>
          <a:ln w="5080">
            <a:solidFill>
              <a:srgbClr val="167C85"/>
            </a:solidFill>
            <a:prstDash val="solid"/>
          </a:ln>
        </p:spPr>
      </p:sp>
      <p:sp>
        <p:nvSpPr>
          <p:cNvPr id="199" name="Shape 197"/>
          <p:cNvSpPr/>
          <p:nvPr/>
        </p:nvSpPr>
        <p:spPr>
          <a:xfrm>
            <a:off x="4503420" y="5582412"/>
            <a:ext cx="137160" cy="137160"/>
          </a:xfrm>
          <a:prstGeom prst="ellipse">
            <a:avLst/>
          </a:prstGeom>
          <a:solidFill>
            <a:srgbClr val="176493"/>
          </a:solidFill>
          <a:ln w="5080">
            <a:solidFill>
              <a:srgbClr val="176493"/>
            </a:solidFill>
            <a:prstDash val="solid"/>
          </a:ln>
        </p:spPr>
      </p:sp>
      <p:sp>
        <p:nvSpPr>
          <p:cNvPr id="200" name="Text 198"/>
          <p:cNvSpPr/>
          <p:nvPr/>
        </p:nvSpPr>
        <p:spPr>
          <a:xfrm>
            <a:off x="4727448" y="5541264"/>
            <a:ext cx="640080" cy="246888"/>
          </a:xfrm>
          <a:prstGeom prst="rect">
            <a:avLst/>
          </a:prstGeom>
          <a:noFill/>
          <a:ln/>
        </p:spPr>
        <p:txBody>
          <a:bodyPr wrap="square" lIns="0" tIns="0" rIns="0" bIns="0" rtlCol="0" anchor="ctr"/>
          <a:lstStyle/>
          <a:p>
            <a:pPr algn="l" indent="0" marL="0">
              <a:buNone/>
            </a:pPr>
            <a:r>
              <a:rPr lang="en-US" sz="1500" dirty="0">
                <a:solidFill>
                  <a:srgbClr val="53657A"/>
                </a:solidFill>
                <a:latin typeface="Aptos" pitchFamily="34" charset="0"/>
                <a:ea typeface="Aptos" pitchFamily="34" charset="-122"/>
                <a:cs typeface="Aptos" pitchFamily="34" charset="-120"/>
              </a:rPr>
              <a:t>C1</a:t>
            </a:r>
            <a:endParaRPr lang="en-US" sz="1500" dirty="0"/>
          </a:p>
        </p:txBody>
      </p:sp>
      <p:sp>
        <p:nvSpPr>
          <p:cNvPr id="201" name="Shape 199"/>
          <p:cNvSpPr/>
          <p:nvPr/>
        </p:nvSpPr>
        <p:spPr>
          <a:xfrm>
            <a:off x="5509260" y="5582412"/>
            <a:ext cx="137160" cy="137160"/>
          </a:xfrm>
          <a:prstGeom prst="diamond">
            <a:avLst/>
          </a:prstGeom>
          <a:solidFill>
            <a:srgbClr val="167C85"/>
          </a:solidFill>
          <a:ln w="5080">
            <a:solidFill>
              <a:srgbClr val="167C85"/>
            </a:solidFill>
            <a:prstDash val="solid"/>
          </a:ln>
        </p:spPr>
      </p:sp>
      <p:sp>
        <p:nvSpPr>
          <p:cNvPr id="202" name="Text 200"/>
          <p:cNvSpPr/>
          <p:nvPr/>
        </p:nvSpPr>
        <p:spPr>
          <a:xfrm>
            <a:off x="5733288" y="5541264"/>
            <a:ext cx="640080" cy="246888"/>
          </a:xfrm>
          <a:prstGeom prst="rect">
            <a:avLst/>
          </a:prstGeom>
          <a:noFill/>
          <a:ln/>
        </p:spPr>
        <p:txBody>
          <a:bodyPr wrap="square" lIns="0" tIns="0" rIns="0" bIns="0" rtlCol="0" anchor="ctr"/>
          <a:lstStyle/>
          <a:p>
            <a:pPr algn="l" indent="0" marL="0">
              <a:buNone/>
            </a:pPr>
            <a:r>
              <a:rPr lang="en-US" sz="1500" dirty="0">
                <a:solidFill>
                  <a:srgbClr val="53657A"/>
                </a:solidFill>
                <a:latin typeface="Aptos" pitchFamily="34" charset="0"/>
                <a:ea typeface="Aptos" pitchFamily="34" charset="-122"/>
                <a:cs typeface="Aptos" pitchFamily="34" charset="-120"/>
              </a:rPr>
              <a:t>C2</a:t>
            </a:r>
            <a:endParaRPr lang="en-US" sz="1500" dirty="0"/>
          </a:p>
        </p:txBody>
      </p:sp>
      <p:sp>
        <p:nvSpPr>
          <p:cNvPr id="203" name="Shape 201"/>
          <p:cNvSpPr/>
          <p:nvPr/>
        </p:nvSpPr>
        <p:spPr>
          <a:xfrm>
            <a:off x="6515100" y="5582412"/>
            <a:ext cx="137160" cy="137160"/>
          </a:xfrm>
          <a:prstGeom prst="triangle">
            <a:avLst/>
          </a:prstGeom>
          <a:solidFill>
            <a:srgbClr val="7056C2"/>
          </a:solidFill>
          <a:ln w="5080">
            <a:solidFill>
              <a:srgbClr val="7056C2"/>
            </a:solidFill>
            <a:prstDash val="solid"/>
          </a:ln>
        </p:spPr>
      </p:sp>
      <p:sp>
        <p:nvSpPr>
          <p:cNvPr id="204" name="Text 202"/>
          <p:cNvSpPr/>
          <p:nvPr/>
        </p:nvSpPr>
        <p:spPr>
          <a:xfrm>
            <a:off x="6739128" y="5541264"/>
            <a:ext cx="640080" cy="246888"/>
          </a:xfrm>
          <a:prstGeom prst="rect">
            <a:avLst/>
          </a:prstGeom>
          <a:noFill/>
          <a:ln/>
        </p:spPr>
        <p:txBody>
          <a:bodyPr wrap="square" lIns="0" tIns="0" rIns="0" bIns="0" rtlCol="0" anchor="ctr"/>
          <a:lstStyle/>
          <a:p>
            <a:pPr algn="l" indent="0" marL="0">
              <a:buNone/>
            </a:pPr>
            <a:r>
              <a:rPr lang="en-US" sz="1500" dirty="0">
                <a:solidFill>
                  <a:srgbClr val="53657A"/>
                </a:solidFill>
                <a:latin typeface="Aptos" pitchFamily="34" charset="0"/>
                <a:ea typeface="Aptos" pitchFamily="34" charset="-122"/>
                <a:cs typeface="Aptos" pitchFamily="34" charset="-120"/>
              </a:rPr>
              <a:t>C3</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0" y="0"/>
            <a:ext cx="12192000" cy="402336"/>
          </a:xfrm>
          <a:prstGeom prst="rect">
            <a:avLst/>
          </a:prstGeom>
          <a:solidFill>
            <a:srgbClr val="E7EEF7"/>
          </a:solidFill>
          <a:ln w="12700">
            <a:solidFill>
              <a:srgbClr val="E7EEF7">
                <a:alpha val="0"/>
              </a:srgbClr>
            </a:solidFill>
            <a:prstDash val="solid"/>
          </a:ln>
        </p:spPr>
      </p:sp>
      <p:sp>
        <p:nvSpPr>
          <p:cNvPr id="3" name="Shape 1"/>
          <p:cNvSpPr/>
          <p:nvPr/>
        </p:nvSpPr>
        <p:spPr>
          <a:xfrm>
            <a:off x="466344" y="123444"/>
            <a:ext cx="64008" cy="146304"/>
          </a:xfrm>
          <a:prstGeom prst="rect">
            <a:avLst/>
          </a:prstGeom>
          <a:solidFill>
            <a:srgbClr val="176493"/>
          </a:solidFill>
          <a:ln w="12700">
            <a:solidFill>
              <a:srgbClr val="176493">
                <a:alpha val="0"/>
              </a:srgbClr>
            </a:solidFill>
            <a:prstDash val="solid"/>
          </a:ln>
        </p:spPr>
      </p:sp>
      <p:sp>
        <p:nvSpPr>
          <p:cNvPr id="4" name="Text 2"/>
          <p:cNvSpPr/>
          <p:nvPr/>
        </p:nvSpPr>
        <p:spPr>
          <a:xfrm>
            <a:off x="594360" y="100584"/>
            <a:ext cx="731520" cy="201168"/>
          </a:xfrm>
          <a:prstGeom prst="rect">
            <a:avLst/>
          </a:prstGeom>
          <a:noFill/>
          <a:ln/>
        </p:spPr>
        <p:txBody>
          <a:bodyPr wrap="square" lIns="0" tIns="0" rIns="0" bIns="0" rtlCol="0" anchor="ctr"/>
          <a:lstStyle/>
          <a:p>
            <a:pPr algn="l" indent="0" marL="0">
              <a:buNone/>
            </a:pPr>
            <a:r>
              <a:rPr lang="en-US" sz="1100" b="1" dirty="0">
                <a:solidFill>
                  <a:srgbClr val="176493"/>
                </a:solidFill>
                <a:latin typeface="Aptos" pitchFamily="34" charset="0"/>
                <a:ea typeface="Aptos" pitchFamily="34" charset="-122"/>
                <a:cs typeface="Aptos" pitchFamily="34" charset="-120"/>
              </a:rPr>
              <a:t>DS101</a:t>
            </a:r>
            <a:endParaRPr lang="en-US" sz="1100" dirty="0"/>
          </a:p>
        </p:txBody>
      </p:sp>
      <p:sp>
        <p:nvSpPr>
          <p:cNvPr id="5" name="Text 3"/>
          <p:cNvSpPr/>
          <p:nvPr/>
        </p:nvSpPr>
        <p:spPr>
          <a:xfrm>
            <a:off x="1463040" y="100584"/>
            <a:ext cx="1828800" cy="201168"/>
          </a:xfrm>
          <a:prstGeom prst="rect">
            <a:avLst/>
          </a:prstGeom>
          <a:noFill/>
          <a:ln/>
        </p:spPr>
        <p:txBody>
          <a:bodyPr wrap="square" lIns="0" tIns="0" rIns="0" bIns="0" rtlCol="0" anchor="ctr"/>
          <a:lstStyle/>
          <a:p>
            <a:pPr algn="l" indent="0" marL="0">
              <a:buNone/>
            </a:pPr>
            <a:r>
              <a:rPr lang="en-US" sz="1000" dirty="0">
                <a:solidFill>
                  <a:srgbClr val="53657A"/>
                </a:solidFill>
                <a:latin typeface="Aptos" pitchFamily="34" charset="0"/>
                <a:ea typeface="Aptos" pitchFamily="34" charset="-122"/>
                <a:cs typeface="Aptos" pitchFamily="34" charset="-120"/>
              </a:rPr>
              <a:t>LECTURE 02</a:t>
            </a:r>
            <a:endParaRPr lang="en-US" sz="1000" dirty="0"/>
          </a:p>
        </p:txBody>
      </p:sp>
      <p:sp>
        <p:nvSpPr>
          <p:cNvPr id="6" name="Text 4"/>
          <p:cNvSpPr/>
          <p:nvPr/>
        </p:nvSpPr>
        <p:spPr>
          <a:xfrm>
            <a:off x="8321040" y="100584"/>
            <a:ext cx="3264408" cy="201168"/>
          </a:xfrm>
          <a:prstGeom prst="rect">
            <a:avLst/>
          </a:prstGeom>
          <a:noFill/>
          <a:ln/>
        </p:spPr>
        <p:txBody>
          <a:bodyPr wrap="square" lIns="0" tIns="0" rIns="0" bIns="0" rtlCol="0" anchor="ctr"/>
          <a:lstStyle/>
          <a:p>
            <a:pPr algn="r" indent="0" marL="0">
              <a:buNone/>
            </a:pPr>
            <a:r>
              <a:rPr lang="en-US" sz="1000" dirty="0">
                <a:solidFill>
                  <a:srgbClr val="53657A"/>
                </a:solidFill>
                <a:latin typeface="Aptos" pitchFamily="34" charset="0"/>
                <a:ea typeface="Aptos" pitchFamily="34" charset="-122"/>
                <a:cs typeface="Aptos" pitchFamily="34" charset="-120"/>
              </a:rPr>
              <a:t>AUGMENTED VISUALIZATION</a:t>
            </a:r>
            <a:endParaRPr lang="en-US" sz="1000" dirty="0"/>
          </a:p>
        </p:txBody>
      </p:sp>
      <p:sp>
        <p:nvSpPr>
          <p:cNvPr id="7" name="Text 5"/>
          <p:cNvSpPr/>
          <p:nvPr/>
        </p:nvSpPr>
        <p:spPr>
          <a:xfrm>
            <a:off x="594360" y="758952"/>
            <a:ext cx="11000232" cy="658368"/>
          </a:xfrm>
          <a:prstGeom prst="rect">
            <a:avLst/>
          </a:prstGeom>
          <a:noFill/>
          <a:ln/>
        </p:spPr>
        <p:txBody>
          <a:bodyPr wrap="square" lIns="0" tIns="0" rIns="0" bIns="0" rtlCol="0" anchor="ctr"/>
          <a:lstStyle/>
          <a:p>
            <a:pPr algn="l" indent="0" marL="0">
              <a:buNone/>
            </a:pPr>
            <a:r>
              <a:rPr lang="en-US" sz="3000" b="1" dirty="0">
                <a:solidFill>
                  <a:srgbClr val="172233"/>
                </a:solidFill>
                <a:latin typeface="Aptos" pitchFamily="34" charset="0"/>
                <a:ea typeface="Aptos" pitchFamily="34" charset="-122"/>
                <a:cs typeface="Aptos" pitchFamily="34" charset="-120"/>
              </a:rPr>
              <a:t>Put meaning back on the map</a:t>
            </a:r>
            <a:endParaRPr lang="en-US" sz="3000" dirty="0"/>
          </a:p>
        </p:txBody>
      </p:sp>
      <p:sp>
        <p:nvSpPr>
          <p:cNvPr id="8" name="Text 6"/>
          <p:cNvSpPr/>
          <p:nvPr/>
        </p:nvSpPr>
        <p:spPr>
          <a:xfrm>
            <a:off x="594360" y="6510528"/>
            <a:ext cx="3657600" cy="164592"/>
          </a:xfrm>
          <a:prstGeom prst="rect">
            <a:avLst/>
          </a:prstGeom>
          <a:noFill/>
          <a:ln/>
        </p:spPr>
        <p:txBody>
          <a:bodyPr wrap="square" lIns="0" tIns="0" rIns="0" bIns="0" rtlCol="0" anchor="ctr"/>
          <a:lstStyle/>
          <a:p>
            <a:pPr algn="l" indent="0" marL="0">
              <a:buNone/>
            </a:pPr>
            <a:r>
              <a:rPr lang="en-US" sz="900" dirty="0">
                <a:solidFill>
                  <a:srgbClr val="53657A"/>
                </a:solidFill>
                <a:latin typeface="Aptos" pitchFamily="34" charset="0"/>
                <a:ea typeface="Aptos" pitchFamily="34" charset="-122"/>
                <a:cs typeface="Aptos" pitchFamily="34" charset="-120"/>
              </a:rPr>
              <a:t>DS101 | 2026-2027</a:t>
            </a:r>
            <a:endParaRPr lang="en-US" sz="900" dirty="0"/>
          </a:p>
        </p:txBody>
      </p:sp>
      <p:sp>
        <p:nvSpPr>
          <p:cNvPr id="9" name="Text 7"/>
          <p:cNvSpPr/>
          <p:nvPr/>
        </p:nvSpPr>
        <p:spPr>
          <a:xfrm>
            <a:off x="10680192" y="6492240"/>
            <a:ext cx="914400" cy="201168"/>
          </a:xfrm>
          <a:prstGeom prst="rect">
            <a:avLst/>
          </a:prstGeom>
          <a:noFill/>
          <a:ln/>
        </p:spPr>
        <p:txBody>
          <a:bodyPr wrap="square" lIns="0" tIns="0" rIns="0" bIns="0" rtlCol="0" anchor="ctr"/>
          <a:lstStyle/>
          <a:p>
            <a:pPr algn="r" indent="0" marL="0">
              <a:buNone/>
            </a:pPr>
            <a:r>
              <a:rPr lang="en-US" sz="1000" dirty="0">
                <a:solidFill>
                  <a:srgbClr val="53657A"/>
                </a:solidFill>
                <a:latin typeface="Aptos" pitchFamily="34" charset="0"/>
                <a:ea typeface="Aptos" pitchFamily="34" charset="-122"/>
                <a:cs typeface="Aptos" pitchFamily="34" charset="-120"/>
              </a:rPr>
              <a:t>15 / 24</a:t>
            </a:r>
            <a:endParaRPr lang="en-US" sz="1000" dirty="0"/>
          </a:p>
        </p:txBody>
      </p:sp>
      <p:sp>
        <p:nvSpPr>
          <p:cNvPr id="10" name="Shape 8"/>
          <p:cNvSpPr/>
          <p:nvPr/>
        </p:nvSpPr>
        <p:spPr>
          <a:xfrm>
            <a:off x="594360" y="5852160"/>
            <a:ext cx="11000232" cy="438912"/>
          </a:xfrm>
          <a:prstGeom prst="rect">
            <a:avLst/>
          </a:prstGeom>
          <a:solidFill>
            <a:srgbClr val="E3EFF7"/>
          </a:solidFill>
          <a:ln w="12700">
            <a:solidFill>
              <a:srgbClr val="E3EFF7">
                <a:alpha val="0"/>
              </a:srgbClr>
            </a:solidFill>
            <a:prstDash val="solid"/>
          </a:ln>
        </p:spPr>
      </p:sp>
      <p:sp>
        <p:nvSpPr>
          <p:cNvPr id="11" name="Text 9"/>
          <p:cNvSpPr/>
          <p:nvPr/>
        </p:nvSpPr>
        <p:spPr>
          <a:xfrm>
            <a:off x="795528" y="5943600"/>
            <a:ext cx="10607040" cy="256032"/>
          </a:xfrm>
          <a:prstGeom prst="rect">
            <a:avLst/>
          </a:prstGeom>
          <a:noFill/>
          <a:ln/>
        </p:spPr>
        <p:txBody>
          <a:bodyPr wrap="square" lIns="0" tIns="0" rIns="0" bIns="0" rtlCol="0" anchor="ctr"/>
          <a:lstStyle/>
          <a:p>
            <a:pPr algn="l" indent="0" marL="0">
              <a:buNone/>
            </a:pPr>
            <a:r>
              <a:rPr lang="en-US" sz="1700" b="1" dirty="0">
                <a:solidFill>
                  <a:srgbClr val="176493"/>
                </a:solidFill>
                <a:latin typeface="Aptos" pitchFamily="34" charset="0"/>
                <a:ea typeface="Aptos" pitchFamily="34" charset="-122"/>
                <a:cs typeface="Aptos" pitchFamily="34" charset="-120"/>
              </a:rPr>
              <a:t>A highlighted point should lead back to a record you can inspect.</a:t>
            </a:r>
            <a:endParaRPr lang="en-US" sz="1700" dirty="0"/>
          </a:p>
        </p:txBody>
      </p:sp>
      <p:sp>
        <p:nvSpPr>
          <p:cNvPr id="12" name="Text 10"/>
          <p:cNvSpPr/>
          <p:nvPr/>
        </p:nvSpPr>
        <p:spPr>
          <a:xfrm>
            <a:off x="749808" y="1627632"/>
            <a:ext cx="10607040" cy="219456"/>
          </a:xfrm>
          <a:prstGeom prst="rect">
            <a:avLst/>
          </a:prstGeom>
          <a:noFill/>
          <a:ln/>
        </p:spPr>
        <p:txBody>
          <a:bodyPr wrap="square" lIns="0" tIns="0" rIns="0" bIns="0" rtlCol="0" anchor="ctr"/>
          <a:lstStyle/>
          <a:p>
            <a:pPr algn="l" indent="0" marL="0">
              <a:buNone/>
            </a:pPr>
            <a:r>
              <a:rPr lang="en-US" sz="1150" b="1" spc="50" kern="0" dirty="0">
                <a:solidFill>
                  <a:srgbClr val="176493"/>
                </a:solidFill>
                <a:latin typeface="Aptos" pitchFamily="34" charset="0"/>
                <a:ea typeface="Aptos" pitchFamily="34" charset="-122"/>
                <a:cs typeface="Aptos" pitchFamily="34" charset="-120"/>
              </a:rPr>
              <a:t>ILLUSTRATIVE PROJECTION | SAME PERPLEXITY-25 MAP</a:t>
            </a:r>
            <a:endParaRPr lang="en-US" sz="1150" dirty="0"/>
          </a:p>
        </p:txBody>
      </p:sp>
      <p:sp>
        <p:nvSpPr>
          <p:cNvPr id="13" name="Shape 11"/>
          <p:cNvSpPr/>
          <p:nvPr/>
        </p:nvSpPr>
        <p:spPr>
          <a:xfrm>
            <a:off x="749808" y="2020824"/>
            <a:ext cx="6903720" cy="3602736"/>
          </a:xfrm>
          <a:prstGeom prst="rect">
            <a:avLst/>
          </a:prstGeom>
          <a:solidFill>
            <a:srgbClr val="FFFFFF"/>
          </a:solidFill>
          <a:ln w="12700">
            <a:solidFill>
              <a:srgbClr val="FFFFFF">
                <a:alpha val="0"/>
              </a:srgbClr>
            </a:solidFill>
            <a:prstDash val="solid"/>
          </a:ln>
        </p:spPr>
      </p:sp>
      <p:sp>
        <p:nvSpPr>
          <p:cNvPr id="14" name="Shape 12"/>
          <p:cNvSpPr/>
          <p:nvPr/>
        </p:nvSpPr>
        <p:spPr>
          <a:xfrm>
            <a:off x="1325880" y="4892040"/>
            <a:ext cx="6108192" cy="0"/>
          </a:xfrm>
          <a:prstGeom prst="line">
            <a:avLst/>
          </a:prstGeom>
          <a:noFill/>
          <a:ln w="8255">
            <a:solidFill>
              <a:srgbClr val="E3EFF7"/>
            </a:solidFill>
            <a:prstDash val="solid"/>
            <a:headEnd type="none"/>
            <a:tailEnd type="none"/>
          </a:ln>
        </p:spPr>
      </p:sp>
      <p:sp>
        <p:nvSpPr>
          <p:cNvPr id="15" name="Shape 13"/>
          <p:cNvSpPr/>
          <p:nvPr/>
        </p:nvSpPr>
        <p:spPr>
          <a:xfrm>
            <a:off x="1325880" y="3785616"/>
            <a:ext cx="6108192" cy="0"/>
          </a:xfrm>
          <a:prstGeom prst="line">
            <a:avLst/>
          </a:prstGeom>
          <a:noFill/>
          <a:ln w="8255">
            <a:solidFill>
              <a:srgbClr val="E3EFF7"/>
            </a:solidFill>
            <a:prstDash val="solid"/>
            <a:headEnd type="none"/>
            <a:tailEnd type="none"/>
          </a:ln>
        </p:spPr>
      </p:sp>
      <p:sp>
        <p:nvSpPr>
          <p:cNvPr id="16" name="Shape 14"/>
          <p:cNvSpPr/>
          <p:nvPr/>
        </p:nvSpPr>
        <p:spPr>
          <a:xfrm>
            <a:off x="1325880" y="2679192"/>
            <a:ext cx="6108192" cy="0"/>
          </a:xfrm>
          <a:prstGeom prst="line">
            <a:avLst/>
          </a:prstGeom>
          <a:noFill/>
          <a:ln w="8255">
            <a:solidFill>
              <a:srgbClr val="E3EFF7"/>
            </a:solidFill>
            <a:prstDash val="solid"/>
            <a:headEnd type="none"/>
            <a:tailEnd type="none"/>
          </a:ln>
        </p:spPr>
      </p:sp>
      <p:sp>
        <p:nvSpPr>
          <p:cNvPr id="17" name="Shape 15"/>
          <p:cNvSpPr/>
          <p:nvPr/>
        </p:nvSpPr>
        <p:spPr>
          <a:xfrm>
            <a:off x="1325880" y="2679192"/>
            <a:ext cx="0" cy="2212848"/>
          </a:xfrm>
          <a:prstGeom prst="line">
            <a:avLst/>
          </a:prstGeom>
          <a:noFill/>
          <a:ln w="12700">
            <a:solidFill>
              <a:srgbClr val="C4D2E2"/>
            </a:solidFill>
            <a:prstDash val="solid"/>
            <a:headEnd type="none"/>
            <a:tailEnd type="none"/>
          </a:ln>
        </p:spPr>
      </p:sp>
      <p:sp>
        <p:nvSpPr>
          <p:cNvPr id="18" name="Shape 16"/>
          <p:cNvSpPr/>
          <p:nvPr/>
        </p:nvSpPr>
        <p:spPr>
          <a:xfrm>
            <a:off x="1325880" y="4892040"/>
            <a:ext cx="6108192" cy="0"/>
          </a:xfrm>
          <a:prstGeom prst="line">
            <a:avLst/>
          </a:prstGeom>
          <a:noFill/>
          <a:ln w="12700">
            <a:solidFill>
              <a:srgbClr val="C4D2E2"/>
            </a:solidFill>
            <a:prstDash val="solid"/>
            <a:headEnd type="none"/>
            <a:tailEnd type="none"/>
          </a:ln>
        </p:spPr>
      </p:sp>
      <p:sp>
        <p:nvSpPr>
          <p:cNvPr id="19" name="Text 17"/>
          <p:cNvSpPr/>
          <p:nvPr/>
        </p:nvSpPr>
        <p:spPr>
          <a:xfrm>
            <a:off x="905256" y="2130552"/>
            <a:ext cx="6592824" cy="265176"/>
          </a:xfrm>
          <a:prstGeom prst="rect">
            <a:avLst/>
          </a:prstGeom>
          <a:noFill/>
          <a:ln/>
        </p:spPr>
        <p:txBody>
          <a:bodyPr wrap="square" lIns="0" tIns="0" rIns="0" bIns="0" rtlCol="0" anchor="ctr"/>
          <a:lstStyle/>
          <a:p>
            <a:pPr algn="l" indent="0" marL="0">
              <a:buNone/>
            </a:pPr>
            <a:r>
              <a:rPr lang="en-US" sz="1700" b="1" dirty="0">
                <a:solidFill>
                  <a:srgbClr val="172233"/>
                </a:solidFill>
                <a:latin typeface="Aptos" pitchFamily="34" charset="0"/>
                <a:ea typeface="Aptos" pitchFamily="34" charset="-122"/>
                <a:cs typeface="Aptos" pitchFamily="34" charset="-120"/>
              </a:rPr>
              <a:t>Find account A001</a:t>
            </a:r>
            <a:endParaRPr lang="en-US" sz="1700" dirty="0"/>
          </a:p>
        </p:txBody>
      </p:sp>
      <p:sp>
        <p:nvSpPr>
          <p:cNvPr id="20" name="Text 18"/>
          <p:cNvSpPr/>
          <p:nvPr/>
        </p:nvSpPr>
        <p:spPr>
          <a:xfrm>
            <a:off x="1325880" y="2395728"/>
            <a:ext cx="6108192" cy="201168"/>
          </a:xfrm>
          <a:prstGeom prst="rect">
            <a:avLst/>
          </a:prstGeom>
          <a:noFill/>
          <a:ln/>
        </p:spPr>
        <p:txBody>
          <a:bodyPr wrap="square" lIns="0" tIns="0" rIns="0" bIns="0" rtlCol="0" anchor="ctr"/>
          <a:lstStyle/>
          <a:p>
            <a:pPr algn="l" indent="0" marL="0">
              <a:buNone/>
            </a:pPr>
            <a:r>
              <a:rPr lang="en-US" sz="1300" dirty="0">
                <a:solidFill>
                  <a:srgbClr val="53657A"/>
                </a:solidFill>
                <a:latin typeface="Aptos" pitchFamily="34" charset="0"/>
                <a:ea typeface="Aptos" pitchFamily="34" charset="-122"/>
                <a:cs typeface="Aptos" pitchFamily="34" charset="-120"/>
              </a:rPr>
              <a:t>t-SNE 2</a:t>
            </a:r>
            <a:endParaRPr lang="en-US" sz="1300" dirty="0"/>
          </a:p>
        </p:txBody>
      </p:sp>
      <p:sp>
        <p:nvSpPr>
          <p:cNvPr id="21" name="Text 19"/>
          <p:cNvSpPr/>
          <p:nvPr/>
        </p:nvSpPr>
        <p:spPr>
          <a:xfrm>
            <a:off x="1325880" y="5394960"/>
            <a:ext cx="6108192" cy="210312"/>
          </a:xfrm>
          <a:prstGeom prst="rect">
            <a:avLst/>
          </a:prstGeom>
          <a:noFill/>
          <a:ln/>
        </p:spPr>
        <p:txBody>
          <a:bodyPr wrap="square" lIns="0" tIns="0" rIns="0" bIns="0" rtlCol="0" anchor="ctr"/>
          <a:lstStyle/>
          <a:p>
            <a:pPr algn="ctr" indent="0" marL="0">
              <a:buNone/>
            </a:pPr>
            <a:r>
              <a:rPr lang="en-US" sz="1300" dirty="0">
                <a:solidFill>
                  <a:srgbClr val="53657A"/>
                </a:solidFill>
                <a:latin typeface="Aptos" pitchFamily="34" charset="0"/>
                <a:ea typeface="Aptos" pitchFamily="34" charset="-122"/>
                <a:cs typeface="Aptos" pitchFamily="34" charset="-120"/>
              </a:rPr>
              <a:t>t-SNE 1 (arbitrary units)</a:t>
            </a:r>
            <a:endParaRPr lang="en-US" sz="1300" dirty="0"/>
          </a:p>
        </p:txBody>
      </p:sp>
      <p:sp>
        <p:nvSpPr>
          <p:cNvPr id="22" name="Shape 20"/>
          <p:cNvSpPr/>
          <p:nvPr/>
        </p:nvSpPr>
        <p:spPr>
          <a:xfrm>
            <a:off x="4187402" y="3178170"/>
            <a:ext cx="182880" cy="182880"/>
          </a:xfrm>
          <a:prstGeom prst="ellipse">
            <a:avLst/>
          </a:prstGeom>
          <a:solidFill>
            <a:srgbClr val="167C85"/>
          </a:solidFill>
          <a:ln w="5080">
            <a:solidFill>
              <a:srgbClr val="167C85"/>
            </a:solidFill>
            <a:prstDash val="solid"/>
          </a:ln>
        </p:spPr>
      </p:sp>
      <p:sp>
        <p:nvSpPr>
          <p:cNvPr id="23" name="Shape 21"/>
          <p:cNvSpPr/>
          <p:nvPr/>
        </p:nvSpPr>
        <p:spPr>
          <a:xfrm>
            <a:off x="6356298" y="4658630"/>
            <a:ext cx="96926" cy="96926"/>
          </a:xfrm>
          <a:prstGeom prst="ellipse">
            <a:avLst/>
          </a:prstGeom>
          <a:solidFill>
            <a:srgbClr val="C4D2E2"/>
          </a:solidFill>
          <a:ln w="5080">
            <a:solidFill>
              <a:srgbClr val="C4D2E2"/>
            </a:solidFill>
            <a:prstDash val="solid"/>
          </a:ln>
        </p:spPr>
      </p:sp>
      <p:sp>
        <p:nvSpPr>
          <p:cNvPr id="24" name="Shape 22"/>
          <p:cNvSpPr/>
          <p:nvPr/>
        </p:nvSpPr>
        <p:spPr>
          <a:xfrm>
            <a:off x="6276540" y="4541683"/>
            <a:ext cx="96926" cy="96926"/>
          </a:xfrm>
          <a:prstGeom prst="ellipse">
            <a:avLst/>
          </a:prstGeom>
          <a:solidFill>
            <a:srgbClr val="C4D2E2"/>
          </a:solidFill>
          <a:ln w="5080">
            <a:solidFill>
              <a:srgbClr val="C4D2E2"/>
            </a:solidFill>
            <a:prstDash val="solid"/>
          </a:ln>
        </p:spPr>
      </p:sp>
      <p:sp>
        <p:nvSpPr>
          <p:cNvPr id="25" name="Shape 23"/>
          <p:cNvSpPr/>
          <p:nvPr/>
        </p:nvSpPr>
        <p:spPr>
          <a:xfrm>
            <a:off x="6431494" y="4487661"/>
            <a:ext cx="96926" cy="96926"/>
          </a:xfrm>
          <a:prstGeom prst="ellipse">
            <a:avLst/>
          </a:prstGeom>
          <a:solidFill>
            <a:srgbClr val="C4D2E2"/>
          </a:solidFill>
          <a:ln w="5080">
            <a:solidFill>
              <a:srgbClr val="C4D2E2"/>
            </a:solidFill>
            <a:prstDash val="solid"/>
          </a:ln>
        </p:spPr>
      </p:sp>
      <p:sp>
        <p:nvSpPr>
          <p:cNvPr id="26" name="Shape 24"/>
          <p:cNvSpPr/>
          <p:nvPr/>
        </p:nvSpPr>
        <p:spPr>
          <a:xfrm>
            <a:off x="6801464" y="4492779"/>
            <a:ext cx="96926" cy="96926"/>
          </a:xfrm>
          <a:prstGeom prst="ellipse">
            <a:avLst/>
          </a:prstGeom>
          <a:solidFill>
            <a:srgbClr val="C4D2E2"/>
          </a:solidFill>
          <a:ln w="5080">
            <a:solidFill>
              <a:srgbClr val="C4D2E2"/>
            </a:solidFill>
            <a:prstDash val="solid"/>
          </a:ln>
        </p:spPr>
      </p:sp>
      <p:sp>
        <p:nvSpPr>
          <p:cNvPr id="27" name="Shape 25"/>
          <p:cNvSpPr/>
          <p:nvPr/>
        </p:nvSpPr>
        <p:spPr>
          <a:xfrm>
            <a:off x="6904768" y="4514652"/>
            <a:ext cx="96926" cy="96926"/>
          </a:xfrm>
          <a:prstGeom prst="ellipse">
            <a:avLst/>
          </a:prstGeom>
          <a:solidFill>
            <a:srgbClr val="C4D2E2"/>
          </a:solidFill>
          <a:ln w="5080">
            <a:solidFill>
              <a:srgbClr val="C4D2E2"/>
            </a:solidFill>
            <a:prstDash val="solid"/>
          </a:ln>
        </p:spPr>
      </p:sp>
      <p:sp>
        <p:nvSpPr>
          <p:cNvPr id="28" name="Shape 26"/>
          <p:cNvSpPr/>
          <p:nvPr/>
        </p:nvSpPr>
        <p:spPr>
          <a:xfrm>
            <a:off x="6499076" y="4636841"/>
            <a:ext cx="96926" cy="96926"/>
          </a:xfrm>
          <a:prstGeom prst="ellipse">
            <a:avLst/>
          </a:prstGeom>
          <a:solidFill>
            <a:srgbClr val="C4D2E2"/>
          </a:solidFill>
          <a:ln w="5080">
            <a:solidFill>
              <a:srgbClr val="C4D2E2"/>
            </a:solidFill>
            <a:prstDash val="solid"/>
          </a:ln>
        </p:spPr>
      </p:sp>
      <p:sp>
        <p:nvSpPr>
          <p:cNvPr id="29" name="Shape 27"/>
          <p:cNvSpPr/>
          <p:nvPr/>
        </p:nvSpPr>
        <p:spPr>
          <a:xfrm>
            <a:off x="6534148" y="4494773"/>
            <a:ext cx="96926" cy="96926"/>
          </a:xfrm>
          <a:prstGeom prst="ellipse">
            <a:avLst/>
          </a:prstGeom>
          <a:solidFill>
            <a:srgbClr val="C4D2E2"/>
          </a:solidFill>
          <a:ln w="5080">
            <a:solidFill>
              <a:srgbClr val="C4D2E2"/>
            </a:solidFill>
            <a:prstDash val="solid"/>
          </a:ln>
        </p:spPr>
      </p:sp>
      <p:sp>
        <p:nvSpPr>
          <p:cNvPr id="30" name="Shape 28"/>
          <p:cNvSpPr/>
          <p:nvPr/>
        </p:nvSpPr>
        <p:spPr>
          <a:xfrm>
            <a:off x="6143047" y="4407008"/>
            <a:ext cx="96926" cy="96926"/>
          </a:xfrm>
          <a:prstGeom prst="ellipse">
            <a:avLst/>
          </a:prstGeom>
          <a:solidFill>
            <a:srgbClr val="C4D2E2"/>
          </a:solidFill>
          <a:ln w="5080">
            <a:solidFill>
              <a:srgbClr val="C4D2E2"/>
            </a:solidFill>
            <a:prstDash val="solid"/>
          </a:ln>
        </p:spPr>
      </p:sp>
      <p:sp>
        <p:nvSpPr>
          <p:cNvPr id="31" name="Shape 29"/>
          <p:cNvSpPr/>
          <p:nvPr/>
        </p:nvSpPr>
        <p:spPr>
          <a:xfrm>
            <a:off x="6460314" y="4448824"/>
            <a:ext cx="96926" cy="96926"/>
          </a:xfrm>
          <a:prstGeom prst="ellipse">
            <a:avLst/>
          </a:prstGeom>
          <a:solidFill>
            <a:srgbClr val="C4D2E2"/>
          </a:solidFill>
          <a:ln w="5080">
            <a:solidFill>
              <a:srgbClr val="C4D2E2"/>
            </a:solidFill>
            <a:prstDash val="solid"/>
          </a:ln>
        </p:spPr>
      </p:sp>
      <p:sp>
        <p:nvSpPr>
          <p:cNvPr id="32" name="Shape 30"/>
          <p:cNvSpPr/>
          <p:nvPr/>
        </p:nvSpPr>
        <p:spPr>
          <a:xfrm>
            <a:off x="6570863" y="4401937"/>
            <a:ext cx="96926" cy="96926"/>
          </a:xfrm>
          <a:prstGeom prst="ellipse">
            <a:avLst/>
          </a:prstGeom>
          <a:solidFill>
            <a:srgbClr val="C4D2E2"/>
          </a:solidFill>
          <a:ln w="5080">
            <a:solidFill>
              <a:srgbClr val="C4D2E2"/>
            </a:solidFill>
            <a:prstDash val="solid"/>
          </a:ln>
        </p:spPr>
      </p:sp>
      <p:sp>
        <p:nvSpPr>
          <p:cNvPr id="33" name="Shape 31"/>
          <p:cNvSpPr/>
          <p:nvPr/>
        </p:nvSpPr>
        <p:spPr>
          <a:xfrm>
            <a:off x="6307352" y="4444699"/>
            <a:ext cx="96926" cy="96926"/>
          </a:xfrm>
          <a:prstGeom prst="ellipse">
            <a:avLst/>
          </a:prstGeom>
          <a:solidFill>
            <a:srgbClr val="C4D2E2"/>
          </a:solidFill>
          <a:ln w="5080">
            <a:solidFill>
              <a:srgbClr val="C4D2E2"/>
            </a:solidFill>
            <a:prstDash val="solid"/>
          </a:ln>
        </p:spPr>
      </p:sp>
      <p:sp>
        <p:nvSpPr>
          <p:cNvPr id="34" name="Shape 32"/>
          <p:cNvSpPr/>
          <p:nvPr/>
        </p:nvSpPr>
        <p:spPr>
          <a:xfrm>
            <a:off x="6660747" y="4499543"/>
            <a:ext cx="96926" cy="96926"/>
          </a:xfrm>
          <a:prstGeom prst="ellipse">
            <a:avLst/>
          </a:prstGeom>
          <a:solidFill>
            <a:srgbClr val="C4D2E2"/>
          </a:solidFill>
          <a:ln w="5080">
            <a:solidFill>
              <a:srgbClr val="C4D2E2"/>
            </a:solidFill>
            <a:prstDash val="solid"/>
          </a:ln>
        </p:spPr>
      </p:sp>
      <p:sp>
        <p:nvSpPr>
          <p:cNvPr id="35" name="Shape 33"/>
          <p:cNvSpPr/>
          <p:nvPr/>
        </p:nvSpPr>
        <p:spPr>
          <a:xfrm>
            <a:off x="6307583" y="4690967"/>
            <a:ext cx="96926" cy="96926"/>
          </a:xfrm>
          <a:prstGeom prst="ellipse">
            <a:avLst/>
          </a:prstGeom>
          <a:solidFill>
            <a:srgbClr val="C4D2E2"/>
          </a:solidFill>
          <a:ln w="5080">
            <a:solidFill>
              <a:srgbClr val="C4D2E2"/>
            </a:solidFill>
            <a:prstDash val="solid"/>
          </a:ln>
        </p:spPr>
      </p:sp>
      <p:sp>
        <p:nvSpPr>
          <p:cNvPr id="36" name="Shape 34"/>
          <p:cNvSpPr/>
          <p:nvPr/>
        </p:nvSpPr>
        <p:spPr>
          <a:xfrm>
            <a:off x="5974729" y="4402616"/>
            <a:ext cx="96926" cy="96926"/>
          </a:xfrm>
          <a:prstGeom prst="ellipse">
            <a:avLst/>
          </a:prstGeom>
          <a:solidFill>
            <a:srgbClr val="C4D2E2"/>
          </a:solidFill>
          <a:ln w="5080">
            <a:solidFill>
              <a:srgbClr val="C4D2E2"/>
            </a:solidFill>
            <a:prstDash val="solid"/>
          </a:ln>
        </p:spPr>
      </p:sp>
      <p:sp>
        <p:nvSpPr>
          <p:cNvPr id="37" name="Shape 35"/>
          <p:cNvSpPr/>
          <p:nvPr/>
        </p:nvSpPr>
        <p:spPr>
          <a:xfrm>
            <a:off x="6679459" y="4463727"/>
            <a:ext cx="96926" cy="96926"/>
          </a:xfrm>
          <a:prstGeom prst="ellipse">
            <a:avLst/>
          </a:prstGeom>
          <a:solidFill>
            <a:srgbClr val="C4D2E2"/>
          </a:solidFill>
          <a:ln w="5080">
            <a:solidFill>
              <a:srgbClr val="C4D2E2"/>
            </a:solidFill>
            <a:prstDash val="solid"/>
          </a:ln>
        </p:spPr>
      </p:sp>
      <p:sp>
        <p:nvSpPr>
          <p:cNvPr id="38" name="Shape 36"/>
          <p:cNvSpPr/>
          <p:nvPr/>
        </p:nvSpPr>
        <p:spPr>
          <a:xfrm>
            <a:off x="6588083" y="4550145"/>
            <a:ext cx="96926" cy="96926"/>
          </a:xfrm>
          <a:prstGeom prst="ellipse">
            <a:avLst/>
          </a:prstGeom>
          <a:solidFill>
            <a:srgbClr val="C4D2E2"/>
          </a:solidFill>
          <a:ln w="5080">
            <a:solidFill>
              <a:srgbClr val="C4D2E2"/>
            </a:solidFill>
            <a:prstDash val="solid"/>
          </a:ln>
        </p:spPr>
      </p:sp>
      <p:sp>
        <p:nvSpPr>
          <p:cNvPr id="39" name="Shape 37"/>
          <p:cNvSpPr/>
          <p:nvPr/>
        </p:nvSpPr>
        <p:spPr>
          <a:xfrm>
            <a:off x="6964354" y="4479034"/>
            <a:ext cx="96926" cy="96926"/>
          </a:xfrm>
          <a:prstGeom prst="ellipse">
            <a:avLst/>
          </a:prstGeom>
          <a:solidFill>
            <a:srgbClr val="C4D2E2"/>
          </a:solidFill>
          <a:ln w="5080">
            <a:solidFill>
              <a:srgbClr val="C4D2E2"/>
            </a:solidFill>
            <a:prstDash val="solid"/>
          </a:ln>
        </p:spPr>
      </p:sp>
      <p:sp>
        <p:nvSpPr>
          <p:cNvPr id="40" name="Shape 38"/>
          <p:cNvSpPr/>
          <p:nvPr/>
        </p:nvSpPr>
        <p:spPr>
          <a:xfrm>
            <a:off x="6832162" y="4413612"/>
            <a:ext cx="96926" cy="96926"/>
          </a:xfrm>
          <a:prstGeom prst="ellipse">
            <a:avLst/>
          </a:prstGeom>
          <a:solidFill>
            <a:srgbClr val="C4D2E2"/>
          </a:solidFill>
          <a:ln w="5080">
            <a:solidFill>
              <a:srgbClr val="C4D2E2"/>
            </a:solidFill>
            <a:prstDash val="solid"/>
          </a:ln>
        </p:spPr>
      </p:sp>
      <p:sp>
        <p:nvSpPr>
          <p:cNvPr id="41" name="Shape 39"/>
          <p:cNvSpPr/>
          <p:nvPr/>
        </p:nvSpPr>
        <p:spPr>
          <a:xfrm>
            <a:off x="6189972" y="4682423"/>
            <a:ext cx="96926" cy="96926"/>
          </a:xfrm>
          <a:prstGeom prst="ellipse">
            <a:avLst/>
          </a:prstGeom>
          <a:solidFill>
            <a:srgbClr val="C4D2E2"/>
          </a:solidFill>
          <a:ln w="5080">
            <a:solidFill>
              <a:srgbClr val="C4D2E2"/>
            </a:solidFill>
            <a:prstDash val="solid"/>
          </a:ln>
        </p:spPr>
      </p:sp>
      <p:sp>
        <p:nvSpPr>
          <p:cNvPr id="42" name="Shape 40"/>
          <p:cNvSpPr/>
          <p:nvPr/>
        </p:nvSpPr>
        <p:spPr>
          <a:xfrm>
            <a:off x="6753431" y="4547766"/>
            <a:ext cx="96926" cy="96926"/>
          </a:xfrm>
          <a:prstGeom prst="ellipse">
            <a:avLst/>
          </a:prstGeom>
          <a:solidFill>
            <a:srgbClr val="C4D2E2"/>
          </a:solidFill>
          <a:ln w="5080">
            <a:solidFill>
              <a:srgbClr val="C4D2E2"/>
            </a:solidFill>
            <a:prstDash val="solid"/>
          </a:ln>
        </p:spPr>
      </p:sp>
      <p:sp>
        <p:nvSpPr>
          <p:cNvPr id="43" name="Shape 41"/>
          <p:cNvSpPr/>
          <p:nvPr/>
        </p:nvSpPr>
        <p:spPr>
          <a:xfrm>
            <a:off x="6412143" y="4389741"/>
            <a:ext cx="96926" cy="96926"/>
          </a:xfrm>
          <a:prstGeom prst="ellipse">
            <a:avLst/>
          </a:prstGeom>
          <a:solidFill>
            <a:srgbClr val="C4D2E2"/>
          </a:solidFill>
          <a:ln w="5080">
            <a:solidFill>
              <a:srgbClr val="C4D2E2"/>
            </a:solidFill>
            <a:prstDash val="solid"/>
          </a:ln>
        </p:spPr>
      </p:sp>
      <p:sp>
        <p:nvSpPr>
          <p:cNvPr id="44" name="Shape 42"/>
          <p:cNvSpPr/>
          <p:nvPr/>
        </p:nvSpPr>
        <p:spPr>
          <a:xfrm>
            <a:off x="6538733" y="4609950"/>
            <a:ext cx="96926" cy="96926"/>
          </a:xfrm>
          <a:prstGeom prst="ellipse">
            <a:avLst/>
          </a:prstGeom>
          <a:solidFill>
            <a:srgbClr val="C4D2E2"/>
          </a:solidFill>
          <a:ln w="5080">
            <a:solidFill>
              <a:srgbClr val="C4D2E2"/>
            </a:solidFill>
            <a:prstDash val="solid"/>
          </a:ln>
        </p:spPr>
      </p:sp>
      <p:sp>
        <p:nvSpPr>
          <p:cNvPr id="45" name="Shape 43"/>
          <p:cNvSpPr/>
          <p:nvPr/>
        </p:nvSpPr>
        <p:spPr>
          <a:xfrm>
            <a:off x="6205514" y="4400155"/>
            <a:ext cx="96926" cy="96926"/>
          </a:xfrm>
          <a:prstGeom prst="ellipse">
            <a:avLst/>
          </a:prstGeom>
          <a:solidFill>
            <a:srgbClr val="C4D2E2"/>
          </a:solidFill>
          <a:ln w="5080">
            <a:solidFill>
              <a:srgbClr val="C4D2E2"/>
            </a:solidFill>
            <a:prstDash val="solid"/>
          </a:ln>
        </p:spPr>
      </p:sp>
      <p:sp>
        <p:nvSpPr>
          <p:cNvPr id="46" name="Shape 44"/>
          <p:cNvSpPr/>
          <p:nvPr/>
        </p:nvSpPr>
        <p:spPr>
          <a:xfrm>
            <a:off x="6122349" y="4610038"/>
            <a:ext cx="96926" cy="96926"/>
          </a:xfrm>
          <a:prstGeom prst="ellipse">
            <a:avLst/>
          </a:prstGeom>
          <a:solidFill>
            <a:srgbClr val="C4D2E2"/>
          </a:solidFill>
          <a:ln w="5080">
            <a:solidFill>
              <a:srgbClr val="C4D2E2"/>
            </a:solidFill>
            <a:prstDash val="solid"/>
          </a:ln>
        </p:spPr>
      </p:sp>
      <p:sp>
        <p:nvSpPr>
          <p:cNvPr id="47" name="Shape 45"/>
          <p:cNvSpPr/>
          <p:nvPr/>
        </p:nvSpPr>
        <p:spPr>
          <a:xfrm>
            <a:off x="6053055" y="4543040"/>
            <a:ext cx="96926" cy="96926"/>
          </a:xfrm>
          <a:prstGeom prst="ellipse">
            <a:avLst/>
          </a:prstGeom>
          <a:solidFill>
            <a:srgbClr val="C4D2E2"/>
          </a:solidFill>
          <a:ln w="5080">
            <a:solidFill>
              <a:srgbClr val="C4D2E2"/>
            </a:solidFill>
            <a:prstDash val="solid"/>
          </a:ln>
        </p:spPr>
      </p:sp>
      <p:sp>
        <p:nvSpPr>
          <p:cNvPr id="48" name="Shape 46"/>
          <p:cNvSpPr/>
          <p:nvPr/>
        </p:nvSpPr>
        <p:spPr>
          <a:xfrm>
            <a:off x="6065286" y="4460571"/>
            <a:ext cx="96926" cy="96926"/>
          </a:xfrm>
          <a:prstGeom prst="ellipse">
            <a:avLst/>
          </a:prstGeom>
          <a:solidFill>
            <a:srgbClr val="C4D2E2"/>
          </a:solidFill>
          <a:ln w="5080">
            <a:solidFill>
              <a:srgbClr val="C4D2E2"/>
            </a:solidFill>
            <a:prstDash val="solid"/>
          </a:ln>
        </p:spPr>
      </p:sp>
      <p:sp>
        <p:nvSpPr>
          <p:cNvPr id="49" name="Shape 47"/>
          <p:cNvSpPr/>
          <p:nvPr/>
        </p:nvSpPr>
        <p:spPr>
          <a:xfrm>
            <a:off x="6080373" y="4639788"/>
            <a:ext cx="96926" cy="96926"/>
          </a:xfrm>
          <a:prstGeom prst="ellipse">
            <a:avLst/>
          </a:prstGeom>
          <a:solidFill>
            <a:srgbClr val="C4D2E2"/>
          </a:solidFill>
          <a:ln w="5080">
            <a:solidFill>
              <a:srgbClr val="C4D2E2"/>
            </a:solidFill>
            <a:prstDash val="solid"/>
          </a:ln>
        </p:spPr>
      </p:sp>
      <p:sp>
        <p:nvSpPr>
          <p:cNvPr id="50" name="Shape 48"/>
          <p:cNvSpPr/>
          <p:nvPr/>
        </p:nvSpPr>
        <p:spPr>
          <a:xfrm>
            <a:off x="6499601" y="4583816"/>
            <a:ext cx="96926" cy="96926"/>
          </a:xfrm>
          <a:prstGeom prst="ellipse">
            <a:avLst/>
          </a:prstGeom>
          <a:solidFill>
            <a:srgbClr val="C4D2E2"/>
          </a:solidFill>
          <a:ln w="5080">
            <a:solidFill>
              <a:srgbClr val="C4D2E2"/>
            </a:solidFill>
            <a:prstDash val="solid"/>
          </a:ln>
        </p:spPr>
      </p:sp>
      <p:sp>
        <p:nvSpPr>
          <p:cNvPr id="51" name="Shape 49"/>
          <p:cNvSpPr/>
          <p:nvPr/>
        </p:nvSpPr>
        <p:spPr>
          <a:xfrm>
            <a:off x="1764691" y="3140594"/>
            <a:ext cx="96926" cy="96926"/>
          </a:xfrm>
          <a:prstGeom prst="ellipse">
            <a:avLst/>
          </a:prstGeom>
          <a:solidFill>
            <a:srgbClr val="C4D2E2"/>
          </a:solidFill>
          <a:ln w="5080">
            <a:solidFill>
              <a:srgbClr val="C4D2E2"/>
            </a:solidFill>
            <a:prstDash val="solid"/>
          </a:ln>
        </p:spPr>
      </p:sp>
      <p:sp>
        <p:nvSpPr>
          <p:cNvPr id="52" name="Shape 50"/>
          <p:cNvSpPr/>
          <p:nvPr/>
        </p:nvSpPr>
        <p:spPr>
          <a:xfrm>
            <a:off x="2548811" y="2861524"/>
            <a:ext cx="96926" cy="96926"/>
          </a:xfrm>
          <a:prstGeom prst="ellipse">
            <a:avLst/>
          </a:prstGeom>
          <a:solidFill>
            <a:srgbClr val="C4D2E2"/>
          </a:solidFill>
          <a:ln w="5080">
            <a:solidFill>
              <a:srgbClr val="C4D2E2"/>
            </a:solidFill>
            <a:prstDash val="solid"/>
          </a:ln>
        </p:spPr>
      </p:sp>
      <p:sp>
        <p:nvSpPr>
          <p:cNvPr id="53" name="Shape 51"/>
          <p:cNvSpPr/>
          <p:nvPr/>
        </p:nvSpPr>
        <p:spPr>
          <a:xfrm>
            <a:off x="1739866" y="3133323"/>
            <a:ext cx="96926" cy="96926"/>
          </a:xfrm>
          <a:prstGeom prst="ellipse">
            <a:avLst/>
          </a:prstGeom>
          <a:solidFill>
            <a:srgbClr val="C4D2E2"/>
          </a:solidFill>
          <a:ln w="5080">
            <a:solidFill>
              <a:srgbClr val="C4D2E2"/>
            </a:solidFill>
            <a:prstDash val="solid"/>
          </a:ln>
        </p:spPr>
      </p:sp>
      <p:sp>
        <p:nvSpPr>
          <p:cNvPr id="54" name="Shape 52"/>
          <p:cNvSpPr/>
          <p:nvPr/>
        </p:nvSpPr>
        <p:spPr>
          <a:xfrm>
            <a:off x="1858591" y="3091059"/>
            <a:ext cx="96926" cy="96926"/>
          </a:xfrm>
          <a:prstGeom prst="ellipse">
            <a:avLst/>
          </a:prstGeom>
          <a:solidFill>
            <a:srgbClr val="C4D2E2"/>
          </a:solidFill>
          <a:ln w="5080">
            <a:solidFill>
              <a:srgbClr val="C4D2E2"/>
            </a:solidFill>
            <a:prstDash val="solid"/>
          </a:ln>
        </p:spPr>
      </p:sp>
      <p:sp>
        <p:nvSpPr>
          <p:cNvPr id="55" name="Shape 53"/>
          <p:cNvSpPr/>
          <p:nvPr/>
        </p:nvSpPr>
        <p:spPr>
          <a:xfrm>
            <a:off x="2083940" y="3007579"/>
            <a:ext cx="96926" cy="96926"/>
          </a:xfrm>
          <a:prstGeom prst="ellipse">
            <a:avLst/>
          </a:prstGeom>
          <a:solidFill>
            <a:srgbClr val="C4D2E2"/>
          </a:solidFill>
          <a:ln w="5080">
            <a:solidFill>
              <a:srgbClr val="C4D2E2"/>
            </a:solidFill>
            <a:prstDash val="solid"/>
          </a:ln>
        </p:spPr>
      </p:sp>
      <p:sp>
        <p:nvSpPr>
          <p:cNvPr id="56" name="Shape 54"/>
          <p:cNvSpPr/>
          <p:nvPr/>
        </p:nvSpPr>
        <p:spPr>
          <a:xfrm>
            <a:off x="1933914" y="3048467"/>
            <a:ext cx="96926" cy="96926"/>
          </a:xfrm>
          <a:prstGeom prst="ellipse">
            <a:avLst/>
          </a:prstGeom>
          <a:solidFill>
            <a:srgbClr val="C4D2E2"/>
          </a:solidFill>
          <a:ln w="5080">
            <a:solidFill>
              <a:srgbClr val="C4D2E2"/>
            </a:solidFill>
            <a:prstDash val="solid"/>
          </a:ln>
        </p:spPr>
      </p:sp>
      <p:sp>
        <p:nvSpPr>
          <p:cNvPr id="57" name="Shape 55"/>
          <p:cNvSpPr/>
          <p:nvPr/>
        </p:nvSpPr>
        <p:spPr>
          <a:xfrm>
            <a:off x="2383944" y="3006245"/>
            <a:ext cx="96926" cy="96926"/>
          </a:xfrm>
          <a:prstGeom prst="ellipse">
            <a:avLst/>
          </a:prstGeom>
          <a:solidFill>
            <a:srgbClr val="C4D2E2"/>
          </a:solidFill>
          <a:ln w="5080">
            <a:solidFill>
              <a:srgbClr val="C4D2E2"/>
            </a:solidFill>
            <a:prstDash val="solid"/>
          </a:ln>
        </p:spPr>
      </p:sp>
      <p:sp>
        <p:nvSpPr>
          <p:cNvPr id="58" name="Shape 56"/>
          <p:cNvSpPr/>
          <p:nvPr/>
        </p:nvSpPr>
        <p:spPr>
          <a:xfrm>
            <a:off x="1698671" y="3079277"/>
            <a:ext cx="96926" cy="96926"/>
          </a:xfrm>
          <a:prstGeom prst="ellipse">
            <a:avLst/>
          </a:prstGeom>
          <a:solidFill>
            <a:srgbClr val="C4D2E2"/>
          </a:solidFill>
          <a:ln w="5080">
            <a:solidFill>
              <a:srgbClr val="C4D2E2"/>
            </a:solidFill>
            <a:prstDash val="solid"/>
          </a:ln>
        </p:spPr>
      </p:sp>
      <p:sp>
        <p:nvSpPr>
          <p:cNvPr id="59" name="Shape 57"/>
          <p:cNvSpPr/>
          <p:nvPr/>
        </p:nvSpPr>
        <p:spPr>
          <a:xfrm>
            <a:off x="2407977" y="2880601"/>
            <a:ext cx="96926" cy="96926"/>
          </a:xfrm>
          <a:prstGeom prst="ellipse">
            <a:avLst/>
          </a:prstGeom>
          <a:solidFill>
            <a:srgbClr val="C4D2E2"/>
          </a:solidFill>
          <a:ln w="5080">
            <a:solidFill>
              <a:srgbClr val="C4D2E2"/>
            </a:solidFill>
            <a:prstDash val="solid"/>
          </a:ln>
        </p:spPr>
      </p:sp>
      <p:sp>
        <p:nvSpPr>
          <p:cNvPr id="60" name="Shape 58"/>
          <p:cNvSpPr/>
          <p:nvPr/>
        </p:nvSpPr>
        <p:spPr>
          <a:xfrm>
            <a:off x="1784082" y="3011633"/>
            <a:ext cx="96926" cy="96926"/>
          </a:xfrm>
          <a:prstGeom prst="ellipse">
            <a:avLst/>
          </a:prstGeom>
          <a:solidFill>
            <a:srgbClr val="C4D2E2"/>
          </a:solidFill>
          <a:ln w="5080">
            <a:solidFill>
              <a:srgbClr val="C4D2E2"/>
            </a:solidFill>
            <a:prstDash val="solid"/>
          </a:ln>
        </p:spPr>
      </p:sp>
      <p:sp>
        <p:nvSpPr>
          <p:cNvPr id="61" name="Shape 59"/>
          <p:cNvSpPr/>
          <p:nvPr/>
        </p:nvSpPr>
        <p:spPr>
          <a:xfrm>
            <a:off x="3006356" y="2810997"/>
            <a:ext cx="96926" cy="96926"/>
          </a:xfrm>
          <a:prstGeom prst="ellipse">
            <a:avLst/>
          </a:prstGeom>
          <a:solidFill>
            <a:srgbClr val="C4D2E2"/>
          </a:solidFill>
          <a:ln w="5080">
            <a:solidFill>
              <a:srgbClr val="C4D2E2"/>
            </a:solidFill>
            <a:prstDash val="solid"/>
          </a:ln>
        </p:spPr>
      </p:sp>
      <p:sp>
        <p:nvSpPr>
          <p:cNvPr id="62" name="Shape 60"/>
          <p:cNvSpPr/>
          <p:nvPr/>
        </p:nvSpPr>
        <p:spPr>
          <a:xfrm>
            <a:off x="2152241" y="3107467"/>
            <a:ext cx="96926" cy="96926"/>
          </a:xfrm>
          <a:prstGeom prst="ellipse">
            <a:avLst/>
          </a:prstGeom>
          <a:solidFill>
            <a:srgbClr val="C4D2E2"/>
          </a:solidFill>
          <a:ln w="5080">
            <a:solidFill>
              <a:srgbClr val="C4D2E2"/>
            </a:solidFill>
            <a:prstDash val="solid"/>
          </a:ln>
        </p:spPr>
      </p:sp>
      <p:sp>
        <p:nvSpPr>
          <p:cNvPr id="63" name="Shape 61"/>
          <p:cNvSpPr/>
          <p:nvPr/>
        </p:nvSpPr>
        <p:spPr>
          <a:xfrm>
            <a:off x="3133597" y="2815392"/>
            <a:ext cx="96926" cy="96926"/>
          </a:xfrm>
          <a:prstGeom prst="ellipse">
            <a:avLst/>
          </a:prstGeom>
          <a:solidFill>
            <a:srgbClr val="C4D2E2"/>
          </a:solidFill>
          <a:ln w="5080">
            <a:solidFill>
              <a:srgbClr val="C4D2E2"/>
            </a:solidFill>
            <a:prstDash val="solid"/>
          </a:ln>
        </p:spPr>
      </p:sp>
      <p:sp>
        <p:nvSpPr>
          <p:cNvPr id="64" name="Shape 62"/>
          <p:cNvSpPr/>
          <p:nvPr/>
        </p:nvSpPr>
        <p:spPr>
          <a:xfrm>
            <a:off x="2920576" y="2790442"/>
            <a:ext cx="96926" cy="96926"/>
          </a:xfrm>
          <a:prstGeom prst="ellipse">
            <a:avLst/>
          </a:prstGeom>
          <a:solidFill>
            <a:srgbClr val="C4D2E2"/>
          </a:solidFill>
          <a:ln w="5080">
            <a:solidFill>
              <a:srgbClr val="C4D2E2"/>
            </a:solidFill>
            <a:prstDash val="solid"/>
          </a:ln>
        </p:spPr>
      </p:sp>
      <p:sp>
        <p:nvSpPr>
          <p:cNvPr id="65" name="Shape 63"/>
          <p:cNvSpPr/>
          <p:nvPr/>
        </p:nvSpPr>
        <p:spPr>
          <a:xfrm>
            <a:off x="2298737" y="3009353"/>
            <a:ext cx="96926" cy="96926"/>
          </a:xfrm>
          <a:prstGeom prst="ellipse">
            <a:avLst/>
          </a:prstGeom>
          <a:solidFill>
            <a:srgbClr val="C4D2E2"/>
          </a:solidFill>
          <a:ln w="5080">
            <a:solidFill>
              <a:srgbClr val="C4D2E2"/>
            </a:solidFill>
            <a:prstDash val="solid"/>
          </a:ln>
        </p:spPr>
      </p:sp>
      <p:sp>
        <p:nvSpPr>
          <p:cNvPr id="66" name="Shape 64"/>
          <p:cNvSpPr/>
          <p:nvPr/>
        </p:nvSpPr>
        <p:spPr>
          <a:xfrm>
            <a:off x="2124666" y="3072341"/>
            <a:ext cx="96926" cy="96926"/>
          </a:xfrm>
          <a:prstGeom prst="ellipse">
            <a:avLst/>
          </a:prstGeom>
          <a:solidFill>
            <a:srgbClr val="C4D2E2"/>
          </a:solidFill>
          <a:ln w="5080">
            <a:solidFill>
              <a:srgbClr val="C4D2E2"/>
            </a:solidFill>
            <a:prstDash val="solid"/>
          </a:ln>
        </p:spPr>
      </p:sp>
      <p:sp>
        <p:nvSpPr>
          <p:cNvPr id="67" name="Shape 65"/>
          <p:cNvSpPr/>
          <p:nvPr/>
        </p:nvSpPr>
        <p:spPr>
          <a:xfrm>
            <a:off x="1856126" y="3020180"/>
            <a:ext cx="96926" cy="96926"/>
          </a:xfrm>
          <a:prstGeom prst="ellipse">
            <a:avLst/>
          </a:prstGeom>
          <a:solidFill>
            <a:srgbClr val="C4D2E2"/>
          </a:solidFill>
          <a:ln w="5080">
            <a:solidFill>
              <a:srgbClr val="C4D2E2"/>
            </a:solidFill>
            <a:prstDash val="solid"/>
          </a:ln>
        </p:spPr>
      </p:sp>
      <p:sp>
        <p:nvSpPr>
          <p:cNvPr id="68" name="Shape 66"/>
          <p:cNvSpPr/>
          <p:nvPr/>
        </p:nvSpPr>
        <p:spPr>
          <a:xfrm>
            <a:off x="2771867" y="2895962"/>
            <a:ext cx="96926" cy="96926"/>
          </a:xfrm>
          <a:prstGeom prst="ellipse">
            <a:avLst/>
          </a:prstGeom>
          <a:solidFill>
            <a:srgbClr val="C4D2E2"/>
          </a:solidFill>
          <a:ln w="5080">
            <a:solidFill>
              <a:srgbClr val="C4D2E2"/>
            </a:solidFill>
            <a:prstDash val="solid"/>
          </a:ln>
        </p:spPr>
      </p:sp>
      <p:sp>
        <p:nvSpPr>
          <p:cNvPr id="69" name="Shape 67"/>
          <p:cNvSpPr/>
          <p:nvPr/>
        </p:nvSpPr>
        <p:spPr>
          <a:xfrm>
            <a:off x="3152762" y="2891385"/>
            <a:ext cx="96926" cy="96926"/>
          </a:xfrm>
          <a:prstGeom prst="ellipse">
            <a:avLst/>
          </a:prstGeom>
          <a:solidFill>
            <a:srgbClr val="C4D2E2"/>
          </a:solidFill>
          <a:ln w="5080">
            <a:solidFill>
              <a:srgbClr val="C4D2E2"/>
            </a:solidFill>
            <a:prstDash val="solid"/>
          </a:ln>
        </p:spPr>
      </p:sp>
      <p:sp>
        <p:nvSpPr>
          <p:cNvPr id="70" name="Shape 68"/>
          <p:cNvSpPr/>
          <p:nvPr/>
        </p:nvSpPr>
        <p:spPr>
          <a:xfrm>
            <a:off x="2826743" y="2803870"/>
            <a:ext cx="96926" cy="96926"/>
          </a:xfrm>
          <a:prstGeom prst="ellipse">
            <a:avLst/>
          </a:prstGeom>
          <a:solidFill>
            <a:srgbClr val="C4D2E2"/>
          </a:solidFill>
          <a:ln w="5080">
            <a:solidFill>
              <a:srgbClr val="C4D2E2"/>
            </a:solidFill>
            <a:prstDash val="solid"/>
          </a:ln>
        </p:spPr>
      </p:sp>
      <p:sp>
        <p:nvSpPr>
          <p:cNvPr id="71" name="Shape 69"/>
          <p:cNvSpPr/>
          <p:nvPr/>
        </p:nvSpPr>
        <p:spPr>
          <a:xfrm>
            <a:off x="2647570" y="2937759"/>
            <a:ext cx="96926" cy="96926"/>
          </a:xfrm>
          <a:prstGeom prst="ellipse">
            <a:avLst/>
          </a:prstGeom>
          <a:solidFill>
            <a:srgbClr val="C4D2E2"/>
          </a:solidFill>
          <a:ln w="5080">
            <a:solidFill>
              <a:srgbClr val="C4D2E2"/>
            </a:solidFill>
            <a:prstDash val="solid"/>
          </a:ln>
        </p:spPr>
      </p:sp>
      <p:sp>
        <p:nvSpPr>
          <p:cNvPr id="72" name="Shape 70"/>
          <p:cNvSpPr/>
          <p:nvPr/>
        </p:nvSpPr>
        <p:spPr>
          <a:xfrm>
            <a:off x="2249742" y="2958823"/>
            <a:ext cx="96926" cy="96926"/>
          </a:xfrm>
          <a:prstGeom prst="ellipse">
            <a:avLst/>
          </a:prstGeom>
          <a:solidFill>
            <a:srgbClr val="C4D2E2"/>
          </a:solidFill>
          <a:ln w="5080">
            <a:solidFill>
              <a:srgbClr val="C4D2E2"/>
            </a:solidFill>
            <a:prstDash val="solid"/>
          </a:ln>
        </p:spPr>
      </p:sp>
      <p:sp>
        <p:nvSpPr>
          <p:cNvPr id="73" name="Shape 71"/>
          <p:cNvSpPr/>
          <p:nvPr/>
        </p:nvSpPr>
        <p:spPr>
          <a:xfrm>
            <a:off x="2779231" y="2865416"/>
            <a:ext cx="96926" cy="96926"/>
          </a:xfrm>
          <a:prstGeom prst="ellipse">
            <a:avLst/>
          </a:prstGeom>
          <a:solidFill>
            <a:srgbClr val="C4D2E2"/>
          </a:solidFill>
          <a:ln w="5080">
            <a:solidFill>
              <a:srgbClr val="C4D2E2"/>
            </a:solidFill>
            <a:prstDash val="solid"/>
          </a:ln>
        </p:spPr>
      </p:sp>
      <p:sp>
        <p:nvSpPr>
          <p:cNvPr id="74" name="Shape 72"/>
          <p:cNvSpPr/>
          <p:nvPr/>
        </p:nvSpPr>
        <p:spPr>
          <a:xfrm>
            <a:off x="1967272" y="2963381"/>
            <a:ext cx="96926" cy="96926"/>
          </a:xfrm>
          <a:prstGeom prst="ellipse">
            <a:avLst/>
          </a:prstGeom>
          <a:solidFill>
            <a:srgbClr val="C4D2E2"/>
          </a:solidFill>
          <a:ln w="5080">
            <a:solidFill>
              <a:srgbClr val="C4D2E2"/>
            </a:solidFill>
            <a:prstDash val="solid"/>
          </a:ln>
        </p:spPr>
      </p:sp>
      <p:sp>
        <p:nvSpPr>
          <p:cNvPr id="75" name="Shape 73"/>
          <p:cNvSpPr/>
          <p:nvPr/>
        </p:nvSpPr>
        <p:spPr>
          <a:xfrm>
            <a:off x="2630197" y="2835344"/>
            <a:ext cx="96926" cy="96926"/>
          </a:xfrm>
          <a:prstGeom prst="ellipse">
            <a:avLst/>
          </a:prstGeom>
          <a:solidFill>
            <a:srgbClr val="C4D2E2"/>
          </a:solidFill>
          <a:ln w="5080">
            <a:solidFill>
              <a:srgbClr val="C4D2E2"/>
            </a:solidFill>
            <a:prstDash val="solid"/>
          </a:ln>
        </p:spPr>
      </p:sp>
      <p:sp>
        <p:nvSpPr>
          <p:cNvPr id="76" name="Shape 74"/>
          <p:cNvSpPr/>
          <p:nvPr/>
        </p:nvSpPr>
        <p:spPr>
          <a:xfrm>
            <a:off x="2325902" y="3001290"/>
            <a:ext cx="96926" cy="96926"/>
          </a:xfrm>
          <a:prstGeom prst="ellipse">
            <a:avLst/>
          </a:prstGeom>
          <a:solidFill>
            <a:srgbClr val="C4D2E2"/>
          </a:solidFill>
          <a:ln w="5080">
            <a:solidFill>
              <a:srgbClr val="C4D2E2"/>
            </a:solidFill>
            <a:prstDash val="solid"/>
          </a:ln>
        </p:spPr>
      </p:sp>
      <p:sp>
        <p:nvSpPr>
          <p:cNvPr id="77" name="Shape 75"/>
          <p:cNvSpPr/>
          <p:nvPr/>
        </p:nvSpPr>
        <p:spPr>
          <a:xfrm>
            <a:off x="3008800" y="2783339"/>
            <a:ext cx="96926" cy="96926"/>
          </a:xfrm>
          <a:prstGeom prst="ellipse">
            <a:avLst/>
          </a:prstGeom>
          <a:solidFill>
            <a:srgbClr val="C4D2E2"/>
          </a:solidFill>
          <a:ln w="5080">
            <a:solidFill>
              <a:srgbClr val="C4D2E2"/>
            </a:solidFill>
            <a:prstDash val="solid"/>
          </a:ln>
        </p:spPr>
      </p:sp>
      <p:sp>
        <p:nvSpPr>
          <p:cNvPr id="78" name="Shape 76"/>
          <p:cNvSpPr/>
          <p:nvPr/>
        </p:nvSpPr>
        <p:spPr>
          <a:xfrm>
            <a:off x="2528278" y="2934031"/>
            <a:ext cx="96926" cy="96926"/>
          </a:xfrm>
          <a:prstGeom prst="ellipse">
            <a:avLst/>
          </a:prstGeom>
          <a:solidFill>
            <a:srgbClr val="C4D2E2"/>
          </a:solidFill>
          <a:ln w="5080">
            <a:solidFill>
              <a:srgbClr val="C4D2E2"/>
            </a:solidFill>
            <a:prstDash val="solid"/>
          </a:ln>
        </p:spPr>
      </p:sp>
      <p:sp>
        <p:nvSpPr>
          <p:cNvPr id="79" name="Shape 77"/>
          <p:cNvSpPr/>
          <p:nvPr/>
        </p:nvSpPr>
        <p:spPr>
          <a:xfrm>
            <a:off x="3566848" y="3217500"/>
            <a:ext cx="96926" cy="96926"/>
          </a:xfrm>
          <a:prstGeom prst="ellipse">
            <a:avLst/>
          </a:prstGeom>
          <a:solidFill>
            <a:srgbClr val="C4D2E2"/>
          </a:solidFill>
          <a:ln w="5080">
            <a:solidFill>
              <a:srgbClr val="C4D2E2"/>
            </a:solidFill>
            <a:prstDash val="solid"/>
          </a:ln>
        </p:spPr>
      </p:sp>
      <p:sp>
        <p:nvSpPr>
          <p:cNvPr id="80" name="Shape 78"/>
          <p:cNvSpPr/>
          <p:nvPr/>
        </p:nvSpPr>
        <p:spPr>
          <a:xfrm>
            <a:off x="4582824" y="3283646"/>
            <a:ext cx="96926" cy="96926"/>
          </a:xfrm>
          <a:prstGeom prst="ellipse">
            <a:avLst/>
          </a:prstGeom>
          <a:solidFill>
            <a:srgbClr val="C4D2E2"/>
          </a:solidFill>
          <a:ln w="5080">
            <a:solidFill>
              <a:srgbClr val="C4D2E2"/>
            </a:solidFill>
            <a:prstDash val="solid"/>
          </a:ln>
        </p:spPr>
      </p:sp>
      <p:sp>
        <p:nvSpPr>
          <p:cNvPr id="81" name="Shape 79"/>
          <p:cNvSpPr/>
          <p:nvPr/>
        </p:nvSpPr>
        <p:spPr>
          <a:xfrm>
            <a:off x="3327101" y="3156523"/>
            <a:ext cx="96926" cy="96926"/>
          </a:xfrm>
          <a:prstGeom prst="ellipse">
            <a:avLst/>
          </a:prstGeom>
          <a:solidFill>
            <a:srgbClr val="C4D2E2"/>
          </a:solidFill>
          <a:ln w="5080">
            <a:solidFill>
              <a:srgbClr val="C4D2E2"/>
            </a:solidFill>
            <a:prstDash val="solid"/>
          </a:ln>
        </p:spPr>
      </p:sp>
      <p:sp>
        <p:nvSpPr>
          <p:cNvPr id="82" name="Shape 80"/>
          <p:cNvSpPr/>
          <p:nvPr/>
        </p:nvSpPr>
        <p:spPr>
          <a:xfrm>
            <a:off x="3609069" y="3235053"/>
            <a:ext cx="96926" cy="96926"/>
          </a:xfrm>
          <a:prstGeom prst="ellipse">
            <a:avLst/>
          </a:prstGeom>
          <a:solidFill>
            <a:srgbClr val="C4D2E2"/>
          </a:solidFill>
          <a:ln w="5080">
            <a:solidFill>
              <a:srgbClr val="C4D2E2"/>
            </a:solidFill>
            <a:prstDash val="solid"/>
          </a:ln>
        </p:spPr>
      </p:sp>
      <p:sp>
        <p:nvSpPr>
          <p:cNvPr id="83" name="Shape 81"/>
          <p:cNvSpPr/>
          <p:nvPr/>
        </p:nvSpPr>
        <p:spPr>
          <a:xfrm>
            <a:off x="4615063" y="3318834"/>
            <a:ext cx="96926" cy="96926"/>
          </a:xfrm>
          <a:prstGeom prst="ellipse">
            <a:avLst/>
          </a:prstGeom>
          <a:solidFill>
            <a:srgbClr val="C4D2E2"/>
          </a:solidFill>
          <a:ln w="5080">
            <a:solidFill>
              <a:srgbClr val="C4D2E2"/>
            </a:solidFill>
            <a:prstDash val="solid"/>
          </a:ln>
        </p:spPr>
      </p:sp>
      <p:sp>
        <p:nvSpPr>
          <p:cNvPr id="84" name="Shape 82"/>
          <p:cNvSpPr/>
          <p:nvPr/>
        </p:nvSpPr>
        <p:spPr>
          <a:xfrm>
            <a:off x="4454078" y="3177443"/>
            <a:ext cx="96926" cy="96926"/>
          </a:xfrm>
          <a:prstGeom prst="ellipse">
            <a:avLst/>
          </a:prstGeom>
          <a:solidFill>
            <a:srgbClr val="C4D2E2"/>
          </a:solidFill>
          <a:ln w="5080">
            <a:solidFill>
              <a:srgbClr val="C4D2E2"/>
            </a:solidFill>
            <a:prstDash val="solid"/>
          </a:ln>
        </p:spPr>
      </p:sp>
      <p:sp>
        <p:nvSpPr>
          <p:cNvPr id="85" name="Shape 83"/>
          <p:cNvSpPr/>
          <p:nvPr/>
        </p:nvSpPr>
        <p:spPr>
          <a:xfrm>
            <a:off x="4213080" y="2949328"/>
            <a:ext cx="96926" cy="96926"/>
          </a:xfrm>
          <a:prstGeom prst="ellipse">
            <a:avLst/>
          </a:prstGeom>
          <a:solidFill>
            <a:srgbClr val="C4D2E2"/>
          </a:solidFill>
          <a:ln w="5080">
            <a:solidFill>
              <a:srgbClr val="C4D2E2"/>
            </a:solidFill>
            <a:prstDash val="solid"/>
          </a:ln>
        </p:spPr>
      </p:sp>
      <p:sp>
        <p:nvSpPr>
          <p:cNvPr id="86" name="Shape 84"/>
          <p:cNvSpPr/>
          <p:nvPr/>
        </p:nvSpPr>
        <p:spPr>
          <a:xfrm>
            <a:off x="3438040" y="3175772"/>
            <a:ext cx="96926" cy="96926"/>
          </a:xfrm>
          <a:prstGeom prst="ellipse">
            <a:avLst/>
          </a:prstGeom>
          <a:solidFill>
            <a:srgbClr val="C4D2E2"/>
          </a:solidFill>
          <a:ln w="5080">
            <a:solidFill>
              <a:srgbClr val="C4D2E2"/>
            </a:solidFill>
            <a:prstDash val="solid"/>
          </a:ln>
        </p:spPr>
      </p:sp>
      <p:sp>
        <p:nvSpPr>
          <p:cNvPr id="87" name="Shape 85"/>
          <p:cNvSpPr/>
          <p:nvPr/>
        </p:nvSpPr>
        <p:spPr>
          <a:xfrm>
            <a:off x="4623581" y="3226664"/>
            <a:ext cx="96926" cy="96926"/>
          </a:xfrm>
          <a:prstGeom prst="ellipse">
            <a:avLst/>
          </a:prstGeom>
          <a:solidFill>
            <a:srgbClr val="C4D2E2"/>
          </a:solidFill>
          <a:ln w="5080">
            <a:solidFill>
              <a:srgbClr val="C4D2E2"/>
            </a:solidFill>
            <a:prstDash val="solid"/>
          </a:ln>
        </p:spPr>
      </p:sp>
      <p:sp>
        <p:nvSpPr>
          <p:cNvPr id="88" name="Shape 86"/>
          <p:cNvSpPr/>
          <p:nvPr/>
        </p:nvSpPr>
        <p:spPr>
          <a:xfrm>
            <a:off x="4253826" y="3184420"/>
            <a:ext cx="96926" cy="96926"/>
          </a:xfrm>
          <a:prstGeom prst="ellipse">
            <a:avLst/>
          </a:prstGeom>
          <a:solidFill>
            <a:srgbClr val="C4D2E2"/>
          </a:solidFill>
          <a:ln w="5080">
            <a:solidFill>
              <a:srgbClr val="C4D2E2"/>
            </a:solidFill>
            <a:prstDash val="solid"/>
          </a:ln>
        </p:spPr>
      </p:sp>
      <p:sp>
        <p:nvSpPr>
          <p:cNvPr id="89" name="Shape 87"/>
          <p:cNvSpPr/>
          <p:nvPr/>
        </p:nvSpPr>
        <p:spPr>
          <a:xfrm>
            <a:off x="3705067" y="3097823"/>
            <a:ext cx="96926" cy="96926"/>
          </a:xfrm>
          <a:prstGeom prst="ellipse">
            <a:avLst/>
          </a:prstGeom>
          <a:solidFill>
            <a:srgbClr val="C4D2E2"/>
          </a:solidFill>
          <a:ln w="5080">
            <a:solidFill>
              <a:srgbClr val="C4D2E2"/>
            </a:solidFill>
            <a:prstDash val="solid"/>
          </a:ln>
        </p:spPr>
      </p:sp>
      <p:sp>
        <p:nvSpPr>
          <p:cNvPr id="90" name="Shape 88"/>
          <p:cNvSpPr/>
          <p:nvPr/>
        </p:nvSpPr>
        <p:spPr>
          <a:xfrm>
            <a:off x="3086816" y="3252198"/>
            <a:ext cx="96926" cy="96926"/>
          </a:xfrm>
          <a:prstGeom prst="ellipse">
            <a:avLst/>
          </a:prstGeom>
          <a:solidFill>
            <a:srgbClr val="C4D2E2"/>
          </a:solidFill>
          <a:ln w="5080">
            <a:solidFill>
              <a:srgbClr val="C4D2E2"/>
            </a:solidFill>
            <a:prstDash val="solid"/>
          </a:ln>
        </p:spPr>
      </p:sp>
      <p:sp>
        <p:nvSpPr>
          <p:cNvPr id="91" name="Shape 89"/>
          <p:cNvSpPr/>
          <p:nvPr/>
        </p:nvSpPr>
        <p:spPr>
          <a:xfrm>
            <a:off x="3186663" y="3162146"/>
            <a:ext cx="96926" cy="96926"/>
          </a:xfrm>
          <a:prstGeom prst="ellipse">
            <a:avLst/>
          </a:prstGeom>
          <a:solidFill>
            <a:srgbClr val="C4D2E2"/>
          </a:solidFill>
          <a:ln w="5080">
            <a:solidFill>
              <a:srgbClr val="C4D2E2"/>
            </a:solidFill>
            <a:prstDash val="solid"/>
          </a:ln>
        </p:spPr>
      </p:sp>
      <p:sp>
        <p:nvSpPr>
          <p:cNvPr id="92" name="Shape 90"/>
          <p:cNvSpPr/>
          <p:nvPr/>
        </p:nvSpPr>
        <p:spPr>
          <a:xfrm>
            <a:off x="4257266" y="3255147"/>
            <a:ext cx="96926" cy="96926"/>
          </a:xfrm>
          <a:prstGeom prst="ellipse">
            <a:avLst/>
          </a:prstGeom>
          <a:solidFill>
            <a:srgbClr val="C4D2E2"/>
          </a:solidFill>
          <a:ln w="5080">
            <a:solidFill>
              <a:srgbClr val="C4D2E2"/>
            </a:solidFill>
            <a:prstDash val="solid"/>
          </a:ln>
        </p:spPr>
      </p:sp>
      <p:sp>
        <p:nvSpPr>
          <p:cNvPr id="93" name="Shape 91"/>
          <p:cNvSpPr/>
          <p:nvPr/>
        </p:nvSpPr>
        <p:spPr>
          <a:xfrm>
            <a:off x="4451721" y="3083629"/>
            <a:ext cx="96926" cy="96926"/>
          </a:xfrm>
          <a:prstGeom prst="ellipse">
            <a:avLst/>
          </a:prstGeom>
          <a:solidFill>
            <a:srgbClr val="C4D2E2"/>
          </a:solidFill>
          <a:ln w="5080">
            <a:solidFill>
              <a:srgbClr val="C4D2E2"/>
            </a:solidFill>
            <a:prstDash val="solid"/>
          </a:ln>
        </p:spPr>
      </p:sp>
      <p:sp>
        <p:nvSpPr>
          <p:cNvPr id="94" name="Shape 92"/>
          <p:cNvSpPr/>
          <p:nvPr/>
        </p:nvSpPr>
        <p:spPr>
          <a:xfrm>
            <a:off x="3053188" y="3249981"/>
            <a:ext cx="96926" cy="96926"/>
          </a:xfrm>
          <a:prstGeom prst="ellipse">
            <a:avLst/>
          </a:prstGeom>
          <a:solidFill>
            <a:srgbClr val="C4D2E2"/>
          </a:solidFill>
          <a:ln w="5080">
            <a:solidFill>
              <a:srgbClr val="C4D2E2"/>
            </a:solidFill>
            <a:prstDash val="solid"/>
          </a:ln>
        </p:spPr>
      </p:sp>
      <p:sp>
        <p:nvSpPr>
          <p:cNvPr id="95" name="Shape 93"/>
          <p:cNvSpPr/>
          <p:nvPr/>
        </p:nvSpPr>
        <p:spPr>
          <a:xfrm>
            <a:off x="3158391" y="3178899"/>
            <a:ext cx="96926" cy="96926"/>
          </a:xfrm>
          <a:prstGeom prst="ellipse">
            <a:avLst/>
          </a:prstGeom>
          <a:solidFill>
            <a:srgbClr val="C4D2E2"/>
          </a:solidFill>
          <a:ln w="5080">
            <a:solidFill>
              <a:srgbClr val="C4D2E2"/>
            </a:solidFill>
            <a:prstDash val="solid"/>
          </a:ln>
        </p:spPr>
      </p:sp>
      <p:sp>
        <p:nvSpPr>
          <p:cNvPr id="96" name="Shape 94"/>
          <p:cNvSpPr/>
          <p:nvPr/>
        </p:nvSpPr>
        <p:spPr>
          <a:xfrm>
            <a:off x="4150399" y="3255931"/>
            <a:ext cx="96926" cy="96926"/>
          </a:xfrm>
          <a:prstGeom prst="ellipse">
            <a:avLst/>
          </a:prstGeom>
          <a:solidFill>
            <a:srgbClr val="C4D2E2"/>
          </a:solidFill>
          <a:ln w="5080">
            <a:solidFill>
              <a:srgbClr val="C4D2E2"/>
            </a:solidFill>
            <a:prstDash val="solid"/>
          </a:ln>
        </p:spPr>
      </p:sp>
      <p:sp>
        <p:nvSpPr>
          <p:cNvPr id="97" name="Shape 95"/>
          <p:cNvSpPr/>
          <p:nvPr/>
        </p:nvSpPr>
        <p:spPr>
          <a:xfrm>
            <a:off x="3024518" y="3246832"/>
            <a:ext cx="96926" cy="96926"/>
          </a:xfrm>
          <a:prstGeom prst="ellipse">
            <a:avLst/>
          </a:prstGeom>
          <a:solidFill>
            <a:srgbClr val="C4D2E2"/>
          </a:solidFill>
          <a:ln w="5080">
            <a:solidFill>
              <a:srgbClr val="C4D2E2"/>
            </a:solidFill>
            <a:prstDash val="solid"/>
          </a:ln>
        </p:spPr>
      </p:sp>
      <p:sp>
        <p:nvSpPr>
          <p:cNvPr id="98" name="Shape 96"/>
          <p:cNvSpPr/>
          <p:nvPr/>
        </p:nvSpPr>
        <p:spPr>
          <a:xfrm>
            <a:off x="4082406" y="3101440"/>
            <a:ext cx="96926" cy="96926"/>
          </a:xfrm>
          <a:prstGeom prst="ellipse">
            <a:avLst/>
          </a:prstGeom>
          <a:solidFill>
            <a:srgbClr val="C4D2E2"/>
          </a:solidFill>
          <a:ln w="5080">
            <a:solidFill>
              <a:srgbClr val="C4D2E2"/>
            </a:solidFill>
            <a:prstDash val="solid"/>
          </a:ln>
        </p:spPr>
      </p:sp>
      <p:sp>
        <p:nvSpPr>
          <p:cNvPr id="99" name="Shape 97"/>
          <p:cNvSpPr/>
          <p:nvPr/>
        </p:nvSpPr>
        <p:spPr>
          <a:xfrm>
            <a:off x="3364505" y="3232980"/>
            <a:ext cx="96926" cy="96926"/>
          </a:xfrm>
          <a:prstGeom prst="ellipse">
            <a:avLst/>
          </a:prstGeom>
          <a:solidFill>
            <a:srgbClr val="C4D2E2"/>
          </a:solidFill>
          <a:ln w="5080">
            <a:solidFill>
              <a:srgbClr val="C4D2E2"/>
            </a:solidFill>
            <a:prstDash val="solid"/>
          </a:ln>
        </p:spPr>
      </p:sp>
      <p:sp>
        <p:nvSpPr>
          <p:cNvPr id="100" name="Shape 98"/>
          <p:cNvSpPr/>
          <p:nvPr/>
        </p:nvSpPr>
        <p:spPr>
          <a:xfrm>
            <a:off x="4138254" y="3187752"/>
            <a:ext cx="96926" cy="96926"/>
          </a:xfrm>
          <a:prstGeom prst="ellipse">
            <a:avLst/>
          </a:prstGeom>
          <a:solidFill>
            <a:srgbClr val="C4D2E2"/>
          </a:solidFill>
          <a:ln w="5080">
            <a:solidFill>
              <a:srgbClr val="C4D2E2"/>
            </a:solidFill>
            <a:prstDash val="solid"/>
          </a:ln>
        </p:spPr>
      </p:sp>
      <p:sp>
        <p:nvSpPr>
          <p:cNvPr id="101" name="Shape 99"/>
          <p:cNvSpPr/>
          <p:nvPr/>
        </p:nvSpPr>
        <p:spPr>
          <a:xfrm>
            <a:off x="4317888" y="3045102"/>
            <a:ext cx="96926" cy="96926"/>
          </a:xfrm>
          <a:prstGeom prst="ellipse">
            <a:avLst/>
          </a:prstGeom>
          <a:solidFill>
            <a:srgbClr val="C4D2E2"/>
          </a:solidFill>
          <a:ln w="5080">
            <a:solidFill>
              <a:srgbClr val="C4D2E2"/>
            </a:solidFill>
            <a:prstDash val="solid"/>
          </a:ln>
        </p:spPr>
      </p:sp>
      <p:sp>
        <p:nvSpPr>
          <p:cNvPr id="102" name="Shape 100"/>
          <p:cNvSpPr/>
          <p:nvPr/>
        </p:nvSpPr>
        <p:spPr>
          <a:xfrm>
            <a:off x="4693608" y="3119230"/>
            <a:ext cx="96926" cy="96926"/>
          </a:xfrm>
          <a:prstGeom prst="ellipse">
            <a:avLst/>
          </a:prstGeom>
          <a:solidFill>
            <a:srgbClr val="C4D2E2"/>
          </a:solidFill>
          <a:ln w="5080">
            <a:solidFill>
              <a:srgbClr val="C4D2E2"/>
            </a:solidFill>
            <a:prstDash val="solid"/>
          </a:ln>
        </p:spPr>
      </p:sp>
      <p:sp>
        <p:nvSpPr>
          <p:cNvPr id="103" name="Shape 101"/>
          <p:cNvSpPr/>
          <p:nvPr/>
        </p:nvSpPr>
        <p:spPr>
          <a:xfrm>
            <a:off x="4064384" y="3081102"/>
            <a:ext cx="96926" cy="96926"/>
          </a:xfrm>
          <a:prstGeom prst="ellipse">
            <a:avLst/>
          </a:prstGeom>
          <a:solidFill>
            <a:srgbClr val="C4D2E2"/>
          </a:solidFill>
          <a:ln w="5080">
            <a:solidFill>
              <a:srgbClr val="C4D2E2"/>
            </a:solidFill>
            <a:prstDash val="solid"/>
          </a:ln>
        </p:spPr>
      </p:sp>
      <p:sp>
        <p:nvSpPr>
          <p:cNvPr id="104" name="Shape 102"/>
          <p:cNvSpPr/>
          <p:nvPr/>
        </p:nvSpPr>
        <p:spPr>
          <a:xfrm>
            <a:off x="4208161" y="3284793"/>
            <a:ext cx="96926" cy="96926"/>
          </a:xfrm>
          <a:prstGeom prst="ellipse">
            <a:avLst/>
          </a:prstGeom>
          <a:solidFill>
            <a:srgbClr val="C4D2E2"/>
          </a:solidFill>
          <a:ln w="5080">
            <a:solidFill>
              <a:srgbClr val="C4D2E2"/>
            </a:solidFill>
            <a:prstDash val="solid"/>
          </a:ln>
        </p:spPr>
      </p:sp>
      <p:sp>
        <p:nvSpPr>
          <p:cNvPr id="105" name="Shape 103"/>
          <p:cNvSpPr/>
          <p:nvPr/>
        </p:nvSpPr>
        <p:spPr>
          <a:xfrm>
            <a:off x="3817920" y="3241552"/>
            <a:ext cx="96926" cy="96926"/>
          </a:xfrm>
          <a:prstGeom prst="ellipse">
            <a:avLst/>
          </a:prstGeom>
          <a:solidFill>
            <a:srgbClr val="C4D2E2"/>
          </a:solidFill>
          <a:ln w="5080">
            <a:solidFill>
              <a:srgbClr val="C4D2E2"/>
            </a:solidFill>
            <a:prstDash val="solid"/>
          </a:ln>
        </p:spPr>
      </p:sp>
      <p:sp>
        <p:nvSpPr>
          <p:cNvPr id="106" name="Shape 104"/>
          <p:cNvSpPr/>
          <p:nvPr/>
        </p:nvSpPr>
        <p:spPr>
          <a:xfrm>
            <a:off x="4132538" y="3123306"/>
            <a:ext cx="292608" cy="292608"/>
          </a:xfrm>
          <a:prstGeom prst="ellipse">
            <a:avLst/>
          </a:prstGeom>
          <a:solidFill>
            <a:srgbClr val="FFFFFF"/>
          </a:solidFill>
          <a:ln w="19050">
            <a:solidFill>
              <a:srgbClr val="167C85"/>
            </a:solidFill>
            <a:prstDash val="solid"/>
          </a:ln>
        </p:spPr>
      </p:sp>
      <p:sp>
        <p:nvSpPr>
          <p:cNvPr id="107" name="Shape 105"/>
          <p:cNvSpPr/>
          <p:nvPr/>
        </p:nvSpPr>
        <p:spPr>
          <a:xfrm>
            <a:off x="8055864" y="2340864"/>
            <a:ext cx="3319272" cy="2505456"/>
          </a:xfrm>
          <a:prstGeom prst="rect">
            <a:avLst/>
          </a:prstGeom>
          <a:solidFill>
            <a:srgbClr val="FFFFFF"/>
          </a:solidFill>
          <a:ln w="12700">
            <a:solidFill>
              <a:srgbClr val="FFFFFF">
                <a:alpha val="0"/>
              </a:srgbClr>
            </a:solidFill>
            <a:prstDash val="solid"/>
          </a:ln>
        </p:spPr>
      </p:sp>
      <p:sp>
        <p:nvSpPr>
          <p:cNvPr id="108" name="Text 106"/>
          <p:cNvSpPr/>
          <p:nvPr/>
        </p:nvSpPr>
        <p:spPr>
          <a:xfrm>
            <a:off x="8257032" y="2578608"/>
            <a:ext cx="2651760" cy="219456"/>
          </a:xfrm>
          <a:prstGeom prst="rect">
            <a:avLst/>
          </a:prstGeom>
          <a:noFill/>
          <a:ln/>
        </p:spPr>
        <p:txBody>
          <a:bodyPr wrap="square" lIns="0" tIns="0" rIns="0" bIns="0" rtlCol="0" anchor="ctr"/>
          <a:lstStyle/>
          <a:p>
            <a:pPr algn="l" indent="0" marL="0">
              <a:buNone/>
            </a:pPr>
            <a:r>
              <a:rPr lang="en-US" sz="1150" b="1" spc="50" kern="0" dirty="0">
                <a:solidFill>
                  <a:srgbClr val="167C85"/>
                </a:solidFill>
                <a:latin typeface="Aptos" pitchFamily="34" charset="0"/>
                <a:ea typeface="Aptos" pitchFamily="34" charset="-122"/>
                <a:cs typeface="Aptos" pitchFamily="34" charset="-120"/>
              </a:rPr>
              <a:t>A001</a:t>
            </a:r>
            <a:endParaRPr lang="en-US" sz="1150" dirty="0"/>
          </a:p>
        </p:txBody>
      </p:sp>
      <p:sp>
        <p:nvSpPr>
          <p:cNvPr id="109" name="Text 107"/>
          <p:cNvSpPr/>
          <p:nvPr/>
        </p:nvSpPr>
        <p:spPr>
          <a:xfrm>
            <a:off x="8257032" y="3099816"/>
            <a:ext cx="2779776" cy="1216152"/>
          </a:xfrm>
          <a:prstGeom prst="rect">
            <a:avLst/>
          </a:prstGeom>
          <a:noFill/>
          <a:ln/>
        </p:spPr>
        <p:txBody>
          <a:bodyPr wrap="square" lIns="0" tIns="0" rIns="0" bIns="0" rtlCol="0" anchor="ctr"/>
          <a:lstStyle/>
          <a:p>
            <a:pPr algn="l" indent="0" marL="0">
              <a:buNone/>
            </a:pPr>
            <a:r>
              <a:rPr lang="en-US" sz="2400" b="1" dirty="0">
                <a:solidFill>
                  <a:srgbClr val="172233"/>
                </a:solidFill>
                <a:latin typeface="Aptos" pitchFamily="34" charset="0"/>
                <a:ea typeface="Aptos" pitchFamily="34" charset="-122"/>
                <a:cs typeface="Aptos" pitchFamily="34" charset="-120"/>
              </a:rPr>
              <a:t>R    10 days</a:t>
            </a:r>
            <a:endParaRPr lang="en-US" sz="2400" dirty="0"/>
          </a:p>
          <a:p>
            <a:pPr algn="l" indent="0" marL="0">
              <a:buNone/>
            </a:pPr>
            <a:r>
              <a:rPr lang="en-US" sz="2400" b="1" dirty="0">
                <a:solidFill>
                  <a:srgbClr val="172233"/>
                </a:solidFill>
                <a:latin typeface="Aptos" pitchFamily="34" charset="0"/>
                <a:ea typeface="Aptos" pitchFamily="34" charset="-122"/>
                <a:cs typeface="Aptos" pitchFamily="34" charset="-120"/>
              </a:rPr>
              <a:t>F      3 orders</a:t>
            </a:r>
            <a:endParaRPr lang="en-US" sz="2400" dirty="0"/>
          </a:p>
          <a:p>
            <a:pPr algn="l" indent="0" marL="0">
              <a:buNone/>
            </a:pPr>
            <a:r>
              <a:rPr lang="en-US" sz="2400" b="1" dirty="0">
                <a:solidFill>
                  <a:srgbClr val="172233"/>
                </a:solidFill>
                <a:latin typeface="Aptos" pitchFamily="34" charset="0"/>
                <a:ea typeface="Aptos" pitchFamily="34" charset="-122"/>
                <a:cs typeface="Aptos" pitchFamily="34" charset="-120"/>
              </a:rPr>
              <a:t>M  460 CU</a:t>
            </a:r>
            <a:endParaRPr lang="en-US" sz="2400" dirty="0"/>
          </a:p>
        </p:txBody>
      </p:sp>
      <p:sp>
        <p:nvSpPr>
          <p:cNvPr id="110" name="Text 108"/>
          <p:cNvSpPr/>
          <p:nvPr/>
        </p:nvSpPr>
        <p:spPr>
          <a:xfrm>
            <a:off x="8119872" y="5138928"/>
            <a:ext cx="3337560" cy="539496"/>
          </a:xfrm>
          <a:prstGeom prst="rect">
            <a:avLst/>
          </a:prstGeom>
          <a:noFill/>
          <a:ln/>
        </p:spPr>
        <p:txBody>
          <a:bodyPr wrap="square" lIns="0" tIns="0" rIns="0" bIns="0" rtlCol="0" anchor="ctr"/>
          <a:lstStyle/>
          <a:p>
            <a:pPr algn="l" indent="0" marL="0">
              <a:buNone/>
            </a:pPr>
            <a:r>
              <a:rPr lang="en-US" sz="1800" dirty="0">
                <a:solidFill>
                  <a:srgbClr val="53657A"/>
                </a:solidFill>
                <a:latin typeface="Aptos" pitchFamily="34" charset="0"/>
                <a:ea typeface="Aptos" pitchFamily="34" charset="-122"/>
                <a:cs typeface="Aptos" pitchFamily="34" charset="-120"/>
              </a:rPr>
              <a:t>Color, label or size should</a:t>
            </a:r>
            <a:endParaRPr lang="en-US" sz="1800" dirty="0"/>
          </a:p>
          <a:p>
            <a:pPr algn="l" indent="0" marL="0">
              <a:buNone/>
            </a:pPr>
            <a:r>
              <a:rPr lang="en-US" sz="1800" dirty="0">
                <a:solidFill>
                  <a:srgbClr val="53657A"/>
                </a:solidFill>
                <a:latin typeface="Aptos" pitchFamily="34" charset="0"/>
                <a:ea typeface="Aptos" pitchFamily="34" charset="-122"/>
                <a:cs typeface="Aptos" pitchFamily="34" charset="-120"/>
              </a:rPr>
              <a:t>answer a specific question.</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0" y="0"/>
            <a:ext cx="12192000" cy="402336"/>
          </a:xfrm>
          <a:prstGeom prst="rect">
            <a:avLst/>
          </a:prstGeom>
          <a:solidFill>
            <a:srgbClr val="E7EEF7"/>
          </a:solidFill>
          <a:ln w="12700">
            <a:solidFill>
              <a:srgbClr val="E7EEF7">
                <a:alpha val="0"/>
              </a:srgbClr>
            </a:solidFill>
            <a:prstDash val="solid"/>
          </a:ln>
        </p:spPr>
      </p:sp>
      <p:sp>
        <p:nvSpPr>
          <p:cNvPr id="3" name="Shape 1"/>
          <p:cNvSpPr/>
          <p:nvPr/>
        </p:nvSpPr>
        <p:spPr>
          <a:xfrm>
            <a:off x="466344" y="123444"/>
            <a:ext cx="64008" cy="146304"/>
          </a:xfrm>
          <a:prstGeom prst="rect">
            <a:avLst/>
          </a:prstGeom>
          <a:solidFill>
            <a:srgbClr val="176493"/>
          </a:solidFill>
          <a:ln w="12700">
            <a:solidFill>
              <a:srgbClr val="176493">
                <a:alpha val="0"/>
              </a:srgbClr>
            </a:solidFill>
            <a:prstDash val="solid"/>
          </a:ln>
        </p:spPr>
      </p:sp>
      <p:sp>
        <p:nvSpPr>
          <p:cNvPr id="4" name="Text 2"/>
          <p:cNvSpPr/>
          <p:nvPr/>
        </p:nvSpPr>
        <p:spPr>
          <a:xfrm>
            <a:off x="594360" y="100584"/>
            <a:ext cx="731520" cy="201168"/>
          </a:xfrm>
          <a:prstGeom prst="rect">
            <a:avLst/>
          </a:prstGeom>
          <a:noFill/>
          <a:ln/>
        </p:spPr>
        <p:txBody>
          <a:bodyPr wrap="square" lIns="0" tIns="0" rIns="0" bIns="0" rtlCol="0" anchor="ctr"/>
          <a:lstStyle/>
          <a:p>
            <a:pPr algn="l" indent="0" marL="0">
              <a:buNone/>
            </a:pPr>
            <a:r>
              <a:rPr lang="en-US" sz="1100" b="1" dirty="0">
                <a:solidFill>
                  <a:srgbClr val="176493"/>
                </a:solidFill>
                <a:latin typeface="Aptos" pitchFamily="34" charset="0"/>
                <a:ea typeface="Aptos" pitchFamily="34" charset="-122"/>
                <a:cs typeface="Aptos" pitchFamily="34" charset="-120"/>
              </a:rPr>
              <a:t>DS101</a:t>
            </a:r>
            <a:endParaRPr lang="en-US" sz="1100" dirty="0"/>
          </a:p>
        </p:txBody>
      </p:sp>
      <p:sp>
        <p:nvSpPr>
          <p:cNvPr id="5" name="Text 3"/>
          <p:cNvSpPr/>
          <p:nvPr/>
        </p:nvSpPr>
        <p:spPr>
          <a:xfrm>
            <a:off x="1463040" y="100584"/>
            <a:ext cx="1828800" cy="201168"/>
          </a:xfrm>
          <a:prstGeom prst="rect">
            <a:avLst/>
          </a:prstGeom>
          <a:noFill/>
          <a:ln/>
        </p:spPr>
        <p:txBody>
          <a:bodyPr wrap="square" lIns="0" tIns="0" rIns="0" bIns="0" rtlCol="0" anchor="ctr"/>
          <a:lstStyle/>
          <a:p>
            <a:pPr algn="l" indent="0" marL="0">
              <a:buNone/>
            </a:pPr>
            <a:r>
              <a:rPr lang="en-US" sz="1000" dirty="0">
                <a:solidFill>
                  <a:srgbClr val="53657A"/>
                </a:solidFill>
                <a:latin typeface="Aptos" pitchFamily="34" charset="0"/>
                <a:ea typeface="Aptos" pitchFamily="34" charset="-122"/>
                <a:cs typeface="Aptos" pitchFamily="34" charset="-120"/>
              </a:rPr>
              <a:t>LECTURE 02</a:t>
            </a:r>
            <a:endParaRPr lang="en-US" sz="1000" dirty="0"/>
          </a:p>
        </p:txBody>
      </p:sp>
      <p:sp>
        <p:nvSpPr>
          <p:cNvPr id="6" name="Text 4"/>
          <p:cNvSpPr/>
          <p:nvPr/>
        </p:nvSpPr>
        <p:spPr>
          <a:xfrm>
            <a:off x="8321040" y="100584"/>
            <a:ext cx="3264408" cy="201168"/>
          </a:xfrm>
          <a:prstGeom prst="rect">
            <a:avLst/>
          </a:prstGeom>
          <a:noFill/>
          <a:ln/>
        </p:spPr>
        <p:txBody>
          <a:bodyPr wrap="square" lIns="0" tIns="0" rIns="0" bIns="0" rtlCol="0" anchor="ctr"/>
          <a:lstStyle/>
          <a:p>
            <a:pPr algn="r" indent="0" marL="0">
              <a:buNone/>
            </a:pPr>
            <a:r>
              <a:rPr lang="en-US" sz="1000" dirty="0">
                <a:solidFill>
                  <a:srgbClr val="53657A"/>
                </a:solidFill>
                <a:latin typeface="Aptos" pitchFamily="34" charset="0"/>
                <a:ea typeface="Aptos" pitchFamily="34" charset="-122"/>
                <a:cs typeface="Aptos" pitchFamily="34" charset="-120"/>
              </a:rPr>
              <a:t>CLUSTER INTERPRETATION</a:t>
            </a:r>
            <a:endParaRPr lang="en-US" sz="1000" dirty="0"/>
          </a:p>
        </p:txBody>
      </p:sp>
      <p:sp>
        <p:nvSpPr>
          <p:cNvPr id="7" name="Text 5"/>
          <p:cNvSpPr/>
          <p:nvPr/>
        </p:nvSpPr>
        <p:spPr>
          <a:xfrm>
            <a:off x="594360" y="758952"/>
            <a:ext cx="11000232" cy="658368"/>
          </a:xfrm>
          <a:prstGeom prst="rect">
            <a:avLst/>
          </a:prstGeom>
          <a:noFill/>
          <a:ln/>
        </p:spPr>
        <p:txBody>
          <a:bodyPr wrap="square" lIns="0" tIns="0" rIns="0" bIns="0" rtlCol="0" anchor="ctr"/>
          <a:lstStyle/>
          <a:p>
            <a:pPr algn="l" indent="0" marL="0">
              <a:buNone/>
            </a:pPr>
            <a:r>
              <a:rPr lang="en-US" sz="3000" b="1" dirty="0">
                <a:solidFill>
                  <a:srgbClr val="172233"/>
                </a:solidFill>
                <a:latin typeface="Aptos" pitchFamily="34" charset="0"/>
                <a:ea typeface="Aptos" pitchFamily="34" charset="-122"/>
                <a:cs typeface="Aptos" pitchFamily="34" charset="-120"/>
              </a:rPr>
              <a:t>Interpret clusters in the feature space</a:t>
            </a:r>
            <a:endParaRPr lang="en-US" sz="3000" dirty="0"/>
          </a:p>
        </p:txBody>
      </p:sp>
      <p:sp>
        <p:nvSpPr>
          <p:cNvPr id="8" name="Text 6"/>
          <p:cNvSpPr/>
          <p:nvPr/>
        </p:nvSpPr>
        <p:spPr>
          <a:xfrm>
            <a:off x="594360" y="6510528"/>
            <a:ext cx="3657600" cy="164592"/>
          </a:xfrm>
          <a:prstGeom prst="rect">
            <a:avLst/>
          </a:prstGeom>
          <a:noFill/>
          <a:ln/>
        </p:spPr>
        <p:txBody>
          <a:bodyPr wrap="square" lIns="0" tIns="0" rIns="0" bIns="0" rtlCol="0" anchor="ctr"/>
          <a:lstStyle/>
          <a:p>
            <a:pPr algn="l" indent="0" marL="0">
              <a:buNone/>
            </a:pPr>
            <a:r>
              <a:rPr lang="en-US" sz="900" dirty="0">
                <a:solidFill>
                  <a:srgbClr val="53657A"/>
                </a:solidFill>
                <a:latin typeface="Aptos" pitchFamily="34" charset="0"/>
                <a:ea typeface="Aptos" pitchFamily="34" charset="-122"/>
                <a:cs typeface="Aptos" pitchFamily="34" charset="-120"/>
              </a:rPr>
              <a:t>DS101 | 2026-2027</a:t>
            </a:r>
            <a:endParaRPr lang="en-US" sz="900" dirty="0"/>
          </a:p>
        </p:txBody>
      </p:sp>
      <p:sp>
        <p:nvSpPr>
          <p:cNvPr id="9" name="Text 7"/>
          <p:cNvSpPr/>
          <p:nvPr/>
        </p:nvSpPr>
        <p:spPr>
          <a:xfrm>
            <a:off x="10680192" y="6492240"/>
            <a:ext cx="914400" cy="201168"/>
          </a:xfrm>
          <a:prstGeom prst="rect">
            <a:avLst/>
          </a:prstGeom>
          <a:noFill/>
          <a:ln/>
        </p:spPr>
        <p:txBody>
          <a:bodyPr wrap="square" lIns="0" tIns="0" rIns="0" bIns="0" rtlCol="0" anchor="ctr"/>
          <a:lstStyle/>
          <a:p>
            <a:pPr algn="r" indent="0" marL="0">
              <a:buNone/>
            </a:pPr>
            <a:r>
              <a:rPr lang="en-US" sz="1000" dirty="0">
                <a:solidFill>
                  <a:srgbClr val="53657A"/>
                </a:solidFill>
                <a:latin typeface="Aptos" pitchFamily="34" charset="0"/>
                <a:ea typeface="Aptos" pitchFamily="34" charset="-122"/>
                <a:cs typeface="Aptos" pitchFamily="34" charset="-120"/>
              </a:rPr>
              <a:t>16 / 24</a:t>
            </a:r>
            <a:endParaRPr lang="en-US" sz="1000" dirty="0"/>
          </a:p>
        </p:txBody>
      </p:sp>
      <p:sp>
        <p:nvSpPr>
          <p:cNvPr id="10" name="Shape 8"/>
          <p:cNvSpPr/>
          <p:nvPr/>
        </p:nvSpPr>
        <p:spPr>
          <a:xfrm>
            <a:off x="594360" y="5852160"/>
            <a:ext cx="11000232" cy="438912"/>
          </a:xfrm>
          <a:prstGeom prst="rect">
            <a:avLst/>
          </a:prstGeom>
          <a:solidFill>
            <a:srgbClr val="E3EFF7"/>
          </a:solidFill>
          <a:ln w="12700">
            <a:solidFill>
              <a:srgbClr val="E3EFF7">
                <a:alpha val="0"/>
              </a:srgbClr>
            </a:solidFill>
            <a:prstDash val="solid"/>
          </a:ln>
        </p:spPr>
      </p:sp>
      <p:sp>
        <p:nvSpPr>
          <p:cNvPr id="11" name="Text 9"/>
          <p:cNvSpPr/>
          <p:nvPr/>
        </p:nvSpPr>
        <p:spPr>
          <a:xfrm>
            <a:off x="795528" y="5943600"/>
            <a:ext cx="10607040" cy="256032"/>
          </a:xfrm>
          <a:prstGeom prst="rect">
            <a:avLst/>
          </a:prstGeom>
          <a:noFill/>
          <a:ln/>
        </p:spPr>
        <p:txBody>
          <a:bodyPr wrap="square" lIns="0" tIns="0" rIns="0" bIns="0" rtlCol="0" anchor="ctr"/>
          <a:lstStyle/>
          <a:p>
            <a:pPr algn="l" indent="0" marL="0">
              <a:buNone/>
            </a:pPr>
            <a:r>
              <a:rPr lang="en-US" sz="1700" b="1" dirty="0">
                <a:solidFill>
                  <a:srgbClr val="176493"/>
                </a:solidFill>
                <a:latin typeface="Aptos" pitchFamily="34" charset="0"/>
                <a:ea typeface="Aptos" pitchFamily="34" charset="-122"/>
                <a:cs typeface="Aptos" pitchFamily="34" charset="-120"/>
              </a:rPr>
              <a:t>Describe the group before deciding what action it should trigger.</a:t>
            </a:r>
            <a:endParaRPr lang="en-US" sz="1700" dirty="0"/>
          </a:p>
        </p:txBody>
      </p:sp>
      <p:sp>
        <p:nvSpPr>
          <p:cNvPr id="12" name="Text 10"/>
          <p:cNvSpPr/>
          <p:nvPr/>
        </p:nvSpPr>
        <p:spPr>
          <a:xfrm>
            <a:off x="749808" y="1636776"/>
            <a:ext cx="10607040" cy="219456"/>
          </a:xfrm>
          <a:prstGeom prst="rect">
            <a:avLst/>
          </a:prstGeom>
          <a:noFill/>
          <a:ln/>
        </p:spPr>
        <p:txBody>
          <a:bodyPr wrap="square" lIns="0" tIns="0" rIns="0" bIns="0" rtlCol="0" anchor="ctr"/>
          <a:lstStyle/>
          <a:p>
            <a:pPr algn="l" indent="0" marL="0">
              <a:buNone/>
            </a:pPr>
            <a:r>
              <a:rPr lang="en-US" sz="1150" b="1" spc="50" kern="0" dirty="0">
                <a:solidFill>
                  <a:srgbClr val="176493"/>
                </a:solidFill>
                <a:latin typeface="Aptos" pitchFamily="34" charset="0"/>
                <a:ea typeface="Aptos" pitchFamily="34" charset="-122"/>
                <a:cs typeface="Aptos" pitchFamily="34" charset="-120"/>
              </a:rPr>
              <a:t>SYNTHETIC FIXTURE | GROUP MEDIANS IN ORIGINAL UNITS</a:t>
            </a:r>
            <a:endParaRPr lang="en-US" sz="1150" dirty="0"/>
          </a:p>
        </p:txBody>
      </p:sp>
      <p:sp>
        <p:nvSpPr>
          <p:cNvPr id="13" name="Shape 11"/>
          <p:cNvSpPr/>
          <p:nvPr/>
        </p:nvSpPr>
        <p:spPr>
          <a:xfrm>
            <a:off x="749808" y="2057400"/>
            <a:ext cx="10661904" cy="457200"/>
          </a:xfrm>
          <a:prstGeom prst="rect">
            <a:avLst/>
          </a:prstGeom>
          <a:solidFill>
            <a:srgbClr val="263142"/>
          </a:solidFill>
          <a:ln w="12700">
            <a:solidFill>
              <a:srgbClr val="263142">
                <a:alpha val="0"/>
              </a:srgbClr>
            </a:solidFill>
            <a:prstDash val="solid"/>
          </a:ln>
        </p:spPr>
      </p:sp>
      <p:sp>
        <p:nvSpPr>
          <p:cNvPr id="14" name="Text 12"/>
          <p:cNvSpPr/>
          <p:nvPr/>
        </p:nvSpPr>
        <p:spPr>
          <a:xfrm>
            <a:off x="859536" y="2093976"/>
            <a:ext cx="1106424" cy="384048"/>
          </a:xfrm>
          <a:prstGeom prst="rect">
            <a:avLst/>
          </a:prstGeom>
          <a:noFill/>
          <a:ln/>
        </p:spPr>
        <p:txBody>
          <a:bodyPr wrap="square" lIns="0" tIns="0" rIns="0" bIns="0" rtlCol="0" anchor="ctr"/>
          <a:lstStyle/>
          <a:p>
            <a:pPr algn="l" indent="0" marL="0">
              <a:buNone/>
            </a:pPr>
            <a:r>
              <a:rPr lang="en-US" sz="1700" b="1" dirty="0">
                <a:solidFill>
                  <a:srgbClr val="FFFFFF"/>
                </a:solidFill>
                <a:latin typeface="Aptos" pitchFamily="34" charset="0"/>
                <a:ea typeface="Aptos" pitchFamily="34" charset="-122"/>
                <a:cs typeface="Aptos" pitchFamily="34" charset="-120"/>
              </a:rPr>
              <a:t>Group</a:t>
            </a:r>
            <a:endParaRPr lang="en-US" sz="1700" dirty="0"/>
          </a:p>
        </p:txBody>
      </p:sp>
      <p:sp>
        <p:nvSpPr>
          <p:cNvPr id="15" name="Text 13"/>
          <p:cNvSpPr/>
          <p:nvPr/>
        </p:nvSpPr>
        <p:spPr>
          <a:xfrm>
            <a:off x="2185416" y="2093976"/>
            <a:ext cx="1746504" cy="384048"/>
          </a:xfrm>
          <a:prstGeom prst="rect">
            <a:avLst/>
          </a:prstGeom>
          <a:noFill/>
          <a:ln/>
        </p:spPr>
        <p:txBody>
          <a:bodyPr wrap="square" lIns="0" tIns="0" rIns="0" bIns="0" rtlCol="0" anchor="ctr"/>
          <a:lstStyle/>
          <a:p>
            <a:pPr algn="l" indent="0" marL="0">
              <a:buNone/>
            </a:pPr>
            <a:r>
              <a:rPr lang="en-US" sz="1700" b="1" dirty="0">
                <a:solidFill>
                  <a:srgbClr val="FFFFFF"/>
                </a:solidFill>
                <a:latin typeface="Aptos" pitchFamily="34" charset="0"/>
                <a:ea typeface="Aptos" pitchFamily="34" charset="-122"/>
                <a:cs typeface="Aptos" pitchFamily="34" charset="-120"/>
              </a:rPr>
              <a:t>Accounts</a:t>
            </a:r>
            <a:endParaRPr lang="en-US" sz="1700" dirty="0"/>
          </a:p>
        </p:txBody>
      </p:sp>
      <p:sp>
        <p:nvSpPr>
          <p:cNvPr id="16" name="Text 14"/>
          <p:cNvSpPr/>
          <p:nvPr/>
        </p:nvSpPr>
        <p:spPr>
          <a:xfrm>
            <a:off x="4151376" y="2093976"/>
            <a:ext cx="2157984" cy="384048"/>
          </a:xfrm>
          <a:prstGeom prst="rect">
            <a:avLst/>
          </a:prstGeom>
          <a:noFill/>
          <a:ln/>
        </p:spPr>
        <p:txBody>
          <a:bodyPr wrap="square" lIns="0" tIns="0" rIns="0" bIns="0" rtlCol="0" anchor="ctr"/>
          <a:lstStyle/>
          <a:p>
            <a:pPr algn="l" indent="0" marL="0">
              <a:buNone/>
            </a:pPr>
            <a:r>
              <a:rPr lang="en-US" sz="1700" b="1" dirty="0">
                <a:solidFill>
                  <a:srgbClr val="FFFFFF"/>
                </a:solidFill>
                <a:latin typeface="Aptos" pitchFamily="34" charset="0"/>
                <a:ea typeface="Aptos" pitchFamily="34" charset="-122"/>
                <a:cs typeface="Aptos" pitchFamily="34" charset="-120"/>
              </a:rPr>
              <a:t>R: days</a:t>
            </a:r>
            <a:endParaRPr lang="en-US" sz="1700" dirty="0"/>
          </a:p>
        </p:txBody>
      </p:sp>
      <p:sp>
        <p:nvSpPr>
          <p:cNvPr id="17" name="Text 15"/>
          <p:cNvSpPr/>
          <p:nvPr/>
        </p:nvSpPr>
        <p:spPr>
          <a:xfrm>
            <a:off x="6528816" y="2093976"/>
            <a:ext cx="2020824" cy="384048"/>
          </a:xfrm>
          <a:prstGeom prst="rect">
            <a:avLst/>
          </a:prstGeom>
          <a:noFill/>
          <a:ln/>
        </p:spPr>
        <p:txBody>
          <a:bodyPr wrap="square" lIns="0" tIns="0" rIns="0" bIns="0" rtlCol="0" anchor="ctr"/>
          <a:lstStyle/>
          <a:p>
            <a:pPr algn="l" indent="0" marL="0">
              <a:buNone/>
            </a:pPr>
            <a:r>
              <a:rPr lang="en-US" sz="1700" b="1" dirty="0">
                <a:solidFill>
                  <a:srgbClr val="FFFFFF"/>
                </a:solidFill>
                <a:latin typeface="Aptos" pitchFamily="34" charset="0"/>
                <a:ea typeface="Aptos" pitchFamily="34" charset="-122"/>
                <a:cs typeface="Aptos" pitchFamily="34" charset="-120"/>
              </a:rPr>
              <a:t>F: orders</a:t>
            </a:r>
            <a:endParaRPr lang="en-US" sz="1700" dirty="0"/>
          </a:p>
        </p:txBody>
      </p:sp>
      <p:sp>
        <p:nvSpPr>
          <p:cNvPr id="18" name="Text 16"/>
          <p:cNvSpPr/>
          <p:nvPr/>
        </p:nvSpPr>
        <p:spPr>
          <a:xfrm>
            <a:off x="8769096" y="2093976"/>
            <a:ext cx="2532888" cy="384048"/>
          </a:xfrm>
          <a:prstGeom prst="rect">
            <a:avLst/>
          </a:prstGeom>
          <a:noFill/>
          <a:ln/>
        </p:spPr>
        <p:txBody>
          <a:bodyPr wrap="square" lIns="0" tIns="0" rIns="0" bIns="0" rtlCol="0" anchor="ctr"/>
          <a:lstStyle/>
          <a:p>
            <a:pPr algn="l" indent="0" marL="0">
              <a:buNone/>
            </a:pPr>
            <a:r>
              <a:rPr lang="en-US" sz="1700" b="1" dirty="0">
                <a:solidFill>
                  <a:srgbClr val="FFFFFF"/>
                </a:solidFill>
                <a:latin typeface="Aptos" pitchFamily="34" charset="0"/>
                <a:ea typeface="Aptos" pitchFamily="34" charset="-122"/>
                <a:cs typeface="Aptos" pitchFamily="34" charset="-120"/>
              </a:rPr>
              <a:t>M: net CU</a:t>
            </a:r>
            <a:endParaRPr lang="en-US" sz="1700" dirty="0"/>
          </a:p>
        </p:txBody>
      </p:sp>
      <p:sp>
        <p:nvSpPr>
          <p:cNvPr id="19" name="Shape 17"/>
          <p:cNvSpPr/>
          <p:nvPr/>
        </p:nvSpPr>
        <p:spPr>
          <a:xfrm>
            <a:off x="749808" y="2514600"/>
            <a:ext cx="10661904" cy="740664"/>
          </a:xfrm>
          <a:prstGeom prst="rect">
            <a:avLst/>
          </a:prstGeom>
          <a:solidFill>
            <a:srgbClr val="FFFFFF"/>
          </a:solidFill>
          <a:ln w="12700">
            <a:solidFill>
              <a:srgbClr val="FFFFFF">
                <a:alpha val="0"/>
              </a:srgbClr>
            </a:solidFill>
            <a:prstDash val="solid"/>
          </a:ln>
        </p:spPr>
      </p:sp>
      <p:sp>
        <p:nvSpPr>
          <p:cNvPr id="20" name="Text 18"/>
          <p:cNvSpPr/>
          <p:nvPr/>
        </p:nvSpPr>
        <p:spPr>
          <a:xfrm>
            <a:off x="859536" y="2569464"/>
            <a:ext cx="1106424" cy="630936"/>
          </a:xfrm>
          <a:prstGeom prst="rect">
            <a:avLst/>
          </a:prstGeom>
          <a:noFill/>
          <a:ln/>
        </p:spPr>
        <p:txBody>
          <a:bodyPr wrap="square" lIns="0" tIns="0" rIns="0" bIns="0" rtlCol="0" anchor="ctr"/>
          <a:lstStyle/>
          <a:p>
            <a:pPr algn="l" indent="0" marL="0">
              <a:buNone/>
            </a:pPr>
            <a:r>
              <a:rPr lang="en-US" sz="2400" b="1" dirty="0">
                <a:solidFill>
                  <a:srgbClr val="176493"/>
                </a:solidFill>
                <a:latin typeface="Aptos" pitchFamily="34" charset="0"/>
                <a:ea typeface="Aptos" pitchFamily="34" charset="-122"/>
                <a:cs typeface="Aptos" pitchFamily="34" charset="-120"/>
              </a:rPr>
              <a:t>C1</a:t>
            </a:r>
            <a:endParaRPr lang="en-US" sz="2400" dirty="0"/>
          </a:p>
        </p:txBody>
      </p:sp>
      <p:sp>
        <p:nvSpPr>
          <p:cNvPr id="21" name="Text 19"/>
          <p:cNvSpPr/>
          <p:nvPr/>
        </p:nvSpPr>
        <p:spPr>
          <a:xfrm>
            <a:off x="2185416" y="2569464"/>
            <a:ext cx="1746504" cy="630936"/>
          </a:xfrm>
          <a:prstGeom prst="rect">
            <a:avLst/>
          </a:prstGeom>
          <a:noFill/>
          <a:ln/>
        </p:spPr>
        <p:txBody>
          <a:bodyPr wrap="square" lIns="0" tIns="0" rIns="0" bIns="0" rtlCol="0" anchor="ctr"/>
          <a:lstStyle/>
          <a:p>
            <a:pPr algn="l" indent="0" marL="0">
              <a:buNone/>
            </a:pPr>
            <a:r>
              <a:rPr lang="en-US" sz="2400" dirty="0">
                <a:solidFill>
                  <a:srgbClr val="172233"/>
                </a:solidFill>
                <a:latin typeface="Aptos" pitchFamily="34" charset="0"/>
                <a:ea typeface="Aptos" pitchFamily="34" charset="-122"/>
                <a:cs typeface="Aptos" pitchFamily="34" charset="-120"/>
              </a:rPr>
              <a:t>28</a:t>
            </a:r>
            <a:endParaRPr lang="en-US" sz="2400" dirty="0"/>
          </a:p>
        </p:txBody>
      </p:sp>
      <p:sp>
        <p:nvSpPr>
          <p:cNvPr id="22" name="Text 20"/>
          <p:cNvSpPr/>
          <p:nvPr/>
        </p:nvSpPr>
        <p:spPr>
          <a:xfrm>
            <a:off x="4151376" y="2569464"/>
            <a:ext cx="2157984" cy="630936"/>
          </a:xfrm>
          <a:prstGeom prst="rect">
            <a:avLst/>
          </a:prstGeom>
          <a:noFill/>
          <a:ln/>
        </p:spPr>
        <p:txBody>
          <a:bodyPr wrap="square" lIns="0" tIns="0" rIns="0" bIns="0" rtlCol="0" anchor="ctr"/>
          <a:lstStyle/>
          <a:p>
            <a:pPr algn="l" indent="0" marL="0">
              <a:buNone/>
            </a:pPr>
            <a:r>
              <a:rPr lang="en-US" sz="2400" dirty="0">
                <a:solidFill>
                  <a:srgbClr val="172233"/>
                </a:solidFill>
                <a:latin typeface="Aptos" pitchFamily="34" charset="0"/>
                <a:ea typeface="Aptos" pitchFamily="34" charset="-122"/>
                <a:cs typeface="Aptos" pitchFamily="34" charset="-120"/>
              </a:rPr>
              <a:t>10.0</a:t>
            </a:r>
            <a:endParaRPr lang="en-US" sz="2400" dirty="0"/>
          </a:p>
        </p:txBody>
      </p:sp>
      <p:sp>
        <p:nvSpPr>
          <p:cNvPr id="23" name="Text 21"/>
          <p:cNvSpPr/>
          <p:nvPr/>
        </p:nvSpPr>
        <p:spPr>
          <a:xfrm>
            <a:off x="6528816" y="2569464"/>
            <a:ext cx="2020824" cy="630936"/>
          </a:xfrm>
          <a:prstGeom prst="rect">
            <a:avLst/>
          </a:prstGeom>
          <a:noFill/>
          <a:ln/>
        </p:spPr>
        <p:txBody>
          <a:bodyPr wrap="square" lIns="0" tIns="0" rIns="0" bIns="0" rtlCol="0" anchor="ctr"/>
          <a:lstStyle/>
          <a:p>
            <a:pPr algn="l" indent="0" marL="0">
              <a:buNone/>
            </a:pPr>
            <a:r>
              <a:rPr lang="en-US" sz="2400" dirty="0">
                <a:solidFill>
                  <a:srgbClr val="172233"/>
                </a:solidFill>
                <a:latin typeface="Aptos" pitchFamily="34" charset="0"/>
                <a:ea typeface="Aptos" pitchFamily="34" charset="-122"/>
                <a:cs typeface="Aptos" pitchFamily="34" charset="-120"/>
              </a:rPr>
              <a:t>13</a:t>
            </a:r>
            <a:endParaRPr lang="en-US" sz="2400" dirty="0"/>
          </a:p>
        </p:txBody>
      </p:sp>
      <p:sp>
        <p:nvSpPr>
          <p:cNvPr id="24" name="Text 22"/>
          <p:cNvSpPr/>
          <p:nvPr/>
        </p:nvSpPr>
        <p:spPr>
          <a:xfrm>
            <a:off x="8769096" y="2569464"/>
            <a:ext cx="2532888" cy="630936"/>
          </a:xfrm>
          <a:prstGeom prst="rect">
            <a:avLst/>
          </a:prstGeom>
          <a:noFill/>
          <a:ln/>
        </p:spPr>
        <p:txBody>
          <a:bodyPr wrap="square" lIns="0" tIns="0" rIns="0" bIns="0" rtlCol="0" anchor="ctr"/>
          <a:lstStyle/>
          <a:p>
            <a:pPr algn="l" indent="0" marL="0">
              <a:buNone/>
            </a:pPr>
            <a:r>
              <a:rPr lang="en-US" sz="2400" dirty="0">
                <a:solidFill>
                  <a:srgbClr val="172233"/>
                </a:solidFill>
                <a:latin typeface="Aptos" pitchFamily="34" charset="0"/>
                <a:ea typeface="Aptos" pitchFamily="34" charset="-122"/>
                <a:cs typeface="Aptos" pitchFamily="34" charset="-120"/>
              </a:rPr>
              <a:t>4,491</a:t>
            </a:r>
            <a:endParaRPr lang="en-US" sz="2400" dirty="0"/>
          </a:p>
        </p:txBody>
      </p:sp>
      <p:sp>
        <p:nvSpPr>
          <p:cNvPr id="25" name="Shape 23"/>
          <p:cNvSpPr/>
          <p:nvPr/>
        </p:nvSpPr>
        <p:spPr>
          <a:xfrm>
            <a:off x="749808" y="3255264"/>
            <a:ext cx="10661904" cy="740664"/>
          </a:xfrm>
          <a:prstGeom prst="rect">
            <a:avLst/>
          </a:prstGeom>
          <a:solidFill>
            <a:srgbClr val="E3EFF7"/>
          </a:solidFill>
          <a:ln w="12700">
            <a:solidFill>
              <a:srgbClr val="E3EFF7">
                <a:alpha val="0"/>
              </a:srgbClr>
            </a:solidFill>
            <a:prstDash val="solid"/>
          </a:ln>
        </p:spPr>
      </p:sp>
      <p:sp>
        <p:nvSpPr>
          <p:cNvPr id="26" name="Text 24"/>
          <p:cNvSpPr/>
          <p:nvPr/>
        </p:nvSpPr>
        <p:spPr>
          <a:xfrm>
            <a:off x="859536" y="3310128"/>
            <a:ext cx="1106424" cy="630936"/>
          </a:xfrm>
          <a:prstGeom prst="rect">
            <a:avLst/>
          </a:prstGeom>
          <a:noFill/>
          <a:ln/>
        </p:spPr>
        <p:txBody>
          <a:bodyPr wrap="square" lIns="0" tIns="0" rIns="0" bIns="0" rtlCol="0" anchor="ctr"/>
          <a:lstStyle/>
          <a:p>
            <a:pPr algn="l" indent="0" marL="0">
              <a:buNone/>
            </a:pPr>
            <a:r>
              <a:rPr lang="en-US" sz="2400" b="1" dirty="0">
                <a:solidFill>
                  <a:srgbClr val="167C85"/>
                </a:solidFill>
                <a:latin typeface="Aptos" pitchFamily="34" charset="0"/>
                <a:ea typeface="Aptos" pitchFamily="34" charset="-122"/>
                <a:cs typeface="Aptos" pitchFamily="34" charset="-120"/>
              </a:rPr>
              <a:t>C2</a:t>
            </a:r>
            <a:endParaRPr lang="en-US" sz="2400" dirty="0"/>
          </a:p>
        </p:txBody>
      </p:sp>
      <p:sp>
        <p:nvSpPr>
          <p:cNvPr id="27" name="Text 25"/>
          <p:cNvSpPr/>
          <p:nvPr/>
        </p:nvSpPr>
        <p:spPr>
          <a:xfrm>
            <a:off x="2185416" y="3310128"/>
            <a:ext cx="1746504" cy="630936"/>
          </a:xfrm>
          <a:prstGeom prst="rect">
            <a:avLst/>
          </a:prstGeom>
          <a:noFill/>
          <a:ln/>
        </p:spPr>
        <p:txBody>
          <a:bodyPr wrap="square" lIns="0" tIns="0" rIns="0" bIns="0" rtlCol="0" anchor="ctr"/>
          <a:lstStyle/>
          <a:p>
            <a:pPr algn="l" indent="0" marL="0">
              <a:buNone/>
            </a:pPr>
            <a:r>
              <a:rPr lang="en-US" sz="2400" dirty="0">
                <a:solidFill>
                  <a:srgbClr val="172233"/>
                </a:solidFill>
                <a:latin typeface="Aptos" pitchFamily="34" charset="0"/>
                <a:ea typeface="Aptos" pitchFamily="34" charset="-122"/>
                <a:cs typeface="Aptos" pitchFamily="34" charset="-120"/>
              </a:rPr>
              <a:t>22</a:t>
            </a:r>
            <a:endParaRPr lang="en-US" sz="2400" dirty="0"/>
          </a:p>
        </p:txBody>
      </p:sp>
      <p:sp>
        <p:nvSpPr>
          <p:cNvPr id="28" name="Text 26"/>
          <p:cNvSpPr/>
          <p:nvPr/>
        </p:nvSpPr>
        <p:spPr>
          <a:xfrm>
            <a:off x="4151376" y="3310128"/>
            <a:ext cx="2157984" cy="630936"/>
          </a:xfrm>
          <a:prstGeom prst="rect">
            <a:avLst/>
          </a:prstGeom>
          <a:noFill/>
          <a:ln/>
        </p:spPr>
        <p:txBody>
          <a:bodyPr wrap="square" lIns="0" tIns="0" rIns="0" bIns="0" rtlCol="0" anchor="ctr"/>
          <a:lstStyle/>
          <a:p>
            <a:pPr algn="l" indent="0" marL="0">
              <a:buNone/>
            </a:pPr>
            <a:r>
              <a:rPr lang="en-US" sz="2400" dirty="0">
                <a:solidFill>
                  <a:srgbClr val="172233"/>
                </a:solidFill>
                <a:latin typeface="Aptos" pitchFamily="34" charset="0"/>
                <a:ea typeface="Aptos" pitchFamily="34" charset="-122"/>
                <a:cs typeface="Aptos" pitchFamily="34" charset="-120"/>
              </a:rPr>
              <a:t>12.5</a:t>
            </a:r>
            <a:endParaRPr lang="en-US" sz="2400" dirty="0"/>
          </a:p>
        </p:txBody>
      </p:sp>
      <p:sp>
        <p:nvSpPr>
          <p:cNvPr id="29" name="Text 27"/>
          <p:cNvSpPr/>
          <p:nvPr/>
        </p:nvSpPr>
        <p:spPr>
          <a:xfrm>
            <a:off x="6528816" y="3310128"/>
            <a:ext cx="2020824" cy="630936"/>
          </a:xfrm>
          <a:prstGeom prst="rect">
            <a:avLst/>
          </a:prstGeom>
          <a:noFill/>
          <a:ln/>
        </p:spPr>
        <p:txBody>
          <a:bodyPr wrap="square" lIns="0" tIns="0" rIns="0" bIns="0" rtlCol="0" anchor="ctr"/>
          <a:lstStyle/>
          <a:p>
            <a:pPr algn="l" indent="0" marL="0">
              <a:buNone/>
            </a:pPr>
            <a:r>
              <a:rPr lang="en-US" sz="2400" dirty="0">
                <a:solidFill>
                  <a:srgbClr val="172233"/>
                </a:solidFill>
                <a:latin typeface="Aptos" pitchFamily="34" charset="0"/>
                <a:ea typeface="Aptos" pitchFamily="34" charset="-122"/>
                <a:cs typeface="Aptos" pitchFamily="34" charset="-120"/>
              </a:rPr>
              <a:t>3</a:t>
            </a:r>
            <a:endParaRPr lang="en-US" sz="2400" dirty="0"/>
          </a:p>
        </p:txBody>
      </p:sp>
      <p:sp>
        <p:nvSpPr>
          <p:cNvPr id="30" name="Text 28"/>
          <p:cNvSpPr/>
          <p:nvPr/>
        </p:nvSpPr>
        <p:spPr>
          <a:xfrm>
            <a:off x="8769096" y="3310128"/>
            <a:ext cx="2532888" cy="630936"/>
          </a:xfrm>
          <a:prstGeom prst="rect">
            <a:avLst/>
          </a:prstGeom>
          <a:noFill/>
          <a:ln/>
        </p:spPr>
        <p:txBody>
          <a:bodyPr wrap="square" lIns="0" tIns="0" rIns="0" bIns="0" rtlCol="0" anchor="ctr"/>
          <a:lstStyle/>
          <a:p>
            <a:pPr algn="l" indent="0" marL="0">
              <a:buNone/>
            </a:pPr>
            <a:r>
              <a:rPr lang="en-US" sz="2400" dirty="0">
                <a:solidFill>
                  <a:srgbClr val="172233"/>
                </a:solidFill>
                <a:latin typeface="Aptos" pitchFamily="34" charset="0"/>
                <a:ea typeface="Aptos" pitchFamily="34" charset="-122"/>
                <a:cs typeface="Aptos" pitchFamily="34" charset="-120"/>
              </a:rPr>
              <a:t>550</a:t>
            </a:r>
            <a:endParaRPr lang="en-US" sz="2400" dirty="0"/>
          </a:p>
        </p:txBody>
      </p:sp>
      <p:sp>
        <p:nvSpPr>
          <p:cNvPr id="31" name="Shape 29"/>
          <p:cNvSpPr/>
          <p:nvPr/>
        </p:nvSpPr>
        <p:spPr>
          <a:xfrm>
            <a:off x="749808" y="3995928"/>
            <a:ext cx="10661904" cy="740664"/>
          </a:xfrm>
          <a:prstGeom prst="rect">
            <a:avLst/>
          </a:prstGeom>
          <a:solidFill>
            <a:srgbClr val="FFFFFF"/>
          </a:solidFill>
          <a:ln w="12700">
            <a:solidFill>
              <a:srgbClr val="FFFFFF">
                <a:alpha val="0"/>
              </a:srgbClr>
            </a:solidFill>
            <a:prstDash val="solid"/>
          </a:ln>
        </p:spPr>
      </p:sp>
      <p:sp>
        <p:nvSpPr>
          <p:cNvPr id="32" name="Text 30"/>
          <p:cNvSpPr/>
          <p:nvPr/>
        </p:nvSpPr>
        <p:spPr>
          <a:xfrm>
            <a:off x="859536" y="4050792"/>
            <a:ext cx="1106424" cy="630936"/>
          </a:xfrm>
          <a:prstGeom prst="rect">
            <a:avLst/>
          </a:prstGeom>
          <a:noFill/>
          <a:ln/>
        </p:spPr>
        <p:txBody>
          <a:bodyPr wrap="square" lIns="0" tIns="0" rIns="0" bIns="0" rtlCol="0" anchor="ctr"/>
          <a:lstStyle/>
          <a:p>
            <a:pPr algn="l" indent="0" marL="0">
              <a:buNone/>
            </a:pPr>
            <a:r>
              <a:rPr lang="en-US" sz="2400" b="1" dirty="0">
                <a:solidFill>
                  <a:srgbClr val="7056C2"/>
                </a:solidFill>
                <a:latin typeface="Aptos" pitchFamily="34" charset="0"/>
                <a:ea typeface="Aptos" pitchFamily="34" charset="-122"/>
                <a:cs typeface="Aptos" pitchFamily="34" charset="-120"/>
              </a:rPr>
              <a:t>C3</a:t>
            </a:r>
            <a:endParaRPr lang="en-US" sz="2400" dirty="0"/>
          </a:p>
        </p:txBody>
      </p:sp>
      <p:sp>
        <p:nvSpPr>
          <p:cNvPr id="33" name="Text 31"/>
          <p:cNvSpPr/>
          <p:nvPr/>
        </p:nvSpPr>
        <p:spPr>
          <a:xfrm>
            <a:off x="2185416" y="4050792"/>
            <a:ext cx="1746504" cy="630936"/>
          </a:xfrm>
          <a:prstGeom prst="rect">
            <a:avLst/>
          </a:prstGeom>
          <a:noFill/>
          <a:ln/>
        </p:spPr>
        <p:txBody>
          <a:bodyPr wrap="square" lIns="0" tIns="0" rIns="0" bIns="0" rtlCol="0" anchor="ctr"/>
          <a:lstStyle/>
          <a:p>
            <a:pPr algn="l" indent="0" marL="0">
              <a:buNone/>
            </a:pPr>
            <a:r>
              <a:rPr lang="en-US" sz="2400" dirty="0">
                <a:solidFill>
                  <a:srgbClr val="172233"/>
                </a:solidFill>
                <a:latin typeface="Aptos" pitchFamily="34" charset="0"/>
                <a:ea typeface="Aptos" pitchFamily="34" charset="-122"/>
                <a:cs typeface="Aptos" pitchFamily="34" charset="-120"/>
              </a:rPr>
              <a:t>34</a:t>
            </a:r>
            <a:endParaRPr lang="en-US" sz="2400" dirty="0"/>
          </a:p>
        </p:txBody>
      </p:sp>
      <p:sp>
        <p:nvSpPr>
          <p:cNvPr id="34" name="Text 32"/>
          <p:cNvSpPr/>
          <p:nvPr/>
        </p:nvSpPr>
        <p:spPr>
          <a:xfrm>
            <a:off x="4151376" y="4050792"/>
            <a:ext cx="2157984" cy="630936"/>
          </a:xfrm>
          <a:prstGeom prst="rect">
            <a:avLst/>
          </a:prstGeom>
          <a:noFill/>
          <a:ln/>
        </p:spPr>
        <p:txBody>
          <a:bodyPr wrap="square" lIns="0" tIns="0" rIns="0" bIns="0" rtlCol="0" anchor="ctr"/>
          <a:lstStyle/>
          <a:p>
            <a:pPr algn="l" indent="0" marL="0">
              <a:buNone/>
            </a:pPr>
            <a:r>
              <a:rPr lang="en-US" sz="2400" dirty="0">
                <a:solidFill>
                  <a:srgbClr val="172233"/>
                </a:solidFill>
                <a:latin typeface="Aptos" pitchFamily="34" charset="0"/>
                <a:ea typeface="Aptos" pitchFamily="34" charset="-122"/>
                <a:cs typeface="Aptos" pitchFamily="34" charset="-120"/>
              </a:rPr>
              <a:t>63.0</a:t>
            </a:r>
            <a:endParaRPr lang="en-US" sz="2400" dirty="0"/>
          </a:p>
        </p:txBody>
      </p:sp>
      <p:sp>
        <p:nvSpPr>
          <p:cNvPr id="35" name="Text 33"/>
          <p:cNvSpPr/>
          <p:nvPr/>
        </p:nvSpPr>
        <p:spPr>
          <a:xfrm>
            <a:off x="6528816" y="4050792"/>
            <a:ext cx="2020824" cy="630936"/>
          </a:xfrm>
          <a:prstGeom prst="rect">
            <a:avLst/>
          </a:prstGeom>
          <a:noFill/>
          <a:ln/>
        </p:spPr>
        <p:txBody>
          <a:bodyPr wrap="square" lIns="0" tIns="0" rIns="0" bIns="0" rtlCol="0" anchor="ctr"/>
          <a:lstStyle/>
          <a:p>
            <a:pPr algn="l" indent="0" marL="0">
              <a:buNone/>
            </a:pPr>
            <a:r>
              <a:rPr lang="en-US" sz="2400" dirty="0">
                <a:solidFill>
                  <a:srgbClr val="172233"/>
                </a:solidFill>
                <a:latin typeface="Aptos" pitchFamily="34" charset="0"/>
                <a:ea typeface="Aptos" pitchFamily="34" charset="-122"/>
                <a:cs typeface="Aptos" pitchFamily="34" charset="-120"/>
              </a:rPr>
              <a:t>4</a:t>
            </a:r>
            <a:endParaRPr lang="en-US" sz="2400" dirty="0"/>
          </a:p>
        </p:txBody>
      </p:sp>
      <p:sp>
        <p:nvSpPr>
          <p:cNvPr id="36" name="Text 34"/>
          <p:cNvSpPr/>
          <p:nvPr/>
        </p:nvSpPr>
        <p:spPr>
          <a:xfrm>
            <a:off x="8769096" y="4050792"/>
            <a:ext cx="2532888" cy="630936"/>
          </a:xfrm>
          <a:prstGeom prst="rect">
            <a:avLst/>
          </a:prstGeom>
          <a:noFill/>
          <a:ln/>
        </p:spPr>
        <p:txBody>
          <a:bodyPr wrap="square" lIns="0" tIns="0" rIns="0" bIns="0" rtlCol="0" anchor="ctr"/>
          <a:lstStyle/>
          <a:p>
            <a:pPr algn="l" indent="0" marL="0">
              <a:buNone/>
            </a:pPr>
            <a:r>
              <a:rPr lang="en-US" sz="2400" dirty="0">
                <a:solidFill>
                  <a:srgbClr val="172233"/>
                </a:solidFill>
                <a:latin typeface="Aptos" pitchFamily="34" charset="0"/>
                <a:ea typeface="Aptos" pitchFamily="34" charset="-122"/>
                <a:cs typeface="Aptos" pitchFamily="34" charset="-120"/>
              </a:rPr>
              <a:t>545</a:t>
            </a:r>
            <a:endParaRPr lang="en-US" sz="2400" dirty="0"/>
          </a:p>
        </p:txBody>
      </p:sp>
      <p:sp>
        <p:nvSpPr>
          <p:cNvPr id="37" name="Text 35"/>
          <p:cNvSpPr/>
          <p:nvPr/>
        </p:nvSpPr>
        <p:spPr>
          <a:xfrm>
            <a:off x="859536" y="4846320"/>
            <a:ext cx="10149840" cy="411480"/>
          </a:xfrm>
          <a:prstGeom prst="rect">
            <a:avLst/>
          </a:prstGeom>
          <a:noFill/>
          <a:ln/>
        </p:spPr>
        <p:txBody>
          <a:bodyPr wrap="square" lIns="0" tIns="0" rIns="0" bIns="0" rtlCol="0" anchor="ctr"/>
          <a:lstStyle/>
          <a:p>
            <a:pPr algn="l" indent="0" marL="0">
              <a:buNone/>
            </a:pPr>
            <a:r>
              <a:rPr lang="en-US" sz="2400" b="1" dirty="0">
                <a:solidFill>
                  <a:srgbClr val="172233"/>
                </a:solidFill>
                <a:latin typeface="Aptos" pitchFamily="34" charset="0"/>
                <a:ea typeface="Aptos" pitchFamily="34" charset="-122"/>
                <a:cs typeface="Aptos" pitchFamily="34" charset="-120"/>
              </a:rPr>
              <a:t>C1 has more orders and higher net value in this window.</a:t>
            </a:r>
            <a:endParaRPr lang="en-US" sz="2400" dirty="0"/>
          </a:p>
        </p:txBody>
      </p:sp>
      <p:sp>
        <p:nvSpPr>
          <p:cNvPr id="38" name="Text 36"/>
          <p:cNvSpPr/>
          <p:nvPr/>
        </p:nvSpPr>
        <p:spPr>
          <a:xfrm>
            <a:off x="859536" y="5385816"/>
            <a:ext cx="10149840" cy="283464"/>
          </a:xfrm>
          <a:prstGeom prst="rect">
            <a:avLst/>
          </a:prstGeom>
          <a:noFill/>
          <a:ln/>
        </p:spPr>
        <p:txBody>
          <a:bodyPr wrap="square" lIns="0" tIns="0" rIns="0" bIns="0" rtlCol="0" anchor="ctr"/>
          <a:lstStyle/>
          <a:p>
            <a:pPr algn="l" indent="0" marL="0">
              <a:buNone/>
            </a:pPr>
            <a:r>
              <a:rPr lang="en-US" sz="2000" dirty="0">
                <a:solidFill>
                  <a:srgbClr val="53657A"/>
                </a:solidFill>
                <a:latin typeface="Aptos" pitchFamily="34" charset="0"/>
                <a:ea typeface="Aptos" pitchFamily="34" charset="-122"/>
                <a:cs typeface="Aptos" pitchFamily="34" charset="-120"/>
              </a:rPr>
              <a:t>Why? That is a new question, not a cluster label.</a:t>
            </a:r>
            <a:endParaRPr lang="en-US" sz="2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0" y="0"/>
            <a:ext cx="12192000" cy="402336"/>
          </a:xfrm>
          <a:prstGeom prst="rect">
            <a:avLst/>
          </a:prstGeom>
          <a:solidFill>
            <a:srgbClr val="E7EEF7"/>
          </a:solidFill>
          <a:ln w="12700">
            <a:solidFill>
              <a:srgbClr val="E7EEF7">
                <a:alpha val="0"/>
              </a:srgbClr>
            </a:solidFill>
            <a:prstDash val="solid"/>
          </a:ln>
        </p:spPr>
      </p:sp>
      <p:sp>
        <p:nvSpPr>
          <p:cNvPr id="3" name="Shape 1"/>
          <p:cNvSpPr/>
          <p:nvPr/>
        </p:nvSpPr>
        <p:spPr>
          <a:xfrm>
            <a:off x="466344" y="123444"/>
            <a:ext cx="64008" cy="146304"/>
          </a:xfrm>
          <a:prstGeom prst="rect">
            <a:avLst/>
          </a:prstGeom>
          <a:solidFill>
            <a:srgbClr val="176493"/>
          </a:solidFill>
          <a:ln w="12700">
            <a:solidFill>
              <a:srgbClr val="176493">
                <a:alpha val="0"/>
              </a:srgbClr>
            </a:solidFill>
            <a:prstDash val="solid"/>
          </a:ln>
        </p:spPr>
      </p:sp>
      <p:sp>
        <p:nvSpPr>
          <p:cNvPr id="4" name="Text 2"/>
          <p:cNvSpPr/>
          <p:nvPr/>
        </p:nvSpPr>
        <p:spPr>
          <a:xfrm>
            <a:off x="594360" y="100584"/>
            <a:ext cx="731520" cy="201168"/>
          </a:xfrm>
          <a:prstGeom prst="rect">
            <a:avLst/>
          </a:prstGeom>
          <a:noFill/>
          <a:ln/>
        </p:spPr>
        <p:txBody>
          <a:bodyPr wrap="square" lIns="0" tIns="0" rIns="0" bIns="0" rtlCol="0" anchor="ctr"/>
          <a:lstStyle/>
          <a:p>
            <a:pPr algn="l" indent="0" marL="0">
              <a:buNone/>
            </a:pPr>
            <a:r>
              <a:rPr lang="en-US" sz="1100" b="1" dirty="0">
                <a:solidFill>
                  <a:srgbClr val="176493"/>
                </a:solidFill>
                <a:latin typeface="Aptos" pitchFamily="34" charset="0"/>
                <a:ea typeface="Aptos" pitchFamily="34" charset="-122"/>
                <a:cs typeface="Aptos" pitchFamily="34" charset="-120"/>
              </a:rPr>
              <a:t>DS101</a:t>
            </a:r>
            <a:endParaRPr lang="en-US" sz="1100" dirty="0"/>
          </a:p>
        </p:txBody>
      </p:sp>
      <p:sp>
        <p:nvSpPr>
          <p:cNvPr id="5" name="Text 3"/>
          <p:cNvSpPr/>
          <p:nvPr/>
        </p:nvSpPr>
        <p:spPr>
          <a:xfrm>
            <a:off x="1463040" y="100584"/>
            <a:ext cx="1828800" cy="201168"/>
          </a:xfrm>
          <a:prstGeom prst="rect">
            <a:avLst/>
          </a:prstGeom>
          <a:noFill/>
          <a:ln/>
        </p:spPr>
        <p:txBody>
          <a:bodyPr wrap="square" lIns="0" tIns="0" rIns="0" bIns="0" rtlCol="0" anchor="ctr"/>
          <a:lstStyle/>
          <a:p>
            <a:pPr algn="l" indent="0" marL="0">
              <a:buNone/>
            </a:pPr>
            <a:r>
              <a:rPr lang="en-US" sz="1000" dirty="0">
                <a:solidFill>
                  <a:srgbClr val="53657A"/>
                </a:solidFill>
                <a:latin typeface="Aptos" pitchFamily="34" charset="0"/>
                <a:ea typeface="Aptos" pitchFamily="34" charset="-122"/>
                <a:cs typeface="Aptos" pitchFamily="34" charset="-120"/>
              </a:rPr>
              <a:t>LECTURE 02</a:t>
            </a:r>
            <a:endParaRPr lang="en-US" sz="1000" dirty="0"/>
          </a:p>
        </p:txBody>
      </p:sp>
      <p:sp>
        <p:nvSpPr>
          <p:cNvPr id="6" name="Text 4"/>
          <p:cNvSpPr/>
          <p:nvPr/>
        </p:nvSpPr>
        <p:spPr>
          <a:xfrm>
            <a:off x="8321040" y="100584"/>
            <a:ext cx="3264408" cy="201168"/>
          </a:xfrm>
          <a:prstGeom prst="rect">
            <a:avLst/>
          </a:prstGeom>
          <a:noFill/>
          <a:ln/>
        </p:spPr>
        <p:txBody>
          <a:bodyPr wrap="square" lIns="0" tIns="0" rIns="0" bIns="0" rtlCol="0" anchor="ctr"/>
          <a:lstStyle/>
          <a:p>
            <a:pPr algn="r" indent="0" marL="0">
              <a:buNone/>
            </a:pPr>
            <a:r>
              <a:rPr lang="en-US" sz="1000" dirty="0">
                <a:solidFill>
                  <a:srgbClr val="53657A"/>
                </a:solidFill>
                <a:latin typeface="Aptos" pitchFamily="34" charset="0"/>
                <a:ea typeface="Aptos" pitchFamily="34" charset="-122"/>
                <a:cs typeface="Aptos" pitchFamily="34" charset="-120"/>
              </a:rPr>
              <a:t>FROM ANALYSIS TO A TASK</a:t>
            </a:r>
            <a:endParaRPr lang="en-US" sz="1000" dirty="0"/>
          </a:p>
        </p:txBody>
      </p:sp>
      <p:sp>
        <p:nvSpPr>
          <p:cNvPr id="7" name="Text 5"/>
          <p:cNvSpPr/>
          <p:nvPr/>
        </p:nvSpPr>
        <p:spPr>
          <a:xfrm>
            <a:off x="594360" y="758952"/>
            <a:ext cx="11000232" cy="658368"/>
          </a:xfrm>
          <a:prstGeom prst="rect">
            <a:avLst/>
          </a:prstGeom>
          <a:noFill/>
          <a:ln/>
        </p:spPr>
        <p:txBody>
          <a:bodyPr wrap="square" lIns="0" tIns="0" rIns="0" bIns="0" rtlCol="0" anchor="ctr"/>
          <a:lstStyle/>
          <a:p>
            <a:pPr algn="l" indent="0" marL="0">
              <a:buNone/>
            </a:pPr>
            <a:r>
              <a:rPr lang="en-US" sz="3000" b="1" dirty="0">
                <a:solidFill>
                  <a:srgbClr val="172233"/>
                </a:solidFill>
                <a:latin typeface="Aptos" pitchFamily="34" charset="0"/>
                <a:ea typeface="Aptos" pitchFamily="34" charset="-122"/>
                <a:cs typeface="Aptos" pitchFamily="34" charset="-120"/>
              </a:rPr>
              <a:t>A segment is not a recommendation</a:t>
            </a:r>
            <a:endParaRPr lang="en-US" sz="3000" dirty="0"/>
          </a:p>
        </p:txBody>
      </p:sp>
      <p:sp>
        <p:nvSpPr>
          <p:cNvPr id="8" name="Text 6"/>
          <p:cNvSpPr/>
          <p:nvPr/>
        </p:nvSpPr>
        <p:spPr>
          <a:xfrm>
            <a:off x="594360" y="6510528"/>
            <a:ext cx="3657600" cy="164592"/>
          </a:xfrm>
          <a:prstGeom prst="rect">
            <a:avLst/>
          </a:prstGeom>
          <a:noFill/>
          <a:ln/>
        </p:spPr>
        <p:txBody>
          <a:bodyPr wrap="square" lIns="0" tIns="0" rIns="0" bIns="0" rtlCol="0" anchor="ctr"/>
          <a:lstStyle/>
          <a:p>
            <a:pPr algn="l" indent="0" marL="0">
              <a:buNone/>
            </a:pPr>
            <a:r>
              <a:rPr lang="en-US" sz="900" dirty="0">
                <a:solidFill>
                  <a:srgbClr val="53657A"/>
                </a:solidFill>
                <a:latin typeface="Aptos" pitchFamily="34" charset="0"/>
                <a:ea typeface="Aptos" pitchFamily="34" charset="-122"/>
                <a:cs typeface="Aptos" pitchFamily="34" charset="-120"/>
              </a:rPr>
              <a:t>DS101 | 2026-2027</a:t>
            </a:r>
            <a:endParaRPr lang="en-US" sz="900" dirty="0"/>
          </a:p>
        </p:txBody>
      </p:sp>
      <p:sp>
        <p:nvSpPr>
          <p:cNvPr id="9" name="Text 7"/>
          <p:cNvSpPr/>
          <p:nvPr/>
        </p:nvSpPr>
        <p:spPr>
          <a:xfrm>
            <a:off x="10680192" y="6492240"/>
            <a:ext cx="914400" cy="201168"/>
          </a:xfrm>
          <a:prstGeom prst="rect">
            <a:avLst/>
          </a:prstGeom>
          <a:noFill/>
          <a:ln/>
        </p:spPr>
        <p:txBody>
          <a:bodyPr wrap="square" lIns="0" tIns="0" rIns="0" bIns="0" rtlCol="0" anchor="ctr"/>
          <a:lstStyle/>
          <a:p>
            <a:pPr algn="r" indent="0" marL="0">
              <a:buNone/>
            </a:pPr>
            <a:r>
              <a:rPr lang="en-US" sz="1000" dirty="0">
                <a:solidFill>
                  <a:srgbClr val="53657A"/>
                </a:solidFill>
                <a:latin typeface="Aptos" pitchFamily="34" charset="0"/>
                <a:ea typeface="Aptos" pitchFamily="34" charset="-122"/>
                <a:cs typeface="Aptos" pitchFamily="34" charset="-120"/>
              </a:rPr>
              <a:t>17 / 24</a:t>
            </a:r>
            <a:endParaRPr lang="en-US" sz="1000" dirty="0"/>
          </a:p>
        </p:txBody>
      </p:sp>
      <p:sp>
        <p:nvSpPr>
          <p:cNvPr id="10" name="Shape 8"/>
          <p:cNvSpPr/>
          <p:nvPr/>
        </p:nvSpPr>
        <p:spPr>
          <a:xfrm>
            <a:off x="594360" y="5852160"/>
            <a:ext cx="11000232" cy="438912"/>
          </a:xfrm>
          <a:prstGeom prst="rect">
            <a:avLst/>
          </a:prstGeom>
          <a:solidFill>
            <a:srgbClr val="E3EFF7"/>
          </a:solidFill>
          <a:ln w="12700">
            <a:solidFill>
              <a:srgbClr val="E3EFF7">
                <a:alpha val="0"/>
              </a:srgbClr>
            </a:solidFill>
            <a:prstDash val="solid"/>
          </a:ln>
        </p:spPr>
      </p:sp>
      <p:sp>
        <p:nvSpPr>
          <p:cNvPr id="11" name="Text 9"/>
          <p:cNvSpPr/>
          <p:nvPr/>
        </p:nvSpPr>
        <p:spPr>
          <a:xfrm>
            <a:off x="795528" y="5943600"/>
            <a:ext cx="10607040" cy="256032"/>
          </a:xfrm>
          <a:prstGeom prst="rect">
            <a:avLst/>
          </a:prstGeom>
          <a:noFill/>
          <a:ln/>
        </p:spPr>
        <p:txBody>
          <a:bodyPr wrap="square" lIns="0" tIns="0" rIns="0" bIns="0" rtlCol="0" anchor="ctr"/>
          <a:lstStyle/>
          <a:p>
            <a:pPr algn="l" indent="0" marL="0">
              <a:buNone/>
            </a:pPr>
            <a:r>
              <a:rPr lang="en-US" sz="1700" b="1" dirty="0">
                <a:solidFill>
                  <a:srgbClr val="176493"/>
                </a:solidFill>
                <a:latin typeface="Aptos" pitchFamily="34" charset="0"/>
                <a:ea typeface="Aptos" pitchFamily="34" charset="-122"/>
                <a:cs typeface="Aptos" pitchFamily="34" charset="-120"/>
              </a:rPr>
              <a:t>First define the candidates, the output and the baseline.</a:t>
            </a:r>
            <a:endParaRPr lang="en-US" sz="1700" dirty="0"/>
          </a:p>
        </p:txBody>
      </p:sp>
      <p:sp>
        <p:nvSpPr>
          <p:cNvPr id="12" name="Text 10"/>
          <p:cNvSpPr/>
          <p:nvPr/>
        </p:nvSpPr>
        <p:spPr>
          <a:xfrm>
            <a:off x="749808" y="1645920"/>
            <a:ext cx="10607040" cy="219456"/>
          </a:xfrm>
          <a:prstGeom prst="rect">
            <a:avLst/>
          </a:prstGeom>
          <a:noFill/>
          <a:ln/>
        </p:spPr>
        <p:txBody>
          <a:bodyPr wrap="square" lIns="0" tIns="0" rIns="0" bIns="0" rtlCol="0" anchor="ctr"/>
          <a:lstStyle/>
          <a:p>
            <a:pPr algn="l" indent="0" marL="0">
              <a:buNone/>
            </a:pPr>
            <a:r>
              <a:rPr lang="en-US" sz="1150" b="1" spc="50" kern="0" dirty="0">
                <a:solidFill>
                  <a:srgbClr val="176493"/>
                </a:solidFill>
                <a:latin typeface="Aptos" pitchFamily="34" charset="0"/>
                <a:ea typeface="Aptos" pitchFamily="34" charset="-122"/>
                <a:cs typeface="Aptos" pitchFamily="34" charset="-120"/>
              </a:rPr>
              <a:t>ILLUSTRATIVE CATALOG EXAMPLE | NOT A CLINICAL RECOMMENDATION</a:t>
            </a:r>
            <a:endParaRPr lang="en-US" sz="1150" dirty="0"/>
          </a:p>
        </p:txBody>
      </p:sp>
      <p:sp>
        <p:nvSpPr>
          <p:cNvPr id="13" name="Shape 11"/>
          <p:cNvSpPr/>
          <p:nvPr/>
        </p:nvSpPr>
        <p:spPr>
          <a:xfrm>
            <a:off x="749808" y="2039112"/>
            <a:ext cx="5870448" cy="457200"/>
          </a:xfrm>
          <a:prstGeom prst="rect">
            <a:avLst/>
          </a:prstGeom>
          <a:solidFill>
            <a:srgbClr val="263142"/>
          </a:solidFill>
          <a:ln w="12700">
            <a:solidFill>
              <a:srgbClr val="263142">
                <a:alpha val="0"/>
              </a:srgbClr>
            </a:solidFill>
            <a:prstDash val="solid"/>
          </a:ln>
        </p:spPr>
      </p:sp>
      <p:sp>
        <p:nvSpPr>
          <p:cNvPr id="14" name="Text 12"/>
          <p:cNvSpPr/>
          <p:nvPr/>
        </p:nvSpPr>
        <p:spPr>
          <a:xfrm>
            <a:off x="859536" y="2075688"/>
            <a:ext cx="1225296" cy="384048"/>
          </a:xfrm>
          <a:prstGeom prst="rect">
            <a:avLst/>
          </a:prstGeom>
          <a:noFill/>
          <a:ln/>
        </p:spPr>
        <p:txBody>
          <a:bodyPr wrap="square" lIns="0" tIns="0" rIns="0" bIns="0" rtlCol="0" anchor="ctr"/>
          <a:lstStyle/>
          <a:p>
            <a:pPr algn="l" indent="0" marL="0">
              <a:buNone/>
            </a:pPr>
            <a:r>
              <a:rPr lang="en-US" sz="1500" b="1" dirty="0">
                <a:solidFill>
                  <a:srgbClr val="FFFFFF"/>
                </a:solidFill>
                <a:latin typeface="Aptos" pitchFamily="34" charset="0"/>
                <a:ea typeface="Aptos" pitchFamily="34" charset="-122"/>
                <a:cs typeface="Aptos" pitchFamily="34" charset="-120"/>
              </a:rPr>
              <a:t>Candidate</a:t>
            </a:r>
            <a:endParaRPr lang="en-US" sz="1500" dirty="0"/>
          </a:p>
        </p:txBody>
      </p:sp>
      <p:sp>
        <p:nvSpPr>
          <p:cNvPr id="15" name="Text 13"/>
          <p:cNvSpPr/>
          <p:nvPr/>
        </p:nvSpPr>
        <p:spPr>
          <a:xfrm>
            <a:off x="2304288" y="2075688"/>
            <a:ext cx="1517904" cy="384048"/>
          </a:xfrm>
          <a:prstGeom prst="rect">
            <a:avLst/>
          </a:prstGeom>
          <a:noFill/>
          <a:ln/>
        </p:spPr>
        <p:txBody>
          <a:bodyPr wrap="square" lIns="0" tIns="0" rIns="0" bIns="0" rtlCol="0" anchor="ctr"/>
          <a:lstStyle/>
          <a:p>
            <a:pPr algn="l" indent="0" marL="0">
              <a:buNone/>
            </a:pPr>
            <a:r>
              <a:rPr lang="en-US" sz="1500" b="1" dirty="0">
                <a:solidFill>
                  <a:srgbClr val="FFFFFF"/>
                </a:solidFill>
                <a:latin typeface="Aptos" pitchFamily="34" charset="0"/>
                <a:ea typeface="Aptos" pitchFamily="34" charset="-122"/>
                <a:cs typeface="Aptos" pitchFamily="34" charset="-120"/>
              </a:rPr>
              <a:t>Past orders</a:t>
            </a:r>
            <a:endParaRPr lang="en-US" sz="1500" dirty="0"/>
          </a:p>
        </p:txBody>
      </p:sp>
      <p:sp>
        <p:nvSpPr>
          <p:cNvPr id="16" name="Text 14"/>
          <p:cNvSpPr/>
          <p:nvPr/>
        </p:nvSpPr>
        <p:spPr>
          <a:xfrm>
            <a:off x="4041648" y="2075688"/>
            <a:ext cx="2468880" cy="384048"/>
          </a:xfrm>
          <a:prstGeom prst="rect">
            <a:avLst/>
          </a:prstGeom>
          <a:noFill/>
          <a:ln/>
        </p:spPr>
        <p:txBody>
          <a:bodyPr wrap="square" lIns="0" tIns="0" rIns="0" bIns="0" rtlCol="0" anchor="ctr"/>
          <a:lstStyle/>
          <a:p>
            <a:pPr algn="l" indent="0" marL="0">
              <a:buNone/>
            </a:pPr>
            <a:r>
              <a:rPr lang="en-US" sz="1500" b="1" dirty="0">
                <a:solidFill>
                  <a:srgbClr val="FFFFFF"/>
                </a:solidFill>
                <a:latin typeface="Aptos" pitchFamily="34" charset="0"/>
                <a:ea typeface="Aptos" pitchFamily="34" charset="-122"/>
                <a:cs typeface="Aptos" pitchFamily="34" charset="-120"/>
              </a:rPr>
              <a:t>Eligible now?</a:t>
            </a:r>
            <a:endParaRPr lang="en-US" sz="1500" dirty="0"/>
          </a:p>
        </p:txBody>
      </p:sp>
      <p:sp>
        <p:nvSpPr>
          <p:cNvPr id="17" name="Shape 15"/>
          <p:cNvSpPr/>
          <p:nvPr/>
        </p:nvSpPr>
        <p:spPr>
          <a:xfrm>
            <a:off x="749808" y="2496312"/>
            <a:ext cx="5870448" cy="603504"/>
          </a:xfrm>
          <a:prstGeom prst="rect">
            <a:avLst/>
          </a:prstGeom>
          <a:solidFill>
            <a:srgbClr val="FFFFFF"/>
          </a:solidFill>
          <a:ln w="12700">
            <a:solidFill>
              <a:srgbClr val="FFFFFF">
                <a:alpha val="0"/>
              </a:srgbClr>
            </a:solidFill>
            <a:prstDash val="solid"/>
          </a:ln>
        </p:spPr>
      </p:sp>
      <p:sp>
        <p:nvSpPr>
          <p:cNvPr id="18" name="Text 16"/>
          <p:cNvSpPr/>
          <p:nvPr/>
        </p:nvSpPr>
        <p:spPr>
          <a:xfrm>
            <a:off x="859536" y="2551176"/>
            <a:ext cx="1225296" cy="493776"/>
          </a:xfrm>
          <a:prstGeom prst="rect">
            <a:avLst/>
          </a:prstGeom>
          <a:noFill/>
          <a:ln/>
        </p:spPr>
        <p:txBody>
          <a:bodyPr wrap="square" lIns="0" tIns="0" rIns="0" bIns="0" rtlCol="0" anchor="ctr"/>
          <a:lstStyle/>
          <a:p>
            <a:pPr algn="l" indent="0" marL="0">
              <a:buNone/>
            </a:pPr>
            <a:r>
              <a:rPr lang="en-US" sz="2100" dirty="0">
                <a:solidFill>
                  <a:srgbClr val="172233"/>
                </a:solidFill>
                <a:latin typeface="Aptos" pitchFamily="34" charset="0"/>
                <a:ea typeface="Aptos" pitchFamily="34" charset="-122"/>
                <a:cs typeface="Aptos" pitchFamily="34" charset="-120"/>
              </a:rPr>
              <a:t>P01</a:t>
            </a:r>
            <a:endParaRPr lang="en-US" sz="2100" dirty="0"/>
          </a:p>
        </p:txBody>
      </p:sp>
      <p:sp>
        <p:nvSpPr>
          <p:cNvPr id="19" name="Text 17"/>
          <p:cNvSpPr/>
          <p:nvPr/>
        </p:nvSpPr>
        <p:spPr>
          <a:xfrm>
            <a:off x="2304288" y="2551176"/>
            <a:ext cx="1517904" cy="493776"/>
          </a:xfrm>
          <a:prstGeom prst="rect">
            <a:avLst/>
          </a:prstGeom>
          <a:noFill/>
          <a:ln/>
        </p:spPr>
        <p:txBody>
          <a:bodyPr wrap="square" lIns="0" tIns="0" rIns="0" bIns="0" rtlCol="0" anchor="ctr"/>
          <a:lstStyle/>
          <a:p>
            <a:pPr algn="l" indent="0" marL="0">
              <a:buNone/>
            </a:pPr>
            <a:r>
              <a:rPr lang="en-US" sz="2100" dirty="0">
                <a:solidFill>
                  <a:srgbClr val="172233"/>
                </a:solidFill>
                <a:latin typeface="Aptos" pitchFamily="34" charset="0"/>
                <a:ea typeface="Aptos" pitchFamily="34" charset="-122"/>
                <a:cs typeface="Aptos" pitchFamily="34" charset="-120"/>
              </a:rPr>
              <a:t>14</a:t>
            </a:r>
            <a:endParaRPr lang="en-US" sz="2100" dirty="0"/>
          </a:p>
        </p:txBody>
      </p:sp>
      <p:sp>
        <p:nvSpPr>
          <p:cNvPr id="20" name="Text 18"/>
          <p:cNvSpPr/>
          <p:nvPr/>
        </p:nvSpPr>
        <p:spPr>
          <a:xfrm>
            <a:off x="4041648" y="2551176"/>
            <a:ext cx="2468880" cy="493776"/>
          </a:xfrm>
          <a:prstGeom prst="rect">
            <a:avLst/>
          </a:prstGeom>
          <a:noFill/>
          <a:ln/>
        </p:spPr>
        <p:txBody>
          <a:bodyPr wrap="square" lIns="0" tIns="0" rIns="0" bIns="0" rtlCol="0" anchor="ctr"/>
          <a:lstStyle/>
          <a:p>
            <a:pPr algn="l" indent="0" marL="0">
              <a:buNone/>
            </a:pPr>
            <a:r>
              <a:rPr lang="en-US" sz="2100" dirty="0">
                <a:solidFill>
                  <a:srgbClr val="172233"/>
                </a:solidFill>
                <a:latin typeface="Aptos" pitchFamily="34" charset="0"/>
                <a:ea typeface="Aptos" pitchFamily="34" charset="-122"/>
                <a:cs typeface="Aptos" pitchFamily="34" charset="-120"/>
              </a:rPr>
              <a:t>yes</a:t>
            </a:r>
            <a:endParaRPr lang="en-US" sz="2100" dirty="0"/>
          </a:p>
        </p:txBody>
      </p:sp>
      <p:sp>
        <p:nvSpPr>
          <p:cNvPr id="21" name="Shape 19"/>
          <p:cNvSpPr/>
          <p:nvPr/>
        </p:nvSpPr>
        <p:spPr>
          <a:xfrm>
            <a:off x="749808" y="3099816"/>
            <a:ext cx="5870448" cy="603504"/>
          </a:xfrm>
          <a:prstGeom prst="rect">
            <a:avLst/>
          </a:prstGeom>
          <a:solidFill>
            <a:srgbClr val="E3EFF7"/>
          </a:solidFill>
          <a:ln w="12700">
            <a:solidFill>
              <a:srgbClr val="E3EFF7">
                <a:alpha val="0"/>
              </a:srgbClr>
            </a:solidFill>
            <a:prstDash val="solid"/>
          </a:ln>
        </p:spPr>
      </p:sp>
      <p:sp>
        <p:nvSpPr>
          <p:cNvPr id="22" name="Text 20"/>
          <p:cNvSpPr/>
          <p:nvPr/>
        </p:nvSpPr>
        <p:spPr>
          <a:xfrm>
            <a:off x="859536" y="3154680"/>
            <a:ext cx="1225296" cy="493776"/>
          </a:xfrm>
          <a:prstGeom prst="rect">
            <a:avLst/>
          </a:prstGeom>
          <a:noFill/>
          <a:ln/>
        </p:spPr>
        <p:txBody>
          <a:bodyPr wrap="square" lIns="0" tIns="0" rIns="0" bIns="0" rtlCol="0" anchor="ctr"/>
          <a:lstStyle/>
          <a:p>
            <a:pPr algn="l" indent="0" marL="0">
              <a:buNone/>
            </a:pPr>
            <a:r>
              <a:rPr lang="en-US" sz="2100" dirty="0">
                <a:solidFill>
                  <a:srgbClr val="172233"/>
                </a:solidFill>
                <a:latin typeface="Aptos" pitchFamily="34" charset="0"/>
                <a:ea typeface="Aptos" pitchFamily="34" charset="-122"/>
                <a:cs typeface="Aptos" pitchFamily="34" charset="-120"/>
              </a:rPr>
              <a:t>P02</a:t>
            </a:r>
            <a:endParaRPr lang="en-US" sz="2100" dirty="0"/>
          </a:p>
        </p:txBody>
      </p:sp>
      <p:sp>
        <p:nvSpPr>
          <p:cNvPr id="23" name="Text 21"/>
          <p:cNvSpPr/>
          <p:nvPr/>
        </p:nvSpPr>
        <p:spPr>
          <a:xfrm>
            <a:off x="2304288" y="3154680"/>
            <a:ext cx="1517904" cy="493776"/>
          </a:xfrm>
          <a:prstGeom prst="rect">
            <a:avLst/>
          </a:prstGeom>
          <a:noFill/>
          <a:ln/>
        </p:spPr>
        <p:txBody>
          <a:bodyPr wrap="square" lIns="0" tIns="0" rIns="0" bIns="0" rtlCol="0" anchor="ctr"/>
          <a:lstStyle/>
          <a:p>
            <a:pPr algn="l" indent="0" marL="0">
              <a:buNone/>
            </a:pPr>
            <a:r>
              <a:rPr lang="en-US" sz="2100" dirty="0">
                <a:solidFill>
                  <a:srgbClr val="172233"/>
                </a:solidFill>
                <a:latin typeface="Aptos" pitchFamily="34" charset="0"/>
                <a:ea typeface="Aptos" pitchFamily="34" charset="-122"/>
                <a:cs typeface="Aptos" pitchFamily="34" charset="-120"/>
              </a:rPr>
              <a:t>9</a:t>
            </a:r>
            <a:endParaRPr lang="en-US" sz="2100" dirty="0"/>
          </a:p>
        </p:txBody>
      </p:sp>
      <p:sp>
        <p:nvSpPr>
          <p:cNvPr id="24" name="Text 22"/>
          <p:cNvSpPr/>
          <p:nvPr/>
        </p:nvSpPr>
        <p:spPr>
          <a:xfrm>
            <a:off x="4041648" y="3154680"/>
            <a:ext cx="2468880" cy="493776"/>
          </a:xfrm>
          <a:prstGeom prst="rect">
            <a:avLst/>
          </a:prstGeom>
          <a:noFill/>
          <a:ln/>
        </p:spPr>
        <p:txBody>
          <a:bodyPr wrap="square" lIns="0" tIns="0" rIns="0" bIns="0" rtlCol="0" anchor="ctr"/>
          <a:lstStyle/>
          <a:p>
            <a:pPr algn="l" indent="0" marL="0">
              <a:buNone/>
            </a:pPr>
            <a:r>
              <a:rPr lang="en-US" sz="2100" dirty="0">
                <a:solidFill>
                  <a:srgbClr val="172233"/>
                </a:solidFill>
                <a:latin typeface="Aptos" pitchFamily="34" charset="0"/>
                <a:ea typeface="Aptos" pitchFamily="34" charset="-122"/>
                <a:cs typeface="Aptos" pitchFamily="34" charset="-120"/>
              </a:rPr>
              <a:t>no: unavailable</a:t>
            </a:r>
            <a:endParaRPr lang="en-US" sz="2100" dirty="0"/>
          </a:p>
        </p:txBody>
      </p:sp>
      <p:sp>
        <p:nvSpPr>
          <p:cNvPr id="25" name="Shape 23"/>
          <p:cNvSpPr/>
          <p:nvPr/>
        </p:nvSpPr>
        <p:spPr>
          <a:xfrm>
            <a:off x="749808" y="3703320"/>
            <a:ext cx="5870448" cy="603504"/>
          </a:xfrm>
          <a:prstGeom prst="rect">
            <a:avLst/>
          </a:prstGeom>
          <a:solidFill>
            <a:srgbClr val="FFFFFF"/>
          </a:solidFill>
          <a:ln w="12700">
            <a:solidFill>
              <a:srgbClr val="FFFFFF">
                <a:alpha val="0"/>
              </a:srgbClr>
            </a:solidFill>
            <a:prstDash val="solid"/>
          </a:ln>
        </p:spPr>
      </p:sp>
      <p:sp>
        <p:nvSpPr>
          <p:cNvPr id="26" name="Text 24"/>
          <p:cNvSpPr/>
          <p:nvPr/>
        </p:nvSpPr>
        <p:spPr>
          <a:xfrm>
            <a:off x="859536" y="3758184"/>
            <a:ext cx="1225296" cy="493776"/>
          </a:xfrm>
          <a:prstGeom prst="rect">
            <a:avLst/>
          </a:prstGeom>
          <a:noFill/>
          <a:ln/>
        </p:spPr>
        <p:txBody>
          <a:bodyPr wrap="square" lIns="0" tIns="0" rIns="0" bIns="0" rtlCol="0" anchor="ctr"/>
          <a:lstStyle/>
          <a:p>
            <a:pPr algn="l" indent="0" marL="0">
              <a:buNone/>
            </a:pPr>
            <a:r>
              <a:rPr lang="en-US" sz="2100" dirty="0">
                <a:solidFill>
                  <a:srgbClr val="172233"/>
                </a:solidFill>
                <a:latin typeface="Aptos" pitchFamily="34" charset="0"/>
                <a:ea typeface="Aptos" pitchFamily="34" charset="-122"/>
                <a:cs typeface="Aptos" pitchFamily="34" charset="-120"/>
              </a:rPr>
              <a:t>P03</a:t>
            </a:r>
            <a:endParaRPr lang="en-US" sz="2100" dirty="0"/>
          </a:p>
        </p:txBody>
      </p:sp>
      <p:sp>
        <p:nvSpPr>
          <p:cNvPr id="27" name="Text 25"/>
          <p:cNvSpPr/>
          <p:nvPr/>
        </p:nvSpPr>
        <p:spPr>
          <a:xfrm>
            <a:off x="2304288" y="3758184"/>
            <a:ext cx="1517904" cy="493776"/>
          </a:xfrm>
          <a:prstGeom prst="rect">
            <a:avLst/>
          </a:prstGeom>
          <a:noFill/>
          <a:ln/>
        </p:spPr>
        <p:txBody>
          <a:bodyPr wrap="square" lIns="0" tIns="0" rIns="0" bIns="0" rtlCol="0" anchor="ctr"/>
          <a:lstStyle/>
          <a:p>
            <a:pPr algn="l" indent="0" marL="0">
              <a:buNone/>
            </a:pPr>
            <a:r>
              <a:rPr lang="en-US" sz="2100" dirty="0">
                <a:solidFill>
                  <a:srgbClr val="172233"/>
                </a:solidFill>
                <a:latin typeface="Aptos" pitchFamily="34" charset="0"/>
                <a:ea typeface="Aptos" pitchFamily="34" charset="-122"/>
                <a:cs typeface="Aptos" pitchFamily="34" charset="-120"/>
              </a:rPr>
              <a:t>4</a:t>
            </a:r>
            <a:endParaRPr lang="en-US" sz="2100" dirty="0"/>
          </a:p>
        </p:txBody>
      </p:sp>
      <p:sp>
        <p:nvSpPr>
          <p:cNvPr id="28" name="Text 26"/>
          <p:cNvSpPr/>
          <p:nvPr/>
        </p:nvSpPr>
        <p:spPr>
          <a:xfrm>
            <a:off x="4041648" y="3758184"/>
            <a:ext cx="2468880" cy="493776"/>
          </a:xfrm>
          <a:prstGeom prst="rect">
            <a:avLst/>
          </a:prstGeom>
          <a:noFill/>
          <a:ln/>
        </p:spPr>
        <p:txBody>
          <a:bodyPr wrap="square" lIns="0" tIns="0" rIns="0" bIns="0" rtlCol="0" anchor="ctr"/>
          <a:lstStyle/>
          <a:p>
            <a:pPr algn="l" indent="0" marL="0">
              <a:buNone/>
            </a:pPr>
            <a:r>
              <a:rPr lang="en-US" sz="2100" dirty="0">
                <a:solidFill>
                  <a:srgbClr val="172233"/>
                </a:solidFill>
                <a:latin typeface="Aptos" pitchFamily="34" charset="0"/>
                <a:ea typeface="Aptos" pitchFamily="34" charset="-122"/>
                <a:cs typeface="Aptos" pitchFamily="34" charset="-120"/>
              </a:rPr>
              <a:t>yes</a:t>
            </a:r>
            <a:endParaRPr lang="en-US" sz="2100" dirty="0"/>
          </a:p>
        </p:txBody>
      </p:sp>
      <p:sp>
        <p:nvSpPr>
          <p:cNvPr id="29" name="Shape 27"/>
          <p:cNvSpPr/>
          <p:nvPr/>
        </p:nvSpPr>
        <p:spPr>
          <a:xfrm>
            <a:off x="749808" y="4306824"/>
            <a:ext cx="5870448" cy="603504"/>
          </a:xfrm>
          <a:prstGeom prst="rect">
            <a:avLst/>
          </a:prstGeom>
          <a:solidFill>
            <a:srgbClr val="E3EFF7"/>
          </a:solidFill>
          <a:ln w="12700">
            <a:solidFill>
              <a:srgbClr val="E3EFF7">
                <a:alpha val="0"/>
              </a:srgbClr>
            </a:solidFill>
            <a:prstDash val="solid"/>
          </a:ln>
        </p:spPr>
      </p:sp>
      <p:sp>
        <p:nvSpPr>
          <p:cNvPr id="30" name="Text 28"/>
          <p:cNvSpPr/>
          <p:nvPr/>
        </p:nvSpPr>
        <p:spPr>
          <a:xfrm>
            <a:off x="859536" y="4361688"/>
            <a:ext cx="1225296" cy="493776"/>
          </a:xfrm>
          <a:prstGeom prst="rect">
            <a:avLst/>
          </a:prstGeom>
          <a:noFill/>
          <a:ln/>
        </p:spPr>
        <p:txBody>
          <a:bodyPr wrap="square" lIns="0" tIns="0" rIns="0" bIns="0" rtlCol="0" anchor="ctr"/>
          <a:lstStyle/>
          <a:p>
            <a:pPr algn="l" indent="0" marL="0">
              <a:buNone/>
            </a:pPr>
            <a:r>
              <a:rPr lang="en-US" sz="2100" dirty="0">
                <a:solidFill>
                  <a:srgbClr val="172233"/>
                </a:solidFill>
                <a:latin typeface="Aptos" pitchFamily="34" charset="0"/>
                <a:ea typeface="Aptos" pitchFamily="34" charset="-122"/>
                <a:cs typeface="Aptos" pitchFamily="34" charset="-120"/>
              </a:rPr>
              <a:t>P04</a:t>
            </a:r>
            <a:endParaRPr lang="en-US" sz="2100" dirty="0"/>
          </a:p>
        </p:txBody>
      </p:sp>
      <p:sp>
        <p:nvSpPr>
          <p:cNvPr id="31" name="Text 29"/>
          <p:cNvSpPr/>
          <p:nvPr/>
        </p:nvSpPr>
        <p:spPr>
          <a:xfrm>
            <a:off x="2304288" y="4361688"/>
            <a:ext cx="1517904" cy="493776"/>
          </a:xfrm>
          <a:prstGeom prst="rect">
            <a:avLst/>
          </a:prstGeom>
          <a:noFill/>
          <a:ln/>
        </p:spPr>
        <p:txBody>
          <a:bodyPr wrap="square" lIns="0" tIns="0" rIns="0" bIns="0" rtlCol="0" anchor="ctr"/>
          <a:lstStyle/>
          <a:p>
            <a:pPr algn="l" indent="0" marL="0">
              <a:buNone/>
            </a:pPr>
            <a:r>
              <a:rPr lang="en-US" sz="2100" dirty="0">
                <a:solidFill>
                  <a:srgbClr val="172233"/>
                </a:solidFill>
                <a:latin typeface="Aptos" pitchFamily="34" charset="0"/>
                <a:ea typeface="Aptos" pitchFamily="34" charset="-122"/>
                <a:cs typeface="Aptos" pitchFamily="34" charset="-120"/>
              </a:rPr>
              <a:t>2</a:t>
            </a:r>
            <a:endParaRPr lang="en-US" sz="2100" dirty="0"/>
          </a:p>
        </p:txBody>
      </p:sp>
      <p:sp>
        <p:nvSpPr>
          <p:cNvPr id="32" name="Text 30"/>
          <p:cNvSpPr/>
          <p:nvPr/>
        </p:nvSpPr>
        <p:spPr>
          <a:xfrm>
            <a:off x="4041648" y="4361688"/>
            <a:ext cx="2468880" cy="493776"/>
          </a:xfrm>
          <a:prstGeom prst="rect">
            <a:avLst/>
          </a:prstGeom>
          <a:noFill/>
          <a:ln/>
        </p:spPr>
        <p:txBody>
          <a:bodyPr wrap="square" lIns="0" tIns="0" rIns="0" bIns="0" rtlCol="0" anchor="ctr"/>
          <a:lstStyle/>
          <a:p>
            <a:pPr algn="l" indent="0" marL="0">
              <a:buNone/>
            </a:pPr>
            <a:r>
              <a:rPr lang="en-US" sz="2100" dirty="0">
                <a:solidFill>
                  <a:srgbClr val="172233"/>
                </a:solidFill>
                <a:latin typeface="Aptos" pitchFamily="34" charset="0"/>
                <a:ea typeface="Aptos" pitchFamily="34" charset="-122"/>
                <a:cs typeface="Aptos" pitchFamily="34" charset="-120"/>
              </a:rPr>
              <a:t>yes</a:t>
            </a:r>
            <a:endParaRPr lang="en-US" sz="2100" dirty="0"/>
          </a:p>
        </p:txBody>
      </p:sp>
      <p:sp>
        <p:nvSpPr>
          <p:cNvPr id="33" name="Shape 31"/>
          <p:cNvSpPr/>
          <p:nvPr/>
        </p:nvSpPr>
        <p:spPr>
          <a:xfrm>
            <a:off x="7077456" y="2340864"/>
            <a:ext cx="4261104" cy="2386584"/>
          </a:xfrm>
          <a:prstGeom prst="rect">
            <a:avLst/>
          </a:prstGeom>
          <a:solidFill>
            <a:srgbClr val="FFFFFF"/>
          </a:solidFill>
          <a:ln w="12700">
            <a:solidFill>
              <a:srgbClr val="FFFFFF">
                <a:alpha val="0"/>
              </a:srgbClr>
            </a:solidFill>
            <a:prstDash val="solid"/>
          </a:ln>
        </p:spPr>
      </p:sp>
      <p:sp>
        <p:nvSpPr>
          <p:cNvPr id="34" name="Text 32"/>
          <p:cNvSpPr/>
          <p:nvPr/>
        </p:nvSpPr>
        <p:spPr>
          <a:xfrm>
            <a:off x="7287768" y="2569464"/>
            <a:ext cx="3657600" cy="219456"/>
          </a:xfrm>
          <a:prstGeom prst="rect">
            <a:avLst/>
          </a:prstGeom>
          <a:noFill/>
          <a:ln/>
        </p:spPr>
        <p:txBody>
          <a:bodyPr wrap="square" lIns="0" tIns="0" rIns="0" bIns="0" rtlCol="0" anchor="ctr"/>
          <a:lstStyle/>
          <a:p>
            <a:pPr algn="l" indent="0" marL="0">
              <a:buNone/>
            </a:pPr>
            <a:r>
              <a:rPr lang="en-US" sz="1150" b="1" spc="50" kern="0" dirty="0">
                <a:solidFill>
                  <a:srgbClr val="176493"/>
                </a:solidFill>
                <a:latin typeface="Aptos" pitchFamily="34" charset="0"/>
                <a:ea typeface="Aptos" pitchFamily="34" charset="-122"/>
                <a:cs typeface="Aptos" pitchFamily="34" charset="-120"/>
              </a:rPr>
              <a:t>POPULARITY BASELINE</a:t>
            </a:r>
            <a:endParaRPr lang="en-US" sz="1150" dirty="0"/>
          </a:p>
        </p:txBody>
      </p:sp>
      <p:sp>
        <p:nvSpPr>
          <p:cNvPr id="35" name="Text 33"/>
          <p:cNvSpPr/>
          <p:nvPr/>
        </p:nvSpPr>
        <p:spPr>
          <a:xfrm>
            <a:off x="7287768" y="3209544"/>
            <a:ext cx="3675888" cy="530352"/>
          </a:xfrm>
          <a:prstGeom prst="rect">
            <a:avLst/>
          </a:prstGeom>
          <a:noFill/>
          <a:ln/>
        </p:spPr>
        <p:txBody>
          <a:bodyPr wrap="square" lIns="0" tIns="0" rIns="0" bIns="0" rtlCol="0" anchor="ctr"/>
          <a:lstStyle/>
          <a:p>
            <a:pPr algn="l" indent="0" marL="0">
              <a:buNone/>
            </a:pPr>
            <a:r>
              <a:rPr lang="en-US" sz="2500" b="1" dirty="0">
                <a:solidFill>
                  <a:srgbClr val="176493"/>
                </a:solidFill>
                <a:latin typeface="Aptos" pitchFamily="34" charset="0"/>
                <a:ea typeface="Aptos" pitchFamily="34" charset="-122"/>
                <a:cs typeface="Aptos" pitchFamily="34" charset="-120"/>
              </a:rPr>
              <a:t>P01  →  P03  →  P04</a:t>
            </a:r>
            <a:endParaRPr lang="en-US" sz="2500" dirty="0"/>
          </a:p>
        </p:txBody>
      </p:sp>
      <p:sp>
        <p:nvSpPr>
          <p:cNvPr id="36" name="Text 34"/>
          <p:cNvSpPr/>
          <p:nvPr/>
        </p:nvSpPr>
        <p:spPr>
          <a:xfrm>
            <a:off x="7287768" y="3950208"/>
            <a:ext cx="3675888" cy="585216"/>
          </a:xfrm>
          <a:prstGeom prst="rect">
            <a:avLst/>
          </a:prstGeom>
          <a:noFill/>
          <a:ln/>
        </p:spPr>
        <p:txBody>
          <a:bodyPr wrap="square" lIns="0" tIns="0" rIns="0" bIns="0" rtlCol="0" anchor="ctr"/>
          <a:lstStyle/>
          <a:p>
            <a:pPr algn="l" indent="0" marL="0">
              <a:buNone/>
            </a:pPr>
            <a:r>
              <a:rPr lang="en-US" sz="2000" dirty="0">
                <a:solidFill>
                  <a:srgbClr val="53657A"/>
                </a:solidFill>
                <a:latin typeface="Aptos" pitchFamily="34" charset="0"/>
                <a:ea typeface="Aptos" pitchFamily="34" charset="-122"/>
                <a:cs typeface="Aptos" pitchFamily="34" charset="-120"/>
              </a:rPr>
              <a:t>Order eligible candidates</a:t>
            </a:r>
            <a:endParaRPr lang="en-US" sz="2000" dirty="0"/>
          </a:p>
          <a:p>
            <a:pPr algn="l" indent="0" marL="0">
              <a:buNone/>
            </a:pPr>
            <a:r>
              <a:rPr lang="en-US" sz="2000" dirty="0">
                <a:solidFill>
                  <a:srgbClr val="53657A"/>
                </a:solidFill>
                <a:latin typeface="Aptos" pitchFamily="34" charset="0"/>
                <a:ea typeface="Aptos" pitchFamily="34" charset="-122"/>
                <a:cs typeface="Aptos" pitchFamily="34" charset="-120"/>
              </a:rPr>
              <a:t>by observed demand.</a:t>
            </a:r>
            <a:endParaRPr lang="en-US" sz="2000" dirty="0"/>
          </a:p>
        </p:txBody>
      </p:sp>
      <p:sp>
        <p:nvSpPr>
          <p:cNvPr id="37" name="Text 35"/>
          <p:cNvSpPr/>
          <p:nvPr/>
        </p:nvSpPr>
        <p:spPr>
          <a:xfrm>
            <a:off x="786384" y="5239512"/>
            <a:ext cx="10607040" cy="393192"/>
          </a:xfrm>
          <a:prstGeom prst="rect">
            <a:avLst/>
          </a:prstGeom>
          <a:noFill/>
          <a:ln/>
        </p:spPr>
        <p:txBody>
          <a:bodyPr wrap="square" lIns="0" tIns="0" rIns="0" bIns="0" rtlCol="0" anchor="ctr"/>
          <a:lstStyle/>
          <a:p>
            <a:pPr algn="l" indent="0" marL="0">
              <a:buNone/>
            </a:pPr>
            <a:r>
              <a:rPr lang="en-US" sz="2100" b="1" dirty="0">
                <a:solidFill>
                  <a:srgbClr val="172233"/>
                </a:solidFill>
                <a:latin typeface="Aptos" pitchFamily="34" charset="0"/>
                <a:ea typeface="Aptos" pitchFamily="34" charset="-122"/>
                <a:cs typeface="Aptos" pitchFamily="34" charset="-120"/>
              </a:rPr>
              <a:t>Probability? Quantity? Ranked list? These are different targets.</a:t>
            </a:r>
            <a:endParaRPr lang="en-US" sz="2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0" y="0"/>
            <a:ext cx="12192000" cy="402336"/>
          </a:xfrm>
          <a:prstGeom prst="rect">
            <a:avLst/>
          </a:prstGeom>
          <a:solidFill>
            <a:srgbClr val="E7EEF7"/>
          </a:solidFill>
          <a:ln w="12700">
            <a:solidFill>
              <a:srgbClr val="E7EEF7">
                <a:alpha val="0"/>
              </a:srgbClr>
            </a:solidFill>
            <a:prstDash val="solid"/>
          </a:ln>
        </p:spPr>
      </p:sp>
      <p:sp>
        <p:nvSpPr>
          <p:cNvPr id="3" name="Shape 1"/>
          <p:cNvSpPr/>
          <p:nvPr/>
        </p:nvSpPr>
        <p:spPr>
          <a:xfrm>
            <a:off x="466344" y="123444"/>
            <a:ext cx="64008" cy="146304"/>
          </a:xfrm>
          <a:prstGeom prst="rect">
            <a:avLst/>
          </a:prstGeom>
          <a:solidFill>
            <a:srgbClr val="176493"/>
          </a:solidFill>
          <a:ln w="12700">
            <a:solidFill>
              <a:srgbClr val="176493">
                <a:alpha val="0"/>
              </a:srgbClr>
            </a:solidFill>
            <a:prstDash val="solid"/>
          </a:ln>
        </p:spPr>
      </p:sp>
      <p:sp>
        <p:nvSpPr>
          <p:cNvPr id="4" name="Text 2"/>
          <p:cNvSpPr/>
          <p:nvPr/>
        </p:nvSpPr>
        <p:spPr>
          <a:xfrm>
            <a:off x="594360" y="100584"/>
            <a:ext cx="731520" cy="201168"/>
          </a:xfrm>
          <a:prstGeom prst="rect">
            <a:avLst/>
          </a:prstGeom>
          <a:noFill/>
          <a:ln/>
        </p:spPr>
        <p:txBody>
          <a:bodyPr wrap="square" lIns="0" tIns="0" rIns="0" bIns="0" rtlCol="0" anchor="ctr"/>
          <a:lstStyle/>
          <a:p>
            <a:pPr algn="l" indent="0" marL="0">
              <a:buNone/>
            </a:pPr>
            <a:r>
              <a:rPr lang="en-US" sz="1100" b="1" dirty="0">
                <a:solidFill>
                  <a:srgbClr val="176493"/>
                </a:solidFill>
                <a:latin typeface="Aptos" pitchFamily="34" charset="0"/>
                <a:ea typeface="Aptos" pitchFamily="34" charset="-122"/>
                <a:cs typeface="Aptos" pitchFamily="34" charset="-120"/>
              </a:rPr>
              <a:t>DS101</a:t>
            </a:r>
            <a:endParaRPr lang="en-US" sz="1100" dirty="0"/>
          </a:p>
        </p:txBody>
      </p:sp>
      <p:sp>
        <p:nvSpPr>
          <p:cNvPr id="5" name="Text 3"/>
          <p:cNvSpPr/>
          <p:nvPr/>
        </p:nvSpPr>
        <p:spPr>
          <a:xfrm>
            <a:off x="1463040" y="100584"/>
            <a:ext cx="1828800" cy="201168"/>
          </a:xfrm>
          <a:prstGeom prst="rect">
            <a:avLst/>
          </a:prstGeom>
          <a:noFill/>
          <a:ln/>
        </p:spPr>
        <p:txBody>
          <a:bodyPr wrap="square" lIns="0" tIns="0" rIns="0" bIns="0" rtlCol="0" anchor="ctr"/>
          <a:lstStyle/>
          <a:p>
            <a:pPr algn="l" indent="0" marL="0">
              <a:buNone/>
            </a:pPr>
            <a:r>
              <a:rPr lang="en-US" sz="1000" dirty="0">
                <a:solidFill>
                  <a:srgbClr val="53657A"/>
                </a:solidFill>
                <a:latin typeface="Aptos" pitchFamily="34" charset="0"/>
                <a:ea typeface="Aptos" pitchFamily="34" charset="-122"/>
                <a:cs typeface="Aptos" pitchFamily="34" charset="-120"/>
              </a:rPr>
              <a:t>LECTURE 02</a:t>
            </a:r>
            <a:endParaRPr lang="en-US" sz="1000" dirty="0"/>
          </a:p>
        </p:txBody>
      </p:sp>
      <p:sp>
        <p:nvSpPr>
          <p:cNvPr id="6" name="Text 4"/>
          <p:cNvSpPr/>
          <p:nvPr/>
        </p:nvSpPr>
        <p:spPr>
          <a:xfrm>
            <a:off x="8321040" y="100584"/>
            <a:ext cx="3264408" cy="201168"/>
          </a:xfrm>
          <a:prstGeom prst="rect">
            <a:avLst/>
          </a:prstGeom>
          <a:noFill/>
          <a:ln/>
        </p:spPr>
        <p:txBody>
          <a:bodyPr wrap="square" lIns="0" tIns="0" rIns="0" bIns="0" rtlCol="0" anchor="ctr"/>
          <a:lstStyle/>
          <a:p>
            <a:pPr algn="r" indent="0" marL="0">
              <a:buNone/>
            </a:pPr>
            <a:r>
              <a:rPr lang="en-US" sz="1000" dirty="0">
                <a:solidFill>
                  <a:srgbClr val="53657A"/>
                </a:solidFill>
                <a:latin typeface="Aptos" pitchFamily="34" charset="0"/>
                <a:ea typeface="Aptos" pitchFamily="34" charset="-122"/>
                <a:cs typeface="Aptos" pitchFamily="34" charset="-120"/>
              </a:rPr>
              <a:t>TEXT REPRESENTATION</a:t>
            </a:r>
            <a:endParaRPr lang="en-US" sz="1000" dirty="0"/>
          </a:p>
        </p:txBody>
      </p:sp>
      <p:sp>
        <p:nvSpPr>
          <p:cNvPr id="7" name="Text 5"/>
          <p:cNvSpPr/>
          <p:nvPr/>
        </p:nvSpPr>
        <p:spPr>
          <a:xfrm>
            <a:off x="594360" y="758952"/>
            <a:ext cx="11000232" cy="658368"/>
          </a:xfrm>
          <a:prstGeom prst="rect">
            <a:avLst/>
          </a:prstGeom>
          <a:noFill/>
          <a:ln/>
        </p:spPr>
        <p:txBody>
          <a:bodyPr wrap="square" lIns="0" tIns="0" rIns="0" bIns="0" rtlCol="0" anchor="ctr"/>
          <a:lstStyle/>
          <a:p>
            <a:pPr algn="l" indent="0" marL="0">
              <a:buNone/>
            </a:pPr>
            <a:r>
              <a:rPr lang="en-US" sz="3000" b="1" dirty="0">
                <a:solidFill>
                  <a:srgbClr val="172233"/>
                </a:solidFill>
                <a:latin typeface="Aptos" pitchFamily="34" charset="0"/>
                <a:ea typeface="Aptos" pitchFamily="34" charset="-122"/>
                <a:cs typeface="Aptos" pitchFamily="34" charset="-120"/>
              </a:rPr>
              <a:t>Text becomes a table of features</a:t>
            </a:r>
            <a:endParaRPr lang="en-US" sz="3000" dirty="0"/>
          </a:p>
        </p:txBody>
      </p:sp>
      <p:sp>
        <p:nvSpPr>
          <p:cNvPr id="8" name="Text 6"/>
          <p:cNvSpPr/>
          <p:nvPr/>
        </p:nvSpPr>
        <p:spPr>
          <a:xfrm>
            <a:off x="594360" y="6510528"/>
            <a:ext cx="3657600" cy="164592"/>
          </a:xfrm>
          <a:prstGeom prst="rect">
            <a:avLst/>
          </a:prstGeom>
          <a:noFill/>
          <a:ln/>
        </p:spPr>
        <p:txBody>
          <a:bodyPr wrap="square" lIns="0" tIns="0" rIns="0" bIns="0" rtlCol="0" anchor="ctr"/>
          <a:lstStyle/>
          <a:p>
            <a:pPr algn="l" indent="0" marL="0">
              <a:buNone/>
            </a:pPr>
            <a:r>
              <a:rPr lang="en-US" sz="900" dirty="0">
                <a:solidFill>
                  <a:srgbClr val="53657A"/>
                </a:solidFill>
                <a:latin typeface="Aptos" pitchFamily="34" charset="0"/>
                <a:ea typeface="Aptos" pitchFamily="34" charset="-122"/>
                <a:cs typeface="Aptos" pitchFamily="34" charset="-120"/>
              </a:rPr>
              <a:t>DS101 | 2026-2027</a:t>
            </a:r>
            <a:endParaRPr lang="en-US" sz="900" dirty="0"/>
          </a:p>
        </p:txBody>
      </p:sp>
      <p:sp>
        <p:nvSpPr>
          <p:cNvPr id="9" name="Text 7"/>
          <p:cNvSpPr/>
          <p:nvPr/>
        </p:nvSpPr>
        <p:spPr>
          <a:xfrm>
            <a:off x="10680192" y="6492240"/>
            <a:ext cx="914400" cy="201168"/>
          </a:xfrm>
          <a:prstGeom prst="rect">
            <a:avLst/>
          </a:prstGeom>
          <a:noFill/>
          <a:ln/>
        </p:spPr>
        <p:txBody>
          <a:bodyPr wrap="square" lIns="0" tIns="0" rIns="0" bIns="0" rtlCol="0" anchor="ctr"/>
          <a:lstStyle/>
          <a:p>
            <a:pPr algn="r" indent="0" marL="0">
              <a:buNone/>
            </a:pPr>
            <a:r>
              <a:rPr lang="en-US" sz="1000" dirty="0">
                <a:solidFill>
                  <a:srgbClr val="53657A"/>
                </a:solidFill>
                <a:latin typeface="Aptos" pitchFamily="34" charset="0"/>
                <a:ea typeface="Aptos" pitchFamily="34" charset="-122"/>
                <a:cs typeface="Aptos" pitchFamily="34" charset="-120"/>
              </a:rPr>
              <a:t>18 / 24</a:t>
            </a:r>
            <a:endParaRPr lang="en-US" sz="1000" dirty="0"/>
          </a:p>
        </p:txBody>
      </p:sp>
      <p:sp>
        <p:nvSpPr>
          <p:cNvPr id="10" name="Shape 8"/>
          <p:cNvSpPr/>
          <p:nvPr/>
        </p:nvSpPr>
        <p:spPr>
          <a:xfrm>
            <a:off x="594360" y="5852160"/>
            <a:ext cx="11000232" cy="438912"/>
          </a:xfrm>
          <a:prstGeom prst="rect">
            <a:avLst/>
          </a:prstGeom>
          <a:solidFill>
            <a:srgbClr val="E3EFF7"/>
          </a:solidFill>
          <a:ln w="12700">
            <a:solidFill>
              <a:srgbClr val="E3EFF7">
                <a:alpha val="0"/>
              </a:srgbClr>
            </a:solidFill>
            <a:prstDash val="solid"/>
          </a:ln>
        </p:spPr>
      </p:sp>
      <p:sp>
        <p:nvSpPr>
          <p:cNvPr id="11" name="Text 9"/>
          <p:cNvSpPr/>
          <p:nvPr/>
        </p:nvSpPr>
        <p:spPr>
          <a:xfrm>
            <a:off x="795528" y="5943600"/>
            <a:ext cx="10607040" cy="256032"/>
          </a:xfrm>
          <a:prstGeom prst="rect">
            <a:avLst/>
          </a:prstGeom>
          <a:noFill/>
          <a:ln/>
        </p:spPr>
        <p:txBody>
          <a:bodyPr wrap="square" lIns="0" tIns="0" rIns="0" bIns="0" rtlCol="0" anchor="ctr"/>
          <a:lstStyle/>
          <a:p>
            <a:pPr algn="l" indent="0" marL="0">
              <a:buNone/>
            </a:pPr>
            <a:r>
              <a:rPr lang="en-US" sz="1700" b="1" dirty="0">
                <a:solidFill>
                  <a:srgbClr val="176493"/>
                </a:solidFill>
                <a:latin typeface="Aptos" pitchFamily="34" charset="0"/>
                <a:ea typeface="Aptos" pitchFamily="34" charset="-122"/>
                <a:cs typeface="Aptos" pitchFamily="34" charset="-120"/>
              </a:rPr>
              <a:t>The representation defines what information the model can use.</a:t>
            </a:r>
            <a:endParaRPr lang="en-US" sz="1700" dirty="0"/>
          </a:p>
        </p:txBody>
      </p:sp>
      <p:sp>
        <p:nvSpPr>
          <p:cNvPr id="12" name="Text 10"/>
          <p:cNvSpPr/>
          <p:nvPr/>
        </p:nvSpPr>
        <p:spPr>
          <a:xfrm>
            <a:off x="749808" y="1655064"/>
            <a:ext cx="10607040" cy="219456"/>
          </a:xfrm>
          <a:prstGeom prst="rect">
            <a:avLst/>
          </a:prstGeom>
          <a:noFill/>
          <a:ln/>
        </p:spPr>
        <p:txBody>
          <a:bodyPr wrap="square" lIns="0" tIns="0" rIns="0" bIns="0" rtlCol="0" anchor="ctr"/>
          <a:lstStyle/>
          <a:p>
            <a:pPr algn="l" indent="0" marL="0">
              <a:buNone/>
            </a:pPr>
            <a:r>
              <a:rPr lang="en-US" sz="1150" b="1" spc="50" kern="0" dirty="0">
                <a:solidFill>
                  <a:srgbClr val="176493"/>
                </a:solidFill>
                <a:latin typeface="Aptos" pitchFamily="34" charset="0"/>
                <a:ea typeface="Aptos" pitchFamily="34" charset="-122"/>
                <a:cs typeface="Aptos" pitchFamily="34" charset="-120"/>
              </a:rPr>
              <a:t>TWO ILLUSTRATIVE CATALOG DESCRIPTIONS</a:t>
            </a:r>
            <a:endParaRPr lang="en-US" sz="1150" dirty="0"/>
          </a:p>
        </p:txBody>
      </p:sp>
      <p:sp>
        <p:nvSpPr>
          <p:cNvPr id="13" name="Shape 11"/>
          <p:cNvSpPr/>
          <p:nvPr/>
        </p:nvSpPr>
        <p:spPr>
          <a:xfrm>
            <a:off x="749808" y="2057400"/>
            <a:ext cx="4389120" cy="1078992"/>
          </a:xfrm>
          <a:prstGeom prst="rect">
            <a:avLst/>
          </a:prstGeom>
          <a:solidFill>
            <a:srgbClr val="FFFFFF"/>
          </a:solidFill>
          <a:ln w="12700">
            <a:solidFill>
              <a:srgbClr val="FFFFFF">
                <a:alpha val="0"/>
              </a:srgbClr>
            </a:solidFill>
            <a:prstDash val="solid"/>
          </a:ln>
        </p:spPr>
      </p:sp>
      <p:sp>
        <p:nvSpPr>
          <p:cNvPr id="14" name="Text 12"/>
          <p:cNvSpPr/>
          <p:nvPr/>
        </p:nvSpPr>
        <p:spPr>
          <a:xfrm>
            <a:off x="932688" y="2368296"/>
            <a:ext cx="4005072" cy="384048"/>
          </a:xfrm>
          <a:prstGeom prst="rect">
            <a:avLst/>
          </a:prstGeom>
          <a:noFill/>
          <a:ln/>
        </p:spPr>
        <p:txBody>
          <a:bodyPr wrap="square" lIns="0" tIns="0" rIns="0" bIns="0" rtlCol="0" anchor="ctr"/>
          <a:lstStyle/>
          <a:p>
            <a:pPr algn="l" indent="0" marL="0">
              <a:buNone/>
            </a:pPr>
            <a:r>
              <a:rPr lang="en-US" sz="2200" b="1" dirty="0">
                <a:solidFill>
                  <a:srgbClr val="172233"/>
                </a:solidFill>
                <a:latin typeface="Aptos" pitchFamily="34" charset="0"/>
                <a:ea typeface="Aptos" pitchFamily="34" charset="-122"/>
                <a:cs typeface="Aptos" pitchFamily="34" charset="-120"/>
              </a:rPr>
              <a:t>D1  cold storage pack</a:t>
            </a:r>
            <a:endParaRPr lang="en-US" sz="2200" dirty="0"/>
          </a:p>
        </p:txBody>
      </p:sp>
      <p:sp>
        <p:nvSpPr>
          <p:cNvPr id="15" name="Shape 13"/>
          <p:cNvSpPr/>
          <p:nvPr/>
        </p:nvSpPr>
        <p:spPr>
          <a:xfrm>
            <a:off x="749808" y="3355848"/>
            <a:ext cx="4389120" cy="1078992"/>
          </a:xfrm>
          <a:prstGeom prst="rect">
            <a:avLst/>
          </a:prstGeom>
          <a:solidFill>
            <a:srgbClr val="FFFFFF"/>
          </a:solidFill>
          <a:ln w="12700">
            <a:solidFill>
              <a:srgbClr val="FFFFFF">
                <a:alpha val="0"/>
              </a:srgbClr>
            </a:solidFill>
            <a:prstDash val="solid"/>
          </a:ln>
        </p:spPr>
      </p:sp>
      <p:sp>
        <p:nvSpPr>
          <p:cNvPr id="16" name="Text 14"/>
          <p:cNvSpPr/>
          <p:nvPr/>
        </p:nvSpPr>
        <p:spPr>
          <a:xfrm>
            <a:off x="932688" y="3666744"/>
            <a:ext cx="4005072" cy="384048"/>
          </a:xfrm>
          <a:prstGeom prst="rect">
            <a:avLst/>
          </a:prstGeom>
          <a:noFill/>
          <a:ln/>
        </p:spPr>
        <p:txBody>
          <a:bodyPr wrap="square" lIns="0" tIns="0" rIns="0" bIns="0" rtlCol="0" anchor="ctr"/>
          <a:lstStyle/>
          <a:p>
            <a:pPr algn="l" indent="0" marL="0">
              <a:buNone/>
            </a:pPr>
            <a:r>
              <a:rPr lang="en-US" sz="2200" b="1" dirty="0">
                <a:solidFill>
                  <a:srgbClr val="172233"/>
                </a:solidFill>
                <a:latin typeface="Aptos" pitchFamily="34" charset="0"/>
                <a:ea typeface="Aptos" pitchFamily="34" charset="-122"/>
                <a:cs typeface="Aptos" pitchFamily="34" charset="-120"/>
              </a:rPr>
              <a:t>D2  sterile storage pack</a:t>
            </a:r>
            <a:endParaRPr lang="en-US" sz="2200" dirty="0"/>
          </a:p>
        </p:txBody>
      </p:sp>
      <p:sp>
        <p:nvSpPr>
          <p:cNvPr id="17" name="Shape 15"/>
          <p:cNvSpPr/>
          <p:nvPr/>
        </p:nvSpPr>
        <p:spPr>
          <a:xfrm>
            <a:off x="5358384" y="3246120"/>
            <a:ext cx="603504" cy="0"/>
          </a:xfrm>
          <a:prstGeom prst="line">
            <a:avLst/>
          </a:prstGeom>
          <a:noFill/>
          <a:ln w="22860">
            <a:solidFill>
              <a:srgbClr val="176493"/>
            </a:solidFill>
            <a:prstDash val="solid"/>
            <a:headEnd type="none"/>
            <a:tailEnd type="triangle"/>
          </a:ln>
        </p:spPr>
      </p:sp>
      <p:sp>
        <p:nvSpPr>
          <p:cNvPr id="18" name="Shape 16"/>
          <p:cNvSpPr/>
          <p:nvPr/>
        </p:nvSpPr>
        <p:spPr>
          <a:xfrm>
            <a:off x="6208776" y="2340864"/>
            <a:ext cx="5093208" cy="457200"/>
          </a:xfrm>
          <a:prstGeom prst="rect">
            <a:avLst/>
          </a:prstGeom>
          <a:solidFill>
            <a:srgbClr val="263142"/>
          </a:solidFill>
          <a:ln w="12700">
            <a:solidFill>
              <a:srgbClr val="263142">
                <a:alpha val="0"/>
              </a:srgbClr>
            </a:solidFill>
            <a:prstDash val="solid"/>
          </a:ln>
        </p:spPr>
      </p:sp>
      <p:sp>
        <p:nvSpPr>
          <p:cNvPr id="19" name="Text 17"/>
          <p:cNvSpPr/>
          <p:nvPr/>
        </p:nvSpPr>
        <p:spPr>
          <a:xfrm>
            <a:off x="6318504" y="2377440"/>
            <a:ext cx="393192" cy="384048"/>
          </a:xfrm>
          <a:prstGeom prst="rect">
            <a:avLst/>
          </a:prstGeom>
          <a:noFill/>
          <a:ln/>
        </p:spPr>
        <p:txBody>
          <a:bodyPr wrap="square" lIns="0" tIns="0" rIns="0" bIns="0" rtlCol="0" anchor="ctr"/>
          <a:lstStyle/>
          <a:p>
            <a:pPr algn="l" indent="0" marL="0">
              <a:buNone/>
            </a:pPr>
            <a:endParaRPr lang="en-US" sz="1400" dirty="0"/>
          </a:p>
        </p:txBody>
      </p:sp>
      <p:sp>
        <p:nvSpPr>
          <p:cNvPr id="20" name="Text 18"/>
          <p:cNvSpPr/>
          <p:nvPr/>
        </p:nvSpPr>
        <p:spPr>
          <a:xfrm>
            <a:off x="6931152" y="2377440"/>
            <a:ext cx="713232" cy="384048"/>
          </a:xfrm>
          <a:prstGeom prst="rect">
            <a:avLst/>
          </a:prstGeom>
          <a:noFill/>
          <a:ln/>
        </p:spPr>
        <p:txBody>
          <a:bodyPr wrap="square" lIns="0" tIns="0" rIns="0" bIns="0" rtlCol="0" anchor="ctr"/>
          <a:lstStyle/>
          <a:p>
            <a:pPr algn="l" indent="0" marL="0">
              <a:buNone/>
            </a:pPr>
            <a:r>
              <a:rPr lang="en-US" sz="1400" b="1" dirty="0">
                <a:solidFill>
                  <a:srgbClr val="FFFFFF"/>
                </a:solidFill>
                <a:latin typeface="Aptos" pitchFamily="34" charset="0"/>
                <a:ea typeface="Aptos" pitchFamily="34" charset="-122"/>
                <a:cs typeface="Aptos" pitchFamily="34" charset="-120"/>
              </a:rPr>
              <a:t>cold</a:t>
            </a:r>
            <a:endParaRPr lang="en-US" sz="1400" dirty="0"/>
          </a:p>
        </p:txBody>
      </p:sp>
      <p:sp>
        <p:nvSpPr>
          <p:cNvPr id="21" name="Text 19"/>
          <p:cNvSpPr/>
          <p:nvPr/>
        </p:nvSpPr>
        <p:spPr>
          <a:xfrm>
            <a:off x="7863840" y="2377440"/>
            <a:ext cx="740664" cy="384048"/>
          </a:xfrm>
          <a:prstGeom prst="rect">
            <a:avLst/>
          </a:prstGeom>
          <a:noFill/>
          <a:ln/>
        </p:spPr>
        <p:txBody>
          <a:bodyPr wrap="square" lIns="0" tIns="0" rIns="0" bIns="0" rtlCol="0" anchor="ctr"/>
          <a:lstStyle/>
          <a:p>
            <a:pPr algn="l" indent="0" marL="0">
              <a:buNone/>
            </a:pPr>
            <a:r>
              <a:rPr lang="en-US" sz="1400" b="1" dirty="0">
                <a:solidFill>
                  <a:srgbClr val="FFFFFF"/>
                </a:solidFill>
                <a:latin typeface="Aptos" pitchFamily="34" charset="0"/>
                <a:ea typeface="Aptos" pitchFamily="34" charset="-122"/>
                <a:cs typeface="Aptos" pitchFamily="34" charset="-120"/>
              </a:rPr>
              <a:t>pack</a:t>
            </a:r>
            <a:endParaRPr lang="en-US" sz="1400" dirty="0"/>
          </a:p>
        </p:txBody>
      </p:sp>
      <p:sp>
        <p:nvSpPr>
          <p:cNvPr id="22" name="Text 20"/>
          <p:cNvSpPr/>
          <p:nvPr/>
        </p:nvSpPr>
        <p:spPr>
          <a:xfrm>
            <a:off x="8823960" y="2377440"/>
            <a:ext cx="1042416" cy="384048"/>
          </a:xfrm>
          <a:prstGeom prst="rect">
            <a:avLst/>
          </a:prstGeom>
          <a:noFill/>
          <a:ln/>
        </p:spPr>
        <p:txBody>
          <a:bodyPr wrap="square" lIns="0" tIns="0" rIns="0" bIns="0" rtlCol="0" anchor="ctr"/>
          <a:lstStyle/>
          <a:p>
            <a:pPr algn="l" indent="0" marL="0">
              <a:buNone/>
            </a:pPr>
            <a:r>
              <a:rPr lang="en-US" sz="1400" b="1" dirty="0">
                <a:solidFill>
                  <a:srgbClr val="FFFFFF"/>
                </a:solidFill>
                <a:latin typeface="Aptos" pitchFamily="34" charset="0"/>
                <a:ea typeface="Aptos" pitchFamily="34" charset="-122"/>
                <a:cs typeface="Aptos" pitchFamily="34" charset="-120"/>
              </a:rPr>
              <a:t>sterile</a:t>
            </a:r>
            <a:endParaRPr lang="en-US" sz="1400" dirty="0"/>
          </a:p>
        </p:txBody>
      </p:sp>
      <p:sp>
        <p:nvSpPr>
          <p:cNvPr id="23" name="Text 21"/>
          <p:cNvSpPr/>
          <p:nvPr/>
        </p:nvSpPr>
        <p:spPr>
          <a:xfrm>
            <a:off x="10085832" y="2377440"/>
            <a:ext cx="1106424" cy="384048"/>
          </a:xfrm>
          <a:prstGeom prst="rect">
            <a:avLst/>
          </a:prstGeom>
          <a:noFill/>
          <a:ln/>
        </p:spPr>
        <p:txBody>
          <a:bodyPr wrap="square" lIns="0" tIns="0" rIns="0" bIns="0" rtlCol="0" anchor="ctr"/>
          <a:lstStyle/>
          <a:p>
            <a:pPr algn="l" indent="0" marL="0">
              <a:buNone/>
            </a:pPr>
            <a:r>
              <a:rPr lang="en-US" sz="1400" b="1" dirty="0">
                <a:solidFill>
                  <a:srgbClr val="FFFFFF"/>
                </a:solidFill>
                <a:latin typeface="Aptos" pitchFamily="34" charset="0"/>
                <a:ea typeface="Aptos" pitchFamily="34" charset="-122"/>
                <a:cs typeface="Aptos" pitchFamily="34" charset="-120"/>
              </a:rPr>
              <a:t>storage</a:t>
            </a:r>
            <a:endParaRPr lang="en-US" sz="1400" dirty="0"/>
          </a:p>
        </p:txBody>
      </p:sp>
      <p:sp>
        <p:nvSpPr>
          <p:cNvPr id="24" name="Shape 22"/>
          <p:cNvSpPr/>
          <p:nvPr/>
        </p:nvSpPr>
        <p:spPr>
          <a:xfrm>
            <a:off x="6208776" y="2798064"/>
            <a:ext cx="5093208" cy="676656"/>
          </a:xfrm>
          <a:prstGeom prst="rect">
            <a:avLst/>
          </a:prstGeom>
          <a:solidFill>
            <a:srgbClr val="FFFFFF"/>
          </a:solidFill>
          <a:ln w="12700">
            <a:solidFill>
              <a:srgbClr val="FFFFFF">
                <a:alpha val="0"/>
              </a:srgbClr>
            </a:solidFill>
            <a:prstDash val="solid"/>
          </a:ln>
        </p:spPr>
      </p:sp>
      <p:sp>
        <p:nvSpPr>
          <p:cNvPr id="25" name="Text 23"/>
          <p:cNvSpPr/>
          <p:nvPr/>
        </p:nvSpPr>
        <p:spPr>
          <a:xfrm>
            <a:off x="6318504" y="2852928"/>
            <a:ext cx="393192" cy="566928"/>
          </a:xfrm>
          <a:prstGeom prst="rect">
            <a:avLst/>
          </a:prstGeom>
          <a:noFill/>
          <a:ln/>
        </p:spPr>
        <p:txBody>
          <a:bodyPr wrap="square" lIns="0" tIns="0" rIns="0" bIns="0" rtlCol="0" anchor="ctr"/>
          <a:lstStyle/>
          <a:p>
            <a:pPr algn="l" indent="0" marL="0">
              <a:buNone/>
            </a:pPr>
            <a:r>
              <a:rPr lang="en-US" sz="2200" dirty="0">
                <a:solidFill>
                  <a:srgbClr val="172233"/>
                </a:solidFill>
                <a:latin typeface="Aptos" pitchFamily="34" charset="0"/>
                <a:ea typeface="Aptos" pitchFamily="34" charset="-122"/>
                <a:cs typeface="Aptos" pitchFamily="34" charset="-120"/>
              </a:rPr>
              <a:t>D1</a:t>
            </a:r>
            <a:endParaRPr lang="en-US" sz="2200" dirty="0"/>
          </a:p>
        </p:txBody>
      </p:sp>
      <p:sp>
        <p:nvSpPr>
          <p:cNvPr id="26" name="Text 24"/>
          <p:cNvSpPr/>
          <p:nvPr/>
        </p:nvSpPr>
        <p:spPr>
          <a:xfrm>
            <a:off x="6931152" y="2852928"/>
            <a:ext cx="713232" cy="566928"/>
          </a:xfrm>
          <a:prstGeom prst="rect">
            <a:avLst/>
          </a:prstGeom>
          <a:noFill/>
          <a:ln/>
        </p:spPr>
        <p:txBody>
          <a:bodyPr wrap="square" lIns="0" tIns="0" rIns="0" bIns="0" rtlCol="0" anchor="ctr"/>
          <a:lstStyle/>
          <a:p>
            <a:pPr algn="l" indent="0" marL="0">
              <a:buNone/>
            </a:pPr>
            <a:r>
              <a:rPr lang="en-US" sz="2200" dirty="0">
                <a:solidFill>
                  <a:srgbClr val="172233"/>
                </a:solidFill>
                <a:latin typeface="Aptos" pitchFamily="34" charset="0"/>
                <a:ea typeface="Aptos" pitchFamily="34" charset="-122"/>
                <a:cs typeface="Aptos" pitchFamily="34" charset="-120"/>
              </a:rPr>
              <a:t>1</a:t>
            </a:r>
            <a:endParaRPr lang="en-US" sz="2200" dirty="0"/>
          </a:p>
        </p:txBody>
      </p:sp>
      <p:sp>
        <p:nvSpPr>
          <p:cNvPr id="27" name="Text 25"/>
          <p:cNvSpPr/>
          <p:nvPr/>
        </p:nvSpPr>
        <p:spPr>
          <a:xfrm>
            <a:off x="7863840" y="2852928"/>
            <a:ext cx="740664" cy="566928"/>
          </a:xfrm>
          <a:prstGeom prst="rect">
            <a:avLst/>
          </a:prstGeom>
          <a:noFill/>
          <a:ln/>
        </p:spPr>
        <p:txBody>
          <a:bodyPr wrap="square" lIns="0" tIns="0" rIns="0" bIns="0" rtlCol="0" anchor="ctr"/>
          <a:lstStyle/>
          <a:p>
            <a:pPr algn="l" indent="0" marL="0">
              <a:buNone/>
            </a:pPr>
            <a:r>
              <a:rPr lang="en-US" sz="2200" dirty="0">
                <a:solidFill>
                  <a:srgbClr val="172233"/>
                </a:solidFill>
                <a:latin typeface="Aptos" pitchFamily="34" charset="0"/>
                <a:ea typeface="Aptos" pitchFamily="34" charset="-122"/>
                <a:cs typeface="Aptos" pitchFamily="34" charset="-120"/>
              </a:rPr>
              <a:t>1</a:t>
            </a:r>
            <a:endParaRPr lang="en-US" sz="2200" dirty="0"/>
          </a:p>
        </p:txBody>
      </p:sp>
      <p:sp>
        <p:nvSpPr>
          <p:cNvPr id="28" name="Text 26"/>
          <p:cNvSpPr/>
          <p:nvPr/>
        </p:nvSpPr>
        <p:spPr>
          <a:xfrm>
            <a:off x="8823960" y="2852928"/>
            <a:ext cx="1042416" cy="566928"/>
          </a:xfrm>
          <a:prstGeom prst="rect">
            <a:avLst/>
          </a:prstGeom>
          <a:noFill/>
          <a:ln/>
        </p:spPr>
        <p:txBody>
          <a:bodyPr wrap="square" lIns="0" tIns="0" rIns="0" bIns="0" rtlCol="0" anchor="ctr"/>
          <a:lstStyle/>
          <a:p>
            <a:pPr algn="l" indent="0" marL="0">
              <a:buNone/>
            </a:pPr>
            <a:r>
              <a:rPr lang="en-US" sz="2200" dirty="0">
                <a:solidFill>
                  <a:srgbClr val="172233"/>
                </a:solidFill>
                <a:latin typeface="Aptos" pitchFamily="34" charset="0"/>
                <a:ea typeface="Aptos" pitchFamily="34" charset="-122"/>
                <a:cs typeface="Aptos" pitchFamily="34" charset="-120"/>
              </a:rPr>
              <a:t>0</a:t>
            </a:r>
            <a:endParaRPr lang="en-US" sz="2200" dirty="0"/>
          </a:p>
        </p:txBody>
      </p:sp>
      <p:sp>
        <p:nvSpPr>
          <p:cNvPr id="29" name="Text 27"/>
          <p:cNvSpPr/>
          <p:nvPr/>
        </p:nvSpPr>
        <p:spPr>
          <a:xfrm>
            <a:off x="10085832" y="2852928"/>
            <a:ext cx="1106424" cy="566928"/>
          </a:xfrm>
          <a:prstGeom prst="rect">
            <a:avLst/>
          </a:prstGeom>
          <a:noFill/>
          <a:ln/>
        </p:spPr>
        <p:txBody>
          <a:bodyPr wrap="square" lIns="0" tIns="0" rIns="0" bIns="0" rtlCol="0" anchor="ctr"/>
          <a:lstStyle/>
          <a:p>
            <a:pPr algn="l" indent="0" marL="0">
              <a:buNone/>
            </a:pPr>
            <a:r>
              <a:rPr lang="en-US" sz="2200" dirty="0">
                <a:solidFill>
                  <a:srgbClr val="172233"/>
                </a:solidFill>
                <a:latin typeface="Aptos" pitchFamily="34" charset="0"/>
                <a:ea typeface="Aptos" pitchFamily="34" charset="-122"/>
                <a:cs typeface="Aptos" pitchFamily="34" charset="-120"/>
              </a:rPr>
              <a:t>1</a:t>
            </a:r>
            <a:endParaRPr lang="en-US" sz="2200" dirty="0"/>
          </a:p>
        </p:txBody>
      </p:sp>
      <p:sp>
        <p:nvSpPr>
          <p:cNvPr id="30" name="Shape 28"/>
          <p:cNvSpPr/>
          <p:nvPr/>
        </p:nvSpPr>
        <p:spPr>
          <a:xfrm>
            <a:off x="6208776" y="3474720"/>
            <a:ext cx="5093208" cy="676656"/>
          </a:xfrm>
          <a:prstGeom prst="rect">
            <a:avLst/>
          </a:prstGeom>
          <a:solidFill>
            <a:srgbClr val="E3EFF7"/>
          </a:solidFill>
          <a:ln w="12700">
            <a:solidFill>
              <a:srgbClr val="E3EFF7">
                <a:alpha val="0"/>
              </a:srgbClr>
            </a:solidFill>
            <a:prstDash val="solid"/>
          </a:ln>
        </p:spPr>
      </p:sp>
      <p:sp>
        <p:nvSpPr>
          <p:cNvPr id="31" name="Text 29"/>
          <p:cNvSpPr/>
          <p:nvPr/>
        </p:nvSpPr>
        <p:spPr>
          <a:xfrm>
            <a:off x="6318504" y="3529584"/>
            <a:ext cx="393192" cy="566928"/>
          </a:xfrm>
          <a:prstGeom prst="rect">
            <a:avLst/>
          </a:prstGeom>
          <a:noFill/>
          <a:ln/>
        </p:spPr>
        <p:txBody>
          <a:bodyPr wrap="square" lIns="0" tIns="0" rIns="0" bIns="0" rtlCol="0" anchor="ctr"/>
          <a:lstStyle/>
          <a:p>
            <a:pPr algn="l" indent="0" marL="0">
              <a:buNone/>
            </a:pPr>
            <a:r>
              <a:rPr lang="en-US" sz="2200" dirty="0">
                <a:solidFill>
                  <a:srgbClr val="172233"/>
                </a:solidFill>
                <a:latin typeface="Aptos" pitchFamily="34" charset="0"/>
                <a:ea typeface="Aptos" pitchFamily="34" charset="-122"/>
                <a:cs typeface="Aptos" pitchFamily="34" charset="-120"/>
              </a:rPr>
              <a:t>D2</a:t>
            </a:r>
            <a:endParaRPr lang="en-US" sz="2200" dirty="0"/>
          </a:p>
        </p:txBody>
      </p:sp>
      <p:sp>
        <p:nvSpPr>
          <p:cNvPr id="32" name="Text 30"/>
          <p:cNvSpPr/>
          <p:nvPr/>
        </p:nvSpPr>
        <p:spPr>
          <a:xfrm>
            <a:off x="6931152" y="3529584"/>
            <a:ext cx="713232" cy="566928"/>
          </a:xfrm>
          <a:prstGeom prst="rect">
            <a:avLst/>
          </a:prstGeom>
          <a:noFill/>
          <a:ln/>
        </p:spPr>
        <p:txBody>
          <a:bodyPr wrap="square" lIns="0" tIns="0" rIns="0" bIns="0" rtlCol="0" anchor="ctr"/>
          <a:lstStyle/>
          <a:p>
            <a:pPr algn="l" indent="0" marL="0">
              <a:buNone/>
            </a:pPr>
            <a:r>
              <a:rPr lang="en-US" sz="2200" dirty="0">
                <a:solidFill>
                  <a:srgbClr val="172233"/>
                </a:solidFill>
                <a:latin typeface="Aptos" pitchFamily="34" charset="0"/>
                <a:ea typeface="Aptos" pitchFamily="34" charset="-122"/>
                <a:cs typeface="Aptos" pitchFamily="34" charset="-120"/>
              </a:rPr>
              <a:t>0</a:t>
            </a:r>
            <a:endParaRPr lang="en-US" sz="2200" dirty="0"/>
          </a:p>
        </p:txBody>
      </p:sp>
      <p:sp>
        <p:nvSpPr>
          <p:cNvPr id="33" name="Text 31"/>
          <p:cNvSpPr/>
          <p:nvPr/>
        </p:nvSpPr>
        <p:spPr>
          <a:xfrm>
            <a:off x="7863840" y="3529584"/>
            <a:ext cx="740664" cy="566928"/>
          </a:xfrm>
          <a:prstGeom prst="rect">
            <a:avLst/>
          </a:prstGeom>
          <a:noFill/>
          <a:ln/>
        </p:spPr>
        <p:txBody>
          <a:bodyPr wrap="square" lIns="0" tIns="0" rIns="0" bIns="0" rtlCol="0" anchor="ctr"/>
          <a:lstStyle/>
          <a:p>
            <a:pPr algn="l" indent="0" marL="0">
              <a:buNone/>
            </a:pPr>
            <a:r>
              <a:rPr lang="en-US" sz="2200" dirty="0">
                <a:solidFill>
                  <a:srgbClr val="172233"/>
                </a:solidFill>
                <a:latin typeface="Aptos" pitchFamily="34" charset="0"/>
                <a:ea typeface="Aptos" pitchFamily="34" charset="-122"/>
                <a:cs typeface="Aptos" pitchFamily="34" charset="-120"/>
              </a:rPr>
              <a:t>1</a:t>
            </a:r>
            <a:endParaRPr lang="en-US" sz="2200" dirty="0"/>
          </a:p>
        </p:txBody>
      </p:sp>
      <p:sp>
        <p:nvSpPr>
          <p:cNvPr id="34" name="Text 32"/>
          <p:cNvSpPr/>
          <p:nvPr/>
        </p:nvSpPr>
        <p:spPr>
          <a:xfrm>
            <a:off x="8823960" y="3529584"/>
            <a:ext cx="1042416" cy="566928"/>
          </a:xfrm>
          <a:prstGeom prst="rect">
            <a:avLst/>
          </a:prstGeom>
          <a:noFill/>
          <a:ln/>
        </p:spPr>
        <p:txBody>
          <a:bodyPr wrap="square" lIns="0" tIns="0" rIns="0" bIns="0" rtlCol="0" anchor="ctr"/>
          <a:lstStyle/>
          <a:p>
            <a:pPr algn="l" indent="0" marL="0">
              <a:buNone/>
            </a:pPr>
            <a:r>
              <a:rPr lang="en-US" sz="2200" dirty="0">
                <a:solidFill>
                  <a:srgbClr val="172233"/>
                </a:solidFill>
                <a:latin typeface="Aptos" pitchFamily="34" charset="0"/>
                <a:ea typeface="Aptos" pitchFamily="34" charset="-122"/>
                <a:cs typeface="Aptos" pitchFamily="34" charset="-120"/>
              </a:rPr>
              <a:t>1</a:t>
            </a:r>
            <a:endParaRPr lang="en-US" sz="2200" dirty="0"/>
          </a:p>
        </p:txBody>
      </p:sp>
      <p:sp>
        <p:nvSpPr>
          <p:cNvPr id="35" name="Text 33"/>
          <p:cNvSpPr/>
          <p:nvPr/>
        </p:nvSpPr>
        <p:spPr>
          <a:xfrm>
            <a:off x="10085832" y="3529584"/>
            <a:ext cx="1106424" cy="566928"/>
          </a:xfrm>
          <a:prstGeom prst="rect">
            <a:avLst/>
          </a:prstGeom>
          <a:noFill/>
          <a:ln/>
        </p:spPr>
        <p:txBody>
          <a:bodyPr wrap="square" lIns="0" tIns="0" rIns="0" bIns="0" rtlCol="0" anchor="ctr"/>
          <a:lstStyle/>
          <a:p>
            <a:pPr algn="l" indent="0" marL="0">
              <a:buNone/>
            </a:pPr>
            <a:r>
              <a:rPr lang="en-US" sz="2200" dirty="0">
                <a:solidFill>
                  <a:srgbClr val="172233"/>
                </a:solidFill>
                <a:latin typeface="Aptos" pitchFamily="34" charset="0"/>
                <a:ea typeface="Aptos" pitchFamily="34" charset="-122"/>
                <a:cs typeface="Aptos" pitchFamily="34" charset="-120"/>
              </a:rPr>
              <a:t>1</a:t>
            </a:r>
            <a:endParaRPr lang="en-US" sz="2200" dirty="0"/>
          </a:p>
        </p:txBody>
      </p:sp>
      <p:sp>
        <p:nvSpPr>
          <p:cNvPr id="36" name="Shape 34"/>
          <p:cNvSpPr/>
          <p:nvPr/>
        </p:nvSpPr>
        <p:spPr>
          <a:xfrm>
            <a:off x="768096" y="4901184"/>
            <a:ext cx="10643616" cy="594360"/>
          </a:xfrm>
          <a:prstGeom prst="rect">
            <a:avLst/>
          </a:prstGeom>
          <a:solidFill>
            <a:srgbClr val="263142"/>
          </a:solidFill>
          <a:ln w="12700">
            <a:solidFill>
              <a:srgbClr val="263142">
                <a:alpha val="0"/>
              </a:srgbClr>
            </a:solidFill>
            <a:prstDash val="solid"/>
          </a:ln>
        </p:spPr>
      </p:sp>
      <p:sp>
        <p:nvSpPr>
          <p:cNvPr id="37" name="Text 35"/>
          <p:cNvSpPr/>
          <p:nvPr/>
        </p:nvSpPr>
        <p:spPr>
          <a:xfrm>
            <a:off x="969264" y="5056632"/>
            <a:ext cx="10241280" cy="283464"/>
          </a:xfrm>
          <a:prstGeom prst="rect">
            <a:avLst/>
          </a:prstGeom>
          <a:noFill/>
          <a:ln/>
        </p:spPr>
        <p:txBody>
          <a:bodyPr wrap="square" lIns="0" tIns="0" rIns="0" bIns="0" rtlCol="0" anchor="t"/>
          <a:lstStyle/>
          <a:p>
            <a:pPr algn="l" indent="0" marL="0">
              <a:buNone/>
            </a:pPr>
            <a:r>
              <a:rPr lang="en-US" sz="1800" dirty="0">
                <a:solidFill>
                  <a:srgbClr val="FFFFFF"/>
                </a:solidFill>
                <a:latin typeface="DejaVu Sans Mono" pitchFamily="34" charset="0"/>
                <a:ea typeface="DejaVu Sans Mono" pitchFamily="34" charset="-122"/>
                <a:cs typeface="DejaVu Sans Mono" pitchFamily="34" charset="-120"/>
              </a:rPr>
              <a:t>CountVectorizer().fit_transform(texts)</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0" y="0"/>
            <a:ext cx="12192000" cy="402336"/>
          </a:xfrm>
          <a:prstGeom prst="rect">
            <a:avLst/>
          </a:prstGeom>
          <a:solidFill>
            <a:srgbClr val="E7EEF7"/>
          </a:solidFill>
          <a:ln w="12700">
            <a:solidFill>
              <a:srgbClr val="E7EEF7">
                <a:alpha val="0"/>
              </a:srgbClr>
            </a:solidFill>
            <a:prstDash val="solid"/>
          </a:ln>
        </p:spPr>
      </p:sp>
      <p:sp>
        <p:nvSpPr>
          <p:cNvPr id="3" name="Shape 1"/>
          <p:cNvSpPr/>
          <p:nvPr/>
        </p:nvSpPr>
        <p:spPr>
          <a:xfrm>
            <a:off x="466344" y="123444"/>
            <a:ext cx="64008" cy="146304"/>
          </a:xfrm>
          <a:prstGeom prst="rect">
            <a:avLst/>
          </a:prstGeom>
          <a:solidFill>
            <a:srgbClr val="176493"/>
          </a:solidFill>
          <a:ln w="12700">
            <a:solidFill>
              <a:srgbClr val="176493">
                <a:alpha val="0"/>
              </a:srgbClr>
            </a:solidFill>
            <a:prstDash val="solid"/>
          </a:ln>
        </p:spPr>
      </p:sp>
      <p:sp>
        <p:nvSpPr>
          <p:cNvPr id="4" name="Text 2"/>
          <p:cNvSpPr/>
          <p:nvPr/>
        </p:nvSpPr>
        <p:spPr>
          <a:xfrm>
            <a:off x="594360" y="100584"/>
            <a:ext cx="731520" cy="201168"/>
          </a:xfrm>
          <a:prstGeom prst="rect">
            <a:avLst/>
          </a:prstGeom>
          <a:noFill/>
          <a:ln/>
        </p:spPr>
        <p:txBody>
          <a:bodyPr wrap="square" lIns="0" tIns="0" rIns="0" bIns="0" rtlCol="0" anchor="ctr"/>
          <a:lstStyle/>
          <a:p>
            <a:pPr algn="l" indent="0" marL="0">
              <a:buNone/>
            </a:pPr>
            <a:r>
              <a:rPr lang="en-US" sz="1100" b="1" dirty="0">
                <a:solidFill>
                  <a:srgbClr val="176493"/>
                </a:solidFill>
                <a:latin typeface="Aptos" pitchFamily="34" charset="0"/>
                <a:ea typeface="Aptos" pitchFamily="34" charset="-122"/>
                <a:cs typeface="Aptos" pitchFamily="34" charset="-120"/>
              </a:rPr>
              <a:t>DS101</a:t>
            </a:r>
            <a:endParaRPr lang="en-US" sz="1100" dirty="0"/>
          </a:p>
        </p:txBody>
      </p:sp>
      <p:sp>
        <p:nvSpPr>
          <p:cNvPr id="5" name="Text 3"/>
          <p:cNvSpPr/>
          <p:nvPr/>
        </p:nvSpPr>
        <p:spPr>
          <a:xfrm>
            <a:off x="1463040" y="100584"/>
            <a:ext cx="1828800" cy="201168"/>
          </a:xfrm>
          <a:prstGeom prst="rect">
            <a:avLst/>
          </a:prstGeom>
          <a:noFill/>
          <a:ln/>
        </p:spPr>
        <p:txBody>
          <a:bodyPr wrap="square" lIns="0" tIns="0" rIns="0" bIns="0" rtlCol="0" anchor="ctr"/>
          <a:lstStyle/>
          <a:p>
            <a:pPr algn="l" indent="0" marL="0">
              <a:buNone/>
            </a:pPr>
            <a:r>
              <a:rPr lang="en-US" sz="1000" dirty="0">
                <a:solidFill>
                  <a:srgbClr val="53657A"/>
                </a:solidFill>
                <a:latin typeface="Aptos" pitchFamily="34" charset="0"/>
                <a:ea typeface="Aptos" pitchFamily="34" charset="-122"/>
                <a:cs typeface="Aptos" pitchFamily="34" charset="-120"/>
              </a:rPr>
              <a:t>LECTURE 02</a:t>
            </a:r>
            <a:endParaRPr lang="en-US" sz="1000" dirty="0"/>
          </a:p>
        </p:txBody>
      </p:sp>
      <p:sp>
        <p:nvSpPr>
          <p:cNvPr id="6" name="Text 4"/>
          <p:cNvSpPr/>
          <p:nvPr/>
        </p:nvSpPr>
        <p:spPr>
          <a:xfrm>
            <a:off x="8321040" y="100584"/>
            <a:ext cx="3264408" cy="201168"/>
          </a:xfrm>
          <a:prstGeom prst="rect">
            <a:avLst/>
          </a:prstGeom>
          <a:noFill/>
          <a:ln/>
        </p:spPr>
        <p:txBody>
          <a:bodyPr wrap="square" lIns="0" tIns="0" rIns="0" bIns="0" rtlCol="0" anchor="ctr"/>
          <a:lstStyle/>
          <a:p>
            <a:pPr algn="r" indent="0" marL="0">
              <a:buNone/>
            </a:pPr>
            <a:r>
              <a:rPr lang="en-US" sz="1000" dirty="0">
                <a:solidFill>
                  <a:srgbClr val="53657A"/>
                </a:solidFill>
                <a:latin typeface="Aptos" pitchFamily="34" charset="0"/>
                <a:ea typeface="Aptos" pitchFamily="34" charset="-122"/>
                <a:cs typeface="Aptos" pitchFamily="34" charset="-120"/>
              </a:rPr>
              <a:t>FEATURE ENGINEERING</a:t>
            </a:r>
            <a:endParaRPr lang="en-US" sz="1000" dirty="0"/>
          </a:p>
        </p:txBody>
      </p:sp>
      <p:sp>
        <p:nvSpPr>
          <p:cNvPr id="7" name="Text 5"/>
          <p:cNvSpPr/>
          <p:nvPr/>
        </p:nvSpPr>
        <p:spPr>
          <a:xfrm>
            <a:off x="594360" y="758952"/>
            <a:ext cx="11000232" cy="658368"/>
          </a:xfrm>
          <a:prstGeom prst="rect">
            <a:avLst/>
          </a:prstGeom>
          <a:noFill/>
          <a:ln/>
        </p:spPr>
        <p:txBody>
          <a:bodyPr wrap="square" lIns="0" tIns="0" rIns="0" bIns="0" rtlCol="0" anchor="ctr"/>
          <a:lstStyle/>
          <a:p>
            <a:pPr algn="l" indent="0" marL="0">
              <a:buNone/>
            </a:pPr>
            <a:r>
              <a:rPr lang="en-US" sz="3000" b="1" dirty="0">
                <a:solidFill>
                  <a:srgbClr val="172233"/>
                </a:solidFill>
                <a:latin typeface="Aptos" pitchFamily="34" charset="0"/>
                <a:ea typeface="Aptos" pitchFamily="34" charset="-122"/>
                <a:cs typeface="Aptos" pitchFamily="34" charset="-120"/>
              </a:rPr>
              <a:t>Same discipline, different domain</a:t>
            </a:r>
            <a:endParaRPr lang="en-US" sz="3000" dirty="0"/>
          </a:p>
        </p:txBody>
      </p:sp>
      <p:sp>
        <p:nvSpPr>
          <p:cNvPr id="8" name="Text 6"/>
          <p:cNvSpPr/>
          <p:nvPr/>
        </p:nvSpPr>
        <p:spPr>
          <a:xfrm>
            <a:off x="594360" y="6510528"/>
            <a:ext cx="3657600" cy="164592"/>
          </a:xfrm>
          <a:prstGeom prst="rect">
            <a:avLst/>
          </a:prstGeom>
          <a:noFill/>
          <a:ln/>
        </p:spPr>
        <p:txBody>
          <a:bodyPr wrap="square" lIns="0" tIns="0" rIns="0" bIns="0" rtlCol="0" anchor="ctr"/>
          <a:lstStyle/>
          <a:p>
            <a:pPr algn="l" indent="0" marL="0">
              <a:buNone/>
            </a:pPr>
            <a:r>
              <a:rPr lang="en-US" sz="900" dirty="0">
                <a:solidFill>
                  <a:srgbClr val="53657A"/>
                </a:solidFill>
                <a:latin typeface="Aptos" pitchFamily="34" charset="0"/>
                <a:ea typeface="Aptos" pitchFamily="34" charset="-122"/>
                <a:cs typeface="Aptos" pitchFamily="34" charset="-120"/>
              </a:rPr>
              <a:t>DS101 | 2026-2027</a:t>
            </a:r>
            <a:endParaRPr lang="en-US" sz="900" dirty="0"/>
          </a:p>
        </p:txBody>
      </p:sp>
      <p:sp>
        <p:nvSpPr>
          <p:cNvPr id="9" name="Text 7"/>
          <p:cNvSpPr/>
          <p:nvPr/>
        </p:nvSpPr>
        <p:spPr>
          <a:xfrm>
            <a:off x="10680192" y="6492240"/>
            <a:ext cx="914400" cy="201168"/>
          </a:xfrm>
          <a:prstGeom prst="rect">
            <a:avLst/>
          </a:prstGeom>
          <a:noFill/>
          <a:ln/>
        </p:spPr>
        <p:txBody>
          <a:bodyPr wrap="square" lIns="0" tIns="0" rIns="0" bIns="0" rtlCol="0" anchor="ctr"/>
          <a:lstStyle/>
          <a:p>
            <a:pPr algn="r" indent="0" marL="0">
              <a:buNone/>
            </a:pPr>
            <a:r>
              <a:rPr lang="en-US" sz="1000" dirty="0">
                <a:solidFill>
                  <a:srgbClr val="53657A"/>
                </a:solidFill>
                <a:latin typeface="Aptos" pitchFamily="34" charset="0"/>
                <a:ea typeface="Aptos" pitchFamily="34" charset="-122"/>
                <a:cs typeface="Aptos" pitchFamily="34" charset="-120"/>
              </a:rPr>
              <a:t>19 / 24</a:t>
            </a:r>
            <a:endParaRPr lang="en-US" sz="1000" dirty="0"/>
          </a:p>
        </p:txBody>
      </p:sp>
      <p:sp>
        <p:nvSpPr>
          <p:cNvPr id="10" name="Shape 8"/>
          <p:cNvSpPr/>
          <p:nvPr/>
        </p:nvSpPr>
        <p:spPr>
          <a:xfrm>
            <a:off x="594360" y="5852160"/>
            <a:ext cx="11000232" cy="438912"/>
          </a:xfrm>
          <a:prstGeom prst="rect">
            <a:avLst/>
          </a:prstGeom>
          <a:solidFill>
            <a:srgbClr val="E3EFF7"/>
          </a:solidFill>
          <a:ln w="12700">
            <a:solidFill>
              <a:srgbClr val="E3EFF7">
                <a:alpha val="0"/>
              </a:srgbClr>
            </a:solidFill>
            <a:prstDash val="solid"/>
          </a:ln>
        </p:spPr>
      </p:sp>
      <p:sp>
        <p:nvSpPr>
          <p:cNvPr id="11" name="Text 9"/>
          <p:cNvSpPr/>
          <p:nvPr/>
        </p:nvSpPr>
        <p:spPr>
          <a:xfrm>
            <a:off x="795528" y="5943600"/>
            <a:ext cx="10607040" cy="256032"/>
          </a:xfrm>
          <a:prstGeom prst="rect">
            <a:avLst/>
          </a:prstGeom>
          <a:noFill/>
          <a:ln/>
        </p:spPr>
        <p:txBody>
          <a:bodyPr wrap="square" lIns="0" tIns="0" rIns="0" bIns="0" rtlCol="0" anchor="ctr"/>
          <a:lstStyle/>
          <a:p>
            <a:pPr algn="l" indent="0" marL="0">
              <a:buNone/>
            </a:pPr>
            <a:r>
              <a:rPr lang="en-US" sz="1700" b="1" dirty="0">
                <a:solidFill>
                  <a:srgbClr val="176493"/>
                </a:solidFill>
                <a:latin typeface="Aptos" pitchFamily="34" charset="0"/>
                <a:ea typeface="Aptos" pitchFamily="34" charset="-122"/>
                <a:cs typeface="Aptos" pitchFamily="34" charset="-120"/>
              </a:rPr>
              <a:t>Existing, derived and external features need different evidence.</a:t>
            </a:r>
            <a:endParaRPr lang="en-US" sz="1700" dirty="0"/>
          </a:p>
        </p:txBody>
      </p:sp>
      <p:sp>
        <p:nvSpPr>
          <p:cNvPr id="12" name="Shape 10"/>
          <p:cNvSpPr/>
          <p:nvPr/>
        </p:nvSpPr>
        <p:spPr>
          <a:xfrm>
            <a:off x="749808" y="1993392"/>
            <a:ext cx="3392424" cy="3008376"/>
          </a:xfrm>
          <a:prstGeom prst="rect">
            <a:avLst/>
          </a:prstGeom>
          <a:solidFill>
            <a:srgbClr val="FFFFFF"/>
          </a:solidFill>
          <a:ln w="12700">
            <a:solidFill>
              <a:srgbClr val="FFFFFF">
                <a:alpha val="0"/>
              </a:srgbClr>
            </a:solidFill>
            <a:prstDash val="solid"/>
          </a:ln>
        </p:spPr>
      </p:sp>
      <p:sp>
        <p:nvSpPr>
          <p:cNvPr id="13" name="Shape 11"/>
          <p:cNvSpPr/>
          <p:nvPr/>
        </p:nvSpPr>
        <p:spPr>
          <a:xfrm>
            <a:off x="749808" y="1993392"/>
            <a:ext cx="3392424" cy="64008"/>
          </a:xfrm>
          <a:prstGeom prst="rect">
            <a:avLst/>
          </a:prstGeom>
          <a:solidFill>
            <a:srgbClr val="176493"/>
          </a:solidFill>
          <a:ln w="12700">
            <a:solidFill>
              <a:srgbClr val="176493">
                <a:alpha val="0"/>
              </a:srgbClr>
            </a:solidFill>
            <a:prstDash val="solid"/>
          </a:ln>
        </p:spPr>
      </p:sp>
      <p:sp>
        <p:nvSpPr>
          <p:cNvPr id="14" name="Text 12"/>
          <p:cNvSpPr/>
          <p:nvPr/>
        </p:nvSpPr>
        <p:spPr>
          <a:xfrm>
            <a:off x="932688" y="2267712"/>
            <a:ext cx="3026664" cy="502920"/>
          </a:xfrm>
          <a:prstGeom prst="rect">
            <a:avLst/>
          </a:prstGeom>
          <a:noFill/>
          <a:ln/>
        </p:spPr>
        <p:txBody>
          <a:bodyPr wrap="square" lIns="0" tIns="0" rIns="0" bIns="0" rtlCol="0" anchor="ctr"/>
          <a:lstStyle/>
          <a:p>
            <a:pPr algn="l" indent="0" marL="0">
              <a:buNone/>
            </a:pPr>
            <a:r>
              <a:rPr lang="en-US" sz="2300" b="1" dirty="0">
                <a:solidFill>
                  <a:srgbClr val="176493"/>
                </a:solidFill>
                <a:latin typeface="Aptos" pitchFamily="34" charset="0"/>
                <a:ea typeface="Aptos" pitchFamily="34" charset="-122"/>
                <a:cs typeface="Aptos" pitchFamily="34" charset="-120"/>
              </a:rPr>
              <a:t>Observed</a:t>
            </a:r>
            <a:endParaRPr lang="en-US" sz="2300" dirty="0"/>
          </a:p>
        </p:txBody>
      </p:sp>
      <p:sp>
        <p:nvSpPr>
          <p:cNvPr id="15" name="Text 13"/>
          <p:cNvSpPr/>
          <p:nvPr/>
        </p:nvSpPr>
        <p:spPr>
          <a:xfrm>
            <a:off x="932688" y="2953512"/>
            <a:ext cx="3026664" cy="1892808"/>
          </a:xfrm>
          <a:prstGeom prst="rect">
            <a:avLst/>
          </a:prstGeom>
          <a:noFill/>
          <a:ln/>
        </p:spPr>
        <p:txBody>
          <a:bodyPr wrap="square" lIns="0" tIns="0" rIns="0" bIns="0" rtlCol="0" anchor="t"/>
          <a:lstStyle/>
          <a:p>
            <a:pPr algn="l" indent="0" marL="0">
              <a:buNone/>
            </a:pPr>
            <a:r>
              <a:rPr lang="en-US" sz="2000" dirty="0">
                <a:solidFill>
                  <a:srgbClr val="53657A"/>
                </a:solidFill>
                <a:latin typeface="Aptos" pitchFamily="34" charset="0"/>
                <a:ea typeface="Aptos" pitchFamily="34" charset="-122"/>
                <a:cs typeface="Aptos" pitchFamily="34" charset="-120"/>
              </a:rPr>
              <a:t>Area</a:t>
            </a:r>
            <a:endParaRPr lang="en-US" sz="2000" dirty="0"/>
          </a:p>
          <a:p>
            <a:pPr algn="l" indent="0" marL="0">
              <a:buNone/>
            </a:pPr>
            <a:r>
              <a:rPr lang="en-US" sz="2000" dirty="0">
                <a:solidFill>
                  <a:srgbClr val="53657A"/>
                </a:solidFill>
                <a:latin typeface="Aptos" pitchFamily="34" charset="0"/>
                <a:ea typeface="Aptos" pitchFamily="34" charset="-122"/>
                <a:cs typeface="Aptos" pitchFamily="34" charset="-120"/>
              </a:rPr>
              <a:t>Room count</a:t>
            </a:r>
            <a:endParaRPr lang="en-US" sz="2000" dirty="0"/>
          </a:p>
          <a:p>
            <a:pPr algn="l" indent="0" marL="0">
              <a:buNone/>
            </a:pPr>
            <a:r>
              <a:rPr lang="en-US" sz="2000" dirty="0">
                <a:solidFill>
                  <a:srgbClr val="53657A"/>
                </a:solidFill>
                <a:latin typeface="Aptos" pitchFamily="34" charset="0"/>
                <a:ea typeface="Aptos" pitchFamily="34" charset="-122"/>
                <a:cs typeface="Aptos" pitchFamily="34" charset="-120"/>
              </a:rPr>
              <a:t>Floor category</a:t>
            </a:r>
            <a:endParaRPr lang="en-US" sz="2000" dirty="0"/>
          </a:p>
        </p:txBody>
      </p:sp>
      <p:sp>
        <p:nvSpPr>
          <p:cNvPr id="16" name="Shape 14"/>
          <p:cNvSpPr/>
          <p:nvPr/>
        </p:nvSpPr>
        <p:spPr>
          <a:xfrm>
            <a:off x="4425696" y="1993392"/>
            <a:ext cx="3392424" cy="3008376"/>
          </a:xfrm>
          <a:prstGeom prst="rect">
            <a:avLst/>
          </a:prstGeom>
          <a:solidFill>
            <a:srgbClr val="FFFFFF"/>
          </a:solidFill>
          <a:ln w="12700">
            <a:solidFill>
              <a:srgbClr val="FFFFFF">
                <a:alpha val="0"/>
              </a:srgbClr>
            </a:solidFill>
            <a:prstDash val="solid"/>
          </a:ln>
        </p:spPr>
      </p:sp>
      <p:sp>
        <p:nvSpPr>
          <p:cNvPr id="17" name="Shape 15"/>
          <p:cNvSpPr/>
          <p:nvPr/>
        </p:nvSpPr>
        <p:spPr>
          <a:xfrm>
            <a:off x="4425696" y="1993392"/>
            <a:ext cx="3392424" cy="64008"/>
          </a:xfrm>
          <a:prstGeom prst="rect">
            <a:avLst/>
          </a:prstGeom>
          <a:solidFill>
            <a:srgbClr val="167C85"/>
          </a:solidFill>
          <a:ln w="12700">
            <a:solidFill>
              <a:srgbClr val="167C85">
                <a:alpha val="0"/>
              </a:srgbClr>
            </a:solidFill>
            <a:prstDash val="solid"/>
          </a:ln>
        </p:spPr>
      </p:sp>
      <p:sp>
        <p:nvSpPr>
          <p:cNvPr id="18" name="Text 16"/>
          <p:cNvSpPr/>
          <p:nvPr/>
        </p:nvSpPr>
        <p:spPr>
          <a:xfrm>
            <a:off x="4608576" y="2267712"/>
            <a:ext cx="3026664" cy="502920"/>
          </a:xfrm>
          <a:prstGeom prst="rect">
            <a:avLst/>
          </a:prstGeom>
          <a:noFill/>
          <a:ln/>
        </p:spPr>
        <p:txBody>
          <a:bodyPr wrap="square" lIns="0" tIns="0" rIns="0" bIns="0" rtlCol="0" anchor="ctr"/>
          <a:lstStyle/>
          <a:p>
            <a:pPr algn="l" indent="0" marL="0">
              <a:buNone/>
            </a:pPr>
            <a:r>
              <a:rPr lang="en-US" sz="2300" b="1" dirty="0">
                <a:solidFill>
                  <a:srgbClr val="167C85"/>
                </a:solidFill>
                <a:latin typeface="Aptos" pitchFamily="34" charset="0"/>
                <a:ea typeface="Aptos" pitchFamily="34" charset="-122"/>
                <a:cs typeface="Aptos" pitchFamily="34" charset="-120"/>
              </a:rPr>
              <a:t>Derived</a:t>
            </a:r>
            <a:endParaRPr lang="en-US" sz="2300" dirty="0"/>
          </a:p>
        </p:txBody>
      </p:sp>
      <p:sp>
        <p:nvSpPr>
          <p:cNvPr id="19" name="Text 17"/>
          <p:cNvSpPr/>
          <p:nvPr/>
        </p:nvSpPr>
        <p:spPr>
          <a:xfrm>
            <a:off x="4608576" y="2953512"/>
            <a:ext cx="3026664" cy="1892808"/>
          </a:xfrm>
          <a:prstGeom prst="rect">
            <a:avLst/>
          </a:prstGeom>
          <a:noFill/>
          <a:ln/>
        </p:spPr>
        <p:txBody>
          <a:bodyPr wrap="square" lIns="0" tIns="0" rIns="0" bIns="0" rtlCol="0" anchor="t"/>
          <a:lstStyle/>
          <a:p>
            <a:pPr algn="l" indent="0" marL="0">
              <a:buNone/>
            </a:pPr>
            <a:r>
              <a:rPr lang="en-US" sz="2000" dirty="0">
                <a:solidFill>
                  <a:srgbClr val="53657A"/>
                </a:solidFill>
                <a:latin typeface="Aptos" pitchFamily="34" charset="0"/>
                <a:ea typeface="Aptos" pitchFamily="34" charset="-122"/>
                <a:cs typeface="Aptos" pitchFamily="34" charset="-120"/>
              </a:rPr>
              <a:t>Rooms / area</a:t>
            </a:r>
            <a:endParaRPr lang="en-US" sz="2000" dirty="0"/>
          </a:p>
          <a:p>
            <a:pPr algn="l" indent="0" marL="0">
              <a:buNone/>
            </a:pPr>
            <a:r>
              <a:rPr lang="en-US" sz="2000" dirty="0">
                <a:solidFill>
                  <a:srgbClr val="53657A"/>
                </a:solidFill>
                <a:latin typeface="Aptos" pitchFamily="34" charset="0"/>
                <a:ea typeface="Aptos" pitchFamily="34" charset="-122"/>
                <a:cs typeface="Aptos" pitchFamily="34" charset="-120"/>
              </a:rPr>
              <a:t>Define units and</a:t>
            </a:r>
            <a:endParaRPr lang="en-US" sz="2000" dirty="0"/>
          </a:p>
          <a:p>
            <a:pPr algn="l" indent="0" marL="0">
              <a:buNone/>
            </a:pPr>
            <a:r>
              <a:rPr lang="en-US" sz="2000" dirty="0">
                <a:solidFill>
                  <a:srgbClr val="53657A"/>
                </a:solidFill>
                <a:latin typeface="Aptos" pitchFamily="34" charset="0"/>
                <a:ea typeface="Aptos" pitchFamily="34" charset="-122"/>
                <a:cs typeface="Aptos" pitchFamily="34" charset="-120"/>
              </a:rPr>
              <a:t>check zero area</a:t>
            </a:r>
            <a:endParaRPr lang="en-US" sz="2000" dirty="0"/>
          </a:p>
        </p:txBody>
      </p:sp>
      <p:sp>
        <p:nvSpPr>
          <p:cNvPr id="20" name="Shape 18"/>
          <p:cNvSpPr/>
          <p:nvPr/>
        </p:nvSpPr>
        <p:spPr>
          <a:xfrm>
            <a:off x="8101584" y="1993392"/>
            <a:ext cx="3392424" cy="3008376"/>
          </a:xfrm>
          <a:prstGeom prst="rect">
            <a:avLst/>
          </a:prstGeom>
          <a:solidFill>
            <a:srgbClr val="FFFFFF"/>
          </a:solidFill>
          <a:ln w="12700">
            <a:solidFill>
              <a:srgbClr val="FFFFFF">
                <a:alpha val="0"/>
              </a:srgbClr>
            </a:solidFill>
            <a:prstDash val="solid"/>
          </a:ln>
        </p:spPr>
      </p:sp>
      <p:sp>
        <p:nvSpPr>
          <p:cNvPr id="21" name="Shape 19"/>
          <p:cNvSpPr/>
          <p:nvPr/>
        </p:nvSpPr>
        <p:spPr>
          <a:xfrm>
            <a:off x="8101584" y="1993392"/>
            <a:ext cx="3392424" cy="64008"/>
          </a:xfrm>
          <a:prstGeom prst="rect">
            <a:avLst/>
          </a:prstGeom>
          <a:solidFill>
            <a:srgbClr val="7056C2"/>
          </a:solidFill>
          <a:ln w="12700">
            <a:solidFill>
              <a:srgbClr val="7056C2">
                <a:alpha val="0"/>
              </a:srgbClr>
            </a:solidFill>
            <a:prstDash val="solid"/>
          </a:ln>
        </p:spPr>
      </p:sp>
      <p:sp>
        <p:nvSpPr>
          <p:cNvPr id="22" name="Text 20"/>
          <p:cNvSpPr/>
          <p:nvPr/>
        </p:nvSpPr>
        <p:spPr>
          <a:xfrm>
            <a:off x="8284464" y="2267712"/>
            <a:ext cx="3026664" cy="502920"/>
          </a:xfrm>
          <a:prstGeom prst="rect">
            <a:avLst/>
          </a:prstGeom>
          <a:noFill/>
          <a:ln/>
        </p:spPr>
        <p:txBody>
          <a:bodyPr wrap="square" lIns="0" tIns="0" rIns="0" bIns="0" rtlCol="0" anchor="ctr"/>
          <a:lstStyle/>
          <a:p>
            <a:pPr algn="l" indent="0" marL="0">
              <a:buNone/>
            </a:pPr>
            <a:r>
              <a:rPr lang="en-US" sz="2300" b="1" dirty="0">
                <a:solidFill>
                  <a:srgbClr val="7056C2"/>
                </a:solidFill>
                <a:latin typeface="Aptos" pitchFamily="34" charset="0"/>
                <a:ea typeface="Aptos" pitchFamily="34" charset="-122"/>
                <a:cs typeface="Aptos" pitchFamily="34" charset="-120"/>
              </a:rPr>
              <a:t>External</a:t>
            </a:r>
            <a:endParaRPr lang="en-US" sz="2300" dirty="0"/>
          </a:p>
        </p:txBody>
      </p:sp>
      <p:sp>
        <p:nvSpPr>
          <p:cNvPr id="23" name="Text 21"/>
          <p:cNvSpPr/>
          <p:nvPr/>
        </p:nvSpPr>
        <p:spPr>
          <a:xfrm>
            <a:off x="8284464" y="2953512"/>
            <a:ext cx="3026664" cy="1892808"/>
          </a:xfrm>
          <a:prstGeom prst="rect">
            <a:avLst/>
          </a:prstGeom>
          <a:noFill/>
          <a:ln/>
        </p:spPr>
        <p:txBody>
          <a:bodyPr wrap="square" lIns="0" tIns="0" rIns="0" bIns="0" rtlCol="0" anchor="t"/>
          <a:lstStyle/>
          <a:p>
            <a:pPr algn="l" indent="0" marL="0">
              <a:buNone/>
            </a:pPr>
            <a:r>
              <a:rPr lang="en-US" sz="2000" dirty="0">
                <a:solidFill>
                  <a:srgbClr val="53657A"/>
                </a:solidFill>
                <a:latin typeface="Aptos" pitchFamily="34" charset="0"/>
                <a:ea typeface="Aptos" pitchFamily="34" charset="-122"/>
                <a:cs typeface="Aptos" pitchFamily="34" charset="-120"/>
              </a:rPr>
              <a:t>Neighborhood data</a:t>
            </a:r>
            <a:endParaRPr lang="en-US" sz="2000" dirty="0"/>
          </a:p>
          <a:p>
            <a:pPr algn="l" indent="0" marL="0">
              <a:buNone/>
            </a:pPr>
            <a:r>
              <a:rPr lang="en-US" sz="2000" dirty="0">
                <a:solidFill>
                  <a:srgbClr val="53657A"/>
                </a:solidFill>
                <a:latin typeface="Aptos" pitchFamily="34" charset="0"/>
                <a:ea typeface="Aptos" pitchFamily="34" charset="-122"/>
                <a:cs typeface="Aptos" pitchFamily="34" charset="-120"/>
              </a:rPr>
              <a:t>Only after a verified,</a:t>
            </a:r>
            <a:endParaRPr lang="en-US" sz="2000" dirty="0"/>
          </a:p>
          <a:p>
            <a:pPr algn="l" indent="0" marL="0">
              <a:buNone/>
            </a:pPr>
            <a:r>
              <a:rPr lang="en-US" sz="2000" dirty="0">
                <a:solidFill>
                  <a:srgbClr val="53657A"/>
                </a:solidFill>
                <a:latin typeface="Aptos" pitchFamily="34" charset="0"/>
                <a:ea typeface="Aptos" pitchFamily="34" charset="-122"/>
                <a:cs typeface="Aptos" pitchFamily="34" charset="-120"/>
              </a:rPr>
              <a:t>authorized join</a:t>
            </a:r>
            <a:endParaRPr lang="en-US" sz="2000" dirty="0"/>
          </a:p>
        </p:txBody>
      </p:sp>
      <p:sp>
        <p:nvSpPr>
          <p:cNvPr id="24" name="Text 22"/>
          <p:cNvSpPr/>
          <p:nvPr/>
        </p:nvSpPr>
        <p:spPr>
          <a:xfrm>
            <a:off x="804672" y="5294376"/>
            <a:ext cx="10561320" cy="365760"/>
          </a:xfrm>
          <a:prstGeom prst="rect">
            <a:avLst/>
          </a:prstGeom>
          <a:noFill/>
          <a:ln/>
        </p:spPr>
        <p:txBody>
          <a:bodyPr wrap="square" lIns="0" tIns="0" rIns="0" bIns="0" rtlCol="0" anchor="ctr"/>
          <a:lstStyle/>
          <a:p>
            <a:pPr algn="l" indent="0" marL="0">
              <a:buNone/>
            </a:pPr>
            <a:r>
              <a:rPr lang="en-US" sz="2100" b="1" dirty="0">
                <a:solidFill>
                  <a:srgbClr val="B33B43"/>
                </a:solidFill>
                <a:latin typeface="Aptos" pitchFamily="34" charset="0"/>
                <a:ea typeface="Aptos" pitchFamily="34" charset="-122"/>
                <a:cs typeface="Aptos" pitchFamily="34" charset="-120"/>
              </a:rPr>
              <a:t>For total-price prediction: exclude target-derived Price / Surface.</a:t>
            </a:r>
            <a:endParaRPr lang="en-US" sz="2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0" y="0"/>
            <a:ext cx="12192000" cy="402336"/>
          </a:xfrm>
          <a:prstGeom prst="rect">
            <a:avLst/>
          </a:prstGeom>
          <a:solidFill>
            <a:srgbClr val="E7EEF7"/>
          </a:solidFill>
          <a:ln w="12700">
            <a:solidFill>
              <a:srgbClr val="E7EEF7">
                <a:alpha val="0"/>
              </a:srgbClr>
            </a:solidFill>
            <a:prstDash val="solid"/>
          </a:ln>
        </p:spPr>
      </p:sp>
      <p:sp>
        <p:nvSpPr>
          <p:cNvPr id="3" name="Shape 1"/>
          <p:cNvSpPr/>
          <p:nvPr/>
        </p:nvSpPr>
        <p:spPr>
          <a:xfrm>
            <a:off x="466344" y="123444"/>
            <a:ext cx="64008" cy="146304"/>
          </a:xfrm>
          <a:prstGeom prst="rect">
            <a:avLst/>
          </a:prstGeom>
          <a:solidFill>
            <a:srgbClr val="176493"/>
          </a:solidFill>
          <a:ln w="12700">
            <a:solidFill>
              <a:srgbClr val="176493">
                <a:alpha val="0"/>
              </a:srgbClr>
            </a:solidFill>
            <a:prstDash val="solid"/>
          </a:ln>
        </p:spPr>
      </p:sp>
      <p:sp>
        <p:nvSpPr>
          <p:cNvPr id="4" name="Text 2"/>
          <p:cNvSpPr/>
          <p:nvPr/>
        </p:nvSpPr>
        <p:spPr>
          <a:xfrm>
            <a:off x="594360" y="100584"/>
            <a:ext cx="731520" cy="201168"/>
          </a:xfrm>
          <a:prstGeom prst="rect">
            <a:avLst/>
          </a:prstGeom>
          <a:noFill/>
          <a:ln/>
        </p:spPr>
        <p:txBody>
          <a:bodyPr wrap="square" lIns="0" tIns="0" rIns="0" bIns="0" rtlCol="0" anchor="ctr"/>
          <a:lstStyle/>
          <a:p>
            <a:pPr algn="l" indent="0" marL="0">
              <a:buNone/>
            </a:pPr>
            <a:r>
              <a:rPr lang="en-US" sz="1100" b="1" dirty="0">
                <a:solidFill>
                  <a:srgbClr val="176493"/>
                </a:solidFill>
                <a:latin typeface="Aptos" pitchFamily="34" charset="0"/>
                <a:ea typeface="Aptos" pitchFamily="34" charset="-122"/>
                <a:cs typeface="Aptos" pitchFamily="34" charset="-120"/>
              </a:rPr>
              <a:t>DS101</a:t>
            </a:r>
            <a:endParaRPr lang="en-US" sz="1100" dirty="0"/>
          </a:p>
        </p:txBody>
      </p:sp>
      <p:sp>
        <p:nvSpPr>
          <p:cNvPr id="5" name="Text 3"/>
          <p:cNvSpPr/>
          <p:nvPr/>
        </p:nvSpPr>
        <p:spPr>
          <a:xfrm>
            <a:off x="1463040" y="100584"/>
            <a:ext cx="1828800" cy="201168"/>
          </a:xfrm>
          <a:prstGeom prst="rect">
            <a:avLst/>
          </a:prstGeom>
          <a:noFill/>
          <a:ln/>
        </p:spPr>
        <p:txBody>
          <a:bodyPr wrap="square" lIns="0" tIns="0" rIns="0" bIns="0" rtlCol="0" anchor="ctr"/>
          <a:lstStyle/>
          <a:p>
            <a:pPr algn="l" indent="0" marL="0">
              <a:buNone/>
            </a:pPr>
            <a:r>
              <a:rPr lang="en-US" sz="1000" dirty="0">
                <a:solidFill>
                  <a:srgbClr val="53657A"/>
                </a:solidFill>
                <a:latin typeface="Aptos" pitchFamily="34" charset="0"/>
                <a:ea typeface="Aptos" pitchFamily="34" charset="-122"/>
                <a:cs typeface="Aptos" pitchFamily="34" charset="-120"/>
              </a:rPr>
              <a:t>LECTURE 02</a:t>
            </a:r>
            <a:endParaRPr lang="en-US" sz="1000" dirty="0"/>
          </a:p>
        </p:txBody>
      </p:sp>
      <p:sp>
        <p:nvSpPr>
          <p:cNvPr id="6" name="Text 4"/>
          <p:cNvSpPr/>
          <p:nvPr/>
        </p:nvSpPr>
        <p:spPr>
          <a:xfrm>
            <a:off x="8321040" y="100584"/>
            <a:ext cx="3264408" cy="201168"/>
          </a:xfrm>
          <a:prstGeom prst="rect">
            <a:avLst/>
          </a:prstGeom>
          <a:noFill/>
          <a:ln/>
        </p:spPr>
        <p:txBody>
          <a:bodyPr wrap="square" lIns="0" tIns="0" rIns="0" bIns="0" rtlCol="0" anchor="ctr"/>
          <a:lstStyle/>
          <a:p>
            <a:pPr algn="r" indent="0" marL="0">
              <a:buNone/>
            </a:pPr>
            <a:r>
              <a:rPr lang="en-US" sz="1000" dirty="0">
                <a:solidFill>
                  <a:srgbClr val="53657A"/>
                </a:solidFill>
                <a:latin typeface="Aptos" pitchFamily="34" charset="0"/>
                <a:ea typeface="Aptos" pitchFamily="34" charset="-122"/>
                <a:cs typeface="Aptos" pitchFamily="34" charset="-120"/>
              </a:rPr>
              <a:t>EMBEDDINGS PREVIEW</a:t>
            </a:r>
            <a:endParaRPr lang="en-US" sz="1000" dirty="0"/>
          </a:p>
        </p:txBody>
      </p:sp>
      <p:sp>
        <p:nvSpPr>
          <p:cNvPr id="7" name="Text 5"/>
          <p:cNvSpPr/>
          <p:nvPr/>
        </p:nvSpPr>
        <p:spPr>
          <a:xfrm>
            <a:off x="594360" y="758952"/>
            <a:ext cx="11000232" cy="658368"/>
          </a:xfrm>
          <a:prstGeom prst="rect">
            <a:avLst/>
          </a:prstGeom>
          <a:noFill/>
          <a:ln/>
        </p:spPr>
        <p:txBody>
          <a:bodyPr wrap="square" lIns="0" tIns="0" rIns="0" bIns="0" rtlCol="0" anchor="ctr"/>
          <a:lstStyle/>
          <a:p>
            <a:pPr algn="l" indent="0" marL="0">
              <a:buNone/>
            </a:pPr>
            <a:r>
              <a:rPr lang="en-US" sz="3000" b="1" dirty="0">
                <a:solidFill>
                  <a:srgbClr val="172233"/>
                </a:solidFill>
                <a:latin typeface="Aptos" pitchFamily="34" charset="0"/>
                <a:ea typeface="Aptos" pitchFamily="34" charset="-122"/>
                <a:cs typeface="Aptos" pitchFamily="34" charset="-120"/>
              </a:rPr>
              <a:t>An embedding is learned, not drawn</a:t>
            </a:r>
            <a:endParaRPr lang="en-US" sz="3000" dirty="0"/>
          </a:p>
        </p:txBody>
      </p:sp>
      <p:sp>
        <p:nvSpPr>
          <p:cNvPr id="8" name="Text 6"/>
          <p:cNvSpPr/>
          <p:nvPr/>
        </p:nvSpPr>
        <p:spPr>
          <a:xfrm>
            <a:off x="594360" y="6510528"/>
            <a:ext cx="3657600" cy="164592"/>
          </a:xfrm>
          <a:prstGeom prst="rect">
            <a:avLst/>
          </a:prstGeom>
          <a:noFill/>
          <a:ln/>
        </p:spPr>
        <p:txBody>
          <a:bodyPr wrap="square" lIns="0" tIns="0" rIns="0" bIns="0" rtlCol="0" anchor="ctr"/>
          <a:lstStyle/>
          <a:p>
            <a:pPr algn="l" indent="0" marL="0">
              <a:buNone/>
            </a:pPr>
            <a:r>
              <a:rPr lang="en-US" sz="900" dirty="0">
                <a:solidFill>
                  <a:srgbClr val="53657A"/>
                </a:solidFill>
                <a:latin typeface="Aptos" pitchFamily="34" charset="0"/>
                <a:ea typeface="Aptos" pitchFamily="34" charset="-122"/>
                <a:cs typeface="Aptos" pitchFamily="34" charset="-120"/>
              </a:rPr>
              <a:t>DS101 | 2026-2027</a:t>
            </a:r>
            <a:endParaRPr lang="en-US" sz="900" dirty="0"/>
          </a:p>
        </p:txBody>
      </p:sp>
      <p:sp>
        <p:nvSpPr>
          <p:cNvPr id="9" name="Text 7"/>
          <p:cNvSpPr/>
          <p:nvPr/>
        </p:nvSpPr>
        <p:spPr>
          <a:xfrm>
            <a:off x="10680192" y="6492240"/>
            <a:ext cx="914400" cy="201168"/>
          </a:xfrm>
          <a:prstGeom prst="rect">
            <a:avLst/>
          </a:prstGeom>
          <a:noFill/>
          <a:ln/>
        </p:spPr>
        <p:txBody>
          <a:bodyPr wrap="square" lIns="0" tIns="0" rIns="0" bIns="0" rtlCol="0" anchor="ctr"/>
          <a:lstStyle/>
          <a:p>
            <a:pPr algn="r" indent="0" marL="0">
              <a:buNone/>
            </a:pPr>
            <a:r>
              <a:rPr lang="en-US" sz="1000" dirty="0">
                <a:solidFill>
                  <a:srgbClr val="53657A"/>
                </a:solidFill>
                <a:latin typeface="Aptos" pitchFamily="34" charset="0"/>
                <a:ea typeface="Aptos" pitchFamily="34" charset="-122"/>
                <a:cs typeface="Aptos" pitchFamily="34" charset="-120"/>
              </a:rPr>
              <a:t>20 / 24</a:t>
            </a:r>
            <a:endParaRPr lang="en-US" sz="1000" dirty="0"/>
          </a:p>
        </p:txBody>
      </p:sp>
      <p:sp>
        <p:nvSpPr>
          <p:cNvPr id="10" name="Shape 8"/>
          <p:cNvSpPr/>
          <p:nvPr/>
        </p:nvSpPr>
        <p:spPr>
          <a:xfrm>
            <a:off x="594360" y="5852160"/>
            <a:ext cx="11000232" cy="438912"/>
          </a:xfrm>
          <a:prstGeom prst="rect">
            <a:avLst/>
          </a:prstGeom>
          <a:solidFill>
            <a:srgbClr val="E3EFF7"/>
          </a:solidFill>
          <a:ln w="12700">
            <a:solidFill>
              <a:srgbClr val="E3EFF7">
                <a:alpha val="0"/>
              </a:srgbClr>
            </a:solidFill>
            <a:prstDash val="solid"/>
          </a:ln>
        </p:spPr>
      </p:sp>
      <p:sp>
        <p:nvSpPr>
          <p:cNvPr id="11" name="Text 9"/>
          <p:cNvSpPr/>
          <p:nvPr/>
        </p:nvSpPr>
        <p:spPr>
          <a:xfrm>
            <a:off x="795528" y="5943600"/>
            <a:ext cx="10607040" cy="256032"/>
          </a:xfrm>
          <a:prstGeom prst="rect">
            <a:avLst/>
          </a:prstGeom>
          <a:noFill/>
          <a:ln/>
        </p:spPr>
        <p:txBody>
          <a:bodyPr wrap="square" lIns="0" tIns="0" rIns="0" bIns="0" rtlCol="0" anchor="ctr"/>
          <a:lstStyle/>
          <a:p>
            <a:pPr algn="l" indent="0" marL="0">
              <a:buNone/>
            </a:pPr>
            <a:r>
              <a:rPr lang="en-US" sz="1700" b="1" dirty="0">
                <a:solidFill>
                  <a:srgbClr val="176493"/>
                </a:solidFill>
                <a:latin typeface="Aptos" pitchFamily="34" charset="0"/>
                <a:ea typeface="Aptos" pitchFamily="34" charset="-122"/>
                <a:cs typeface="Aptos" pitchFamily="34" charset="-120"/>
              </a:rPr>
              <a:t>The learning objective changes the vector. A plot only displays it.</a:t>
            </a:r>
            <a:endParaRPr lang="en-US" sz="1700" dirty="0"/>
          </a:p>
        </p:txBody>
      </p:sp>
      <p:sp>
        <p:nvSpPr>
          <p:cNvPr id="12" name="Text 10"/>
          <p:cNvSpPr/>
          <p:nvPr/>
        </p:nvSpPr>
        <p:spPr>
          <a:xfrm>
            <a:off x="749808" y="1645920"/>
            <a:ext cx="10607040" cy="219456"/>
          </a:xfrm>
          <a:prstGeom prst="rect">
            <a:avLst/>
          </a:prstGeom>
          <a:noFill/>
          <a:ln/>
        </p:spPr>
        <p:txBody>
          <a:bodyPr wrap="square" lIns="0" tIns="0" rIns="0" bIns="0" rtlCol="0" anchor="ctr"/>
          <a:lstStyle/>
          <a:p>
            <a:pPr algn="l" indent="0" marL="0">
              <a:buNone/>
            </a:pPr>
            <a:r>
              <a:rPr lang="en-US" sz="1150" b="1" spc="50" kern="0" dirty="0">
                <a:solidFill>
                  <a:srgbClr val="176493"/>
                </a:solidFill>
                <a:latin typeface="Aptos" pitchFamily="34" charset="0"/>
                <a:ea typeface="Aptos" pitchFamily="34" charset="-122"/>
                <a:cs typeface="Aptos" pitchFamily="34" charset="-120"/>
              </a:rPr>
              <a:t>TRAINABLE LOOKUP | ILLUSTRATIVE RECONSTRUCTION TASK</a:t>
            </a:r>
            <a:endParaRPr lang="en-US" sz="1150" dirty="0"/>
          </a:p>
        </p:txBody>
      </p:sp>
      <p:sp>
        <p:nvSpPr>
          <p:cNvPr id="13" name="Shape 11"/>
          <p:cNvSpPr/>
          <p:nvPr/>
        </p:nvSpPr>
        <p:spPr>
          <a:xfrm>
            <a:off x="768096" y="2514600"/>
            <a:ext cx="1828800" cy="1115568"/>
          </a:xfrm>
          <a:prstGeom prst="rect">
            <a:avLst/>
          </a:prstGeom>
          <a:solidFill>
            <a:srgbClr val="FFFFFF"/>
          </a:solidFill>
          <a:ln w="12700">
            <a:solidFill>
              <a:srgbClr val="FFFFFF">
                <a:alpha val="0"/>
              </a:srgbClr>
            </a:solidFill>
            <a:prstDash val="solid"/>
          </a:ln>
        </p:spPr>
      </p:sp>
      <p:sp>
        <p:nvSpPr>
          <p:cNvPr id="14" name="Text 12"/>
          <p:cNvSpPr/>
          <p:nvPr/>
        </p:nvSpPr>
        <p:spPr>
          <a:xfrm>
            <a:off x="886968" y="2724912"/>
            <a:ext cx="1591056" cy="740664"/>
          </a:xfrm>
          <a:prstGeom prst="rect">
            <a:avLst/>
          </a:prstGeom>
          <a:noFill/>
          <a:ln/>
        </p:spPr>
        <p:txBody>
          <a:bodyPr wrap="square" lIns="0" tIns="0" rIns="0" bIns="0" rtlCol="0" anchor="ctr"/>
          <a:lstStyle/>
          <a:p>
            <a:pPr algn="ctr" indent="0" marL="0">
              <a:buNone/>
            </a:pPr>
            <a:r>
              <a:rPr lang="en-US" sz="2100" b="1" dirty="0">
                <a:solidFill>
                  <a:srgbClr val="172233"/>
                </a:solidFill>
                <a:latin typeface="Aptos" pitchFamily="34" charset="0"/>
                <a:ea typeface="Aptos" pitchFamily="34" charset="-122"/>
                <a:cs typeface="Aptos" pitchFamily="34" charset="-120"/>
              </a:rPr>
              <a:t>Account ID</a:t>
            </a:r>
            <a:endParaRPr lang="en-US" sz="2100" dirty="0"/>
          </a:p>
          <a:p>
            <a:pPr algn="ctr" indent="0" marL="0">
              <a:buNone/>
            </a:pPr>
            <a:r>
              <a:rPr lang="en-US" sz="2100" b="1" dirty="0">
                <a:solidFill>
                  <a:srgbClr val="172233"/>
                </a:solidFill>
                <a:latin typeface="Aptos" pitchFamily="34" charset="0"/>
                <a:ea typeface="Aptos" pitchFamily="34" charset="-122"/>
                <a:cs typeface="Aptos" pitchFamily="34" charset="-120"/>
              </a:rPr>
              <a:t>A001</a:t>
            </a:r>
            <a:endParaRPr lang="en-US" sz="2100" dirty="0"/>
          </a:p>
        </p:txBody>
      </p:sp>
      <p:sp>
        <p:nvSpPr>
          <p:cNvPr id="15" name="Shape 13"/>
          <p:cNvSpPr/>
          <p:nvPr/>
        </p:nvSpPr>
        <p:spPr>
          <a:xfrm>
            <a:off x="2724912" y="3072384"/>
            <a:ext cx="512064" cy="0"/>
          </a:xfrm>
          <a:prstGeom prst="line">
            <a:avLst/>
          </a:prstGeom>
          <a:noFill/>
          <a:ln w="22860">
            <a:solidFill>
              <a:srgbClr val="176493"/>
            </a:solidFill>
            <a:prstDash val="solid"/>
            <a:headEnd type="none"/>
            <a:tailEnd type="triangle"/>
          </a:ln>
        </p:spPr>
      </p:sp>
      <p:sp>
        <p:nvSpPr>
          <p:cNvPr id="16" name="Shape 14"/>
          <p:cNvSpPr/>
          <p:nvPr/>
        </p:nvSpPr>
        <p:spPr>
          <a:xfrm>
            <a:off x="3447288" y="2724912"/>
            <a:ext cx="822960" cy="694944"/>
          </a:xfrm>
          <a:prstGeom prst="rect">
            <a:avLst/>
          </a:prstGeom>
          <a:solidFill>
            <a:srgbClr val="E3EFF7"/>
          </a:solidFill>
          <a:ln w="12700">
            <a:solidFill>
              <a:srgbClr val="E3EFF7">
                <a:alpha val="0"/>
              </a:srgbClr>
            </a:solidFill>
            <a:prstDash val="solid"/>
          </a:ln>
        </p:spPr>
      </p:sp>
      <p:sp>
        <p:nvSpPr>
          <p:cNvPr id="17" name="Text 15"/>
          <p:cNvSpPr/>
          <p:nvPr/>
        </p:nvSpPr>
        <p:spPr>
          <a:xfrm>
            <a:off x="3493008" y="2907792"/>
            <a:ext cx="731520" cy="274320"/>
          </a:xfrm>
          <a:prstGeom prst="rect">
            <a:avLst/>
          </a:prstGeom>
          <a:noFill/>
          <a:ln/>
        </p:spPr>
        <p:txBody>
          <a:bodyPr wrap="square" lIns="0" tIns="0" rIns="0" bIns="0" rtlCol="0" anchor="ctr"/>
          <a:lstStyle/>
          <a:p>
            <a:pPr algn="ctr" indent="0" marL="0">
              <a:buNone/>
            </a:pPr>
            <a:r>
              <a:rPr lang="en-US" sz="2100" b="1" dirty="0">
                <a:solidFill>
                  <a:srgbClr val="176493"/>
                </a:solidFill>
                <a:latin typeface="Aptos" pitchFamily="34" charset="0"/>
                <a:ea typeface="Aptos" pitchFamily="34" charset="-122"/>
                <a:cs typeface="Aptos" pitchFamily="34" charset="-120"/>
              </a:rPr>
              <a:t>0.12</a:t>
            </a:r>
            <a:endParaRPr lang="en-US" sz="2100" dirty="0"/>
          </a:p>
        </p:txBody>
      </p:sp>
      <p:sp>
        <p:nvSpPr>
          <p:cNvPr id="18" name="Shape 16"/>
          <p:cNvSpPr/>
          <p:nvPr/>
        </p:nvSpPr>
        <p:spPr>
          <a:xfrm>
            <a:off x="4407408" y="2724912"/>
            <a:ext cx="822960" cy="694944"/>
          </a:xfrm>
          <a:prstGeom prst="rect">
            <a:avLst/>
          </a:prstGeom>
          <a:solidFill>
            <a:srgbClr val="E0F0F1"/>
          </a:solidFill>
          <a:ln w="12700">
            <a:solidFill>
              <a:srgbClr val="E0F0F1">
                <a:alpha val="0"/>
              </a:srgbClr>
            </a:solidFill>
            <a:prstDash val="solid"/>
          </a:ln>
        </p:spPr>
      </p:sp>
      <p:sp>
        <p:nvSpPr>
          <p:cNvPr id="19" name="Text 17"/>
          <p:cNvSpPr/>
          <p:nvPr/>
        </p:nvSpPr>
        <p:spPr>
          <a:xfrm>
            <a:off x="4453128" y="2907792"/>
            <a:ext cx="731520" cy="274320"/>
          </a:xfrm>
          <a:prstGeom prst="rect">
            <a:avLst/>
          </a:prstGeom>
          <a:noFill/>
          <a:ln/>
        </p:spPr>
        <p:txBody>
          <a:bodyPr wrap="square" lIns="0" tIns="0" rIns="0" bIns="0" rtlCol="0" anchor="ctr"/>
          <a:lstStyle/>
          <a:p>
            <a:pPr algn="ctr" indent="0" marL="0">
              <a:buNone/>
            </a:pPr>
            <a:r>
              <a:rPr lang="en-US" sz="2100" b="1" dirty="0">
                <a:solidFill>
                  <a:srgbClr val="176493"/>
                </a:solidFill>
                <a:latin typeface="Aptos" pitchFamily="34" charset="0"/>
                <a:ea typeface="Aptos" pitchFamily="34" charset="-122"/>
                <a:cs typeface="Aptos" pitchFamily="34" charset="-120"/>
              </a:rPr>
              <a:t>-0.07</a:t>
            </a:r>
            <a:endParaRPr lang="en-US" sz="2100" dirty="0"/>
          </a:p>
        </p:txBody>
      </p:sp>
      <p:sp>
        <p:nvSpPr>
          <p:cNvPr id="20" name="Shape 18"/>
          <p:cNvSpPr/>
          <p:nvPr/>
        </p:nvSpPr>
        <p:spPr>
          <a:xfrm>
            <a:off x="5367528" y="2724912"/>
            <a:ext cx="822960" cy="694944"/>
          </a:xfrm>
          <a:prstGeom prst="rect">
            <a:avLst/>
          </a:prstGeom>
          <a:solidFill>
            <a:srgbClr val="E3EFF7"/>
          </a:solidFill>
          <a:ln w="12700">
            <a:solidFill>
              <a:srgbClr val="E3EFF7">
                <a:alpha val="0"/>
              </a:srgbClr>
            </a:solidFill>
            <a:prstDash val="solid"/>
          </a:ln>
        </p:spPr>
      </p:sp>
      <p:sp>
        <p:nvSpPr>
          <p:cNvPr id="21" name="Text 19"/>
          <p:cNvSpPr/>
          <p:nvPr/>
        </p:nvSpPr>
        <p:spPr>
          <a:xfrm>
            <a:off x="5413248" y="2907792"/>
            <a:ext cx="731520" cy="274320"/>
          </a:xfrm>
          <a:prstGeom prst="rect">
            <a:avLst/>
          </a:prstGeom>
          <a:noFill/>
          <a:ln/>
        </p:spPr>
        <p:txBody>
          <a:bodyPr wrap="square" lIns="0" tIns="0" rIns="0" bIns="0" rtlCol="0" anchor="ctr"/>
          <a:lstStyle/>
          <a:p>
            <a:pPr algn="ctr" indent="0" marL="0">
              <a:buNone/>
            </a:pPr>
            <a:r>
              <a:rPr lang="en-US" sz="2100" b="1" dirty="0">
                <a:solidFill>
                  <a:srgbClr val="176493"/>
                </a:solidFill>
                <a:latin typeface="Aptos" pitchFamily="34" charset="0"/>
                <a:ea typeface="Aptos" pitchFamily="34" charset="-122"/>
                <a:cs typeface="Aptos" pitchFamily="34" charset="-120"/>
              </a:rPr>
              <a:t>-0.42</a:t>
            </a:r>
            <a:endParaRPr lang="en-US" sz="2100" dirty="0"/>
          </a:p>
        </p:txBody>
      </p:sp>
      <p:sp>
        <p:nvSpPr>
          <p:cNvPr id="22" name="Shape 20"/>
          <p:cNvSpPr/>
          <p:nvPr/>
        </p:nvSpPr>
        <p:spPr>
          <a:xfrm>
            <a:off x="6327648" y="2724912"/>
            <a:ext cx="822960" cy="694944"/>
          </a:xfrm>
          <a:prstGeom prst="rect">
            <a:avLst/>
          </a:prstGeom>
          <a:solidFill>
            <a:srgbClr val="E0F0F1"/>
          </a:solidFill>
          <a:ln w="12700">
            <a:solidFill>
              <a:srgbClr val="E0F0F1">
                <a:alpha val="0"/>
              </a:srgbClr>
            </a:solidFill>
            <a:prstDash val="solid"/>
          </a:ln>
        </p:spPr>
      </p:sp>
      <p:sp>
        <p:nvSpPr>
          <p:cNvPr id="23" name="Text 21"/>
          <p:cNvSpPr/>
          <p:nvPr/>
        </p:nvSpPr>
        <p:spPr>
          <a:xfrm>
            <a:off x="6373368" y="2907792"/>
            <a:ext cx="731520" cy="274320"/>
          </a:xfrm>
          <a:prstGeom prst="rect">
            <a:avLst/>
          </a:prstGeom>
          <a:noFill/>
          <a:ln/>
        </p:spPr>
        <p:txBody>
          <a:bodyPr wrap="square" lIns="0" tIns="0" rIns="0" bIns="0" rtlCol="0" anchor="ctr"/>
          <a:lstStyle/>
          <a:p>
            <a:pPr algn="ctr" indent="0" marL="0">
              <a:buNone/>
            </a:pPr>
            <a:r>
              <a:rPr lang="en-US" sz="2100" b="1" dirty="0">
                <a:solidFill>
                  <a:srgbClr val="176493"/>
                </a:solidFill>
                <a:latin typeface="Aptos" pitchFamily="34" charset="0"/>
                <a:ea typeface="Aptos" pitchFamily="34" charset="-122"/>
                <a:cs typeface="Aptos" pitchFamily="34" charset="-120"/>
              </a:rPr>
              <a:t>0.21</a:t>
            </a:r>
            <a:endParaRPr lang="en-US" sz="2100" dirty="0"/>
          </a:p>
        </p:txBody>
      </p:sp>
      <p:sp>
        <p:nvSpPr>
          <p:cNvPr id="24" name="Text 22"/>
          <p:cNvSpPr/>
          <p:nvPr/>
        </p:nvSpPr>
        <p:spPr>
          <a:xfrm>
            <a:off x="3465576" y="3694176"/>
            <a:ext cx="3931920" cy="219456"/>
          </a:xfrm>
          <a:prstGeom prst="rect">
            <a:avLst/>
          </a:prstGeom>
          <a:noFill/>
          <a:ln/>
        </p:spPr>
        <p:txBody>
          <a:bodyPr wrap="square" lIns="0" tIns="0" rIns="0" bIns="0" rtlCol="0" anchor="ctr"/>
          <a:lstStyle/>
          <a:p>
            <a:pPr algn="l" indent="0" marL="0">
              <a:buNone/>
            </a:pPr>
            <a:r>
              <a:rPr lang="en-US" sz="1150" b="1" spc="50" kern="0" dirty="0">
                <a:solidFill>
                  <a:srgbClr val="167C85"/>
                </a:solidFill>
                <a:latin typeface="Aptos" pitchFamily="34" charset="0"/>
                <a:ea typeface="Aptos" pitchFamily="34" charset="-122"/>
                <a:cs typeface="Aptos" pitchFamily="34" charset="-120"/>
              </a:rPr>
              <a:t>LEARNED 4-D VECTOR</a:t>
            </a:r>
            <a:endParaRPr lang="en-US" sz="1150" dirty="0"/>
          </a:p>
        </p:txBody>
      </p:sp>
      <p:sp>
        <p:nvSpPr>
          <p:cNvPr id="25" name="Shape 23"/>
          <p:cNvSpPr/>
          <p:nvPr/>
        </p:nvSpPr>
        <p:spPr>
          <a:xfrm>
            <a:off x="7406640" y="3072384"/>
            <a:ext cx="429768" cy="0"/>
          </a:xfrm>
          <a:prstGeom prst="line">
            <a:avLst/>
          </a:prstGeom>
          <a:noFill/>
          <a:ln w="22860">
            <a:solidFill>
              <a:srgbClr val="176493"/>
            </a:solidFill>
            <a:prstDash val="solid"/>
            <a:headEnd type="none"/>
            <a:tailEnd type="triangle"/>
          </a:ln>
        </p:spPr>
      </p:sp>
      <p:sp>
        <p:nvSpPr>
          <p:cNvPr id="26" name="Shape 24"/>
          <p:cNvSpPr/>
          <p:nvPr/>
        </p:nvSpPr>
        <p:spPr>
          <a:xfrm>
            <a:off x="8028432" y="2423160"/>
            <a:ext cx="3310128" cy="1371600"/>
          </a:xfrm>
          <a:prstGeom prst="rect">
            <a:avLst/>
          </a:prstGeom>
          <a:solidFill>
            <a:srgbClr val="FFFFFF"/>
          </a:solidFill>
          <a:ln w="12700">
            <a:solidFill>
              <a:srgbClr val="FFFFFF">
                <a:alpha val="0"/>
              </a:srgbClr>
            </a:solidFill>
            <a:prstDash val="solid"/>
          </a:ln>
        </p:spPr>
      </p:sp>
      <p:sp>
        <p:nvSpPr>
          <p:cNvPr id="27" name="Text 25"/>
          <p:cNvSpPr/>
          <p:nvPr/>
        </p:nvSpPr>
        <p:spPr>
          <a:xfrm>
            <a:off x="8229600" y="2670048"/>
            <a:ext cx="2889504" cy="365760"/>
          </a:xfrm>
          <a:prstGeom prst="rect">
            <a:avLst/>
          </a:prstGeom>
          <a:noFill/>
          <a:ln/>
        </p:spPr>
        <p:txBody>
          <a:bodyPr wrap="square" lIns="0" tIns="0" rIns="0" bIns="0" rtlCol="0" anchor="ctr"/>
          <a:lstStyle/>
          <a:p>
            <a:pPr algn="l" indent="0" marL="0">
              <a:buNone/>
            </a:pPr>
            <a:r>
              <a:rPr lang="en-US" sz="2400" b="1" dirty="0">
                <a:solidFill>
                  <a:srgbClr val="172233"/>
                </a:solidFill>
                <a:latin typeface="Aptos" pitchFamily="34" charset="0"/>
                <a:ea typeface="Aptos" pitchFamily="34" charset="-122"/>
                <a:cs typeface="Aptos" pitchFamily="34" charset="-120"/>
              </a:rPr>
              <a:t>Linear decoder</a:t>
            </a:r>
            <a:endParaRPr lang="en-US" sz="2400" dirty="0"/>
          </a:p>
        </p:txBody>
      </p:sp>
      <p:sp>
        <p:nvSpPr>
          <p:cNvPr id="28" name="Text 26"/>
          <p:cNvSpPr/>
          <p:nvPr/>
        </p:nvSpPr>
        <p:spPr>
          <a:xfrm>
            <a:off x="8229600" y="3209544"/>
            <a:ext cx="2889504" cy="310896"/>
          </a:xfrm>
          <a:prstGeom prst="rect">
            <a:avLst/>
          </a:prstGeom>
          <a:noFill/>
          <a:ln/>
        </p:spPr>
        <p:txBody>
          <a:bodyPr wrap="square" lIns="0" tIns="0" rIns="0" bIns="0" rtlCol="0" anchor="ctr"/>
          <a:lstStyle/>
          <a:p>
            <a:pPr algn="l" indent="0" marL="0">
              <a:buNone/>
            </a:pPr>
            <a:r>
              <a:rPr lang="en-US" sz="1800" dirty="0">
                <a:solidFill>
                  <a:srgbClr val="53657A"/>
                </a:solidFill>
                <a:latin typeface="Aptos" pitchFamily="34" charset="0"/>
                <a:ea typeface="Aptos" pitchFamily="34" charset="-122"/>
                <a:cs typeface="Aptos" pitchFamily="34" charset="-120"/>
              </a:rPr>
              <a:t>Reconstruct scaled RFM</a:t>
            </a:r>
            <a:endParaRPr lang="en-US" sz="1800" dirty="0"/>
          </a:p>
        </p:txBody>
      </p:sp>
      <p:sp>
        <p:nvSpPr>
          <p:cNvPr id="29" name="Text 27"/>
          <p:cNvSpPr/>
          <p:nvPr/>
        </p:nvSpPr>
        <p:spPr>
          <a:xfrm>
            <a:off x="832104" y="4956048"/>
            <a:ext cx="10515600" cy="603504"/>
          </a:xfrm>
          <a:prstGeom prst="rect">
            <a:avLst/>
          </a:prstGeom>
          <a:noFill/>
          <a:ln/>
        </p:spPr>
        <p:txBody>
          <a:bodyPr wrap="square" lIns="0" tIns="0" rIns="0" bIns="0" rtlCol="0" anchor="ctr"/>
          <a:lstStyle/>
          <a:p>
            <a:pPr algn="l" indent="0" marL="0">
              <a:buNone/>
            </a:pPr>
            <a:r>
              <a:rPr lang="en-US" sz="2300" b="1" dirty="0">
                <a:solidFill>
                  <a:srgbClr val="172233"/>
                </a:solidFill>
                <a:latin typeface="Aptos" pitchFamily="34" charset="0"/>
                <a:ea typeface="Aptos" pitchFamily="34" charset="-122"/>
                <a:cs typeface="Aptos" pitchFamily="34" charset="-120"/>
              </a:rPr>
              <a:t>Known account IDs only. This does not predict future behavior.</a:t>
            </a:r>
            <a:endParaRPr lang="en-US" sz="2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0" y="0"/>
            <a:ext cx="12192000" cy="402336"/>
          </a:xfrm>
          <a:prstGeom prst="rect">
            <a:avLst/>
          </a:prstGeom>
          <a:solidFill>
            <a:srgbClr val="E7EEF7"/>
          </a:solidFill>
          <a:ln w="12700">
            <a:solidFill>
              <a:srgbClr val="E7EEF7">
                <a:alpha val="0"/>
              </a:srgbClr>
            </a:solidFill>
            <a:prstDash val="solid"/>
          </a:ln>
        </p:spPr>
      </p:sp>
      <p:sp>
        <p:nvSpPr>
          <p:cNvPr id="3" name="Shape 1"/>
          <p:cNvSpPr/>
          <p:nvPr/>
        </p:nvSpPr>
        <p:spPr>
          <a:xfrm>
            <a:off x="466344" y="123444"/>
            <a:ext cx="64008" cy="146304"/>
          </a:xfrm>
          <a:prstGeom prst="rect">
            <a:avLst/>
          </a:prstGeom>
          <a:solidFill>
            <a:srgbClr val="176493"/>
          </a:solidFill>
          <a:ln w="12700">
            <a:solidFill>
              <a:srgbClr val="176493">
                <a:alpha val="0"/>
              </a:srgbClr>
            </a:solidFill>
            <a:prstDash val="solid"/>
          </a:ln>
        </p:spPr>
      </p:sp>
      <p:sp>
        <p:nvSpPr>
          <p:cNvPr id="4" name="Text 2"/>
          <p:cNvSpPr/>
          <p:nvPr/>
        </p:nvSpPr>
        <p:spPr>
          <a:xfrm>
            <a:off x="594360" y="100584"/>
            <a:ext cx="731520" cy="201168"/>
          </a:xfrm>
          <a:prstGeom prst="rect">
            <a:avLst/>
          </a:prstGeom>
          <a:noFill/>
          <a:ln/>
        </p:spPr>
        <p:txBody>
          <a:bodyPr wrap="square" lIns="0" tIns="0" rIns="0" bIns="0" rtlCol="0" anchor="ctr"/>
          <a:lstStyle/>
          <a:p>
            <a:pPr algn="l" indent="0" marL="0">
              <a:buNone/>
            </a:pPr>
            <a:r>
              <a:rPr lang="en-US" sz="1100" b="1" dirty="0">
                <a:solidFill>
                  <a:srgbClr val="176493"/>
                </a:solidFill>
                <a:latin typeface="Aptos" pitchFamily="34" charset="0"/>
                <a:ea typeface="Aptos" pitchFamily="34" charset="-122"/>
                <a:cs typeface="Aptos" pitchFamily="34" charset="-120"/>
              </a:rPr>
              <a:t>DS101</a:t>
            </a:r>
            <a:endParaRPr lang="en-US" sz="1100" dirty="0"/>
          </a:p>
        </p:txBody>
      </p:sp>
      <p:sp>
        <p:nvSpPr>
          <p:cNvPr id="5" name="Text 3"/>
          <p:cNvSpPr/>
          <p:nvPr/>
        </p:nvSpPr>
        <p:spPr>
          <a:xfrm>
            <a:off x="1463040" y="100584"/>
            <a:ext cx="1828800" cy="201168"/>
          </a:xfrm>
          <a:prstGeom prst="rect">
            <a:avLst/>
          </a:prstGeom>
          <a:noFill/>
          <a:ln/>
        </p:spPr>
        <p:txBody>
          <a:bodyPr wrap="square" lIns="0" tIns="0" rIns="0" bIns="0" rtlCol="0" anchor="ctr"/>
          <a:lstStyle/>
          <a:p>
            <a:pPr algn="l" indent="0" marL="0">
              <a:buNone/>
            </a:pPr>
            <a:r>
              <a:rPr lang="en-US" sz="1000" dirty="0">
                <a:solidFill>
                  <a:srgbClr val="53657A"/>
                </a:solidFill>
                <a:latin typeface="Aptos" pitchFamily="34" charset="0"/>
                <a:ea typeface="Aptos" pitchFamily="34" charset="-122"/>
                <a:cs typeface="Aptos" pitchFamily="34" charset="-120"/>
              </a:rPr>
              <a:t>LECTURE 02</a:t>
            </a:r>
            <a:endParaRPr lang="en-US" sz="1000" dirty="0"/>
          </a:p>
        </p:txBody>
      </p:sp>
      <p:sp>
        <p:nvSpPr>
          <p:cNvPr id="6" name="Text 4"/>
          <p:cNvSpPr/>
          <p:nvPr/>
        </p:nvSpPr>
        <p:spPr>
          <a:xfrm>
            <a:off x="8321040" y="100584"/>
            <a:ext cx="3264408" cy="201168"/>
          </a:xfrm>
          <a:prstGeom prst="rect">
            <a:avLst/>
          </a:prstGeom>
          <a:noFill/>
          <a:ln/>
        </p:spPr>
        <p:txBody>
          <a:bodyPr wrap="square" lIns="0" tIns="0" rIns="0" bIns="0" rtlCol="0" anchor="ctr"/>
          <a:lstStyle/>
          <a:p>
            <a:pPr algn="r" indent="0" marL="0">
              <a:buNone/>
            </a:pPr>
            <a:r>
              <a:rPr lang="en-US" sz="1000" dirty="0">
                <a:solidFill>
                  <a:srgbClr val="53657A"/>
                </a:solidFill>
                <a:latin typeface="Aptos" pitchFamily="34" charset="0"/>
                <a:ea typeface="Aptos" pitchFamily="34" charset="-122"/>
                <a:cs typeface="Aptos" pitchFamily="34" charset="-120"/>
              </a:rPr>
              <a:t>EMBEDDING VISUALIZATION</a:t>
            </a:r>
            <a:endParaRPr lang="en-US" sz="1000" dirty="0"/>
          </a:p>
        </p:txBody>
      </p:sp>
      <p:sp>
        <p:nvSpPr>
          <p:cNvPr id="7" name="Text 5"/>
          <p:cNvSpPr/>
          <p:nvPr/>
        </p:nvSpPr>
        <p:spPr>
          <a:xfrm>
            <a:off x="594360" y="758952"/>
            <a:ext cx="11000232" cy="658368"/>
          </a:xfrm>
          <a:prstGeom prst="rect">
            <a:avLst/>
          </a:prstGeom>
          <a:noFill/>
          <a:ln/>
        </p:spPr>
        <p:txBody>
          <a:bodyPr wrap="square" lIns="0" tIns="0" rIns="0" bIns="0" rtlCol="0" anchor="ctr"/>
          <a:lstStyle/>
          <a:p>
            <a:pPr algn="l" indent="0" marL="0">
              <a:buNone/>
            </a:pPr>
            <a:r>
              <a:rPr lang="en-US" sz="3000" b="1" dirty="0">
                <a:solidFill>
                  <a:srgbClr val="172233"/>
                </a:solidFill>
                <a:latin typeface="Aptos" pitchFamily="34" charset="0"/>
                <a:ea typeface="Aptos" pitchFamily="34" charset="-122"/>
                <a:cs typeface="Aptos" pitchFamily="34" charset="-120"/>
              </a:rPr>
              <a:t>A map is a view of learned vectors</a:t>
            </a:r>
            <a:endParaRPr lang="en-US" sz="3000" dirty="0"/>
          </a:p>
        </p:txBody>
      </p:sp>
      <p:sp>
        <p:nvSpPr>
          <p:cNvPr id="8" name="Text 6"/>
          <p:cNvSpPr/>
          <p:nvPr/>
        </p:nvSpPr>
        <p:spPr>
          <a:xfrm>
            <a:off x="594360" y="6510528"/>
            <a:ext cx="3657600" cy="164592"/>
          </a:xfrm>
          <a:prstGeom prst="rect">
            <a:avLst/>
          </a:prstGeom>
          <a:noFill/>
          <a:ln/>
        </p:spPr>
        <p:txBody>
          <a:bodyPr wrap="square" lIns="0" tIns="0" rIns="0" bIns="0" rtlCol="0" anchor="ctr"/>
          <a:lstStyle/>
          <a:p>
            <a:pPr algn="l" indent="0" marL="0">
              <a:buNone/>
            </a:pPr>
            <a:r>
              <a:rPr lang="en-US" sz="900" dirty="0">
                <a:solidFill>
                  <a:srgbClr val="53657A"/>
                </a:solidFill>
                <a:latin typeface="Aptos" pitchFamily="34" charset="0"/>
                <a:ea typeface="Aptos" pitchFamily="34" charset="-122"/>
                <a:cs typeface="Aptos" pitchFamily="34" charset="-120"/>
              </a:rPr>
              <a:t>DS101 | 2026-2027</a:t>
            </a:r>
            <a:endParaRPr lang="en-US" sz="900" dirty="0"/>
          </a:p>
        </p:txBody>
      </p:sp>
      <p:sp>
        <p:nvSpPr>
          <p:cNvPr id="9" name="Text 7"/>
          <p:cNvSpPr/>
          <p:nvPr/>
        </p:nvSpPr>
        <p:spPr>
          <a:xfrm>
            <a:off x="10680192" y="6492240"/>
            <a:ext cx="914400" cy="201168"/>
          </a:xfrm>
          <a:prstGeom prst="rect">
            <a:avLst/>
          </a:prstGeom>
          <a:noFill/>
          <a:ln/>
        </p:spPr>
        <p:txBody>
          <a:bodyPr wrap="square" lIns="0" tIns="0" rIns="0" bIns="0" rtlCol="0" anchor="ctr"/>
          <a:lstStyle/>
          <a:p>
            <a:pPr algn="r" indent="0" marL="0">
              <a:buNone/>
            </a:pPr>
            <a:r>
              <a:rPr lang="en-US" sz="1000" dirty="0">
                <a:solidFill>
                  <a:srgbClr val="53657A"/>
                </a:solidFill>
                <a:latin typeface="Aptos" pitchFamily="34" charset="0"/>
                <a:ea typeface="Aptos" pitchFamily="34" charset="-122"/>
                <a:cs typeface="Aptos" pitchFamily="34" charset="-120"/>
              </a:rPr>
              <a:t>21 / 24</a:t>
            </a:r>
            <a:endParaRPr lang="en-US" sz="1000" dirty="0"/>
          </a:p>
        </p:txBody>
      </p:sp>
      <p:sp>
        <p:nvSpPr>
          <p:cNvPr id="10" name="Shape 8"/>
          <p:cNvSpPr/>
          <p:nvPr/>
        </p:nvSpPr>
        <p:spPr>
          <a:xfrm>
            <a:off x="594360" y="5852160"/>
            <a:ext cx="11000232" cy="438912"/>
          </a:xfrm>
          <a:prstGeom prst="rect">
            <a:avLst/>
          </a:prstGeom>
          <a:solidFill>
            <a:srgbClr val="E3EFF7"/>
          </a:solidFill>
          <a:ln w="12700">
            <a:solidFill>
              <a:srgbClr val="E3EFF7">
                <a:alpha val="0"/>
              </a:srgbClr>
            </a:solidFill>
            <a:prstDash val="solid"/>
          </a:ln>
        </p:spPr>
      </p:sp>
      <p:sp>
        <p:nvSpPr>
          <p:cNvPr id="11" name="Text 9"/>
          <p:cNvSpPr/>
          <p:nvPr/>
        </p:nvSpPr>
        <p:spPr>
          <a:xfrm>
            <a:off x="795528" y="5943600"/>
            <a:ext cx="10607040" cy="256032"/>
          </a:xfrm>
          <a:prstGeom prst="rect">
            <a:avLst/>
          </a:prstGeom>
          <a:noFill/>
          <a:ln/>
        </p:spPr>
        <p:txBody>
          <a:bodyPr wrap="square" lIns="0" tIns="0" rIns="0" bIns="0" rtlCol="0" anchor="ctr"/>
          <a:lstStyle/>
          <a:p>
            <a:pPr algn="l" indent="0" marL="0">
              <a:buNone/>
            </a:pPr>
            <a:r>
              <a:rPr lang="en-US" sz="1700" b="1" dirty="0">
                <a:solidFill>
                  <a:srgbClr val="176493"/>
                </a:solidFill>
                <a:latin typeface="Aptos" pitchFamily="34" charset="0"/>
                <a:ea typeface="Aptos" pitchFamily="34" charset="-122"/>
                <a:cs typeface="Aptos" pitchFamily="34" charset="-120"/>
              </a:rPr>
              <a:t>Coordinates, labels and the training objective are different pieces of evidence.</a:t>
            </a:r>
            <a:endParaRPr lang="en-US" sz="1700" dirty="0"/>
          </a:p>
        </p:txBody>
      </p:sp>
      <p:sp>
        <p:nvSpPr>
          <p:cNvPr id="12" name="Text 10"/>
          <p:cNvSpPr/>
          <p:nvPr/>
        </p:nvSpPr>
        <p:spPr>
          <a:xfrm>
            <a:off x="749808" y="1627632"/>
            <a:ext cx="10607040" cy="219456"/>
          </a:xfrm>
          <a:prstGeom prst="rect">
            <a:avLst/>
          </a:prstGeom>
          <a:noFill/>
          <a:ln/>
        </p:spPr>
        <p:txBody>
          <a:bodyPr wrap="square" lIns="0" tIns="0" rIns="0" bIns="0" rtlCol="0" anchor="ctr"/>
          <a:lstStyle/>
          <a:p>
            <a:pPr algn="l" indent="0" marL="0">
              <a:buNone/>
            </a:pPr>
            <a:r>
              <a:rPr lang="en-US" sz="1150" b="1" spc="50" kern="0" dirty="0">
                <a:solidFill>
                  <a:srgbClr val="176493"/>
                </a:solidFill>
                <a:latin typeface="Aptos" pitchFamily="34" charset="0"/>
                <a:ea typeface="Aptos" pitchFamily="34" charset="-122"/>
                <a:cs typeface="Aptos" pitchFamily="34" charset="-120"/>
              </a:rPr>
              <a:t>ACTUAL COMPUTED T-SNE OF THE SYNTHETIC 4-D LOOKUP</a:t>
            </a:r>
            <a:endParaRPr lang="en-US" sz="1150" dirty="0"/>
          </a:p>
        </p:txBody>
      </p:sp>
      <p:sp>
        <p:nvSpPr>
          <p:cNvPr id="13" name="Shape 11"/>
          <p:cNvSpPr/>
          <p:nvPr/>
        </p:nvSpPr>
        <p:spPr>
          <a:xfrm>
            <a:off x="749808" y="2039112"/>
            <a:ext cx="6949440" cy="3575304"/>
          </a:xfrm>
          <a:prstGeom prst="rect">
            <a:avLst/>
          </a:prstGeom>
          <a:solidFill>
            <a:srgbClr val="FFFFFF"/>
          </a:solidFill>
          <a:ln w="12700">
            <a:solidFill>
              <a:srgbClr val="FFFFFF">
                <a:alpha val="0"/>
              </a:srgbClr>
            </a:solidFill>
            <a:prstDash val="solid"/>
          </a:ln>
        </p:spPr>
      </p:sp>
      <p:sp>
        <p:nvSpPr>
          <p:cNvPr id="14" name="Shape 12"/>
          <p:cNvSpPr/>
          <p:nvPr/>
        </p:nvSpPr>
        <p:spPr>
          <a:xfrm>
            <a:off x="1325880" y="4882896"/>
            <a:ext cx="6153912" cy="0"/>
          </a:xfrm>
          <a:prstGeom prst="line">
            <a:avLst/>
          </a:prstGeom>
          <a:noFill/>
          <a:ln w="8255">
            <a:solidFill>
              <a:srgbClr val="E3EFF7"/>
            </a:solidFill>
            <a:prstDash val="solid"/>
            <a:headEnd type="none"/>
            <a:tailEnd type="none"/>
          </a:ln>
        </p:spPr>
      </p:sp>
      <p:sp>
        <p:nvSpPr>
          <p:cNvPr id="15" name="Shape 13"/>
          <p:cNvSpPr/>
          <p:nvPr/>
        </p:nvSpPr>
        <p:spPr>
          <a:xfrm>
            <a:off x="1325880" y="3790188"/>
            <a:ext cx="6153912" cy="0"/>
          </a:xfrm>
          <a:prstGeom prst="line">
            <a:avLst/>
          </a:prstGeom>
          <a:noFill/>
          <a:ln w="8255">
            <a:solidFill>
              <a:srgbClr val="E3EFF7"/>
            </a:solidFill>
            <a:prstDash val="solid"/>
            <a:headEnd type="none"/>
            <a:tailEnd type="none"/>
          </a:ln>
        </p:spPr>
      </p:sp>
      <p:sp>
        <p:nvSpPr>
          <p:cNvPr id="16" name="Shape 14"/>
          <p:cNvSpPr/>
          <p:nvPr/>
        </p:nvSpPr>
        <p:spPr>
          <a:xfrm>
            <a:off x="1325880" y="2697480"/>
            <a:ext cx="6153912" cy="0"/>
          </a:xfrm>
          <a:prstGeom prst="line">
            <a:avLst/>
          </a:prstGeom>
          <a:noFill/>
          <a:ln w="8255">
            <a:solidFill>
              <a:srgbClr val="E3EFF7"/>
            </a:solidFill>
            <a:prstDash val="solid"/>
            <a:headEnd type="none"/>
            <a:tailEnd type="none"/>
          </a:ln>
        </p:spPr>
      </p:sp>
      <p:sp>
        <p:nvSpPr>
          <p:cNvPr id="17" name="Shape 15"/>
          <p:cNvSpPr/>
          <p:nvPr/>
        </p:nvSpPr>
        <p:spPr>
          <a:xfrm>
            <a:off x="1325880" y="2697480"/>
            <a:ext cx="0" cy="2185416"/>
          </a:xfrm>
          <a:prstGeom prst="line">
            <a:avLst/>
          </a:prstGeom>
          <a:noFill/>
          <a:ln w="12700">
            <a:solidFill>
              <a:srgbClr val="C4D2E2"/>
            </a:solidFill>
            <a:prstDash val="solid"/>
            <a:headEnd type="none"/>
            <a:tailEnd type="none"/>
          </a:ln>
        </p:spPr>
      </p:sp>
      <p:sp>
        <p:nvSpPr>
          <p:cNvPr id="18" name="Shape 16"/>
          <p:cNvSpPr/>
          <p:nvPr/>
        </p:nvSpPr>
        <p:spPr>
          <a:xfrm>
            <a:off x="1325880" y="4882896"/>
            <a:ext cx="6153912" cy="0"/>
          </a:xfrm>
          <a:prstGeom prst="line">
            <a:avLst/>
          </a:prstGeom>
          <a:noFill/>
          <a:ln w="12700">
            <a:solidFill>
              <a:srgbClr val="C4D2E2"/>
            </a:solidFill>
            <a:prstDash val="solid"/>
            <a:headEnd type="none"/>
            <a:tailEnd type="none"/>
          </a:ln>
        </p:spPr>
      </p:sp>
      <p:sp>
        <p:nvSpPr>
          <p:cNvPr id="19" name="Text 17"/>
          <p:cNvSpPr/>
          <p:nvPr/>
        </p:nvSpPr>
        <p:spPr>
          <a:xfrm>
            <a:off x="905256" y="2148840"/>
            <a:ext cx="6638544" cy="265176"/>
          </a:xfrm>
          <a:prstGeom prst="rect">
            <a:avLst/>
          </a:prstGeom>
          <a:noFill/>
          <a:ln/>
        </p:spPr>
        <p:txBody>
          <a:bodyPr wrap="square" lIns="0" tIns="0" rIns="0" bIns="0" rtlCol="0" anchor="ctr"/>
          <a:lstStyle/>
          <a:p>
            <a:pPr algn="l" indent="0" marL="0">
              <a:buNone/>
            </a:pPr>
            <a:r>
              <a:rPr lang="en-US" sz="1600" b="1" dirty="0">
                <a:solidFill>
                  <a:srgbClr val="172233"/>
                </a:solidFill>
                <a:latin typeface="Aptos" pitchFamily="34" charset="0"/>
                <a:ea typeface="Aptos" pitchFamily="34" charset="-122"/>
                <a:cs typeface="Aptos" pitchFamily="34" charset="-120"/>
              </a:rPr>
              <a:t>One point = one learned account vector</a:t>
            </a:r>
            <a:endParaRPr lang="en-US" sz="1600" dirty="0"/>
          </a:p>
        </p:txBody>
      </p:sp>
      <p:sp>
        <p:nvSpPr>
          <p:cNvPr id="20" name="Text 18"/>
          <p:cNvSpPr/>
          <p:nvPr/>
        </p:nvSpPr>
        <p:spPr>
          <a:xfrm>
            <a:off x="1325880" y="2414016"/>
            <a:ext cx="6153912" cy="201168"/>
          </a:xfrm>
          <a:prstGeom prst="rect">
            <a:avLst/>
          </a:prstGeom>
          <a:noFill/>
          <a:ln/>
        </p:spPr>
        <p:txBody>
          <a:bodyPr wrap="square" lIns="0" tIns="0" rIns="0" bIns="0" rtlCol="0" anchor="ctr"/>
          <a:lstStyle/>
          <a:p>
            <a:pPr algn="l" indent="0" marL="0">
              <a:buNone/>
            </a:pPr>
            <a:r>
              <a:rPr lang="en-US" sz="1300" dirty="0">
                <a:solidFill>
                  <a:srgbClr val="53657A"/>
                </a:solidFill>
                <a:latin typeface="Aptos" pitchFamily="34" charset="0"/>
                <a:ea typeface="Aptos" pitchFamily="34" charset="-122"/>
                <a:cs typeface="Aptos" pitchFamily="34" charset="-120"/>
              </a:rPr>
              <a:t>t-SNE 2</a:t>
            </a:r>
            <a:endParaRPr lang="en-US" sz="1300" dirty="0"/>
          </a:p>
        </p:txBody>
      </p:sp>
      <p:sp>
        <p:nvSpPr>
          <p:cNvPr id="21" name="Text 19"/>
          <p:cNvSpPr/>
          <p:nvPr/>
        </p:nvSpPr>
        <p:spPr>
          <a:xfrm>
            <a:off x="1325880" y="5385816"/>
            <a:ext cx="6153912" cy="210312"/>
          </a:xfrm>
          <a:prstGeom prst="rect">
            <a:avLst/>
          </a:prstGeom>
          <a:noFill/>
          <a:ln/>
        </p:spPr>
        <p:txBody>
          <a:bodyPr wrap="square" lIns="0" tIns="0" rIns="0" bIns="0" rtlCol="0" anchor="ctr"/>
          <a:lstStyle/>
          <a:p>
            <a:pPr algn="ctr" indent="0" marL="0">
              <a:buNone/>
            </a:pPr>
            <a:r>
              <a:rPr lang="en-US" sz="1300" dirty="0">
                <a:solidFill>
                  <a:srgbClr val="53657A"/>
                </a:solidFill>
                <a:latin typeface="Aptos" pitchFamily="34" charset="0"/>
                <a:ea typeface="Aptos" pitchFamily="34" charset="-122"/>
                <a:cs typeface="Aptos" pitchFamily="34" charset="-120"/>
              </a:rPr>
              <a:t>t-SNE 1 (arbitrary units)</a:t>
            </a:r>
            <a:endParaRPr lang="en-US" sz="1300" dirty="0"/>
          </a:p>
        </p:txBody>
      </p:sp>
      <p:sp>
        <p:nvSpPr>
          <p:cNvPr id="22" name="Shape 20"/>
          <p:cNvSpPr/>
          <p:nvPr/>
        </p:nvSpPr>
        <p:spPr>
          <a:xfrm>
            <a:off x="5185486" y="4280307"/>
            <a:ext cx="117043" cy="117043"/>
          </a:xfrm>
          <a:prstGeom prst="diamond">
            <a:avLst/>
          </a:prstGeom>
          <a:solidFill>
            <a:srgbClr val="167C85"/>
          </a:solidFill>
          <a:ln w="5080">
            <a:solidFill>
              <a:srgbClr val="167C85"/>
            </a:solidFill>
            <a:prstDash val="solid"/>
          </a:ln>
        </p:spPr>
      </p:sp>
      <p:sp>
        <p:nvSpPr>
          <p:cNvPr id="23" name="Shape 21"/>
          <p:cNvSpPr/>
          <p:nvPr/>
        </p:nvSpPr>
        <p:spPr>
          <a:xfrm>
            <a:off x="1803361" y="3162279"/>
            <a:ext cx="117043" cy="117043"/>
          </a:xfrm>
          <a:prstGeom prst="ellipse">
            <a:avLst/>
          </a:prstGeom>
          <a:solidFill>
            <a:srgbClr val="176493"/>
          </a:solidFill>
          <a:ln w="5080">
            <a:solidFill>
              <a:srgbClr val="176493"/>
            </a:solidFill>
            <a:prstDash val="solid"/>
          </a:ln>
        </p:spPr>
      </p:sp>
      <p:sp>
        <p:nvSpPr>
          <p:cNvPr id="24" name="Shape 22"/>
          <p:cNvSpPr/>
          <p:nvPr/>
        </p:nvSpPr>
        <p:spPr>
          <a:xfrm>
            <a:off x="2107915" y="3089714"/>
            <a:ext cx="117043" cy="117043"/>
          </a:xfrm>
          <a:prstGeom prst="ellipse">
            <a:avLst/>
          </a:prstGeom>
          <a:solidFill>
            <a:srgbClr val="176493"/>
          </a:solidFill>
          <a:ln w="5080">
            <a:solidFill>
              <a:srgbClr val="176493"/>
            </a:solidFill>
            <a:prstDash val="solid"/>
          </a:ln>
        </p:spPr>
      </p:sp>
      <p:sp>
        <p:nvSpPr>
          <p:cNvPr id="25" name="Shape 23"/>
          <p:cNvSpPr/>
          <p:nvPr/>
        </p:nvSpPr>
        <p:spPr>
          <a:xfrm>
            <a:off x="2248660" y="3163558"/>
            <a:ext cx="117043" cy="117043"/>
          </a:xfrm>
          <a:prstGeom prst="ellipse">
            <a:avLst/>
          </a:prstGeom>
          <a:solidFill>
            <a:srgbClr val="176493"/>
          </a:solidFill>
          <a:ln w="5080">
            <a:solidFill>
              <a:srgbClr val="176493"/>
            </a:solidFill>
            <a:prstDash val="solid"/>
          </a:ln>
        </p:spPr>
      </p:sp>
      <p:sp>
        <p:nvSpPr>
          <p:cNvPr id="26" name="Shape 24"/>
          <p:cNvSpPr/>
          <p:nvPr/>
        </p:nvSpPr>
        <p:spPr>
          <a:xfrm>
            <a:off x="2268314" y="2842031"/>
            <a:ext cx="117043" cy="117043"/>
          </a:xfrm>
          <a:prstGeom prst="ellipse">
            <a:avLst/>
          </a:prstGeom>
          <a:solidFill>
            <a:srgbClr val="176493"/>
          </a:solidFill>
          <a:ln w="5080">
            <a:solidFill>
              <a:srgbClr val="176493"/>
            </a:solidFill>
            <a:prstDash val="solid"/>
          </a:ln>
        </p:spPr>
      </p:sp>
      <p:sp>
        <p:nvSpPr>
          <p:cNvPr id="27" name="Shape 25"/>
          <p:cNvSpPr/>
          <p:nvPr/>
        </p:nvSpPr>
        <p:spPr>
          <a:xfrm>
            <a:off x="2201721" y="2878886"/>
            <a:ext cx="117043" cy="117043"/>
          </a:xfrm>
          <a:prstGeom prst="ellipse">
            <a:avLst/>
          </a:prstGeom>
          <a:solidFill>
            <a:srgbClr val="176493"/>
          </a:solidFill>
          <a:ln w="5080">
            <a:solidFill>
              <a:srgbClr val="176493"/>
            </a:solidFill>
            <a:prstDash val="solid"/>
          </a:ln>
        </p:spPr>
      </p:sp>
      <p:sp>
        <p:nvSpPr>
          <p:cNvPr id="28" name="Shape 26"/>
          <p:cNvSpPr/>
          <p:nvPr/>
        </p:nvSpPr>
        <p:spPr>
          <a:xfrm>
            <a:off x="1914150" y="3110694"/>
            <a:ext cx="117043" cy="117043"/>
          </a:xfrm>
          <a:prstGeom prst="ellipse">
            <a:avLst/>
          </a:prstGeom>
          <a:solidFill>
            <a:srgbClr val="176493"/>
          </a:solidFill>
          <a:ln w="5080">
            <a:solidFill>
              <a:srgbClr val="176493"/>
            </a:solidFill>
            <a:prstDash val="solid"/>
          </a:ln>
        </p:spPr>
      </p:sp>
      <p:sp>
        <p:nvSpPr>
          <p:cNvPr id="29" name="Shape 27"/>
          <p:cNvSpPr/>
          <p:nvPr/>
        </p:nvSpPr>
        <p:spPr>
          <a:xfrm>
            <a:off x="2285315" y="2925288"/>
            <a:ext cx="117043" cy="117043"/>
          </a:xfrm>
          <a:prstGeom prst="ellipse">
            <a:avLst/>
          </a:prstGeom>
          <a:solidFill>
            <a:srgbClr val="176493"/>
          </a:solidFill>
          <a:ln w="5080">
            <a:solidFill>
              <a:srgbClr val="176493"/>
            </a:solidFill>
            <a:prstDash val="solid"/>
          </a:ln>
        </p:spPr>
      </p:sp>
      <p:sp>
        <p:nvSpPr>
          <p:cNvPr id="30" name="Shape 28"/>
          <p:cNvSpPr/>
          <p:nvPr/>
        </p:nvSpPr>
        <p:spPr>
          <a:xfrm>
            <a:off x="2649958" y="2998447"/>
            <a:ext cx="117043" cy="117043"/>
          </a:xfrm>
          <a:prstGeom prst="ellipse">
            <a:avLst/>
          </a:prstGeom>
          <a:solidFill>
            <a:srgbClr val="176493"/>
          </a:solidFill>
          <a:ln w="5080">
            <a:solidFill>
              <a:srgbClr val="176493"/>
            </a:solidFill>
            <a:prstDash val="solid"/>
          </a:ln>
        </p:spPr>
      </p:sp>
      <p:sp>
        <p:nvSpPr>
          <p:cNvPr id="31" name="Shape 29"/>
          <p:cNvSpPr/>
          <p:nvPr/>
        </p:nvSpPr>
        <p:spPr>
          <a:xfrm>
            <a:off x="2434303" y="2958109"/>
            <a:ext cx="117043" cy="117043"/>
          </a:xfrm>
          <a:prstGeom prst="ellipse">
            <a:avLst/>
          </a:prstGeom>
          <a:solidFill>
            <a:srgbClr val="176493"/>
          </a:solidFill>
          <a:ln w="5080">
            <a:solidFill>
              <a:srgbClr val="176493"/>
            </a:solidFill>
            <a:prstDash val="solid"/>
          </a:ln>
        </p:spPr>
      </p:sp>
      <p:sp>
        <p:nvSpPr>
          <p:cNvPr id="32" name="Shape 30"/>
          <p:cNvSpPr/>
          <p:nvPr/>
        </p:nvSpPr>
        <p:spPr>
          <a:xfrm>
            <a:off x="2418030" y="2855948"/>
            <a:ext cx="117043" cy="117043"/>
          </a:xfrm>
          <a:prstGeom prst="ellipse">
            <a:avLst/>
          </a:prstGeom>
          <a:solidFill>
            <a:srgbClr val="176493"/>
          </a:solidFill>
          <a:ln w="5080">
            <a:solidFill>
              <a:srgbClr val="176493"/>
            </a:solidFill>
            <a:prstDash val="solid"/>
          </a:ln>
        </p:spPr>
      </p:sp>
      <p:sp>
        <p:nvSpPr>
          <p:cNvPr id="33" name="Shape 31"/>
          <p:cNvSpPr/>
          <p:nvPr/>
        </p:nvSpPr>
        <p:spPr>
          <a:xfrm>
            <a:off x="2516559" y="2910912"/>
            <a:ext cx="117043" cy="117043"/>
          </a:xfrm>
          <a:prstGeom prst="ellipse">
            <a:avLst/>
          </a:prstGeom>
          <a:solidFill>
            <a:srgbClr val="176493"/>
          </a:solidFill>
          <a:ln w="5080">
            <a:solidFill>
              <a:srgbClr val="176493"/>
            </a:solidFill>
            <a:prstDash val="solid"/>
          </a:ln>
        </p:spPr>
      </p:sp>
      <p:sp>
        <p:nvSpPr>
          <p:cNvPr id="34" name="Shape 32"/>
          <p:cNvSpPr/>
          <p:nvPr/>
        </p:nvSpPr>
        <p:spPr>
          <a:xfrm>
            <a:off x="2264575" y="3107963"/>
            <a:ext cx="117043" cy="117043"/>
          </a:xfrm>
          <a:prstGeom prst="ellipse">
            <a:avLst/>
          </a:prstGeom>
          <a:solidFill>
            <a:srgbClr val="176493"/>
          </a:solidFill>
          <a:ln w="5080">
            <a:solidFill>
              <a:srgbClr val="176493"/>
            </a:solidFill>
            <a:prstDash val="solid"/>
          </a:ln>
        </p:spPr>
      </p:sp>
      <p:sp>
        <p:nvSpPr>
          <p:cNvPr id="35" name="Shape 33"/>
          <p:cNvSpPr/>
          <p:nvPr/>
        </p:nvSpPr>
        <p:spPr>
          <a:xfrm>
            <a:off x="1691766" y="3178190"/>
            <a:ext cx="117043" cy="117043"/>
          </a:xfrm>
          <a:prstGeom prst="ellipse">
            <a:avLst/>
          </a:prstGeom>
          <a:solidFill>
            <a:srgbClr val="176493"/>
          </a:solidFill>
          <a:ln w="5080">
            <a:solidFill>
              <a:srgbClr val="176493"/>
            </a:solidFill>
            <a:prstDash val="solid"/>
          </a:ln>
        </p:spPr>
      </p:sp>
      <p:sp>
        <p:nvSpPr>
          <p:cNvPr id="36" name="Shape 34"/>
          <p:cNvSpPr/>
          <p:nvPr/>
        </p:nvSpPr>
        <p:spPr>
          <a:xfrm>
            <a:off x="2688535" y="3076408"/>
            <a:ext cx="117043" cy="117043"/>
          </a:xfrm>
          <a:prstGeom prst="ellipse">
            <a:avLst/>
          </a:prstGeom>
          <a:solidFill>
            <a:srgbClr val="176493"/>
          </a:solidFill>
          <a:ln w="5080">
            <a:solidFill>
              <a:srgbClr val="176493"/>
            </a:solidFill>
            <a:prstDash val="solid"/>
          </a:ln>
        </p:spPr>
      </p:sp>
      <p:sp>
        <p:nvSpPr>
          <p:cNvPr id="37" name="Shape 35"/>
          <p:cNvSpPr/>
          <p:nvPr/>
        </p:nvSpPr>
        <p:spPr>
          <a:xfrm>
            <a:off x="2439884" y="3222873"/>
            <a:ext cx="117043" cy="117043"/>
          </a:xfrm>
          <a:prstGeom prst="ellipse">
            <a:avLst/>
          </a:prstGeom>
          <a:solidFill>
            <a:srgbClr val="176493"/>
          </a:solidFill>
          <a:ln w="5080">
            <a:solidFill>
              <a:srgbClr val="176493"/>
            </a:solidFill>
            <a:prstDash val="solid"/>
          </a:ln>
        </p:spPr>
      </p:sp>
      <p:sp>
        <p:nvSpPr>
          <p:cNvPr id="38" name="Shape 36"/>
          <p:cNvSpPr/>
          <p:nvPr/>
        </p:nvSpPr>
        <p:spPr>
          <a:xfrm>
            <a:off x="2140192" y="2967941"/>
            <a:ext cx="117043" cy="117043"/>
          </a:xfrm>
          <a:prstGeom prst="ellipse">
            <a:avLst/>
          </a:prstGeom>
          <a:solidFill>
            <a:srgbClr val="176493"/>
          </a:solidFill>
          <a:ln w="5080">
            <a:solidFill>
              <a:srgbClr val="176493"/>
            </a:solidFill>
            <a:prstDash val="solid"/>
          </a:ln>
        </p:spPr>
      </p:sp>
      <p:sp>
        <p:nvSpPr>
          <p:cNvPr id="39" name="Shape 37"/>
          <p:cNvSpPr/>
          <p:nvPr/>
        </p:nvSpPr>
        <p:spPr>
          <a:xfrm>
            <a:off x="2185534" y="2789677"/>
            <a:ext cx="117043" cy="117043"/>
          </a:xfrm>
          <a:prstGeom prst="ellipse">
            <a:avLst/>
          </a:prstGeom>
          <a:solidFill>
            <a:srgbClr val="176493"/>
          </a:solidFill>
          <a:ln w="5080">
            <a:solidFill>
              <a:srgbClr val="176493"/>
            </a:solidFill>
            <a:prstDash val="solid"/>
          </a:ln>
        </p:spPr>
      </p:sp>
      <p:sp>
        <p:nvSpPr>
          <p:cNvPr id="40" name="Shape 38"/>
          <p:cNvSpPr/>
          <p:nvPr/>
        </p:nvSpPr>
        <p:spPr>
          <a:xfrm>
            <a:off x="2521314" y="3230286"/>
            <a:ext cx="117043" cy="117043"/>
          </a:xfrm>
          <a:prstGeom prst="ellipse">
            <a:avLst/>
          </a:prstGeom>
          <a:solidFill>
            <a:srgbClr val="176493"/>
          </a:solidFill>
          <a:ln w="5080">
            <a:solidFill>
              <a:srgbClr val="176493"/>
            </a:solidFill>
            <a:prstDash val="solid"/>
          </a:ln>
        </p:spPr>
      </p:sp>
      <p:sp>
        <p:nvSpPr>
          <p:cNvPr id="41" name="Shape 39"/>
          <p:cNvSpPr/>
          <p:nvPr/>
        </p:nvSpPr>
        <p:spPr>
          <a:xfrm>
            <a:off x="1712930" y="3227389"/>
            <a:ext cx="117043" cy="117043"/>
          </a:xfrm>
          <a:prstGeom prst="ellipse">
            <a:avLst/>
          </a:prstGeom>
          <a:solidFill>
            <a:srgbClr val="176493"/>
          </a:solidFill>
          <a:ln w="5080">
            <a:solidFill>
              <a:srgbClr val="176493"/>
            </a:solidFill>
            <a:prstDash val="solid"/>
          </a:ln>
        </p:spPr>
      </p:sp>
      <p:sp>
        <p:nvSpPr>
          <p:cNvPr id="42" name="Shape 40"/>
          <p:cNvSpPr/>
          <p:nvPr/>
        </p:nvSpPr>
        <p:spPr>
          <a:xfrm>
            <a:off x="2208399" y="3008939"/>
            <a:ext cx="117043" cy="117043"/>
          </a:xfrm>
          <a:prstGeom prst="ellipse">
            <a:avLst/>
          </a:prstGeom>
          <a:solidFill>
            <a:srgbClr val="176493"/>
          </a:solidFill>
          <a:ln w="5080">
            <a:solidFill>
              <a:srgbClr val="176493"/>
            </a:solidFill>
            <a:prstDash val="solid"/>
          </a:ln>
        </p:spPr>
      </p:sp>
      <p:sp>
        <p:nvSpPr>
          <p:cNvPr id="43" name="Shape 41"/>
          <p:cNvSpPr/>
          <p:nvPr/>
        </p:nvSpPr>
        <p:spPr>
          <a:xfrm>
            <a:off x="2711989" y="2917738"/>
            <a:ext cx="117043" cy="117043"/>
          </a:xfrm>
          <a:prstGeom prst="ellipse">
            <a:avLst/>
          </a:prstGeom>
          <a:solidFill>
            <a:srgbClr val="176493"/>
          </a:solidFill>
          <a:ln w="5080">
            <a:solidFill>
              <a:srgbClr val="176493"/>
            </a:solidFill>
            <a:prstDash val="solid"/>
          </a:ln>
        </p:spPr>
      </p:sp>
      <p:sp>
        <p:nvSpPr>
          <p:cNvPr id="44" name="Shape 42"/>
          <p:cNvSpPr/>
          <p:nvPr/>
        </p:nvSpPr>
        <p:spPr>
          <a:xfrm>
            <a:off x="1987044" y="3023073"/>
            <a:ext cx="117043" cy="117043"/>
          </a:xfrm>
          <a:prstGeom prst="ellipse">
            <a:avLst/>
          </a:prstGeom>
          <a:solidFill>
            <a:srgbClr val="176493"/>
          </a:solidFill>
          <a:ln w="5080">
            <a:solidFill>
              <a:srgbClr val="176493"/>
            </a:solidFill>
            <a:prstDash val="solid"/>
          </a:ln>
        </p:spPr>
      </p:sp>
      <p:sp>
        <p:nvSpPr>
          <p:cNvPr id="45" name="Shape 43"/>
          <p:cNvSpPr/>
          <p:nvPr/>
        </p:nvSpPr>
        <p:spPr>
          <a:xfrm>
            <a:off x="2547050" y="2864777"/>
            <a:ext cx="117043" cy="117043"/>
          </a:xfrm>
          <a:prstGeom prst="ellipse">
            <a:avLst/>
          </a:prstGeom>
          <a:solidFill>
            <a:srgbClr val="176493"/>
          </a:solidFill>
          <a:ln w="5080">
            <a:solidFill>
              <a:srgbClr val="176493"/>
            </a:solidFill>
            <a:prstDash val="solid"/>
          </a:ln>
        </p:spPr>
      </p:sp>
      <p:sp>
        <p:nvSpPr>
          <p:cNvPr id="46" name="Shape 44"/>
          <p:cNvSpPr/>
          <p:nvPr/>
        </p:nvSpPr>
        <p:spPr>
          <a:xfrm>
            <a:off x="1872614" y="3222097"/>
            <a:ext cx="117043" cy="117043"/>
          </a:xfrm>
          <a:prstGeom prst="ellipse">
            <a:avLst/>
          </a:prstGeom>
          <a:solidFill>
            <a:srgbClr val="176493"/>
          </a:solidFill>
          <a:ln w="5080">
            <a:solidFill>
              <a:srgbClr val="176493"/>
            </a:solidFill>
            <a:prstDash val="solid"/>
          </a:ln>
        </p:spPr>
      </p:sp>
      <p:sp>
        <p:nvSpPr>
          <p:cNvPr id="47" name="Shape 45"/>
          <p:cNvSpPr/>
          <p:nvPr/>
        </p:nvSpPr>
        <p:spPr>
          <a:xfrm>
            <a:off x="2495125" y="3097274"/>
            <a:ext cx="117043" cy="117043"/>
          </a:xfrm>
          <a:prstGeom prst="ellipse">
            <a:avLst/>
          </a:prstGeom>
          <a:solidFill>
            <a:srgbClr val="176493"/>
          </a:solidFill>
          <a:ln w="5080">
            <a:solidFill>
              <a:srgbClr val="176493"/>
            </a:solidFill>
            <a:prstDash val="solid"/>
          </a:ln>
        </p:spPr>
      </p:sp>
      <p:sp>
        <p:nvSpPr>
          <p:cNvPr id="48" name="Shape 46"/>
          <p:cNvSpPr/>
          <p:nvPr/>
        </p:nvSpPr>
        <p:spPr>
          <a:xfrm>
            <a:off x="2555961" y="3047207"/>
            <a:ext cx="117043" cy="117043"/>
          </a:xfrm>
          <a:prstGeom prst="ellipse">
            <a:avLst/>
          </a:prstGeom>
          <a:solidFill>
            <a:srgbClr val="176493"/>
          </a:solidFill>
          <a:ln w="5080">
            <a:solidFill>
              <a:srgbClr val="176493"/>
            </a:solidFill>
            <a:prstDash val="solid"/>
          </a:ln>
        </p:spPr>
      </p:sp>
      <p:sp>
        <p:nvSpPr>
          <p:cNvPr id="49" name="Shape 47"/>
          <p:cNvSpPr/>
          <p:nvPr/>
        </p:nvSpPr>
        <p:spPr>
          <a:xfrm>
            <a:off x="1790332" y="3276719"/>
            <a:ext cx="117043" cy="117043"/>
          </a:xfrm>
          <a:prstGeom prst="ellipse">
            <a:avLst/>
          </a:prstGeom>
          <a:solidFill>
            <a:srgbClr val="176493"/>
          </a:solidFill>
          <a:ln w="5080">
            <a:solidFill>
              <a:srgbClr val="176493"/>
            </a:solidFill>
            <a:prstDash val="solid"/>
          </a:ln>
        </p:spPr>
      </p:sp>
      <p:sp>
        <p:nvSpPr>
          <p:cNvPr id="50" name="Shape 48"/>
          <p:cNvSpPr/>
          <p:nvPr/>
        </p:nvSpPr>
        <p:spPr>
          <a:xfrm>
            <a:off x="1993694" y="2926367"/>
            <a:ext cx="117043" cy="117043"/>
          </a:xfrm>
          <a:prstGeom prst="ellipse">
            <a:avLst/>
          </a:prstGeom>
          <a:solidFill>
            <a:srgbClr val="176493"/>
          </a:solidFill>
          <a:ln w="5080">
            <a:solidFill>
              <a:srgbClr val="176493"/>
            </a:solidFill>
            <a:prstDash val="solid"/>
          </a:ln>
        </p:spPr>
      </p:sp>
      <p:sp>
        <p:nvSpPr>
          <p:cNvPr id="51" name="Shape 49"/>
          <p:cNvSpPr/>
          <p:nvPr/>
        </p:nvSpPr>
        <p:spPr>
          <a:xfrm>
            <a:off x="6275053" y="4484423"/>
            <a:ext cx="117043" cy="117043"/>
          </a:xfrm>
          <a:prstGeom prst="triangle">
            <a:avLst/>
          </a:prstGeom>
          <a:solidFill>
            <a:srgbClr val="7056C2"/>
          </a:solidFill>
          <a:ln w="5080">
            <a:solidFill>
              <a:srgbClr val="7056C2"/>
            </a:solidFill>
            <a:prstDash val="solid"/>
          </a:ln>
        </p:spPr>
      </p:sp>
      <p:sp>
        <p:nvSpPr>
          <p:cNvPr id="52" name="Shape 50"/>
          <p:cNvSpPr/>
          <p:nvPr/>
        </p:nvSpPr>
        <p:spPr>
          <a:xfrm>
            <a:off x="6862981" y="4078672"/>
            <a:ext cx="117043" cy="117043"/>
          </a:xfrm>
          <a:prstGeom prst="triangle">
            <a:avLst/>
          </a:prstGeom>
          <a:solidFill>
            <a:srgbClr val="7056C2"/>
          </a:solidFill>
          <a:ln w="5080">
            <a:solidFill>
              <a:srgbClr val="7056C2"/>
            </a:solidFill>
            <a:prstDash val="solid"/>
          </a:ln>
        </p:spPr>
      </p:sp>
      <p:sp>
        <p:nvSpPr>
          <p:cNvPr id="53" name="Shape 51"/>
          <p:cNvSpPr/>
          <p:nvPr/>
        </p:nvSpPr>
        <p:spPr>
          <a:xfrm>
            <a:off x="6179670" y="4460564"/>
            <a:ext cx="117043" cy="117043"/>
          </a:xfrm>
          <a:prstGeom prst="triangle">
            <a:avLst/>
          </a:prstGeom>
          <a:solidFill>
            <a:srgbClr val="7056C2"/>
          </a:solidFill>
          <a:ln w="5080">
            <a:solidFill>
              <a:srgbClr val="7056C2"/>
            </a:solidFill>
            <a:prstDash val="solid"/>
          </a:ln>
        </p:spPr>
      </p:sp>
      <p:sp>
        <p:nvSpPr>
          <p:cNvPr id="54" name="Shape 52"/>
          <p:cNvSpPr/>
          <p:nvPr/>
        </p:nvSpPr>
        <p:spPr>
          <a:xfrm>
            <a:off x="6307467" y="4426721"/>
            <a:ext cx="117043" cy="117043"/>
          </a:xfrm>
          <a:prstGeom prst="triangle">
            <a:avLst/>
          </a:prstGeom>
          <a:solidFill>
            <a:srgbClr val="7056C2"/>
          </a:solidFill>
          <a:ln w="5080">
            <a:solidFill>
              <a:srgbClr val="7056C2"/>
            </a:solidFill>
            <a:prstDash val="solid"/>
          </a:ln>
        </p:spPr>
      </p:sp>
      <p:sp>
        <p:nvSpPr>
          <p:cNvPr id="55" name="Shape 53"/>
          <p:cNvSpPr/>
          <p:nvPr/>
        </p:nvSpPr>
        <p:spPr>
          <a:xfrm>
            <a:off x="6202501" y="4057424"/>
            <a:ext cx="117043" cy="117043"/>
          </a:xfrm>
          <a:prstGeom prst="triangle">
            <a:avLst/>
          </a:prstGeom>
          <a:solidFill>
            <a:srgbClr val="7056C2"/>
          </a:solidFill>
          <a:ln w="5080">
            <a:solidFill>
              <a:srgbClr val="7056C2"/>
            </a:solidFill>
            <a:prstDash val="solid"/>
          </a:ln>
        </p:spPr>
      </p:sp>
      <p:sp>
        <p:nvSpPr>
          <p:cNvPr id="56" name="Shape 54"/>
          <p:cNvSpPr/>
          <p:nvPr/>
        </p:nvSpPr>
        <p:spPr>
          <a:xfrm>
            <a:off x="6592613" y="3967051"/>
            <a:ext cx="117043" cy="117043"/>
          </a:xfrm>
          <a:prstGeom prst="triangle">
            <a:avLst/>
          </a:prstGeom>
          <a:solidFill>
            <a:srgbClr val="7056C2"/>
          </a:solidFill>
          <a:ln w="5080">
            <a:solidFill>
              <a:srgbClr val="7056C2"/>
            </a:solidFill>
            <a:prstDash val="solid"/>
          </a:ln>
        </p:spPr>
      </p:sp>
      <p:sp>
        <p:nvSpPr>
          <p:cNvPr id="57" name="Shape 55"/>
          <p:cNvSpPr/>
          <p:nvPr/>
        </p:nvSpPr>
        <p:spPr>
          <a:xfrm>
            <a:off x="6413582" y="4271055"/>
            <a:ext cx="117043" cy="117043"/>
          </a:xfrm>
          <a:prstGeom prst="triangle">
            <a:avLst/>
          </a:prstGeom>
          <a:solidFill>
            <a:srgbClr val="7056C2"/>
          </a:solidFill>
          <a:ln w="5080">
            <a:solidFill>
              <a:srgbClr val="7056C2"/>
            </a:solidFill>
            <a:prstDash val="solid"/>
          </a:ln>
        </p:spPr>
      </p:sp>
      <p:sp>
        <p:nvSpPr>
          <p:cNvPr id="58" name="Shape 56"/>
          <p:cNvSpPr/>
          <p:nvPr/>
        </p:nvSpPr>
        <p:spPr>
          <a:xfrm>
            <a:off x="6409888" y="4483198"/>
            <a:ext cx="117043" cy="117043"/>
          </a:xfrm>
          <a:prstGeom prst="triangle">
            <a:avLst/>
          </a:prstGeom>
          <a:solidFill>
            <a:srgbClr val="7056C2"/>
          </a:solidFill>
          <a:ln w="5080">
            <a:solidFill>
              <a:srgbClr val="7056C2"/>
            </a:solidFill>
            <a:prstDash val="solid"/>
          </a:ln>
        </p:spPr>
      </p:sp>
      <p:sp>
        <p:nvSpPr>
          <p:cNvPr id="59" name="Shape 57"/>
          <p:cNvSpPr/>
          <p:nvPr/>
        </p:nvSpPr>
        <p:spPr>
          <a:xfrm>
            <a:off x="6550279" y="4372068"/>
            <a:ext cx="117043" cy="117043"/>
          </a:xfrm>
          <a:prstGeom prst="triangle">
            <a:avLst/>
          </a:prstGeom>
          <a:solidFill>
            <a:srgbClr val="7056C2"/>
          </a:solidFill>
          <a:ln w="5080">
            <a:solidFill>
              <a:srgbClr val="7056C2"/>
            </a:solidFill>
            <a:prstDash val="solid"/>
          </a:ln>
        </p:spPr>
      </p:sp>
      <p:sp>
        <p:nvSpPr>
          <p:cNvPr id="60" name="Shape 58"/>
          <p:cNvSpPr/>
          <p:nvPr/>
        </p:nvSpPr>
        <p:spPr>
          <a:xfrm>
            <a:off x="6658367" y="3947218"/>
            <a:ext cx="117043" cy="117043"/>
          </a:xfrm>
          <a:prstGeom prst="triangle">
            <a:avLst/>
          </a:prstGeom>
          <a:solidFill>
            <a:srgbClr val="7056C2"/>
          </a:solidFill>
          <a:ln w="5080">
            <a:solidFill>
              <a:srgbClr val="7056C2"/>
            </a:solidFill>
            <a:prstDash val="solid"/>
          </a:ln>
        </p:spPr>
      </p:sp>
      <p:sp>
        <p:nvSpPr>
          <p:cNvPr id="61" name="Shape 59"/>
          <p:cNvSpPr/>
          <p:nvPr/>
        </p:nvSpPr>
        <p:spPr>
          <a:xfrm>
            <a:off x="6854178" y="4257438"/>
            <a:ext cx="117043" cy="117043"/>
          </a:xfrm>
          <a:prstGeom prst="triangle">
            <a:avLst/>
          </a:prstGeom>
          <a:solidFill>
            <a:srgbClr val="7056C2"/>
          </a:solidFill>
          <a:ln w="5080">
            <a:solidFill>
              <a:srgbClr val="7056C2"/>
            </a:solidFill>
            <a:prstDash val="solid"/>
          </a:ln>
        </p:spPr>
      </p:sp>
      <p:sp>
        <p:nvSpPr>
          <p:cNvPr id="62" name="Shape 60"/>
          <p:cNvSpPr/>
          <p:nvPr/>
        </p:nvSpPr>
        <p:spPr>
          <a:xfrm>
            <a:off x="6346866" y="4075310"/>
            <a:ext cx="117043" cy="117043"/>
          </a:xfrm>
          <a:prstGeom prst="triangle">
            <a:avLst/>
          </a:prstGeom>
          <a:solidFill>
            <a:srgbClr val="7056C2"/>
          </a:solidFill>
          <a:ln w="5080">
            <a:solidFill>
              <a:srgbClr val="7056C2"/>
            </a:solidFill>
            <a:prstDash val="solid"/>
          </a:ln>
        </p:spPr>
      </p:sp>
      <p:sp>
        <p:nvSpPr>
          <p:cNvPr id="63" name="Shape 61"/>
          <p:cNvSpPr/>
          <p:nvPr/>
        </p:nvSpPr>
        <p:spPr>
          <a:xfrm>
            <a:off x="6996863" y="4212381"/>
            <a:ext cx="117043" cy="117043"/>
          </a:xfrm>
          <a:prstGeom prst="triangle">
            <a:avLst/>
          </a:prstGeom>
          <a:solidFill>
            <a:srgbClr val="7056C2"/>
          </a:solidFill>
          <a:ln w="5080">
            <a:solidFill>
              <a:srgbClr val="7056C2"/>
            </a:solidFill>
            <a:prstDash val="solid"/>
          </a:ln>
        </p:spPr>
      </p:sp>
      <p:sp>
        <p:nvSpPr>
          <p:cNvPr id="64" name="Shape 62"/>
          <p:cNvSpPr/>
          <p:nvPr/>
        </p:nvSpPr>
        <p:spPr>
          <a:xfrm>
            <a:off x="6948634" y="4289161"/>
            <a:ext cx="117043" cy="117043"/>
          </a:xfrm>
          <a:prstGeom prst="triangle">
            <a:avLst/>
          </a:prstGeom>
          <a:solidFill>
            <a:srgbClr val="7056C2"/>
          </a:solidFill>
          <a:ln w="5080">
            <a:solidFill>
              <a:srgbClr val="7056C2"/>
            </a:solidFill>
            <a:prstDash val="solid"/>
          </a:ln>
        </p:spPr>
      </p:sp>
      <p:sp>
        <p:nvSpPr>
          <p:cNvPr id="65" name="Shape 63"/>
          <p:cNvSpPr/>
          <p:nvPr/>
        </p:nvSpPr>
        <p:spPr>
          <a:xfrm>
            <a:off x="6374875" y="4346158"/>
            <a:ext cx="117043" cy="117043"/>
          </a:xfrm>
          <a:prstGeom prst="triangle">
            <a:avLst/>
          </a:prstGeom>
          <a:solidFill>
            <a:srgbClr val="7056C2"/>
          </a:solidFill>
          <a:ln w="5080">
            <a:solidFill>
              <a:srgbClr val="7056C2"/>
            </a:solidFill>
            <a:prstDash val="solid"/>
          </a:ln>
        </p:spPr>
      </p:sp>
      <p:sp>
        <p:nvSpPr>
          <p:cNvPr id="66" name="Shape 64"/>
          <p:cNvSpPr/>
          <p:nvPr/>
        </p:nvSpPr>
        <p:spPr>
          <a:xfrm>
            <a:off x="6174045" y="4005869"/>
            <a:ext cx="117043" cy="117043"/>
          </a:xfrm>
          <a:prstGeom prst="triangle">
            <a:avLst/>
          </a:prstGeom>
          <a:solidFill>
            <a:srgbClr val="7056C2"/>
          </a:solidFill>
          <a:ln w="5080">
            <a:solidFill>
              <a:srgbClr val="7056C2"/>
            </a:solidFill>
            <a:prstDash val="solid"/>
          </a:ln>
        </p:spPr>
      </p:sp>
      <p:sp>
        <p:nvSpPr>
          <p:cNvPr id="67" name="Shape 65"/>
          <p:cNvSpPr/>
          <p:nvPr/>
        </p:nvSpPr>
        <p:spPr>
          <a:xfrm>
            <a:off x="6304394" y="4006203"/>
            <a:ext cx="117043" cy="117043"/>
          </a:xfrm>
          <a:prstGeom prst="triangle">
            <a:avLst/>
          </a:prstGeom>
          <a:solidFill>
            <a:srgbClr val="7056C2"/>
          </a:solidFill>
          <a:ln w="5080">
            <a:solidFill>
              <a:srgbClr val="7056C2"/>
            </a:solidFill>
            <a:prstDash val="solid"/>
          </a:ln>
        </p:spPr>
      </p:sp>
      <p:sp>
        <p:nvSpPr>
          <p:cNvPr id="68" name="Shape 66"/>
          <p:cNvSpPr/>
          <p:nvPr/>
        </p:nvSpPr>
        <p:spPr>
          <a:xfrm>
            <a:off x="6689210" y="4239393"/>
            <a:ext cx="117043" cy="117043"/>
          </a:xfrm>
          <a:prstGeom prst="triangle">
            <a:avLst/>
          </a:prstGeom>
          <a:solidFill>
            <a:srgbClr val="7056C2"/>
          </a:solidFill>
          <a:ln w="5080">
            <a:solidFill>
              <a:srgbClr val="7056C2"/>
            </a:solidFill>
            <a:prstDash val="solid"/>
          </a:ln>
        </p:spPr>
      </p:sp>
      <p:sp>
        <p:nvSpPr>
          <p:cNvPr id="69" name="Shape 67"/>
          <p:cNvSpPr/>
          <p:nvPr/>
        </p:nvSpPr>
        <p:spPr>
          <a:xfrm>
            <a:off x="6899148" y="4463499"/>
            <a:ext cx="117043" cy="117043"/>
          </a:xfrm>
          <a:prstGeom prst="triangle">
            <a:avLst/>
          </a:prstGeom>
          <a:solidFill>
            <a:srgbClr val="7056C2"/>
          </a:solidFill>
          <a:ln w="5080">
            <a:solidFill>
              <a:srgbClr val="7056C2"/>
            </a:solidFill>
            <a:prstDash val="solid"/>
          </a:ln>
        </p:spPr>
      </p:sp>
      <p:sp>
        <p:nvSpPr>
          <p:cNvPr id="70" name="Shape 68"/>
          <p:cNvSpPr/>
          <p:nvPr/>
        </p:nvSpPr>
        <p:spPr>
          <a:xfrm>
            <a:off x="6881286" y="4356428"/>
            <a:ext cx="117043" cy="117043"/>
          </a:xfrm>
          <a:prstGeom prst="triangle">
            <a:avLst/>
          </a:prstGeom>
          <a:solidFill>
            <a:srgbClr val="7056C2"/>
          </a:solidFill>
          <a:ln w="5080">
            <a:solidFill>
              <a:srgbClr val="7056C2"/>
            </a:solidFill>
            <a:prstDash val="solid"/>
          </a:ln>
        </p:spPr>
      </p:sp>
      <p:sp>
        <p:nvSpPr>
          <p:cNvPr id="71" name="Shape 69"/>
          <p:cNvSpPr/>
          <p:nvPr/>
        </p:nvSpPr>
        <p:spPr>
          <a:xfrm>
            <a:off x="6560045" y="4316258"/>
            <a:ext cx="117043" cy="117043"/>
          </a:xfrm>
          <a:prstGeom prst="triangle">
            <a:avLst/>
          </a:prstGeom>
          <a:solidFill>
            <a:srgbClr val="7056C2"/>
          </a:solidFill>
          <a:ln w="5080">
            <a:solidFill>
              <a:srgbClr val="7056C2"/>
            </a:solidFill>
            <a:prstDash val="solid"/>
          </a:ln>
        </p:spPr>
      </p:sp>
      <p:sp>
        <p:nvSpPr>
          <p:cNvPr id="72" name="Shape 70"/>
          <p:cNvSpPr/>
          <p:nvPr/>
        </p:nvSpPr>
        <p:spPr>
          <a:xfrm>
            <a:off x="6471692" y="4203960"/>
            <a:ext cx="117043" cy="117043"/>
          </a:xfrm>
          <a:prstGeom prst="triangle">
            <a:avLst/>
          </a:prstGeom>
          <a:solidFill>
            <a:srgbClr val="7056C2"/>
          </a:solidFill>
          <a:ln w="5080">
            <a:solidFill>
              <a:srgbClr val="7056C2"/>
            </a:solidFill>
            <a:prstDash val="solid"/>
          </a:ln>
        </p:spPr>
      </p:sp>
      <p:sp>
        <p:nvSpPr>
          <p:cNvPr id="73" name="Shape 71"/>
          <p:cNvSpPr/>
          <p:nvPr/>
        </p:nvSpPr>
        <p:spPr>
          <a:xfrm>
            <a:off x="6737391" y="4105582"/>
            <a:ext cx="117043" cy="117043"/>
          </a:xfrm>
          <a:prstGeom prst="triangle">
            <a:avLst/>
          </a:prstGeom>
          <a:solidFill>
            <a:srgbClr val="7056C2"/>
          </a:solidFill>
          <a:ln w="5080">
            <a:solidFill>
              <a:srgbClr val="7056C2"/>
            </a:solidFill>
            <a:prstDash val="solid"/>
          </a:ln>
        </p:spPr>
      </p:sp>
      <p:sp>
        <p:nvSpPr>
          <p:cNvPr id="74" name="Shape 72"/>
          <p:cNvSpPr/>
          <p:nvPr/>
        </p:nvSpPr>
        <p:spPr>
          <a:xfrm>
            <a:off x="6396208" y="4024851"/>
            <a:ext cx="117043" cy="117043"/>
          </a:xfrm>
          <a:prstGeom prst="triangle">
            <a:avLst/>
          </a:prstGeom>
          <a:solidFill>
            <a:srgbClr val="7056C2"/>
          </a:solidFill>
          <a:ln w="5080">
            <a:solidFill>
              <a:srgbClr val="7056C2"/>
            </a:solidFill>
            <a:prstDash val="solid"/>
          </a:ln>
        </p:spPr>
      </p:sp>
      <p:sp>
        <p:nvSpPr>
          <p:cNvPr id="75" name="Shape 73"/>
          <p:cNvSpPr/>
          <p:nvPr/>
        </p:nvSpPr>
        <p:spPr>
          <a:xfrm>
            <a:off x="6725078" y="4150993"/>
            <a:ext cx="117043" cy="117043"/>
          </a:xfrm>
          <a:prstGeom prst="triangle">
            <a:avLst/>
          </a:prstGeom>
          <a:solidFill>
            <a:srgbClr val="7056C2"/>
          </a:solidFill>
          <a:ln w="5080">
            <a:solidFill>
              <a:srgbClr val="7056C2"/>
            </a:solidFill>
            <a:prstDash val="solid"/>
          </a:ln>
        </p:spPr>
      </p:sp>
      <p:sp>
        <p:nvSpPr>
          <p:cNvPr id="76" name="Shape 74"/>
          <p:cNvSpPr/>
          <p:nvPr/>
        </p:nvSpPr>
        <p:spPr>
          <a:xfrm>
            <a:off x="6405903" y="4304215"/>
            <a:ext cx="117043" cy="117043"/>
          </a:xfrm>
          <a:prstGeom prst="triangle">
            <a:avLst/>
          </a:prstGeom>
          <a:solidFill>
            <a:srgbClr val="7056C2"/>
          </a:solidFill>
          <a:ln w="5080">
            <a:solidFill>
              <a:srgbClr val="7056C2"/>
            </a:solidFill>
            <a:prstDash val="solid"/>
          </a:ln>
        </p:spPr>
      </p:sp>
      <p:sp>
        <p:nvSpPr>
          <p:cNvPr id="77" name="Shape 75"/>
          <p:cNvSpPr/>
          <p:nvPr/>
        </p:nvSpPr>
        <p:spPr>
          <a:xfrm>
            <a:off x="6905338" y="4208168"/>
            <a:ext cx="117043" cy="117043"/>
          </a:xfrm>
          <a:prstGeom prst="triangle">
            <a:avLst/>
          </a:prstGeom>
          <a:solidFill>
            <a:srgbClr val="7056C2"/>
          </a:solidFill>
          <a:ln w="5080">
            <a:solidFill>
              <a:srgbClr val="7056C2"/>
            </a:solidFill>
            <a:prstDash val="solid"/>
          </a:ln>
        </p:spPr>
      </p:sp>
      <p:sp>
        <p:nvSpPr>
          <p:cNvPr id="78" name="Shape 76"/>
          <p:cNvSpPr/>
          <p:nvPr/>
        </p:nvSpPr>
        <p:spPr>
          <a:xfrm>
            <a:off x="6768938" y="4433244"/>
            <a:ext cx="117043" cy="117043"/>
          </a:xfrm>
          <a:prstGeom prst="triangle">
            <a:avLst/>
          </a:prstGeom>
          <a:solidFill>
            <a:srgbClr val="7056C2"/>
          </a:solidFill>
          <a:ln w="5080">
            <a:solidFill>
              <a:srgbClr val="7056C2"/>
            </a:solidFill>
            <a:prstDash val="solid"/>
          </a:ln>
        </p:spPr>
      </p:sp>
      <p:sp>
        <p:nvSpPr>
          <p:cNvPr id="79" name="Shape 77"/>
          <p:cNvSpPr/>
          <p:nvPr/>
        </p:nvSpPr>
        <p:spPr>
          <a:xfrm>
            <a:off x="5387418" y="4581335"/>
            <a:ext cx="117043" cy="117043"/>
          </a:xfrm>
          <a:prstGeom prst="diamond">
            <a:avLst/>
          </a:prstGeom>
          <a:solidFill>
            <a:srgbClr val="167C85"/>
          </a:solidFill>
          <a:ln w="5080">
            <a:solidFill>
              <a:srgbClr val="167C85"/>
            </a:solidFill>
            <a:prstDash val="solid"/>
          </a:ln>
        </p:spPr>
      </p:sp>
      <p:sp>
        <p:nvSpPr>
          <p:cNvPr id="80" name="Shape 78"/>
          <p:cNvSpPr/>
          <p:nvPr/>
        </p:nvSpPr>
        <p:spPr>
          <a:xfrm>
            <a:off x="4854371" y="4333231"/>
            <a:ext cx="117043" cy="117043"/>
          </a:xfrm>
          <a:prstGeom prst="diamond">
            <a:avLst/>
          </a:prstGeom>
          <a:solidFill>
            <a:srgbClr val="167C85"/>
          </a:solidFill>
          <a:ln w="5080">
            <a:solidFill>
              <a:srgbClr val="167C85"/>
            </a:solidFill>
            <a:prstDash val="solid"/>
          </a:ln>
        </p:spPr>
      </p:sp>
      <p:sp>
        <p:nvSpPr>
          <p:cNvPr id="81" name="Shape 79"/>
          <p:cNvSpPr/>
          <p:nvPr/>
        </p:nvSpPr>
        <p:spPr>
          <a:xfrm>
            <a:off x="5769663" y="4135998"/>
            <a:ext cx="117043" cy="117043"/>
          </a:xfrm>
          <a:prstGeom prst="triangle">
            <a:avLst/>
          </a:prstGeom>
          <a:solidFill>
            <a:srgbClr val="7056C2"/>
          </a:solidFill>
          <a:ln w="5080">
            <a:solidFill>
              <a:srgbClr val="7056C2"/>
            </a:solidFill>
            <a:prstDash val="solid"/>
          </a:ln>
        </p:spPr>
      </p:sp>
      <p:sp>
        <p:nvSpPr>
          <p:cNvPr id="82" name="Shape 80"/>
          <p:cNvSpPr/>
          <p:nvPr/>
        </p:nvSpPr>
        <p:spPr>
          <a:xfrm>
            <a:off x="5498272" y="4223327"/>
            <a:ext cx="117043" cy="117043"/>
          </a:xfrm>
          <a:prstGeom prst="diamond">
            <a:avLst/>
          </a:prstGeom>
          <a:solidFill>
            <a:srgbClr val="167C85"/>
          </a:solidFill>
          <a:ln w="5080">
            <a:solidFill>
              <a:srgbClr val="167C85"/>
            </a:solidFill>
            <a:prstDash val="solid"/>
          </a:ln>
        </p:spPr>
      </p:sp>
      <p:sp>
        <p:nvSpPr>
          <p:cNvPr id="83" name="Shape 81"/>
          <p:cNvSpPr/>
          <p:nvPr/>
        </p:nvSpPr>
        <p:spPr>
          <a:xfrm>
            <a:off x="4785618" y="4291155"/>
            <a:ext cx="117043" cy="117043"/>
          </a:xfrm>
          <a:prstGeom prst="diamond">
            <a:avLst/>
          </a:prstGeom>
          <a:solidFill>
            <a:srgbClr val="167C85"/>
          </a:solidFill>
          <a:ln w="5080">
            <a:solidFill>
              <a:srgbClr val="167C85"/>
            </a:solidFill>
            <a:prstDash val="solid"/>
          </a:ln>
        </p:spPr>
      </p:sp>
      <p:sp>
        <p:nvSpPr>
          <p:cNvPr id="84" name="Shape 82"/>
          <p:cNvSpPr/>
          <p:nvPr/>
        </p:nvSpPr>
        <p:spPr>
          <a:xfrm>
            <a:off x="4987833" y="4262685"/>
            <a:ext cx="117043" cy="117043"/>
          </a:xfrm>
          <a:prstGeom prst="diamond">
            <a:avLst/>
          </a:prstGeom>
          <a:solidFill>
            <a:srgbClr val="167C85"/>
          </a:solidFill>
          <a:ln w="5080">
            <a:solidFill>
              <a:srgbClr val="167C85"/>
            </a:solidFill>
            <a:prstDash val="solid"/>
          </a:ln>
        </p:spPr>
      </p:sp>
      <p:sp>
        <p:nvSpPr>
          <p:cNvPr id="85" name="Shape 83"/>
          <p:cNvSpPr/>
          <p:nvPr/>
        </p:nvSpPr>
        <p:spPr>
          <a:xfrm>
            <a:off x="5124868" y="4125135"/>
            <a:ext cx="117043" cy="117043"/>
          </a:xfrm>
          <a:prstGeom prst="diamond">
            <a:avLst/>
          </a:prstGeom>
          <a:solidFill>
            <a:srgbClr val="167C85"/>
          </a:solidFill>
          <a:ln w="5080">
            <a:solidFill>
              <a:srgbClr val="167C85"/>
            </a:solidFill>
            <a:prstDash val="solid"/>
          </a:ln>
        </p:spPr>
      </p:sp>
      <p:sp>
        <p:nvSpPr>
          <p:cNvPr id="86" name="Shape 84"/>
          <p:cNvSpPr/>
          <p:nvPr/>
        </p:nvSpPr>
        <p:spPr>
          <a:xfrm>
            <a:off x="5551707" y="4285569"/>
            <a:ext cx="117043" cy="117043"/>
          </a:xfrm>
          <a:prstGeom prst="diamond">
            <a:avLst/>
          </a:prstGeom>
          <a:solidFill>
            <a:srgbClr val="167C85"/>
          </a:solidFill>
          <a:ln w="5080">
            <a:solidFill>
              <a:srgbClr val="167C85"/>
            </a:solidFill>
            <a:prstDash val="solid"/>
          </a:ln>
        </p:spPr>
      </p:sp>
      <p:sp>
        <p:nvSpPr>
          <p:cNvPr id="87" name="Shape 85"/>
          <p:cNvSpPr/>
          <p:nvPr/>
        </p:nvSpPr>
        <p:spPr>
          <a:xfrm>
            <a:off x="4868721" y="4397145"/>
            <a:ext cx="117043" cy="117043"/>
          </a:xfrm>
          <a:prstGeom prst="diamond">
            <a:avLst/>
          </a:prstGeom>
          <a:solidFill>
            <a:srgbClr val="167C85"/>
          </a:solidFill>
          <a:ln w="5080">
            <a:solidFill>
              <a:srgbClr val="167C85"/>
            </a:solidFill>
            <a:prstDash val="solid"/>
          </a:ln>
        </p:spPr>
      </p:sp>
      <p:sp>
        <p:nvSpPr>
          <p:cNvPr id="88" name="Shape 86"/>
          <p:cNvSpPr/>
          <p:nvPr/>
        </p:nvSpPr>
        <p:spPr>
          <a:xfrm>
            <a:off x="5139065" y="4605096"/>
            <a:ext cx="117043" cy="117043"/>
          </a:xfrm>
          <a:prstGeom prst="diamond">
            <a:avLst/>
          </a:prstGeom>
          <a:solidFill>
            <a:srgbClr val="167C85"/>
          </a:solidFill>
          <a:ln w="5080">
            <a:solidFill>
              <a:srgbClr val="167C85"/>
            </a:solidFill>
            <a:prstDash val="solid"/>
          </a:ln>
        </p:spPr>
      </p:sp>
      <p:sp>
        <p:nvSpPr>
          <p:cNvPr id="89" name="Shape 87"/>
          <p:cNvSpPr/>
          <p:nvPr/>
        </p:nvSpPr>
        <p:spPr>
          <a:xfrm>
            <a:off x="5315316" y="4666249"/>
            <a:ext cx="117043" cy="117043"/>
          </a:xfrm>
          <a:prstGeom prst="diamond">
            <a:avLst/>
          </a:prstGeom>
          <a:solidFill>
            <a:srgbClr val="167C85"/>
          </a:solidFill>
          <a:ln w="5080">
            <a:solidFill>
              <a:srgbClr val="167C85"/>
            </a:solidFill>
            <a:prstDash val="solid"/>
          </a:ln>
        </p:spPr>
      </p:sp>
      <p:sp>
        <p:nvSpPr>
          <p:cNvPr id="90" name="Shape 88"/>
          <p:cNvSpPr/>
          <p:nvPr/>
        </p:nvSpPr>
        <p:spPr>
          <a:xfrm>
            <a:off x="5576919" y="4642310"/>
            <a:ext cx="117043" cy="117043"/>
          </a:xfrm>
          <a:prstGeom prst="triangle">
            <a:avLst/>
          </a:prstGeom>
          <a:solidFill>
            <a:srgbClr val="7056C2"/>
          </a:solidFill>
          <a:ln w="5080">
            <a:solidFill>
              <a:srgbClr val="7056C2"/>
            </a:solidFill>
            <a:prstDash val="solid"/>
          </a:ln>
        </p:spPr>
      </p:sp>
      <p:sp>
        <p:nvSpPr>
          <p:cNvPr id="91" name="Shape 89"/>
          <p:cNvSpPr/>
          <p:nvPr/>
        </p:nvSpPr>
        <p:spPr>
          <a:xfrm>
            <a:off x="5705800" y="4177137"/>
            <a:ext cx="117043" cy="117043"/>
          </a:xfrm>
          <a:prstGeom prst="triangle">
            <a:avLst/>
          </a:prstGeom>
          <a:solidFill>
            <a:srgbClr val="7056C2"/>
          </a:solidFill>
          <a:ln w="5080">
            <a:solidFill>
              <a:srgbClr val="7056C2"/>
            </a:solidFill>
            <a:prstDash val="solid"/>
          </a:ln>
        </p:spPr>
      </p:sp>
      <p:sp>
        <p:nvSpPr>
          <p:cNvPr id="92" name="Shape 90"/>
          <p:cNvSpPr/>
          <p:nvPr/>
        </p:nvSpPr>
        <p:spPr>
          <a:xfrm>
            <a:off x="5087156" y="4354592"/>
            <a:ext cx="117043" cy="117043"/>
          </a:xfrm>
          <a:prstGeom prst="diamond">
            <a:avLst/>
          </a:prstGeom>
          <a:solidFill>
            <a:srgbClr val="167C85"/>
          </a:solidFill>
          <a:ln w="5080">
            <a:solidFill>
              <a:srgbClr val="167C85"/>
            </a:solidFill>
            <a:prstDash val="solid"/>
          </a:ln>
        </p:spPr>
      </p:sp>
      <p:sp>
        <p:nvSpPr>
          <p:cNvPr id="93" name="Shape 91"/>
          <p:cNvSpPr/>
          <p:nvPr/>
        </p:nvSpPr>
        <p:spPr>
          <a:xfrm>
            <a:off x="4991127" y="4625180"/>
            <a:ext cx="117043" cy="117043"/>
          </a:xfrm>
          <a:prstGeom prst="diamond">
            <a:avLst/>
          </a:prstGeom>
          <a:solidFill>
            <a:srgbClr val="167C85"/>
          </a:solidFill>
          <a:ln w="5080">
            <a:solidFill>
              <a:srgbClr val="167C85"/>
            </a:solidFill>
            <a:prstDash val="solid"/>
          </a:ln>
        </p:spPr>
      </p:sp>
      <p:sp>
        <p:nvSpPr>
          <p:cNvPr id="94" name="Shape 92"/>
          <p:cNvSpPr/>
          <p:nvPr/>
        </p:nvSpPr>
        <p:spPr>
          <a:xfrm>
            <a:off x="5578602" y="4613001"/>
            <a:ext cx="117043" cy="117043"/>
          </a:xfrm>
          <a:prstGeom prst="triangle">
            <a:avLst/>
          </a:prstGeom>
          <a:solidFill>
            <a:srgbClr val="7056C2"/>
          </a:solidFill>
          <a:ln w="5080">
            <a:solidFill>
              <a:srgbClr val="7056C2"/>
            </a:solidFill>
            <a:prstDash val="solid"/>
          </a:ln>
        </p:spPr>
      </p:sp>
      <p:sp>
        <p:nvSpPr>
          <p:cNvPr id="95" name="Shape 93"/>
          <p:cNvSpPr/>
          <p:nvPr/>
        </p:nvSpPr>
        <p:spPr>
          <a:xfrm>
            <a:off x="5723081" y="4341412"/>
            <a:ext cx="117043" cy="117043"/>
          </a:xfrm>
          <a:prstGeom prst="triangle">
            <a:avLst/>
          </a:prstGeom>
          <a:solidFill>
            <a:srgbClr val="7056C2"/>
          </a:solidFill>
          <a:ln w="5080">
            <a:solidFill>
              <a:srgbClr val="7056C2"/>
            </a:solidFill>
            <a:prstDash val="solid"/>
          </a:ln>
        </p:spPr>
      </p:sp>
      <p:sp>
        <p:nvSpPr>
          <p:cNvPr id="96" name="Shape 94"/>
          <p:cNvSpPr/>
          <p:nvPr/>
        </p:nvSpPr>
        <p:spPr>
          <a:xfrm>
            <a:off x="5113653" y="4410306"/>
            <a:ext cx="117043" cy="117043"/>
          </a:xfrm>
          <a:prstGeom prst="diamond">
            <a:avLst/>
          </a:prstGeom>
          <a:solidFill>
            <a:srgbClr val="167C85"/>
          </a:solidFill>
          <a:ln w="5080">
            <a:solidFill>
              <a:srgbClr val="167C85"/>
            </a:solidFill>
            <a:prstDash val="solid"/>
          </a:ln>
        </p:spPr>
      </p:sp>
      <p:sp>
        <p:nvSpPr>
          <p:cNvPr id="97" name="Shape 95"/>
          <p:cNvSpPr/>
          <p:nvPr/>
        </p:nvSpPr>
        <p:spPr>
          <a:xfrm>
            <a:off x="5829065" y="4437450"/>
            <a:ext cx="117043" cy="117043"/>
          </a:xfrm>
          <a:prstGeom prst="triangle">
            <a:avLst/>
          </a:prstGeom>
          <a:solidFill>
            <a:srgbClr val="7056C2"/>
          </a:solidFill>
          <a:ln w="5080">
            <a:solidFill>
              <a:srgbClr val="7056C2"/>
            </a:solidFill>
            <a:prstDash val="solid"/>
          </a:ln>
        </p:spPr>
      </p:sp>
      <p:sp>
        <p:nvSpPr>
          <p:cNvPr id="98" name="Shape 96"/>
          <p:cNvSpPr/>
          <p:nvPr/>
        </p:nvSpPr>
        <p:spPr>
          <a:xfrm>
            <a:off x="5250972" y="4492238"/>
            <a:ext cx="117043" cy="117043"/>
          </a:xfrm>
          <a:prstGeom prst="diamond">
            <a:avLst/>
          </a:prstGeom>
          <a:solidFill>
            <a:srgbClr val="167C85"/>
          </a:solidFill>
          <a:ln w="5080">
            <a:solidFill>
              <a:srgbClr val="167C85"/>
            </a:solidFill>
            <a:prstDash val="solid"/>
          </a:ln>
        </p:spPr>
      </p:sp>
      <p:sp>
        <p:nvSpPr>
          <p:cNvPr id="99" name="Shape 97"/>
          <p:cNvSpPr/>
          <p:nvPr/>
        </p:nvSpPr>
        <p:spPr>
          <a:xfrm>
            <a:off x="5441411" y="4628914"/>
            <a:ext cx="117043" cy="117043"/>
          </a:xfrm>
          <a:prstGeom prst="diamond">
            <a:avLst/>
          </a:prstGeom>
          <a:solidFill>
            <a:srgbClr val="167C85"/>
          </a:solidFill>
          <a:ln w="5080">
            <a:solidFill>
              <a:srgbClr val="167C85"/>
            </a:solidFill>
            <a:prstDash val="solid"/>
          </a:ln>
        </p:spPr>
      </p:sp>
      <p:sp>
        <p:nvSpPr>
          <p:cNvPr id="100" name="Shape 98"/>
          <p:cNvSpPr/>
          <p:nvPr/>
        </p:nvSpPr>
        <p:spPr>
          <a:xfrm>
            <a:off x="5189689" y="4203722"/>
            <a:ext cx="117043" cy="117043"/>
          </a:xfrm>
          <a:prstGeom prst="diamond">
            <a:avLst/>
          </a:prstGeom>
          <a:solidFill>
            <a:srgbClr val="167C85"/>
          </a:solidFill>
          <a:ln w="5080">
            <a:solidFill>
              <a:srgbClr val="167C85"/>
            </a:solidFill>
            <a:prstDash val="solid"/>
          </a:ln>
        </p:spPr>
      </p:sp>
      <p:sp>
        <p:nvSpPr>
          <p:cNvPr id="101" name="Shape 99"/>
          <p:cNvSpPr/>
          <p:nvPr/>
        </p:nvSpPr>
        <p:spPr>
          <a:xfrm>
            <a:off x="5072946" y="4673656"/>
            <a:ext cx="117043" cy="117043"/>
          </a:xfrm>
          <a:prstGeom prst="diamond">
            <a:avLst/>
          </a:prstGeom>
          <a:solidFill>
            <a:srgbClr val="167C85"/>
          </a:solidFill>
          <a:ln w="5080">
            <a:solidFill>
              <a:srgbClr val="167C85"/>
            </a:solidFill>
            <a:prstDash val="solid"/>
          </a:ln>
        </p:spPr>
      </p:sp>
      <p:sp>
        <p:nvSpPr>
          <p:cNvPr id="102" name="Shape 100"/>
          <p:cNvSpPr/>
          <p:nvPr/>
        </p:nvSpPr>
        <p:spPr>
          <a:xfrm>
            <a:off x="4767654" y="4425675"/>
            <a:ext cx="117043" cy="117043"/>
          </a:xfrm>
          <a:prstGeom prst="diamond">
            <a:avLst/>
          </a:prstGeom>
          <a:solidFill>
            <a:srgbClr val="167C85"/>
          </a:solidFill>
          <a:ln w="5080">
            <a:solidFill>
              <a:srgbClr val="167C85"/>
            </a:solidFill>
            <a:prstDash val="solid"/>
          </a:ln>
        </p:spPr>
      </p:sp>
      <p:sp>
        <p:nvSpPr>
          <p:cNvPr id="103" name="Shape 101"/>
          <p:cNvSpPr/>
          <p:nvPr/>
        </p:nvSpPr>
        <p:spPr>
          <a:xfrm>
            <a:off x="5286181" y="4358381"/>
            <a:ext cx="117043" cy="117043"/>
          </a:xfrm>
          <a:prstGeom prst="diamond">
            <a:avLst/>
          </a:prstGeom>
          <a:solidFill>
            <a:srgbClr val="167C85"/>
          </a:solidFill>
          <a:ln w="5080">
            <a:solidFill>
              <a:srgbClr val="167C85"/>
            </a:solidFill>
            <a:prstDash val="solid"/>
          </a:ln>
        </p:spPr>
      </p:sp>
      <p:sp>
        <p:nvSpPr>
          <p:cNvPr id="104" name="Shape 102"/>
          <p:cNvSpPr/>
          <p:nvPr/>
        </p:nvSpPr>
        <p:spPr>
          <a:xfrm>
            <a:off x="5106198" y="4527061"/>
            <a:ext cx="117043" cy="117043"/>
          </a:xfrm>
          <a:prstGeom prst="diamond">
            <a:avLst/>
          </a:prstGeom>
          <a:solidFill>
            <a:srgbClr val="167C85"/>
          </a:solidFill>
          <a:ln w="5080">
            <a:solidFill>
              <a:srgbClr val="167C85"/>
            </a:solidFill>
            <a:prstDash val="solid"/>
          </a:ln>
        </p:spPr>
      </p:sp>
      <p:sp>
        <p:nvSpPr>
          <p:cNvPr id="105" name="Shape 103"/>
          <p:cNvSpPr/>
          <p:nvPr/>
        </p:nvSpPr>
        <p:spPr>
          <a:xfrm>
            <a:off x="5381526" y="4246225"/>
            <a:ext cx="117043" cy="117043"/>
          </a:xfrm>
          <a:prstGeom prst="diamond">
            <a:avLst/>
          </a:prstGeom>
          <a:solidFill>
            <a:srgbClr val="167C85"/>
          </a:solidFill>
          <a:ln w="5080">
            <a:solidFill>
              <a:srgbClr val="167C85"/>
            </a:solidFill>
            <a:prstDash val="solid"/>
          </a:ln>
        </p:spPr>
      </p:sp>
      <p:sp>
        <p:nvSpPr>
          <p:cNvPr id="106" name="Text 104"/>
          <p:cNvSpPr/>
          <p:nvPr/>
        </p:nvSpPr>
        <p:spPr>
          <a:xfrm>
            <a:off x="8220456" y="2404872"/>
            <a:ext cx="3072384" cy="411480"/>
          </a:xfrm>
          <a:prstGeom prst="rect">
            <a:avLst/>
          </a:prstGeom>
          <a:noFill/>
          <a:ln/>
        </p:spPr>
        <p:txBody>
          <a:bodyPr wrap="square" lIns="0" tIns="0" rIns="0" bIns="0" rtlCol="0" anchor="ctr"/>
          <a:lstStyle/>
          <a:p>
            <a:pPr algn="l" indent="0" marL="0">
              <a:buNone/>
            </a:pPr>
            <a:r>
              <a:rPr lang="en-US" sz="2500" b="1" dirty="0">
                <a:solidFill>
                  <a:srgbClr val="172233"/>
                </a:solidFill>
                <a:latin typeface="Aptos" pitchFamily="34" charset="0"/>
                <a:ea typeface="Aptos" pitchFamily="34" charset="-122"/>
                <a:cs typeface="Aptos" pitchFamily="34" charset="-120"/>
              </a:rPr>
              <a:t>Position</a:t>
            </a:r>
            <a:endParaRPr lang="en-US" sz="2500" dirty="0"/>
          </a:p>
        </p:txBody>
      </p:sp>
      <p:sp>
        <p:nvSpPr>
          <p:cNvPr id="107" name="Text 105"/>
          <p:cNvSpPr/>
          <p:nvPr/>
        </p:nvSpPr>
        <p:spPr>
          <a:xfrm>
            <a:off x="8220456" y="2907792"/>
            <a:ext cx="3072384" cy="740664"/>
          </a:xfrm>
          <a:prstGeom prst="rect">
            <a:avLst/>
          </a:prstGeom>
          <a:noFill/>
          <a:ln/>
        </p:spPr>
        <p:txBody>
          <a:bodyPr wrap="square" lIns="0" tIns="0" rIns="0" bIns="0" rtlCol="0" anchor="ctr"/>
          <a:lstStyle/>
          <a:p>
            <a:pPr algn="l" indent="0" marL="0">
              <a:buNone/>
            </a:pPr>
            <a:r>
              <a:rPr lang="en-US" sz="2000" dirty="0">
                <a:solidFill>
                  <a:srgbClr val="53657A"/>
                </a:solidFill>
                <a:latin typeface="Aptos" pitchFamily="34" charset="0"/>
                <a:ea typeface="Aptos" pitchFamily="34" charset="-122"/>
                <a:cs typeface="Aptos" pitchFamily="34" charset="-120"/>
              </a:rPr>
              <a:t>t-SNE of learned</a:t>
            </a:r>
            <a:endParaRPr lang="en-US" sz="2000" dirty="0"/>
          </a:p>
          <a:p>
            <a:pPr algn="l" indent="0" marL="0">
              <a:buNone/>
            </a:pPr>
            <a:r>
              <a:rPr lang="en-US" sz="2000" dirty="0">
                <a:solidFill>
                  <a:srgbClr val="53657A"/>
                </a:solidFill>
                <a:latin typeface="Aptos" pitchFamily="34" charset="0"/>
                <a:ea typeface="Aptos" pitchFamily="34" charset="-122"/>
                <a:cs typeface="Aptos" pitchFamily="34" charset="-120"/>
              </a:rPr>
              <a:t>four-dimensional vectors</a:t>
            </a:r>
            <a:endParaRPr lang="en-US" sz="2000" dirty="0"/>
          </a:p>
        </p:txBody>
      </p:sp>
      <p:sp>
        <p:nvSpPr>
          <p:cNvPr id="108" name="Text 106"/>
          <p:cNvSpPr/>
          <p:nvPr/>
        </p:nvSpPr>
        <p:spPr>
          <a:xfrm>
            <a:off x="8220456" y="3995928"/>
            <a:ext cx="3072384" cy="420624"/>
          </a:xfrm>
          <a:prstGeom prst="rect">
            <a:avLst/>
          </a:prstGeom>
          <a:noFill/>
          <a:ln/>
        </p:spPr>
        <p:txBody>
          <a:bodyPr wrap="square" lIns="0" tIns="0" rIns="0" bIns="0" rtlCol="0" anchor="ctr"/>
          <a:lstStyle/>
          <a:p>
            <a:pPr algn="l" indent="0" marL="0">
              <a:buNone/>
            </a:pPr>
            <a:r>
              <a:rPr lang="en-US" sz="2400" b="1" dirty="0">
                <a:solidFill>
                  <a:srgbClr val="172233"/>
                </a:solidFill>
                <a:latin typeface="Aptos" pitchFamily="34" charset="0"/>
                <a:ea typeface="Aptos" pitchFamily="34" charset="-122"/>
                <a:cs typeface="Aptos" pitchFamily="34" charset="-120"/>
              </a:rPr>
              <a:t>Color and symbol</a:t>
            </a:r>
            <a:endParaRPr lang="en-US" sz="2400" dirty="0"/>
          </a:p>
        </p:txBody>
      </p:sp>
      <p:sp>
        <p:nvSpPr>
          <p:cNvPr id="109" name="Text 107"/>
          <p:cNvSpPr/>
          <p:nvPr/>
        </p:nvSpPr>
        <p:spPr>
          <a:xfrm>
            <a:off x="8220456" y="4507992"/>
            <a:ext cx="3072384" cy="694944"/>
          </a:xfrm>
          <a:prstGeom prst="rect">
            <a:avLst/>
          </a:prstGeom>
          <a:noFill/>
          <a:ln/>
        </p:spPr>
        <p:txBody>
          <a:bodyPr wrap="square" lIns="0" tIns="0" rIns="0" bIns="0" rtlCol="0" anchor="ctr"/>
          <a:lstStyle/>
          <a:p>
            <a:pPr algn="l" indent="0" marL="0">
              <a:buNone/>
            </a:pPr>
            <a:r>
              <a:rPr lang="en-US" sz="2000" dirty="0">
                <a:solidFill>
                  <a:srgbClr val="53657A"/>
                </a:solidFill>
                <a:latin typeface="Aptos" pitchFamily="34" charset="0"/>
                <a:ea typeface="Aptos" pitchFamily="34" charset="-122"/>
                <a:cs typeface="Aptos" pitchFamily="34" charset="-120"/>
              </a:rPr>
              <a:t>Fixed RFM</a:t>
            </a:r>
            <a:endParaRPr lang="en-US" sz="2000" dirty="0"/>
          </a:p>
          <a:p>
            <a:pPr algn="l" indent="0" marL="0">
              <a:buNone/>
            </a:pPr>
            <a:r>
              <a:rPr lang="en-US" sz="2000" dirty="0">
                <a:solidFill>
                  <a:srgbClr val="53657A"/>
                </a:solidFill>
                <a:latin typeface="Aptos" pitchFamily="34" charset="0"/>
                <a:ea typeface="Aptos" pitchFamily="34" charset="-122"/>
                <a:cs typeface="Aptos" pitchFamily="34" charset="-120"/>
              </a:rPr>
              <a:t>cluster assignment</a:t>
            </a:r>
            <a:endParaRPr lang="en-US" sz="2000" dirty="0"/>
          </a:p>
        </p:txBody>
      </p:sp>
      <p:sp>
        <p:nvSpPr>
          <p:cNvPr id="110" name="Shape 108"/>
          <p:cNvSpPr/>
          <p:nvPr/>
        </p:nvSpPr>
        <p:spPr>
          <a:xfrm>
            <a:off x="8215884" y="5399532"/>
            <a:ext cx="137160" cy="137160"/>
          </a:xfrm>
          <a:prstGeom prst="ellipse">
            <a:avLst/>
          </a:prstGeom>
          <a:solidFill>
            <a:srgbClr val="176493"/>
          </a:solidFill>
          <a:ln w="5080">
            <a:solidFill>
              <a:srgbClr val="176493"/>
            </a:solidFill>
            <a:prstDash val="solid"/>
          </a:ln>
        </p:spPr>
      </p:sp>
      <p:sp>
        <p:nvSpPr>
          <p:cNvPr id="111" name="Text 109"/>
          <p:cNvSpPr/>
          <p:nvPr/>
        </p:nvSpPr>
        <p:spPr>
          <a:xfrm>
            <a:off x="8439912" y="5358384"/>
            <a:ext cx="640080" cy="246888"/>
          </a:xfrm>
          <a:prstGeom prst="rect">
            <a:avLst/>
          </a:prstGeom>
          <a:noFill/>
          <a:ln/>
        </p:spPr>
        <p:txBody>
          <a:bodyPr wrap="square" lIns="0" tIns="0" rIns="0" bIns="0" rtlCol="0" anchor="ctr"/>
          <a:lstStyle/>
          <a:p>
            <a:pPr algn="l" indent="0" marL="0">
              <a:buNone/>
            </a:pPr>
            <a:r>
              <a:rPr lang="en-US" sz="1500" dirty="0">
                <a:solidFill>
                  <a:srgbClr val="53657A"/>
                </a:solidFill>
                <a:latin typeface="Aptos" pitchFamily="34" charset="0"/>
                <a:ea typeface="Aptos" pitchFamily="34" charset="-122"/>
                <a:cs typeface="Aptos" pitchFamily="34" charset="-120"/>
              </a:rPr>
              <a:t>C1</a:t>
            </a:r>
            <a:endParaRPr lang="en-US" sz="1500" dirty="0"/>
          </a:p>
        </p:txBody>
      </p:sp>
      <p:sp>
        <p:nvSpPr>
          <p:cNvPr id="112" name="Shape 110"/>
          <p:cNvSpPr/>
          <p:nvPr/>
        </p:nvSpPr>
        <p:spPr>
          <a:xfrm>
            <a:off x="9221724" y="5399532"/>
            <a:ext cx="137160" cy="137160"/>
          </a:xfrm>
          <a:prstGeom prst="diamond">
            <a:avLst/>
          </a:prstGeom>
          <a:solidFill>
            <a:srgbClr val="167C85"/>
          </a:solidFill>
          <a:ln w="5080">
            <a:solidFill>
              <a:srgbClr val="167C85"/>
            </a:solidFill>
            <a:prstDash val="solid"/>
          </a:ln>
        </p:spPr>
      </p:sp>
      <p:sp>
        <p:nvSpPr>
          <p:cNvPr id="113" name="Text 111"/>
          <p:cNvSpPr/>
          <p:nvPr/>
        </p:nvSpPr>
        <p:spPr>
          <a:xfrm>
            <a:off x="9445752" y="5358384"/>
            <a:ext cx="640080" cy="246888"/>
          </a:xfrm>
          <a:prstGeom prst="rect">
            <a:avLst/>
          </a:prstGeom>
          <a:noFill/>
          <a:ln/>
        </p:spPr>
        <p:txBody>
          <a:bodyPr wrap="square" lIns="0" tIns="0" rIns="0" bIns="0" rtlCol="0" anchor="ctr"/>
          <a:lstStyle/>
          <a:p>
            <a:pPr algn="l" indent="0" marL="0">
              <a:buNone/>
            </a:pPr>
            <a:r>
              <a:rPr lang="en-US" sz="1500" dirty="0">
                <a:solidFill>
                  <a:srgbClr val="53657A"/>
                </a:solidFill>
                <a:latin typeface="Aptos" pitchFamily="34" charset="0"/>
                <a:ea typeface="Aptos" pitchFamily="34" charset="-122"/>
                <a:cs typeface="Aptos" pitchFamily="34" charset="-120"/>
              </a:rPr>
              <a:t>C2</a:t>
            </a:r>
            <a:endParaRPr lang="en-US" sz="1500" dirty="0"/>
          </a:p>
        </p:txBody>
      </p:sp>
      <p:sp>
        <p:nvSpPr>
          <p:cNvPr id="114" name="Shape 112"/>
          <p:cNvSpPr/>
          <p:nvPr/>
        </p:nvSpPr>
        <p:spPr>
          <a:xfrm>
            <a:off x="10227564" y="5399532"/>
            <a:ext cx="137160" cy="137160"/>
          </a:xfrm>
          <a:prstGeom prst="triangle">
            <a:avLst/>
          </a:prstGeom>
          <a:solidFill>
            <a:srgbClr val="7056C2"/>
          </a:solidFill>
          <a:ln w="5080">
            <a:solidFill>
              <a:srgbClr val="7056C2"/>
            </a:solidFill>
            <a:prstDash val="solid"/>
          </a:ln>
        </p:spPr>
      </p:sp>
      <p:sp>
        <p:nvSpPr>
          <p:cNvPr id="115" name="Text 113"/>
          <p:cNvSpPr/>
          <p:nvPr/>
        </p:nvSpPr>
        <p:spPr>
          <a:xfrm>
            <a:off x="10451592" y="5358384"/>
            <a:ext cx="640080" cy="246888"/>
          </a:xfrm>
          <a:prstGeom prst="rect">
            <a:avLst/>
          </a:prstGeom>
          <a:noFill/>
          <a:ln/>
        </p:spPr>
        <p:txBody>
          <a:bodyPr wrap="square" lIns="0" tIns="0" rIns="0" bIns="0" rtlCol="0" anchor="ctr"/>
          <a:lstStyle/>
          <a:p>
            <a:pPr algn="l" indent="0" marL="0">
              <a:buNone/>
            </a:pPr>
            <a:r>
              <a:rPr lang="en-US" sz="1500" dirty="0">
                <a:solidFill>
                  <a:srgbClr val="53657A"/>
                </a:solidFill>
                <a:latin typeface="Aptos" pitchFamily="34" charset="0"/>
                <a:ea typeface="Aptos" pitchFamily="34" charset="-122"/>
                <a:cs typeface="Aptos" pitchFamily="34" charset="-120"/>
              </a:rPr>
              <a:t>C3</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0" y="0"/>
            <a:ext cx="12192000" cy="402336"/>
          </a:xfrm>
          <a:prstGeom prst="rect">
            <a:avLst/>
          </a:prstGeom>
          <a:solidFill>
            <a:srgbClr val="E7EEF7"/>
          </a:solidFill>
          <a:ln w="12700">
            <a:solidFill>
              <a:srgbClr val="E7EEF7">
                <a:alpha val="0"/>
              </a:srgbClr>
            </a:solidFill>
            <a:prstDash val="solid"/>
          </a:ln>
        </p:spPr>
      </p:sp>
      <p:sp>
        <p:nvSpPr>
          <p:cNvPr id="3" name="Shape 1"/>
          <p:cNvSpPr/>
          <p:nvPr/>
        </p:nvSpPr>
        <p:spPr>
          <a:xfrm>
            <a:off x="466344" y="123444"/>
            <a:ext cx="64008" cy="146304"/>
          </a:xfrm>
          <a:prstGeom prst="rect">
            <a:avLst/>
          </a:prstGeom>
          <a:solidFill>
            <a:srgbClr val="176493"/>
          </a:solidFill>
          <a:ln w="12700">
            <a:solidFill>
              <a:srgbClr val="176493">
                <a:alpha val="0"/>
              </a:srgbClr>
            </a:solidFill>
            <a:prstDash val="solid"/>
          </a:ln>
        </p:spPr>
      </p:sp>
      <p:sp>
        <p:nvSpPr>
          <p:cNvPr id="4" name="Text 2"/>
          <p:cNvSpPr/>
          <p:nvPr/>
        </p:nvSpPr>
        <p:spPr>
          <a:xfrm>
            <a:off x="594360" y="100584"/>
            <a:ext cx="731520" cy="201168"/>
          </a:xfrm>
          <a:prstGeom prst="rect">
            <a:avLst/>
          </a:prstGeom>
          <a:noFill/>
          <a:ln/>
        </p:spPr>
        <p:txBody>
          <a:bodyPr wrap="square" lIns="0" tIns="0" rIns="0" bIns="0" rtlCol="0" anchor="ctr"/>
          <a:lstStyle/>
          <a:p>
            <a:pPr algn="l" indent="0" marL="0">
              <a:buNone/>
            </a:pPr>
            <a:r>
              <a:rPr lang="en-US" sz="1100" b="1" dirty="0">
                <a:solidFill>
                  <a:srgbClr val="176493"/>
                </a:solidFill>
                <a:latin typeface="Aptos" pitchFamily="34" charset="0"/>
                <a:ea typeface="Aptos" pitchFamily="34" charset="-122"/>
                <a:cs typeface="Aptos" pitchFamily="34" charset="-120"/>
              </a:rPr>
              <a:t>DS101</a:t>
            </a:r>
            <a:endParaRPr lang="en-US" sz="1100" dirty="0"/>
          </a:p>
        </p:txBody>
      </p:sp>
      <p:sp>
        <p:nvSpPr>
          <p:cNvPr id="5" name="Text 3"/>
          <p:cNvSpPr/>
          <p:nvPr/>
        </p:nvSpPr>
        <p:spPr>
          <a:xfrm>
            <a:off x="1463040" y="100584"/>
            <a:ext cx="1828800" cy="201168"/>
          </a:xfrm>
          <a:prstGeom prst="rect">
            <a:avLst/>
          </a:prstGeom>
          <a:noFill/>
          <a:ln/>
        </p:spPr>
        <p:txBody>
          <a:bodyPr wrap="square" lIns="0" tIns="0" rIns="0" bIns="0" rtlCol="0" anchor="ctr"/>
          <a:lstStyle/>
          <a:p>
            <a:pPr algn="l" indent="0" marL="0">
              <a:buNone/>
            </a:pPr>
            <a:r>
              <a:rPr lang="en-US" sz="1000" dirty="0">
                <a:solidFill>
                  <a:srgbClr val="53657A"/>
                </a:solidFill>
                <a:latin typeface="Aptos" pitchFamily="34" charset="0"/>
                <a:ea typeface="Aptos" pitchFamily="34" charset="-122"/>
                <a:cs typeface="Aptos" pitchFamily="34" charset="-120"/>
              </a:rPr>
              <a:t>LECTURE 02</a:t>
            </a:r>
            <a:endParaRPr lang="en-US" sz="1000" dirty="0"/>
          </a:p>
        </p:txBody>
      </p:sp>
      <p:sp>
        <p:nvSpPr>
          <p:cNvPr id="6" name="Text 4"/>
          <p:cNvSpPr/>
          <p:nvPr/>
        </p:nvSpPr>
        <p:spPr>
          <a:xfrm>
            <a:off x="8321040" y="100584"/>
            <a:ext cx="3264408" cy="201168"/>
          </a:xfrm>
          <a:prstGeom prst="rect">
            <a:avLst/>
          </a:prstGeom>
          <a:noFill/>
          <a:ln/>
        </p:spPr>
        <p:txBody>
          <a:bodyPr wrap="square" lIns="0" tIns="0" rIns="0" bIns="0" rtlCol="0" anchor="ctr"/>
          <a:lstStyle/>
          <a:p>
            <a:pPr algn="r" indent="0" marL="0">
              <a:buNone/>
            </a:pPr>
            <a:r>
              <a:rPr lang="en-US" sz="1000" dirty="0">
                <a:solidFill>
                  <a:srgbClr val="53657A"/>
                </a:solidFill>
                <a:latin typeface="Aptos" pitchFamily="34" charset="0"/>
                <a:ea typeface="Aptos" pitchFamily="34" charset="-122"/>
                <a:cs typeface="Aptos" pitchFamily="34" charset="-120"/>
              </a:rPr>
              <a:t>EMBEDDING INTERPRETATION</a:t>
            </a:r>
            <a:endParaRPr lang="en-US" sz="1000" dirty="0"/>
          </a:p>
        </p:txBody>
      </p:sp>
      <p:sp>
        <p:nvSpPr>
          <p:cNvPr id="7" name="Text 5"/>
          <p:cNvSpPr/>
          <p:nvPr/>
        </p:nvSpPr>
        <p:spPr>
          <a:xfrm>
            <a:off x="594360" y="758952"/>
            <a:ext cx="11000232" cy="658368"/>
          </a:xfrm>
          <a:prstGeom prst="rect">
            <a:avLst/>
          </a:prstGeom>
          <a:noFill/>
          <a:ln/>
        </p:spPr>
        <p:txBody>
          <a:bodyPr wrap="square" lIns="0" tIns="0" rIns="0" bIns="0" rtlCol="0" anchor="ctr"/>
          <a:lstStyle/>
          <a:p>
            <a:pPr algn="l" indent="0" marL="0">
              <a:buNone/>
            </a:pPr>
            <a:r>
              <a:rPr lang="en-US" sz="3000" b="1" dirty="0">
                <a:solidFill>
                  <a:srgbClr val="172233"/>
                </a:solidFill>
                <a:latin typeface="Aptos" pitchFamily="34" charset="0"/>
                <a:ea typeface="Aptos" pitchFamily="34" charset="-122"/>
                <a:cs typeface="Aptos" pitchFamily="34" charset="-120"/>
              </a:rPr>
              <a:t>Check neighbors in the learned space</a:t>
            </a:r>
            <a:endParaRPr lang="en-US" sz="3000" dirty="0"/>
          </a:p>
        </p:txBody>
      </p:sp>
      <p:sp>
        <p:nvSpPr>
          <p:cNvPr id="8" name="Text 6"/>
          <p:cNvSpPr/>
          <p:nvPr/>
        </p:nvSpPr>
        <p:spPr>
          <a:xfrm>
            <a:off x="594360" y="6510528"/>
            <a:ext cx="3657600" cy="164592"/>
          </a:xfrm>
          <a:prstGeom prst="rect">
            <a:avLst/>
          </a:prstGeom>
          <a:noFill/>
          <a:ln/>
        </p:spPr>
        <p:txBody>
          <a:bodyPr wrap="square" lIns="0" tIns="0" rIns="0" bIns="0" rtlCol="0" anchor="ctr"/>
          <a:lstStyle/>
          <a:p>
            <a:pPr algn="l" indent="0" marL="0">
              <a:buNone/>
            </a:pPr>
            <a:r>
              <a:rPr lang="en-US" sz="900" dirty="0">
                <a:solidFill>
                  <a:srgbClr val="53657A"/>
                </a:solidFill>
                <a:latin typeface="Aptos" pitchFamily="34" charset="0"/>
                <a:ea typeface="Aptos" pitchFamily="34" charset="-122"/>
                <a:cs typeface="Aptos" pitchFamily="34" charset="-120"/>
              </a:rPr>
              <a:t>DS101 | 2026-2027</a:t>
            </a:r>
            <a:endParaRPr lang="en-US" sz="900" dirty="0"/>
          </a:p>
        </p:txBody>
      </p:sp>
      <p:sp>
        <p:nvSpPr>
          <p:cNvPr id="9" name="Text 7"/>
          <p:cNvSpPr/>
          <p:nvPr/>
        </p:nvSpPr>
        <p:spPr>
          <a:xfrm>
            <a:off x="10680192" y="6492240"/>
            <a:ext cx="914400" cy="201168"/>
          </a:xfrm>
          <a:prstGeom prst="rect">
            <a:avLst/>
          </a:prstGeom>
          <a:noFill/>
          <a:ln/>
        </p:spPr>
        <p:txBody>
          <a:bodyPr wrap="square" lIns="0" tIns="0" rIns="0" bIns="0" rtlCol="0" anchor="ctr"/>
          <a:lstStyle/>
          <a:p>
            <a:pPr algn="r" indent="0" marL="0">
              <a:buNone/>
            </a:pPr>
            <a:r>
              <a:rPr lang="en-US" sz="1000" dirty="0">
                <a:solidFill>
                  <a:srgbClr val="53657A"/>
                </a:solidFill>
                <a:latin typeface="Aptos" pitchFamily="34" charset="0"/>
                <a:ea typeface="Aptos" pitchFamily="34" charset="-122"/>
                <a:cs typeface="Aptos" pitchFamily="34" charset="-120"/>
              </a:rPr>
              <a:t>22 / 24</a:t>
            </a:r>
            <a:endParaRPr lang="en-US" sz="1000" dirty="0"/>
          </a:p>
        </p:txBody>
      </p:sp>
      <p:sp>
        <p:nvSpPr>
          <p:cNvPr id="10" name="Shape 8"/>
          <p:cNvSpPr/>
          <p:nvPr/>
        </p:nvSpPr>
        <p:spPr>
          <a:xfrm>
            <a:off x="594360" y="5852160"/>
            <a:ext cx="11000232" cy="438912"/>
          </a:xfrm>
          <a:prstGeom prst="rect">
            <a:avLst/>
          </a:prstGeom>
          <a:solidFill>
            <a:srgbClr val="E3EFF7"/>
          </a:solidFill>
          <a:ln w="12700">
            <a:solidFill>
              <a:srgbClr val="E3EFF7">
                <a:alpha val="0"/>
              </a:srgbClr>
            </a:solidFill>
            <a:prstDash val="solid"/>
          </a:ln>
        </p:spPr>
      </p:sp>
      <p:sp>
        <p:nvSpPr>
          <p:cNvPr id="11" name="Text 9"/>
          <p:cNvSpPr/>
          <p:nvPr/>
        </p:nvSpPr>
        <p:spPr>
          <a:xfrm>
            <a:off x="795528" y="5943600"/>
            <a:ext cx="10607040" cy="256032"/>
          </a:xfrm>
          <a:prstGeom prst="rect">
            <a:avLst/>
          </a:prstGeom>
          <a:noFill/>
          <a:ln/>
        </p:spPr>
        <p:txBody>
          <a:bodyPr wrap="square" lIns="0" tIns="0" rIns="0" bIns="0" rtlCol="0" anchor="ctr"/>
          <a:lstStyle/>
          <a:p>
            <a:pPr algn="l" indent="0" marL="0">
              <a:buNone/>
            </a:pPr>
            <a:r>
              <a:rPr lang="en-US" sz="1700" b="1" dirty="0">
                <a:solidFill>
                  <a:srgbClr val="176493"/>
                </a:solidFill>
                <a:latin typeface="Aptos" pitchFamily="34" charset="0"/>
                <a:ea typeface="Aptos" pitchFamily="34" charset="-122"/>
                <a:cs typeface="Aptos" pitchFamily="34" charset="-120"/>
              </a:rPr>
              <a:t>Use the map to ask a question; check it in the representation and records.</a:t>
            </a:r>
            <a:endParaRPr lang="en-US" sz="1700" dirty="0"/>
          </a:p>
        </p:txBody>
      </p:sp>
      <p:sp>
        <p:nvSpPr>
          <p:cNvPr id="12" name="Text 10"/>
          <p:cNvSpPr/>
          <p:nvPr/>
        </p:nvSpPr>
        <p:spPr>
          <a:xfrm>
            <a:off x="749808" y="1636776"/>
            <a:ext cx="10607040" cy="219456"/>
          </a:xfrm>
          <a:prstGeom prst="rect">
            <a:avLst/>
          </a:prstGeom>
          <a:noFill/>
          <a:ln/>
        </p:spPr>
        <p:txBody>
          <a:bodyPr wrap="square" lIns="0" tIns="0" rIns="0" bIns="0" rtlCol="0" anchor="ctr"/>
          <a:lstStyle/>
          <a:p>
            <a:pPr algn="l" indent="0" marL="0">
              <a:buNone/>
            </a:pPr>
            <a:r>
              <a:rPr lang="en-US" sz="1150" b="1" spc="50" kern="0" dirty="0">
                <a:solidFill>
                  <a:srgbClr val="176493"/>
                </a:solidFill>
                <a:latin typeface="Aptos" pitchFamily="34" charset="0"/>
                <a:ea typeface="Aptos" pitchFamily="34" charset="-122"/>
                <a:cs typeface="Aptos" pitchFamily="34" charset="-120"/>
              </a:rPr>
              <a:t>QUERY: A001 | EUCLIDEAN DISTANCE IN THE 4-D LEARNED LOOKUP</a:t>
            </a:r>
            <a:endParaRPr lang="en-US" sz="1150" dirty="0"/>
          </a:p>
        </p:txBody>
      </p:sp>
      <p:sp>
        <p:nvSpPr>
          <p:cNvPr id="13" name="Shape 11"/>
          <p:cNvSpPr/>
          <p:nvPr/>
        </p:nvSpPr>
        <p:spPr>
          <a:xfrm>
            <a:off x="749808" y="2093976"/>
            <a:ext cx="10652760" cy="457200"/>
          </a:xfrm>
          <a:prstGeom prst="rect">
            <a:avLst/>
          </a:prstGeom>
          <a:solidFill>
            <a:srgbClr val="263142"/>
          </a:solidFill>
          <a:ln w="12700">
            <a:solidFill>
              <a:srgbClr val="263142">
                <a:alpha val="0"/>
              </a:srgbClr>
            </a:solidFill>
            <a:prstDash val="solid"/>
          </a:ln>
        </p:spPr>
      </p:sp>
      <p:sp>
        <p:nvSpPr>
          <p:cNvPr id="14" name="Text 12"/>
          <p:cNvSpPr/>
          <p:nvPr/>
        </p:nvSpPr>
        <p:spPr>
          <a:xfrm>
            <a:off x="859536" y="2130552"/>
            <a:ext cx="1655064" cy="384048"/>
          </a:xfrm>
          <a:prstGeom prst="rect">
            <a:avLst/>
          </a:prstGeom>
          <a:noFill/>
          <a:ln/>
        </p:spPr>
        <p:txBody>
          <a:bodyPr wrap="square" lIns="0" tIns="0" rIns="0" bIns="0" rtlCol="0" anchor="ctr"/>
          <a:lstStyle/>
          <a:p>
            <a:pPr algn="l" indent="0" marL="0">
              <a:buNone/>
            </a:pPr>
            <a:r>
              <a:rPr lang="en-US" sz="1600" b="1" dirty="0">
                <a:solidFill>
                  <a:srgbClr val="FFFFFF"/>
                </a:solidFill>
                <a:latin typeface="Aptos" pitchFamily="34" charset="0"/>
                <a:ea typeface="Aptos" pitchFamily="34" charset="-122"/>
                <a:cs typeface="Aptos" pitchFamily="34" charset="-120"/>
              </a:rPr>
              <a:t>Neighbor</a:t>
            </a:r>
            <a:endParaRPr lang="en-US" sz="1600" dirty="0"/>
          </a:p>
        </p:txBody>
      </p:sp>
      <p:sp>
        <p:nvSpPr>
          <p:cNvPr id="15" name="Text 13"/>
          <p:cNvSpPr/>
          <p:nvPr/>
        </p:nvSpPr>
        <p:spPr>
          <a:xfrm>
            <a:off x="2734056" y="2130552"/>
            <a:ext cx="2478024" cy="384048"/>
          </a:xfrm>
          <a:prstGeom prst="rect">
            <a:avLst/>
          </a:prstGeom>
          <a:noFill/>
          <a:ln/>
        </p:spPr>
        <p:txBody>
          <a:bodyPr wrap="square" lIns="0" tIns="0" rIns="0" bIns="0" rtlCol="0" anchor="ctr"/>
          <a:lstStyle/>
          <a:p>
            <a:pPr algn="l" indent="0" marL="0">
              <a:buNone/>
            </a:pPr>
            <a:r>
              <a:rPr lang="en-US" sz="1600" b="1" dirty="0">
                <a:solidFill>
                  <a:srgbClr val="FFFFFF"/>
                </a:solidFill>
                <a:latin typeface="Aptos" pitchFamily="34" charset="0"/>
                <a:ea typeface="Aptos" pitchFamily="34" charset="-122"/>
                <a:cs typeface="Aptos" pitchFamily="34" charset="-120"/>
              </a:rPr>
              <a:t>4-D distance</a:t>
            </a:r>
            <a:endParaRPr lang="en-US" sz="1600" dirty="0"/>
          </a:p>
        </p:txBody>
      </p:sp>
      <p:sp>
        <p:nvSpPr>
          <p:cNvPr id="16" name="Text 14"/>
          <p:cNvSpPr/>
          <p:nvPr/>
        </p:nvSpPr>
        <p:spPr>
          <a:xfrm>
            <a:off x="5431536" y="2130552"/>
            <a:ext cx="1746504" cy="384048"/>
          </a:xfrm>
          <a:prstGeom prst="rect">
            <a:avLst/>
          </a:prstGeom>
          <a:noFill/>
          <a:ln/>
        </p:spPr>
        <p:txBody>
          <a:bodyPr wrap="square" lIns="0" tIns="0" rIns="0" bIns="0" rtlCol="0" anchor="ctr"/>
          <a:lstStyle/>
          <a:p>
            <a:pPr algn="l" indent="0" marL="0">
              <a:buNone/>
            </a:pPr>
            <a:r>
              <a:rPr lang="en-US" sz="1600" b="1" dirty="0">
                <a:solidFill>
                  <a:srgbClr val="FFFFFF"/>
                </a:solidFill>
                <a:latin typeface="Aptos" pitchFamily="34" charset="0"/>
                <a:ea typeface="Aptos" pitchFamily="34" charset="-122"/>
                <a:cs typeface="Aptos" pitchFamily="34" charset="-120"/>
              </a:rPr>
              <a:t>R: days</a:t>
            </a:r>
            <a:endParaRPr lang="en-US" sz="1600" dirty="0"/>
          </a:p>
        </p:txBody>
      </p:sp>
      <p:sp>
        <p:nvSpPr>
          <p:cNvPr id="17" name="Text 15"/>
          <p:cNvSpPr/>
          <p:nvPr/>
        </p:nvSpPr>
        <p:spPr>
          <a:xfrm>
            <a:off x="7397496" y="2130552"/>
            <a:ext cx="1700784" cy="384048"/>
          </a:xfrm>
          <a:prstGeom prst="rect">
            <a:avLst/>
          </a:prstGeom>
          <a:noFill/>
          <a:ln/>
        </p:spPr>
        <p:txBody>
          <a:bodyPr wrap="square" lIns="0" tIns="0" rIns="0" bIns="0" rtlCol="0" anchor="ctr"/>
          <a:lstStyle/>
          <a:p>
            <a:pPr algn="l" indent="0" marL="0">
              <a:buNone/>
            </a:pPr>
            <a:r>
              <a:rPr lang="en-US" sz="1600" b="1" dirty="0">
                <a:solidFill>
                  <a:srgbClr val="FFFFFF"/>
                </a:solidFill>
                <a:latin typeface="Aptos" pitchFamily="34" charset="0"/>
                <a:ea typeface="Aptos" pitchFamily="34" charset="-122"/>
                <a:cs typeface="Aptos" pitchFamily="34" charset="-120"/>
              </a:rPr>
              <a:t>F: orders</a:t>
            </a:r>
            <a:endParaRPr lang="en-US" sz="1600" dirty="0"/>
          </a:p>
        </p:txBody>
      </p:sp>
      <p:sp>
        <p:nvSpPr>
          <p:cNvPr id="18" name="Text 16"/>
          <p:cNvSpPr/>
          <p:nvPr/>
        </p:nvSpPr>
        <p:spPr>
          <a:xfrm>
            <a:off x="9317736" y="2130552"/>
            <a:ext cx="1975104" cy="384048"/>
          </a:xfrm>
          <a:prstGeom prst="rect">
            <a:avLst/>
          </a:prstGeom>
          <a:noFill/>
          <a:ln/>
        </p:spPr>
        <p:txBody>
          <a:bodyPr wrap="square" lIns="0" tIns="0" rIns="0" bIns="0" rtlCol="0" anchor="ctr"/>
          <a:lstStyle/>
          <a:p>
            <a:pPr algn="l" indent="0" marL="0">
              <a:buNone/>
            </a:pPr>
            <a:r>
              <a:rPr lang="en-US" sz="1600" b="1" dirty="0">
                <a:solidFill>
                  <a:srgbClr val="FFFFFF"/>
                </a:solidFill>
                <a:latin typeface="Aptos" pitchFamily="34" charset="0"/>
                <a:ea typeface="Aptos" pitchFamily="34" charset="-122"/>
                <a:cs typeface="Aptos" pitchFamily="34" charset="-120"/>
              </a:rPr>
              <a:t>M: net CU</a:t>
            </a:r>
            <a:endParaRPr lang="en-US" sz="1600" dirty="0"/>
          </a:p>
        </p:txBody>
      </p:sp>
      <p:sp>
        <p:nvSpPr>
          <p:cNvPr id="19" name="Shape 17"/>
          <p:cNvSpPr/>
          <p:nvPr/>
        </p:nvSpPr>
        <p:spPr>
          <a:xfrm>
            <a:off x="749808" y="2551176"/>
            <a:ext cx="10652760" cy="694944"/>
          </a:xfrm>
          <a:prstGeom prst="rect">
            <a:avLst/>
          </a:prstGeom>
          <a:solidFill>
            <a:srgbClr val="FFFFFF"/>
          </a:solidFill>
          <a:ln w="12700">
            <a:solidFill>
              <a:srgbClr val="FFFFFF">
                <a:alpha val="0"/>
              </a:srgbClr>
            </a:solidFill>
            <a:prstDash val="solid"/>
          </a:ln>
        </p:spPr>
      </p:sp>
      <p:sp>
        <p:nvSpPr>
          <p:cNvPr id="20" name="Text 18"/>
          <p:cNvSpPr/>
          <p:nvPr/>
        </p:nvSpPr>
        <p:spPr>
          <a:xfrm>
            <a:off x="859536" y="2606040"/>
            <a:ext cx="1655064" cy="585216"/>
          </a:xfrm>
          <a:prstGeom prst="rect">
            <a:avLst/>
          </a:prstGeom>
          <a:noFill/>
          <a:ln/>
        </p:spPr>
        <p:txBody>
          <a:bodyPr wrap="square" lIns="0" tIns="0" rIns="0" bIns="0" rtlCol="0" anchor="ctr"/>
          <a:lstStyle/>
          <a:p>
            <a:pPr algn="l" indent="0" marL="0">
              <a:buNone/>
            </a:pPr>
            <a:r>
              <a:rPr lang="en-US" sz="2200" dirty="0">
                <a:solidFill>
                  <a:srgbClr val="172233"/>
                </a:solidFill>
                <a:latin typeface="Aptos" pitchFamily="34" charset="0"/>
                <a:ea typeface="Aptos" pitchFamily="34" charset="-122"/>
                <a:cs typeface="Aptos" pitchFamily="34" charset="-120"/>
              </a:rPr>
              <a:t>A084</a:t>
            </a:r>
            <a:endParaRPr lang="en-US" sz="2200" dirty="0"/>
          </a:p>
        </p:txBody>
      </p:sp>
      <p:sp>
        <p:nvSpPr>
          <p:cNvPr id="21" name="Text 19"/>
          <p:cNvSpPr/>
          <p:nvPr/>
        </p:nvSpPr>
        <p:spPr>
          <a:xfrm>
            <a:off x="2734056" y="2606040"/>
            <a:ext cx="2478024" cy="585216"/>
          </a:xfrm>
          <a:prstGeom prst="rect">
            <a:avLst/>
          </a:prstGeom>
          <a:noFill/>
          <a:ln/>
        </p:spPr>
        <p:txBody>
          <a:bodyPr wrap="square" lIns="0" tIns="0" rIns="0" bIns="0" rtlCol="0" anchor="ctr"/>
          <a:lstStyle/>
          <a:p>
            <a:pPr algn="l" indent="0" marL="0">
              <a:buNone/>
            </a:pPr>
            <a:r>
              <a:rPr lang="en-US" sz="2200" dirty="0">
                <a:solidFill>
                  <a:srgbClr val="172233"/>
                </a:solidFill>
                <a:latin typeface="Aptos" pitchFamily="34" charset="0"/>
                <a:ea typeface="Aptos" pitchFamily="34" charset="-122"/>
                <a:cs typeface="Aptos" pitchFamily="34" charset="-120"/>
              </a:rPr>
              <a:t>0.215</a:t>
            </a:r>
            <a:endParaRPr lang="en-US" sz="2200" dirty="0"/>
          </a:p>
        </p:txBody>
      </p:sp>
      <p:sp>
        <p:nvSpPr>
          <p:cNvPr id="22" name="Text 20"/>
          <p:cNvSpPr/>
          <p:nvPr/>
        </p:nvSpPr>
        <p:spPr>
          <a:xfrm>
            <a:off x="5431536" y="2606040"/>
            <a:ext cx="1746504" cy="585216"/>
          </a:xfrm>
          <a:prstGeom prst="rect">
            <a:avLst/>
          </a:prstGeom>
          <a:noFill/>
          <a:ln/>
        </p:spPr>
        <p:txBody>
          <a:bodyPr wrap="square" lIns="0" tIns="0" rIns="0" bIns="0" rtlCol="0" anchor="ctr"/>
          <a:lstStyle/>
          <a:p>
            <a:pPr algn="l" indent="0" marL="0">
              <a:buNone/>
            </a:pPr>
            <a:r>
              <a:rPr lang="en-US" sz="2200" dirty="0">
                <a:solidFill>
                  <a:srgbClr val="172233"/>
                </a:solidFill>
                <a:latin typeface="Aptos" pitchFamily="34" charset="0"/>
                <a:ea typeface="Aptos" pitchFamily="34" charset="-122"/>
                <a:cs typeface="Aptos" pitchFamily="34" charset="-120"/>
              </a:rPr>
              <a:t>14</a:t>
            </a:r>
            <a:endParaRPr lang="en-US" sz="2200" dirty="0"/>
          </a:p>
        </p:txBody>
      </p:sp>
      <p:sp>
        <p:nvSpPr>
          <p:cNvPr id="23" name="Text 21"/>
          <p:cNvSpPr/>
          <p:nvPr/>
        </p:nvSpPr>
        <p:spPr>
          <a:xfrm>
            <a:off x="7397496" y="2606040"/>
            <a:ext cx="1700784" cy="585216"/>
          </a:xfrm>
          <a:prstGeom prst="rect">
            <a:avLst/>
          </a:prstGeom>
          <a:noFill/>
          <a:ln/>
        </p:spPr>
        <p:txBody>
          <a:bodyPr wrap="square" lIns="0" tIns="0" rIns="0" bIns="0" rtlCol="0" anchor="ctr"/>
          <a:lstStyle/>
          <a:p>
            <a:pPr algn="l" indent="0" marL="0">
              <a:buNone/>
            </a:pPr>
            <a:r>
              <a:rPr lang="en-US" sz="2200" dirty="0">
                <a:solidFill>
                  <a:srgbClr val="172233"/>
                </a:solidFill>
                <a:latin typeface="Aptos" pitchFamily="34" charset="0"/>
                <a:ea typeface="Aptos" pitchFamily="34" charset="-122"/>
                <a:cs typeface="Aptos" pitchFamily="34" charset="-120"/>
              </a:rPr>
              <a:t>4</a:t>
            </a:r>
            <a:endParaRPr lang="en-US" sz="2200" dirty="0"/>
          </a:p>
        </p:txBody>
      </p:sp>
      <p:sp>
        <p:nvSpPr>
          <p:cNvPr id="24" name="Text 22"/>
          <p:cNvSpPr/>
          <p:nvPr/>
        </p:nvSpPr>
        <p:spPr>
          <a:xfrm>
            <a:off x="9317736" y="2606040"/>
            <a:ext cx="1975104" cy="585216"/>
          </a:xfrm>
          <a:prstGeom prst="rect">
            <a:avLst/>
          </a:prstGeom>
          <a:noFill/>
          <a:ln/>
        </p:spPr>
        <p:txBody>
          <a:bodyPr wrap="square" lIns="0" tIns="0" rIns="0" bIns="0" rtlCol="0" anchor="ctr"/>
          <a:lstStyle/>
          <a:p>
            <a:pPr algn="l" indent="0" marL="0">
              <a:buNone/>
            </a:pPr>
            <a:r>
              <a:rPr lang="en-US" sz="2200" dirty="0">
                <a:solidFill>
                  <a:srgbClr val="172233"/>
                </a:solidFill>
                <a:latin typeface="Aptos" pitchFamily="34" charset="0"/>
                <a:ea typeface="Aptos" pitchFamily="34" charset="-122"/>
                <a:cs typeface="Aptos" pitchFamily="34" charset="-120"/>
              </a:rPr>
              <a:t>579</a:t>
            </a:r>
            <a:endParaRPr lang="en-US" sz="2200" dirty="0"/>
          </a:p>
        </p:txBody>
      </p:sp>
      <p:sp>
        <p:nvSpPr>
          <p:cNvPr id="25" name="Shape 23"/>
          <p:cNvSpPr/>
          <p:nvPr/>
        </p:nvSpPr>
        <p:spPr>
          <a:xfrm>
            <a:off x="749808" y="3246120"/>
            <a:ext cx="10652760" cy="694944"/>
          </a:xfrm>
          <a:prstGeom prst="rect">
            <a:avLst/>
          </a:prstGeom>
          <a:solidFill>
            <a:srgbClr val="E3EFF7"/>
          </a:solidFill>
          <a:ln w="12700">
            <a:solidFill>
              <a:srgbClr val="E3EFF7">
                <a:alpha val="0"/>
              </a:srgbClr>
            </a:solidFill>
            <a:prstDash val="solid"/>
          </a:ln>
        </p:spPr>
      </p:sp>
      <p:sp>
        <p:nvSpPr>
          <p:cNvPr id="26" name="Text 24"/>
          <p:cNvSpPr/>
          <p:nvPr/>
        </p:nvSpPr>
        <p:spPr>
          <a:xfrm>
            <a:off x="859536" y="3300984"/>
            <a:ext cx="1655064" cy="585216"/>
          </a:xfrm>
          <a:prstGeom prst="rect">
            <a:avLst/>
          </a:prstGeom>
          <a:noFill/>
          <a:ln/>
        </p:spPr>
        <p:txBody>
          <a:bodyPr wrap="square" lIns="0" tIns="0" rIns="0" bIns="0" rtlCol="0" anchor="ctr"/>
          <a:lstStyle/>
          <a:p>
            <a:pPr algn="l" indent="0" marL="0">
              <a:buNone/>
            </a:pPr>
            <a:r>
              <a:rPr lang="en-US" sz="2200" dirty="0">
                <a:solidFill>
                  <a:srgbClr val="172233"/>
                </a:solidFill>
                <a:latin typeface="Aptos" pitchFamily="34" charset="0"/>
                <a:ea typeface="Aptos" pitchFamily="34" charset="-122"/>
                <a:cs typeface="Aptos" pitchFamily="34" charset="-120"/>
              </a:rPr>
              <a:t>A071</a:t>
            </a:r>
            <a:endParaRPr lang="en-US" sz="2200" dirty="0"/>
          </a:p>
        </p:txBody>
      </p:sp>
      <p:sp>
        <p:nvSpPr>
          <p:cNvPr id="27" name="Text 25"/>
          <p:cNvSpPr/>
          <p:nvPr/>
        </p:nvSpPr>
        <p:spPr>
          <a:xfrm>
            <a:off x="2734056" y="3300984"/>
            <a:ext cx="2478024" cy="585216"/>
          </a:xfrm>
          <a:prstGeom prst="rect">
            <a:avLst/>
          </a:prstGeom>
          <a:noFill/>
          <a:ln/>
        </p:spPr>
        <p:txBody>
          <a:bodyPr wrap="square" lIns="0" tIns="0" rIns="0" bIns="0" rtlCol="0" anchor="ctr"/>
          <a:lstStyle/>
          <a:p>
            <a:pPr algn="l" indent="0" marL="0">
              <a:buNone/>
            </a:pPr>
            <a:r>
              <a:rPr lang="en-US" sz="2200" dirty="0">
                <a:solidFill>
                  <a:srgbClr val="172233"/>
                </a:solidFill>
                <a:latin typeface="Aptos" pitchFamily="34" charset="0"/>
                <a:ea typeface="Aptos" pitchFamily="34" charset="-122"/>
                <a:cs typeface="Aptos" pitchFamily="34" charset="-120"/>
              </a:rPr>
              <a:t>0.251</a:t>
            </a:r>
            <a:endParaRPr lang="en-US" sz="2200" dirty="0"/>
          </a:p>
        </p:txBody>
      </p:sp>
      <p:sp>
        <p:nvSpPr>
          <p:cNvPr id="28" name="Text 26"/>
          <p:cNvSpPr/>
          <p:nvPr/>
        </p:nvSpPr>
        <p:spPr>
          <a:xfrm>
            <a:off x="5431536" y="3300984"/>
            <a:ext cx="1746504" cy="585216"/>
          </a:xfrm>
          <a:prstGeom prst="rect">
            <a:avLst/>
          </a:prstGeom>
          <a:noFill/>
          <a:ln/>
        </p:spPr>
        <p:txBody>
          <a:bodyPr wrap="square" lIns="0" tIns="0" rIns="0" bIns="0" rtlCol="0" anchor="ctr"/>
          <a:lstStyle/>
          <a:p>
            <a:pPr algn="l" indent="0" marL="0">
              <a:buNone/>
            </a:pPr>
            <a:r>
              <a:rPr lang="en-US" sz="2200" dirty="0">
                <a:solidFill>
                  <a:srgbClr val="172233"/>
                </a:solidFill>
                <a:latin typeface="Aptos" pitchFamily="34" charset="0"/>
                <a:ea typeface="Aptos" pitchFamily="34" charset="-122"/>
                <a:cs typeface="Aptos" pitchFamily="34" charset="-120"/>
              </a:rPr>
              <a:t>9</a:t>
            </a:r>
            <a:endParaRPr lang="en-US" sz="2200" dirty="0"/>
          </a:p>
        </p:txBody>
      </p:sp>
      <p:sp>
        <p:nvSpPr>
          <p:cNvPr id="29" name="Text 27"/>
          <p:cNvSpPr/>
          <p:nvPr/>
        </p:nvSpPr>
        <p:spPr>
          <a:xfrm>
            <a:off x="7397496" y="3300984"/>
            <a:ext cx="1700784" cy="585216"/>
          </a:xfrm>
          <a:prstGeom prst="rect">
            <a:avLst/>
          </a:prstGeom>
          <a:noFill/>
          <a:ln/>
        </p:spPr>
        <p:txBody>
          <a:bodyPr wrap="square" lIns="0" tIns="0" rIns="0" bIns="0" rtlCol="0" anchor="ctr"/>
          <a:lstStyle/>
          <a:p>
            <a:pPr algn="l" indent="0" marL="0">
              <a:buNone/>
            </a:pPr>
            <a:r>
              <a:rPr lang="en-US" sz="2200" dirty="0">
                <a:solidFill>
                  <a:srgbClr val="172233"/>
                </a:solidFill>
                <a:latin typeface="Aptos" pitchFamily="34" charset="0"/>
                <a:ea typeface="Aptos" pitchFamily="34" charset="-122"/>
                <a:cs typeface="Aptos" pitchFamily="34" charset="-120"/>
              </a:rPr>
              <a:t>3</a:t>
            </a:r>
            <a:endParaRPr lang="en-US" sz="2200" dirty="0"/>
          </a:p>
        </p:txBody>
      </p:sp>
      <p:sp>
        <p:nvSpPr>
          <p:cNvPr id="30" name="Text 28"/>
          <p:cNvSpPr/>
          <p:nvPr/>
        </p:nvSpPr>
        <p:spPr>
          <a:xfrm>
            <a:off x="9317736" y="3300984"/>
            <a:ext cx="1975104" cy="585216"/>
          </a:xfrm>
          <a:prstGeom prst="rect">
            <a:avLst/>
          </a:prstGeom>
          <a:noFill/>
          <a:ln/>
        </p:spPr>
        <p:txBody>
          <a:bodyPr wrap="square" lIns="0" tIns="0" rIns="0" bIns="0" rtlCol="0" anchor="ctr"/>
          <a:lstStyle/>
          <a:p>
            <a:pPr algn="l" indent="0" marL="0">
              <a:buNone/>
            </a:pPr>
            <a:r>
              <a:rPr lang="en-US" sz="2200" dirty="0">
                <a:solidFill>
                  <a:srgbClr val="172233"/>
                </a:solidFill>
                <a:latin typeface="Aptos" pitchFamily="34" charset="0"/>
                <a:ea typeface="Aptos" pitchFamily="34" charset="-122"/>
                <a:cs typeface="Aptos" pitchFamily="34" charset="-120"/>
              </a:rPr>
              <a:t>654</a:t>
            </a:r>
            <a:endParaRPr lang="en-US" sz="2200" dirty="0"/>
          </a:p>
        </p:txBody>
      </p:sp>
      <p:sp>
        <p:nvSpPr>
          <p:cNvPr id="31" name="Shape 29"/>
          <p:cNvSpPr/>
          <p:nvPr/>
        </p:nvSpPr>
        <p:spPr>
          <a:xfrm>
            <a:off x="749808" y="3941064"/>
            <a:ext cx="10652760" cy="694944"/>
          </a:xfrm>
          <a:prstGeom prst="rect">
            <a:avLst/>
          </a:prstGeom>
          <a:solidFill>
            <a:srgbClr val="FFFFFF"/>
          </a:solidFill>
          <a:ln w="12700">
            <a:solidFill>
              <a:srgbClr val="FFFFFF">
                <a:alpha val="0"/>
              </a:srgbClr>
            </a:solidFill>
            <a:prstDash val="solid"/>
          </a:ln>
        </p:spPr>
      </p:sp>
      <p:sp>
        <p:nvSpPr>
          <p:cNvPr id="32" name="Text 30"/>
          <p:cNvSpPr/>
          <p:nvPr/>
        </p:nvSpPr>
        <p:spPr>
          <a:xfrm>
            <a:off x="859536" y="3995928"/>
            <a:ext cx="1655064" cy="585216"/>
          </a:xfrm>
          <a:prstGeom prst="rect">
            <a:avLst/>
          </a:prstGeom>
          <a:noFill/>
          <a:ln/>
        </p:spPr>
        <p:txBody>
          <a:bodyPr wrap="square" lIns="0" tIns="0" rIns="0" bIns="0" rtlCol="0" anchor="ctr"/>
          <a:lstStyle/>
          <a:p>
            <a:pPr algn="l" indent="0" marL="0">
              <a:buNone/>
            </a:pPr>
            <a:r>
              <a:rPr lang="en-US" sz="2200" dirty="0">
                <a:solidFill>
                  <a:srgbClr val="172233"/>
                </a:solidFill>
                <a:latin typeface="Aptos" pitchFamily="34" charset="0"/>
                <a:ea typeface="Aptos" pitchFamily="34" charset="-122"/>
                <a:cs typeface="Aptos" pitchFamily="34" charset="-120"/>
              </a:rPr>
              <a:t>A075</a:t>
            </a:r>
            <a:endParaRPr lang="en-US" sz="2200" dirty="0"/>
          </a:p>
        </p:txBody>
      </p:sp>
      <p:sp>
        <p:nvSpPr>
          <p:cNvPr id="33" name="Text 31"/>
          <p:cNvSpPr/>
          <p:nvPr/>
        </p:nvSpPr>
        <p:spPr>
          <a:xfrm>
            <a:off x="2734056" y="3995928"/>
            <a:ext cx="2478024" cy="585216"/>
          </a:xfrm>
          <a:prstGeom prst="rect">
            <a:avLst/>
          </a:prstGeom>
          <a:noFill/>
          <a:ln/>
        </p:spPr>
        <p:txBody>
          <a:bodyPr wrap="square" lIns="0" tIns="0" rIns="0" bIns="0" rtlCol="0" anchor="ctr"/>
          <a:lstStyle/>
          <a:p>
            <a:pPr algn="l" indent="0" marL="0">
              <a:buNone/>
            </a:pPr>
            <a:r>
              <a:rPr lang="en-US" sz="2200" dirty="0">
                <a:solidFill>
                  <a:srgbClr val="172233"/>
                </a:solidFill>
                <a:latin typeface="Aptos" pitchFamily="34" charset="0"/>
                <a:ea typeface="Aptos" pitchFamily="34" charset="-122"/>
                <a:cs typeface="Aptos" pitchFamily="34" charset="-120"/>
              </a:rPr>
              <a:t>0.289</a:t>
            </a:r>
            <a:endParaRPr lang="en-US" sz="2200" dirty="0"/>
          </a:p>
        </p:txBody>
      </p:sp>
      <p:sp>
        <p:nvSpPr>
          <p:cNvPr id="34" name="Text 32"/>
          <p:cNvSpPr/>
          <p:nvPr/>
        </p:nvSpPr>
        <p:spPr>
          <a:xfrm>
            <a:off x="5431536" y="3995928"/>
            <a:ext cx="1746504" cy="585216"/>
          </a:xfrm>
          <a:prstGeom prst="rect">
            <a:avLst/>
          </a:prstGeom>
          <a:noFill/>
          <a:ln/>
        </p:spPr>
        <p:txBody>
          <a:bodyPr wrap="square" lIns="0" tIns="0" rIns="0" bIns="0" rtlCol="0" anchor="ctr"/>
          <a:lstStyle/>
          <a:p>
            <a:pPr algn="l" indent="0" marL="0">
              <a:buNone/>
            </a:pPr>
            <a:r>
              <a:rPr lang="en-US" sz="2200" dirty="0">
                <a:solidFill>
                  <a:srgbClr val="172233"/>
                </a:solidFill>
                <a:latin typeface="Aptos" pitchFamily="34" charset="0"/>
                <a:ea typeface="Aptos" pitchFamily="34" charset="-122"/>
                <a:cs typeface="Aptos" pitchFamily="34" charset="-120"/>
              </a:rPr>
              <a:t>10</a:t>
            </a:r>
            <a:endParaRPr lang="en-US" sz="2200" dirty="0"/>
          </a:p>
        </p:txBody>
      </p:sp>
      <p:sp>
        <p:nvSpPr>
          <p:cNvPr id="35" name="Text 33"/>
          <p:cNvSpPr/>
          <p:nvPr/>
        </p:nvSpPr>
        <p:spPr>
          <a:xfrm>
            <a:off x="7397496" y="3995928"/>
            <a:ext cx="1700784" cy="585216"/>
          </a:xfrm>
          <a:prstGeom prst="rect">
            <a:avLst/>
          </a:prstGeom>
          <a:noFill/>
          <a:ln/>
        </p:spPr>
        <p:txBody>
          <a:bodyPr wrap="square" lIns="0" tIns="0" rIns="0" bIns="0" rtlCol="0" anchor="ctr"/>
          <a:lstStyle/>
          <a:p>
            <a:pPr algn="l" indent="0" marL="0">
              <a:buNone/>
            </a:pPr>
            <a:r>
              <a:rPr lang="en-US" sz="2200" dirty="0">
                <a:solidFill>
                  <a:srgbClr val="172233"/>
                </a:solidFill>
                <a:latin typeface="Aptos" pitchFamily="34" charset="0"/>
                <a:ea typeface="Aptos" pitchFamily="34" charset="-122"/>
                <a:cs typeface="Aptos" pitchFamily="34" charset="-120"/>
              </a:rPr>
              <a:t>3</a:t>
            </a:r>
            <a:endParaRPr lang="en-US" sz="2200" dirty="0"/>
          </a:p>
        </p:txBody>
      </p:sp>
      <p:sp>
        <p:nvSpPr>
          <p:cNvPr id="36" name="Text 34"/>
          <p:cNvSpPr/>
          <p:nvPr/>
        </p:nvSpPr>
        <p:spPr>
          <a:xfrm>
            <a:off x="9317736" y="3995928"/>
            <a:ext cx="1975104" cy="585216"/>
          </a:xfrm>
          <a:prstGeom prst="rect">
            <a:avLst/>
          </a:prstGeom>
          <a:noFill/>
          <a:ln/>
        </p:spPr>
        <p:txBody>
          <a:bodyPr wrap="square" lIns="0" tIns="0" rIns="0" bIns="0" rtlCol="0" anchor="ctr"/>
          <a:lstStyle/>
          <a:p>
            <a:pPr algn="l" indent="0" marL="0">
              <a:buNone/>
            </a:pPr>
            <a:r>
              <a:rPr lang="en-US" sz="2200" dirty="0">
                <a:solidFill>
                  <a:srgbClr val="172233"/>
                </a:solidFill>
                <a:latin typeface="Aptos" pitchFamily="34" charset="0"/>
                <a:ea typeface="Aptos" pitchFamily="34" charset="-122"/>
                <a:cs typeface="Aptos" pitchFamily="34" charset="-120"/>
              </a:rPr>
              <a:t>708</a:t>
            </a:r>
            <a:endParaRPr lang="en-US" sz="2200" dirty="0"/>
          </a:p>
        </p:txBody>
      </p:sp>
      <p:sp>
        <p:nvSpPr>
          <p:cNvPr id="37" name="Text 35"/>
          <p:cNvSpPr/>
          <p:nvPr/>
        </p:nvSpPr>
        <p:spPr>
          <a:xfrm>
            <a:off x="850392" y="4828032"/>
            <a:ext cx="10241280" cy="429768"/>
          </a:xfrm>
          <a:prstGeom prst="rect">
            <a:avLst/>
          </a:prstGeom>
          <a:noFill/>
          <a:ln/>
        </p:spPr>
        <p:txBody>
          <a:bodyPr wrap="square" lIns="0" tIns="0" rIns="0" bIns="0" rtlCol="0" anchor="ctr"/>
          <a:lstStyle/>
          <a:p>
            <a:pPr algn="l" indent="0" marL="0">
              <a:buNone/>
            </a:pPr>
            <a:r>
              <a:rPr lang="en-US" sz="2200" b="1" dirty="0">
                <a:solidFill>
                  <a:srgbClr val="176493"/>
                </a:solidFill>
                <a:latin typeface="Aptos" pitchFamily="34" charset="0"/>
                <a:ea typeface="Aptos" pitchFamily="34" charset="-122"/>
                <a:cs typeface="Aptos" pitchFamily="34" charset="-120"/>
              </a:rPr>
              <a:t>A001 itself: R = 10 days, F = 3 orders, M = 460 CU.</a:t>
            </a:r>
            <a:endParaRPr lang="en-US" sz="2200" dirty="0"/>
          </a:p>
        </p:txBody>
      </p:sp>
      <p:sp>
        <p:nvSpPr>
          <p:cNvPr id="38" name="Text 36"/>
          <p:cNvSpPr/>
          <p:nvPr/>
        </p:nvSpPr>
        <p:spPr>
          <a:xfrm>
            <a:off x="850392" y="5367528"/>
            <a:ext cx="10241280" cy="338328"/>
          </a:xfrm>
          <a:prstGeom prst="rect">
            <a:avLst/>
          </a:prstGeom>
          <a:noFill/>
          <a:ln/>
        </p:spPr>
        <p:txBody>
          <a:bodyPr wrap="square" lIns="0" tIns="0" rIns="0" bIns="0" rtlCol="0" anchor="ctr"/>
          <a:lstStyle/>
          <a:p>
            <a:pPr algn="l" indent="0" marL="0">
              <a:buNone/>
            </a:pPr>
            <a:r>
              <a:rPr lang="en-US" sz="1800" dirty="0">
                <a:solidFill>
                  <a:srgbClr val="53657A"/>
                </a:solidFill>
                <a:latin typeface="Aptos" pitchFamily="34" charset="0"/>
                <a:ea typeface="Aptos" pitchFamily="34" charset="-122"/>
                <a:cs typeface="Aptos" pitchFamily="34" charset="-120"/>
              </a:rPr>
              <a:t>Near in a two-dimensional picture is not a guarantee of near in four dimensions.</a:t>
            </a:r>
            <a:endParaRPr lang="en-US" sz="1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0" y="0"/>
            <a:ext cx="12192000" cy="402336"/>
          </a:xfrm>
          <a:prstGeom prst="rect">
            <a:avLst/>
          </a:prstGeom>
          <a:solidFill>
            <a:srgbClr val="E7EEF7"/>
          </a:solidFill>
          <a:ln w="12700">
            <a:solidFill>
              <a:srgbClr val="E7EEF7">
                <a:alpha val="0"/>
              </a:srgbClr>
            </a:solidFill>
            <a:prstDash val="solid"/>
          </a:ln>
        </p:spPr>
      </p:sp>
      <p:sp>
        <p:nvSpPr>
          <p:cNvPr id="3" name="Shape 1"/>
          <p:cNvSpPr/>
          <p:nvPr/>
        </p:nvSpPr>
        <p:spPr>
          <a:xfrm>
            <a:off x="466344" y="123444"/>
            <a:ext cx="64008" cy="146304"/>
          </a:xfrm>
          <a:prstGeom prst="rect">
            <a:avLst/>
          </a:prstGeom>
          <a:solidFill>
            <a:srgbClr val="176493"/>
          </a:solidFill>
          <a:ln w="12700">
            <a:solidFill>
              <a:srgbClr val="176493">
                <a:alpha val="0"/>
              </a:srgbClr>
            </a:solidFill>
            <a:prstDash val="solid"/>
          </a:ln>
        </p:spPr>
      </p:sp>
      <p:sp>
        <p:nvSpPr>
          <p:cNvPr id="4" name="Text 2"/>
          <p:cNvSpPr/>
          <p:nvPr/>
        </p:nvSpPr>
        <p:spPr>
          <a:xfrm>
            <a:off x="594360" y="100584"/>
            <a:ext cx="731520" cy="201168"/>
          </a:xfrm>
          <a:prstGeom prst="rect">
            <a:avLst/>
          </a:prstGeom>
          <a:noFill/>
          <a:ln/>
        </p:spPr>
        <p:txBody>
          <a:bodyPr wrap="square" lIns="0" tIns="0" rIns="0" bIns="0" rtlCol="0" anchor="ctr"/>
          <a:lstStyle/>
          <a:p>
            <a:pPr algn="l" indent="0" marL="0">
              <a:buNone/>
            </a:pPr>
            <a:r>
              <a:rPr lang="en-US" sz="1100" b="1" dirty="0">
                <a:solidFill>
                  <a:srgbClr val="176493"/>
                </a:solidFill>
                <a:latin typeface="Aptos" pitchFamily="34" charset="0"/>
                <a:ea typeface="Aptos" pitchFamily="34" charset="-122"/>
                <a:cs typeface="Aptos" pitchFamily="34" charset="-120"/>
              </a:rPr>
              <a:t>DS101</a:t>
            </a:r>
            <a:endParaRPr lang="en-US" sz="1100" dirty="0"/>
          </a:p>
        </p:txBody>
      </p:sp>
      <p:sp>
        <p:nvSpPr>
          <p:cNvPr id="5" name="Text 3"/>
          <p:cNvSpPr/>
          <p:nvPr/>
        </p:nvSpPr>
        <p:spPr>
          <a:xfrm>
            <a:off x="1463040" y="100584"/>
            <a:ext cx="1828800" cy="201168"/>
          </a:xfrm>
          <a:prstGeom prst="rect">
            <a:avLst/>
          </a:prstGeom>
          <a:noFill/>
          <a:ln/>
        </p:spPr>
        <p:txBody>
          <a:bodyPr wrap="square" lIns="0" tIns="0" rIns="0" bIns="0" rtlCol="0" anchor="ctr"/>
          <a:lstStyle/>
          <a:p>
            <a:pPr algn="l" indent="0" marL="0">
              <a:buNone/>
            </a:pPr>
            <a:r>
              <a:rPr lang="en-US" sz="1000" dirty="0">
                <a:solidFill>
                  <a:srgbClr val="53657A"/>
                </a:solidFill>
                <a:latin typeface="Aptos" pitchFamily="34" charset="0"/>
                <a:ea typeface="Aptos" pitchFamily="34" charset="-122"/>
                <a:cs typeface="Aptos" pitchFamily="34" charset="-120"/>
              </a:rPr>
              <a:t>LECTURE 02</a:t>
            </a:r>
            <a:endParaRPr lang="en-US" sz="1000" dirty="0"/>
          </a:p>
        </p:txBody>
      </p:sp>
      <p:sp>
        <p:nvSpPr>
          <p:cNvPr id="6" name="Text 4"/>
          <p:cNvSpPr/>
          <p:nvPr/>
        </p:nvSpPr>
        <p:spPr>
          <a:xfrm>
            <a:off x="8321040" y="100584"/>
            <a:ext cx="3264408" cy="201168"/>
          </a:xfrm>
          <a:prstGeom prst="rect">
            <a:avLst/>
          </a:prstGeom>
          <a:noFill/>
          <a:ln/>
        </p:spPr>
        <p:txBody>
          <a:bodyPr wrap="square" lIns="0" tIns="0" rIns="0" bIns="0" rtlCol="0" anchor="ctr"/>
          <a:lstStyle/>
          <a:p>
            <a:pPr algn="r" indent="0" marL="0">
              <a:buNone/>
            </a:pPr>
            <a:r>
              <a:rPr lang="en-US" sz="1000" dirty="0">
                <a:solidFill>
                  <a:srgbClr val="53657A"/>
                </a:solidFill>
                <a:latin typeface="Aptos" pitchFamily="34" charset="0"/>
                <a:ea typeface="Aptos" pitchFamily="34" charset="-122"/>
                <a:cs typeface="Aptos" pitchFamily="34" charset="-120"/>
              </a:rPr>
              <a:t>PRACTICE REVIEW</a:t>
            </a:r>
            <a:endParaRPr lang="en-US" sz="1000" dirty="0"/>
          </a:p>
        </p:txBody>
      </p:sp>
      <p:sp>
        <p:nvSpPr>
          <p:cNvPr id="7" name="Text 5"/>
          <p:cNvSpPr/>
          <p:nvPr/>
        </p:nvSpPr>
        <p:spPr>
          <a:xfrm>
            <a:off x="594360" y="758952"/>
            <a:ext cx="11000232" cy="658368"/>
          </a:xfrm>
          <a:prstGeom prst="rect">
            <a:avLst/>
          </a:prstGeom>
          <a:noFill/>
          <a:ln/>
        </p:spPr>
        <p:txBody>
          <a:bodyPr wrap="square" lIns="0" tIns="0" rIns="0" bIns="0" rtlCol="0" anchor="ctr"/>
          <a:lstStyle/>
          <a:p>
            <a:pPr algn="l" indent="0" marL="0">
              <a:buNone/>
            </a:pPr>
            <a:r>
              <a:rPr lang="en-US" sz="3000" b="1" dirty="0">
                <a:solidFill>
                  <a:srgbClr val="172233"/>
                </a:solidFill>
                <a:latin typeface="Aptos" pitchFamily="34" charset="0"/>
                <a:ea typeface="Aptos" pitchFamily="34" charset="-122"/>
                <a:cs typeface="Aptos" pitchFamily="34" charset="-120"/>
              </a:rPr>
              <a:t>Close the exercise: one finding, one limit</a:t>
            </a:r>
            <a:endParaRPr lang="en-US" sz="3000" dirty="0"/>
          </a:p>
        </p:txBody>
      </p:sp>
      <p:sp>
        <p:nvSpPr>
          <p:cNvPr id="8" name="Text 6"/>
          <p:cNvSpPr/>
          <p:nvPr/>
        </p:nvSpPr>
        <p:spPr>
          <a:xfrm>
            <a:off x="594360" y="6510528"/>
            <a:ext cx="3657600" cy="164592"/>
          </a:xfrm>
          <a:prstGeom prst="rect">
            <a:avLst/>
          </a:prstGeom>
          <a:noFill/>
          <a:ln/>
        </p:spPr>
        <p:txBody>
          <a:bodyPr wrap="square" lIns="0" tIns="0" rIns="0" bIns="0" rtlCol="0" anchor="ctr"/>
          <a:lstStyle/>
          <a:p>
            <a:pPr algn="l" indent="0" marL="0">
              <a:buNone/>
            </a:pPr>
            <a:r>
              <a:rPr lang="en-US" sz="900" dirty="0">
                <a:solidFill>
                  <a:srgbClr val="53657A"/>
                </a:solidFill>
                <a:latin typeface="Aptos" pitchFamily="34" charset="0"/>
                <a:ea typeface="Aptos" pitchFamily="34" charset="-122"/>
                <a:cs typeface="Aptos" pitchFamily="34" charset="-120"/>
              </a:rPr>
              <a:t>DS101 | 2026-2027</a:t>
            </a:r>
            <a:endParaRPr lang="en-US" sz="900" dirty="0"/>
          </a:p>
        </p:txBody>
      </p:sp>
      <p:sp>
        <p:nvSpPr>
          <p:cNvPr id="9" name="Text 7"/>
          <p:cNvSpPr/>
          <p:nvPr/>
        </p:nvSpPr>
        <p:spPr>
          <a:xfrm>
            <a:off x="10680192" y="6492240"/>
            <a:ext cx="914400" cy="201168"/>
          </a:xfrm>
          <a:prstGeom prst="rect">
            <a:avLst/>
          </a:prstGeom>
          <a:noFill/>
          <a:ln/>
        </p:spPr>
        <p:txBody>
          <a:bodyPr wrap="square" lIns="0" tIns="0" rIns="0" bIns="0" rtlCol="0" anchor="ctr"/>
          <a:lstStyle/>
          <a:p>
            <a:pPr algn="r" indent="0" marL="0">
              <a:buNone/>
            </a:pPr>
            <a:r>
              <a:rPr lang="en-US" sz="1000" dirty="0">
                <a:solidFill>
                  <a:srgbClr val="53657A"/>
                </a:solidFill>
                <a:latin typeface="Aptos" pitchFamily="34" charset="0"/>
                <a:ea typeface="Aptos" pitchFamily="34" charset="-122"/>
                <a:cs typeface="Aptos" pitchFamily="34" charset="-120"/>
              </a:rPr>
              <a:t>23 / 24</a:t>
            </a:r>
            <a:endParaRPr lang="en-US" sz="1000" dirty="0"/>
          </a:p>
        </p:txBody>
      </p:sp>
      <p:sp>
        <p:nvSpPr>
          <p:cNvPr id="10" name="Shape 8"/>
          <p:cNvSpPr/>
          <p:nvPr/>
        </p:nvSpPr>
        <p:spPr>
          <a:xfrm>
            <a:off x="594360" y="5852160"/>
            <a:ext cx="11000232" cy="438912"/>
          </a:xfrm>
          <a:prstGeom prst="rect">
            <a:avLst/>
          </a:prstGeom>
          <a:solidFill>
            <a:srgbClr val="E3EFF7"/>
          </a:solidFill>
          <a:ln w="12700">
            <a:solidFill>
              <a:srgbClr val="E3EFF7">
                <a:alpha val="0"/>
              </a:srgbClr>
            </a:solidFill>
            <a:prstDash val="solid"/>
          </a:ln>
        </p:spPr>
      </p:sp>
      <p:sp>
        <p:nvSpPr>
          <p:cNvPr id="11" name="Text 9"/>
          <p:cNvSpPr/>
          <p:nvPr/>
        </p:nvSpPr>
        <p:spPr>
          <a:xfrm>
            <a:off x="795528" y="5943600"/>
            <a:ext cx="10607040" cy="256032"/>
          </a:xfrm>
          <a:prstGeom prst="rect">
            <a:avLst/>
          </a:prstGeom>
          <a:noFill/>
          <a:ln/>
        </p:spPr>
        <p:txBody>
          <a:bodyPr wrap="square" lIns="0" tIns="0" rIns="0" bIns="0" rtlCol="0" anchor="ctr"/>
          <a:lstStyle/>
          <a:p>
            <a:pPr algn="l" indent="0" marL="0">
              <a:buNone/>
            </a:pPr>
            <a:r>
              <a:rPr lang="en-US" sz="1700" b="1" dirty="0">
                <a:solidFill>
                  <a:srgbClr val="176493"/>
                </a:solidFill>
                <a:latin typeface="Aptos" pitchFamily="34" charset="0"/>
                <a:ea typeface="Aptos" pitchFamily="34" charset="-122"/>
                <a:cs typeface="Aptos" pitchFamily="34" charset="-120"/>
              </a:rPr>
              <a:t>Practice, not a new graded assignment.</a:t>
            </a:r>
            <a:endParaRPr lang="en-US" sz="1700" dirty="0"/>
          </a:p>
        </p:txBody>
      </p:sp>
      <p:sp>
        <p:nvSpPr>
          <p:cNvPr id="12" name="Text 10"/>
          <p:cNvSpPr/>
          <p:nvPr/>
        </p:nvSpPr>
        <p:spPr>
          <a:xfrm>
            <a:off x="749808" y="1645920"/>
            <a:ext cx="10607040" cy="219456"/>
          </a:xfrm>
          <a:prstGeom prst="rect">
            <a:avLst/>
          </a:prstGeom>
          <a:noFill/>
          <a:ln/>
        </p:spPr>
        <p:txBody>
          <a:bodyPr wrap="square" lIns="0" tIns="0" rIns="0" bIns="0" rtlCol="0" anchor="ctr"/>
          <a:lstStyle/>
          <a:p>
            <a:pPr algn="l" indent="0" marL="0">
              <a:buNone/>
            </a:pPr>
            <a:r>
              <a:rPr lang="en-US" sz="1150" b="1" spc="50" kern="0" dirty="0">
                <a:solidFill>
                  <a:srgbClr val="176493"/>
                </a:solidFill>
                <a:latin typeface="Aptos" pitchFamily="34" charset="0"/>
                <a:ea typeface="Aptos" pitchFamily="34" charset="-122"/>
                <a:cs typeface="Aptos" pitchFamily="34" charset="-120"/>
              </a:rPr>
              <a:t>USE THE SUPPLIED PRACTICE.IPYNB AND DATA FILES</a:t>
            </a:r>
            <a:endParaRPr lang="en-US" sz="1150" dirty="0"/>
          </a:p>
        </p:txBody>
      </p:sp>
      <p:sp>
        <p:nvSpPr>
          <p:cNvPr id="13" name="Shape 11"/>
          <p:cNvSpPr/>
          <p:nvPr/>
        </p:nvSpPr>
        <p:spPr>
          <a:xfrm>
            <a:off x="758952" y="2084832"/>
            <a:ext cx="3291840" cy="2468880"/>
          </a:xfrm>
          <a:prstGeom prst="rect">
            <a:avLst/>
          </a:prstGeom>
          <a:solidFill>
            <a:srgbClr val="FFFFFF"/>
          </a:solidFill>
          <a:ln w="12700">
            <a:solidFill>
              <a:srgbClr val="FFFFFF">
                <a:alpha val="0"/>
              </a:srgbClr>
            </a:solidFill>
            <a:prstDash val="solid"/>
          </a:ln>
        </p:spPr>
      </p:sp>
      <p:sp>
        <p:nvSpPr>
          <p:cNvPr id="14" name="Shape 12"/>
          <p:cNvSpPr/>
          <p:nvPr/>
        </p:nvSpPr>
        <p:spPr>
          <a:xfrm>
            <a:off x="758952" y="2084832"/>
            <a:ext cx="3291840" cy="64008"/>
          </a:xfrm>
          <a:prstGeom prst="rect">
            <a:avLst/>
          </a:prstGeom>
          <a:solidFill>
            <a:srgbClr val="176493"/>
          </a:solidFill>
          <a:ln w="12700">
            <a:solidFill>
              <a:srgbClr val="176493">
                <a:alpha val="0"/>
              </a:srgbClr>
            </a:solidFill>
            <a:prstDash val="solid"/>
          </a:ln>
        </p:spPr>
      </p:sp>
      <p:sp>
        <p:nvSpPr>
          <p:cNvPr id="15" name="Text 13"/>
          <p:cNvSpPr/>
          <p:nvPr/>
        </p:nvSpPr>
        <p:spPr>
          <a:xfrm>
            <a:off x="941832" y="2359152"/>
            <a:ext cx="2926080" cy="502920"/>
          </a:xfrm>
          <a:prstGeom prst="rect">
            <a:avLst/>
          </a:prstGeom>
          <a:noFill/>
          <a:ln/>
        </p:spPr>
        <p:txBody>
          <a:bodyPr wrap="square" lIns="0" tIns="0" rIns="0" bIns="0" rtlCol="0" anchor="ctr"/>
          <a:lstStyle/>
          <a:p>
            <a:pPr algn="l" indent="0" marL="0">
              <a:buNone/>
            </a:pPr>
            <a:r>
              <a:rPr lang="en-US" sz="2300" b="1" dirty="0">
                <a:solidFill>
                  <a:srgbClr val="176493"/>
                </a:solidFill>
                <a:latin typeface="Aptos" pitchFamily="34" charset="0"/>
                <a:ea typeface="Aptos" pitchFamily="34" charset="-122"/>
                <a:cs typeface="Aptos" pitchFamily="34" charset="-120"/>
              </a:rPr>
              <a:t>1. Define</a:t>
            </a:r>
            <a:endParaRPr lang="en-US" sz="2300" dirty="0"/>
          </a:p>
        </p:txBody>
      </p:sp>
      <p:sp>
        <p:nvSpPr>
          <p:cNvPr id="16" name="Text 14"/>
          <p:cNvSpPr/>
          <p:nvPr/>
        </p:nvSpPr>
        <p:spPr>
          <a:xfrm>
            <a:off x="941832" y="3044952"/>
            <a:ext cx="2926080" cy="1353312"/>
          </a:xfrm>
          <a:prstGeom prst="rect">
            <a:avLst/>
          </a:prstGeom>
          <a:noFill/>
          <a:ln/>
        </p:spPr>
        <p:txBody>
          <a:bodyPr wrap="square" lIns="0" tIns="0" rIns="0" bIns="0" rtlCol="0" anchor="t"/>
          <a:lstStyle/>
          <a:p>
            <a:pPr algn="l" indent="0" marL="0">
              <a:buNone/>
            </a:pPr>
            <a:r>
              <a:rPr lang="en-US" sz="2000" dirty="0">
                <a:solidFill>
                  <a:srgbClr val="53657A"/>
                </a:solidFill>
                <a:latin typeface="Aptos" pitchFamily="34" charset="0"/>
                <a:ea typeface="Aptos" pitchFamily="34" charset="-122"/>
                <a:cs typeface="Aptos" pitchFamily="34" charset="-120"/>
              </a:rPr>
              <a:t>Choose one feature.</a:t>
            </a:r>
            <a:endParaRPr lang="en-US" sz="2000" dirty="0"/>
          </a:p>
          <a:p>
            <a:pPr algn="l" indent="0" marL="0">
              <a:buNone/>
            </a:pPr>
            <a:r>
              <a:rPr lang="en-US" sz="2000" dirty="0">
                <a:solidFill>
                  <a:srgbClr val="53657A"/>
                </a:solidFill>
                <a:latin typeface="Aptos" pitchFamily="34" charset="0"/>
                <a:ea typeface="Aptos" pitchFamily="34" charset="-122"/>
                <a:cs typeface="Aptos" pitchFamily="34" charset="-120"/>
              </a:rPr>
              <a:t>State its unit and</a:t>
            </a:r>
            <a:endParaRPr lang="en-US" sz="2000" dirty="0"/>
          </a:p>
          <a:p>
            <a:pPr algn="l" indent="0" marL="0">
              <a:buNone/>
            </a:pPr>
            <a:r>
              <a:rPr lang="en-US" sz="2000" dirty="0">
                <a:solidFill>
                  <a:srgbClr val="53657A"/>
                </a:solidFill>
                <a:latin typeface="Aptos" pitchFamily="34" charset="0"/>
                <a:ea typeface="Aptos" pitchFamily="34" charset="-122"/>
                <a:cs typeface="Aptos" pitchFamily="34" charset="-120"/>
              </a:rPr>
              <a:t>observation window.</a:t>
            </a:r>
            <a:endParaRPr lang="en-US" sz="2000" dirty="0"/>
          </a:p>
        </p:txBody>
      </p:sp>
      <p:sp>
        <p:nvSpPr>
          <p:cNvPr id="17" name="Shape 15"/>
          <p:cNvSpPr/>
          <p:nvPr/>
        </p:nvSpPr>
        <p:spPr>
          <a:xfrm>
            <a:off x="4453128" y="2084832"/>
            <a:ext cx="3291840" cy="2468880"/>
          </a:xfrm>
          <a:prstGeom prst="rect">
            <a:avLst/>
          </a:prstGeom>
          <a:solidFill>
            <a:srgbClr val="FFFFFF"/>
          </a:solidFill>
          <a:ln w="12700">
            <a:solidFill>
              <a:srgbClr val="FFFFFF">
                <a:alpha val="0"/>
              </a:srgbClr>
            </a:solidFill>
            <a:prstDash val="solid"/>
          </a:ln>
        </p:spPr>
      </p:sp>
      <p:sp>
        <p:nvSpPr>
          <p:cNvPr id="18" name="Shape 16"/>
          <p:cNvSpPr/>
          <p:nvPr/>
        </p:nvSpPr>
        <p:spPr>
          <a:xfrm>
            <a:off x="4453128" y="2084832"/>
            <a:ext cx="3291840" cy="64008"/>
          </a:xfrm>
          <a:prstGeom prst="rect">
            <a:avLst/>
          </a:prstGeom>
          <a:solidFill>
            <a:srgbClr val="167C85"/>
          </a:solidFill>
          <a:ln w="12700">
            <a:solidFill>
              <a:srgbClr val="167C85">
                <a:alpha val="0"/>
              </a:srgbClr>
            </a:solidFill>
            <a:prstDash val="solid"/>
          </a:ln>
        </p:spPr>
      </p:sp>
      <p:sp>
        <p:nvSpPr>
          <p:cNvPr id="19" name="Text 17"/>
          <p:cNvSpPr/>
          <p:nvPr/>
        </p:nvSpPr>
        <p:spPr>
          <a:xfrm>
            <a:off x="4636008" y="2359152"/>
            <a:ext cx="2926080" cy="502920"/>
          </a:xfrm>
          <a:prstGeom prst="rect">
            <a:avLst/>
          </a:prstGeom>
          <a:noFill/>
          <a:ln/>
        </p:spPr>
        <p:txBody>
          <a:bodyPr wrap="square" lIns="0" tIns="0" rIns="0" bIns="0" rtlCol="0" anchor="ctr"/>
          <a:lstStyle/>
          <a:p>
            <a:pPr algn="l" indent="0" marL="0">
              <a:buNone/>
            </a:pPr>
            <a:r>
              <a:rPr lang="en-US" sz="2300" b="1" dirty="0">
                <a:solidFill>
                  <a:srgbClr val="167C85"/>
                </a:solidFill>
                <a:latin typeface="Aptos" pitchFamily="34" charset="0"/>
                <a:ea typeface="Aptos" pitchFamily="34" charset="-122"/>
                <a:cs typeface="Aptos" pitchFamily="34" charset="-120"/>
              </a:rPr>
              <a:t>2. Inspect</a:t>
            </a:r>
            <a:endParaRPr lang="en-US" sz="2300" dirty="0"/>
          </a:p>
        </p:txBody>
      </p:sp>
      <p:sp>
        <p:nvSpPr>
          <p:cNvPr id="20" name="Text 18"/>
          <p:cNvSpPr/>
          <p:nvPr/>
        </p:nvSpPr>
        <p:spPr>
          <a:xfrm>
            <a:off x="4636008" y="3044952"/>
            <a:ext cx="2926080" cy="1353312"/>
          </a:xfrm>
          <a:prstGeom prst="rect">
            <a:avLst/>
          </a:prstGeom>
          <a:noFill/>
          <a:ln/>
        </p:spPr>
        <p:txBody>
          <a:bodyPr wrap="square" lIns="0" tIns="0" rIns="0" bIns="0" rtlCol="0" anchor="t"/>
          <a:lstStyle/>
          <a:p>
            <a:pPr algn="l" indent="0" marL="0">
              <a:buNone/>
            </a:pPr>
            <a:r>
              <a:rPr lang="en-US" sz="2000" dirty="0">
                <a:solidFill>
                  <a:srgbClr val="53657A"/>
                </a:solidFill>
                <a:latin typeface="Aptos" pitchFamily="34" charset="0"/>
                <a:ea typeface="Aptos" pitchFamily="34" charset="-122"/>
                <a:cs typeface="Aptos" pitchFamily="34" charset="-120"/>
              </a:rPr>
              <a:t>Use one plot.</a:t>
            </a:r>
            <a:endParaRPr lang="en-US" sz="2000" dirty="0"/>
          </a:p>
          <a:p>
            <a:pPr algn="l" indent="0" marL="0">
              <a:buNone/>
            </a:pPr>
            <a:r>
              <a:rPr lang="en-US" sz="2000" dirty="0">
                <a:solidFill>
                  <a:srgbClr val="53657A"/>
                </a:solidFill>
                <a:latin typeface="Aptos" pitchFamily="34" charset="0"/>
                <a:ea typeface="Aptos" pitchFamily="34" charset="-122"/>
                <a:cs typeface="Aptos" pitchFamily="34" charset="-120"/>
              </a:rPr>
              <a:t>Point to the data</a:t>
            </a:r>
            <a:endParaRPr lang="en-US" sz="2000" dirty="0"/>
          </a:p>
          <a:p>
            <a:pPr algn="l" indent="0" marL="0">
              <a:buNone/>
            </a:pPr>
            <a:r>
              <a:rPr lang="en-US" sz="2000" dirty="0">
                <a:solidFill>
                  <a:srgbClr val="53657A"/>
                </a:solidFill>
                <a:latin typeface="Aptos" pitchFamily="34" charset="0"/>
                <a:ea typeface="Aptos" pitchFamily="34" charset="-122"/>
                <a:cs typeface="Aptos" pitchFamily="34" charset="-120"/>
              </a:rPr>
              <a:t>behind your finding.</a:t>
            </a:r>
            <a:endParaRPr lang="en-US" sz="2000" dirty="0"/>
          </a:p>
        </p:txBody>
      </p:sp>
      <p:sp>
        <p:nvSpPr>
          <p:cNvPr id="21" name="Shape 19"/>
          <p:cNvSpPr/>
          <p:nvPr/>
        </p:nvSpPr>
        <p:spPr>
          <a:xfrm>
            <a:off x="8147304" y="2084832"/>
            <a:ext cx="3291840" cy="2468880"/>
          </a:xfrm>
          <a:prstGeom prst="rect">
            <a:avLst/>
          </a:prstGeom>
          <a:solidFill>
            <a:srgbClr val="FFFFFF"/>
          </a:solidFill>
          <a:ln w="12700">
            <a:solidFill>
              <a:srgbClr val="FFFFFF">
                <a:alpha val="0"/>
              </a:srgbClr>
            </a:solidFill>
            <a:prstDash val="solid"/>
          </a:ln>
        </p:spPr>
      </p:sp>
      <p:sp>
        <p:nvSpPr>
          <p:cNvPr id="22" name="Shape 20"/>
          <p:cNvSpPr/>
          <p:nvPr/>
        </p:nvSpPr>
        <p:spPr>
          <a:xfrm>
            <a:off x="8147304" y="2084832"/>
            <a:ext cx="3291840" cy="64008"/>
          </a:xfrm>
          <a:prstGeom prst="rect">
            <a:avLst/>
          </a:prstGeom>
          <a:solidFill>
            <a:srgbClr val="7056C2"/>
          </a:solidFill>
          <a:ln w="12700">
            <a:solidFill>
              <a:srgbClr val="7056C2">
                <a:alpha val="0"/>
              </a:srgbClr>
            </a:solidFill>
            <a:prstDash val="solid"/>
          </a:ln>
        </p:spPr>
      </p:sp>
      <p:sp>
        <p:nvSpPr>
          <p:cNvPr id="23" name="Text 21"/>
          <p:cNvSpPr/>
          <p:nvPr/>
        </p:nvSpPr>
        <p:spPr>
          <a:xfrm>
            <a:off x="8330184" y="2359152"/>
            <a:ext cx="2926080" cy="502920"/>
          </a:xfrm>
          <a:prstGeom prst="rect">
            <a:avLst/>
          </a:prstGeom>
          <a:noFill/>
          <a:ln/>
        </p:spPr>
        <p:txBody>
          <a:bodyPr wrap="square" lIns="0" tIns="0" rIns="0" bIns="0" rtlCol="0" anchor="ctr"/>
          <a:lstStyle/>
          <a:p>
            <a:pPr algn="l" indent="0" marL="0">
              <a:buNone/>
            </a:pPr>
            <a:r>
              <a:rPr lang="en-US" sz="2300" b="1" dirty="0">
                <a:solidFill>
                  <a:srgbClr val="7056C2"/>
                </a:solidFill>
                <a:latin typeface="Aptos" pitchFamily="34" charset="0"/>
                <a:ea typeface="Aptos" pitchFamily="34" charset="-122"/>
                <a:cs typeface="Aptos" pitchFamily="34" charset="-120"/>
              </a:rPr>
              <a:t>3. Limit</a:t>
            </a:r>
            <a:endParaRPr lang="en-US" sz="2300" dirty="0"/>
          </a:p>
        </p:txBody>
      </p:sp>
      <p:sp>
        <p:nvSpPr>
          <p:cNvPr id="24" name="Text 22"/>
          <p:cNvSpPr/>
          <p:nvPr/>
        </p:nvSpPr>
        <p:spPr>
          <a:xfrm>
            <a:off x="8330184" y="3044952"/>
            <a:ext cx="2926080" cy="1353312"/>
          </a:xfrm>
          <a:prstGeom prst="rect">
            <a:avLst/>
          </a:prstGeom>
          <a:noFill/>
          <a:ln/>
        </p:spPr>
        <p:txBody>
          <a:bodyPr wrap="square" lIns="0" tIns="0" rIns="0" bIns="0" rtlCol="0" anchor="t"/>
          <a:lstStyle/>
          <a:p>
            <a:pPr algn="l" indent="0" marL="0">
              <a:buNone/>
            </a:pPr>
            <a:r>
              <a:rPr lang="en-US" sz="2000" dirty="0">
                <a:solidFill>
                  <a:srgbClr val="53657A"/>
                </a:solidFill>
                <a:latin typeface="Aptos" pitchFamily="34" charset="0"/>
                <a:ea typeface="Aptos" pitchFamily="34" charset="-122"/>
                <a:cs typeface="Aptos" pitchFamily="34" charset="-120"/>
              </a:rPr>
              <a:t>State one claim</a:t>
            </a:r>
            <a:endParaRPr lang="en-US" sz="2000" dirty="0"/>
          </a:p>
          <a:p>
            <a:pPr algn="l" indent="0" marL="0">
              <a:buNone/>
            </a:pPr>
            <a:r>
              <a:rPr lang="en-US" sz="2000" dirty="0">
                <a:solidFill>
                  <a:srgbClr val="53657A"/>
                </a:solidFill>
                <a:latin typeface="Aptos" pitchFamily="34" charset="0"/>
                <a:ea typeface="Aptos" pitchFamily="34" charset="-122"/>
                <a:cs typeface="Aptos" pitchFamily="34" charset="-120"/>
              </a:rPr>
              <a:t>the evidence does</a:t>
            </a:r>
            <a:endParaRPr lang="en-US" sz="2000" dirty="0"/>
          </a:p>
          <a:p>
            <a:pPr algn="l" indent="0" marL="0">
              <a:buNone/>
            </a:pPr>
            <a:r>
              <a:rPr lang="en-US" sz="2000" dirty="0">
                <a:solidFill>
                  <a:srgbClr val="53657A"/>
                </a:solidFill>
                <a:latin typeface="Aptos" pitchFamily="34" charset="0"/>
                <a:ea typeface="Aptos" pitchFamily="34" charset="-122"/>
                <a:cs typeface="Aptos" pitchFamily="34" charset="-120"/>
              </a:rPr>
              <a:t>not establish.</a:t>
            </a:r>
            <a:endParaRPr lang="en-US" sz="2000" dirty="0"/>
          </a:p>
        </p:txBody>
      </p:sp>
      <p:sp>
        <p:nvSpPr>
          <p:cNvPr id="25" name="Text 23"/>
          <p:cNvSpPr/>
          <p:nvPr/>
        </p:nvSpPr>
        <p:spPr>
          <a:xfrm>
            <a:off x="850392" y="5084064"/>
            <a:ext cx="10533888" cy="530352"/>
          </a:xfrm>
          <a:prstGeom prst="rect">
            <a:avLst/>
          </a:prstGeom>
          <a:noFill/>
          <a:ln/>
        </p:spPr>
        <p:txBody>
          <a:bodyPr wrap="square" lIns="0" tIns="0" rIns="0" bIns="0" rtlCol="0" anchor="ctr"/>
          <a:lstStyle/>
          <a:p>
            <a:pPr algn="l" indent="0" marL="0">
              <a:buNone/>
            </a:pPr>
            <a:r>
              <a:rPr lang="en-US" sz="2200" b="1" dirty="0">
                <a:solidFill>
                  <a:srgbClr val="172233"/>
                </a:solidFill>
                <a:latin typeface="Aptos" pitchFamily="34" charset="0"/>
                <a:ea typeface="Aptos" pitchFamily="34" charset="-122"/>
                <a:cs typeface="Aptos" pitchFamily="34" charset="-120"/>
              </a:rPr>
              <a:t>Example: recent purchases do not, on their own, establish customer loyalty.</a:t>
            </a:r>
            <a:endParaRPr lang="en-US" sz="2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0" y="0"/>
            <a:ext cx="12192000" cy="402336"/>
          </a:xfrm>
          <a:prstGeom prst="rect">
            <a:avLst/>
          </a:prstGeom>
          <a:solidFill>
            <a:srgbClr val="E7EEF7"/>
          </a:solidFill>
          <a:ln w="12700">
            <a:solidFill>
              <a:srgbClr val="E7EEF7">
                <a:alpha val="0"/>
              </a:srgbClr>
            </a:solidFill>
            <a:prstDash val="solid"/>
          </a:ln>
        </p:spPr>
      </p:sp>
      <p:sp>
        <p:nvSpPr>
          <p:cNvPr id="3" name="Shape 1"/>
          <p:cNvSpPr/>
          <p:nvPr/>
        </p:nvSpPr>
        <p:spPr>
          <a:xfrm>
            <a:off x="466344" y="123444"/>
            <a:ext cx="64008" cy="146304"/>
          </a:xfrm>
          <a:prstGeom prst="rect">
            <a:avLst/>
          </a:prstGeom>
          <a:solidFill>
            <a:srgbClr val="176493"/>
          </a:solidFill>
          <a:ln w="12700">
            <a:solidFill>
              <a:srgbClr val="176493">
                <a:alpha val="0"/>
              </a:srgbClr>
            </a:solidFill>
            <a:prstDash val="solid"/>
          </a:ln>
        </p:spPr>
      </p:sp>
      <p:sp>
        <p:nvSpPr>
          <p:cNvPr id="4" name="Text 2"/>
          <p:cNvSpPr/>
          <p:nvPr/>
        </p:nvSpPr>
        <p:spPr>
          <a:xfrm>
            <a:off x="594360" y="100584"/>
            <a:ext cx="731520" cy="201168"/>
          </a:xfrm>
          <a:prstGeom prst="rect">
            <a:avLst/>
          </a:prstGeom>
          <a:noFill/>
          <a:ln/>
        </p:spPr>
        <p:txBody>
          <a:bodyPr wrap="square" lIns="0" tIns="0" rIns="0" bIns="0" rtlCol="0" anchor="ctr"/>
          <a:lstStyle/>
          <a:p>
            <a:pPr algn="l" indent="0" marL="0">
              <a:buNone/>
            </a:pPr>
            <a:r>
              <a:rPr lang="en-US" sz="1100" b="1" dirty="0">
                <a:solidFill>
                  <a:srgbClr val="176493"/>
                </a:solidFill>
                <a:latin typeface="Aptos" pitchFamily="34" charset="0"/>
                <a:ea typeface="Aptos" pitchFamily="34" charset="-122"/>
                <a:cs typeface="Aptos" pitchFamily="34" charset="-120"/>
              </a:rPr>
              <a:t>DS101</a:t>
            </a:r>
            <a:endParaRPr lang="en-US" sz="1100" dirty="0"/>
          </a:p>
        </p:txBody>
      </p:sp>
      <p:sp>
        <p:nvSpPr>
          <p:cNvPr id="5" name="Text 3"/>
          <p:cNvSpPr/>
          <p:nvPr/>
        </p:nvSpPr>
        <p:spPr>
          <a:xfrm>
            <a:off x="1463040" y="100584"/>
            <a:ext cx="1828800" cy="201168"/>
          </a:xfrm>
          <a:prstGeom prst="rect">
            <a:avLst/>
          </a:prstGeom>
          <a:noFill/>
          <a:ln/>
        </p:spPr>
        <p:txBody>
          <a:bodyPr wrap="square" lIns="0" tIns="0" rIns="0" bIns="0" rtlCol="0" anchor="ctr"/>
          <a:lstStyle/>
          <a:p>
            <a:pPr algn="l" indent="0" marL="0">
              <a:buNone/>
            </a:pPr>
            <a:r>
              <a:rPr lang="en-US" sz="1000" dirty="0">
                <a:solidFill>
                  <a:srgbClr val="53657A"/>
                </a:solidFill>
                <a:latin typeface="Aptos" pitchFamily="34" charset="0"/>
                <a:ea typeface="Aptos" pitchFamily="34" charset="-122"/>
                <a:cs typeface="Aptos" pitchFamily="34" charset="-120"/>
              </a:rPr>
              <a:t>LECTURE 02</a:t>
            </a:r>
            <a:endParaRPr lang="en-US" sz="1000" dirty="0"/>
          </a:p>
        </p:txBody>
      </p:sp>
      <p:sp>
        <p:nvSpPr>
          <p:cNvPr id="6" name="Text 4"/>
          <p:cNvSpPr/>
          <p:nvPr/>
        </p:nvSpPr>
        <p:spPr>
          <a:xfrm>
            <a:off x="8321040" y="100584"/>
            <a:ext cx="3264408" cy="201168"/>
          </a:xfrm>
          <a:prstGeom prst="rect">
            <a:avLst/>
          </a:prstGeom>
          <a:noFill/>
          <a:ln/>
        </p:spPr>
        <p:txBody>
          <a:bodyPr wrap="square" lIns="0" tIns="0" rIns="0" bIns="0" rtlCol="0" anchor="ctr"/>
          <a:lstStyle/>
          <a:p>
            <a:pPr algn="r" indent="0" marL="0">
              <a:buNone/>
            </a:pPr>
            <a:r>
              <a:rPr lang="en-US" sz="1000" dirty="0">
                <a:solidFill>
                  <a:srgbClr val="53657A"/>
                </a:solidFill>
                <a:latin typeface="Aptos" pitchFamily="34" charset="0"/>
                <a:ea typeface="Aptos" pitchFamily="34" charset="-122"/>
                <a:cs typeface="Aptos" pitchFamily="34" charset="-120"/>
              </a:rPr>
              <a:t>TAKEAWAYS</a:t>
            </a:r>
            <a:endParaRPr lang="en-US" sz="1000" dirty="0"/>
          </a:p>
        </p:txBody>
      </p:sp>
      <p:sp>
        <p:nvSpPr>
          <p:cNvPr id="7" name="Text 5"/>
          <p:cNvSpPr/>
          <p:nvPr/>
        </p:nvSpPr>
        <p:spPr>
          <a:xfrm>
            <a:off x="594360" y="758952"/>
            <a:ext cx="11000232" cy="658368"/>
          </a:xfrm>
          <a:prstGeom prst="rect">
            <a:avLst/>
          </a:prstGeom>
          <a:noFill/>
          <a:ln/>
        </p:spPr>
        <p:txBody>
          <a:bodyPr wrap="square" lIns="0" tIns="0" rIns="0" bIns="0" rtlCol="0" anchor="ctr"/>
          <a:lstStyle/>
          <a:p>
            <a:pPr algn="l" indent="0" marL="0">
              <a:buNone/>
            </a:pPr>
            <a:r>
              <a:rPr lang="en-US" sz="3000" b="1" dirty="0">
                <a:solidFill>
                  <a:srgbClr val="172233"/>
                </a:solidFill>
                <a:latin typeface="Aptos" pitchFamily="34" charset="0"/>
                <a:ea typeface="Aptos" pitchFamily="34" charset="-122"/>
                <a:cs typeface="Aptos" pitchFamily="34" charset="-120"/>
              </a:rPr>
              <a:t>Leave with three checks</a:t>
            </a:r>
            <a:endParaRPr lang="en-US" sz="3000" dirty="0"/>
          </a:p>
        </p:txBody>
      </p:sp>
      <p:sp>
        <p:nvSpPr>
          <p:cNvPr id="8" name="Text 6"/>
          <p:cNvSpPr/>
          <p:nvPr/>
        </p:nvSpPr>
        <p:spPr>
          <a:xfrm>
            <a:off x="594360" y="6510528"/>
            <a:ext cx="3657600" cy="164592"/>
          </a:xfrm>
          <a:prstGeom prst="rect">
            <a:avLst/>
          </a:prstGeom>
          <a:noFill/>
          <a:ln/>
        </p:spPr>
        <p:txBody>
          <a:bodyPr wrap="square" lIns="0" tIns="0" rIns="0" bIns="0" rtlCol="0" anchor="ctr"/>
          <a:lstStyle/>
          <a:p>
            <a:pPr algn="l" indent="0" marL="0">
              <a:buNone/>
            </a:pPr>
            <a:r>
              <a:rPr lang="en-US" sz="900" dirty="0">
                <a:solidFill>
                  <a:srgbClr val="53657A"/>
                </a:solidFill>
                <a:latin typeface="Aptos" pitchFamily="34" charset="0"/>
                <a:ea typeface="Aptos" pitchFamily="34" charset="-122"/>
                <a:cs typeface="Aptos" pitchFamily="34" charset="-120"/>
              </a:rPr>
              <a:t>DS101 | 2026-2027</a:t>
            </a:r>
            <a:endParaRPr lang="en-US" sz="900" dirty="0"/>
          </a:p>
        </p:txBody>
      </p:sp>
      <p:sp>
        <p:nvSpPr>
          <p:cNvPr id="9" name="Text 7"/>
          <p:cNvSpPr/>
          <p:nvPr/>
        </p:nvSpPr>
        <p:spPr>
          <a:xfrm>
            <a:off x="10680192" y="6492240"/>
            <a:ext cx="914400" cy="201168"/>
          </a:xfrm>
          <a:prstGeom prst="rect">
            <a:avLst/>
          </a:prstGeom>
          <a:noFill/>
          <a:ln/>
        </p:spPr>
        <p:txBody>
          <a:bodyPr wrap="square" lIns="0" tIns="0" rIns="0" bIns="0" rtlCol="0" anchor="ctr"/>
          <a:lstStyle/>
          <a:p>
            <a:pPr algn="r" indent="0" marL="0">
              <a:buNone/>
            </a:pPr>
            <a:r>
              <a:rPr lang="en-US" sz="1000" dirty="0">
                <a:solidFill>
                  <a:srgbClr val="53657A"/>
                </a:solidFill>
                <a:latin typeface="Aptos" pitchFamily="34" charset="0"/>
                <a:ea typeface="Aptos" pitchFamily="34" charset="-122"/>
                <a:cs typeface="Aptos" pitchFamily="34" charset="-120"/>
              </a:rPr>
              <a:t>24 / 24</a:t>
            </a:r>
            <a:endParaRPr lang="en-US" sz="1000" dirty="0"/>
          </a:p>
        </p:txBody>
      </p:sp>
      <p:sp>
        <p:nvSpPr>
          <p:cNvPr id="10" name="Shape 8"/>
          <p:cNvSpPr/>
          <p:nvPr/>
        </p:nvSpPr>
        <p:spPr>
          <a:xfrm>
            <a:off x="594360" y="5852160"/>
            <a:ext cx="11000232" cy="438912"/>
          </a:xfrm>
          <a:prstGeom prst="rect">
            <a:avLst/>
          </a:prstGeom>
          <a:solidFill>
            <a:srgbClr val="E3EFF7"/>
          </a:solidFill>
          <a:ln w="12700">
            <a:solidFill>
              <a:srgbClr val="E3EFF7">
                <a:alpha val="0"/>
              </a:srgbClr>
            </a:solidFill>
            <a:prstDash val="solid"/>
          </a:ln>
        </p:spPr>
      </p:sp>
      <p:sp>
        <p:nvSpPr>
          <p:cNvPr id="11" name="Text 9"/>
          <p:cNvSpPr/>
          <p:nvPr/>
        </p:nvSpPr>
        <p:spPr>
          <a:xfrm>
            <a:off x="795528" y="5943600"/>
            <a:ext cx="10607040" cy="256032"/>
          </a:xfrm>
          <a:prstGeom prst="rect">
            <a:avLst/>
          </a:prstGeom>
          <a:noFill/>
          <a:ln/>
        </p:spPr>
        <p:txBody>
          <a:bodyPr wrap="square" lIns="0" tIns="0" rIns="0" bIns="0" rtlCol="0" anchor="ctr"/>
          <a:lstStyle/>
          <a:p>
            <a:pPr algn="l" indent="0" marL="0">
              <a:buNone/>
            </a:pPr>
            <a:r>
              <a:rPr lang="en-US" sz="1700" b="1" dirty="0">
                <a:solidFill>
                  <a:srgbClr val="176493"/>
                </a:solidFill>
                <a:latin typeface="Aptos" pitchFamily="34" charset="0"/>
                <a:ea typeface="Aptos" pitchFamily="34" charset="-122"/>
                <a:cs typeface="Aptos" pitchFamily="34" charset="-120"/>
              </a:rPr>
              <a:t>Next: baseline models, fixed evaluation and search in L03.</a:t>
            </a:r>
            <a:endParaRPr lang="en-US" sz="1700" dirty="0"/>
          </a:p>
        </p:txBody>
      </p:sp>
      <p:sp>
        <p:nvSpPr>
          <p:cNvPr id="12" name="Text 10"/>
          <p:cNvSpPr/>
          <p:nvPr/>
        </p:nvSpPr>
        <p:spPr>
          <a:xfrm>
            <a:off x="795528" y="2011680"/>
            <a:ext cx="548640" cy="219456"/>
          </a:xfrm>
          <a:prstGeom prst="rect">
            <a:avLst/>
          </a:prstGeom>
          <a:noFill/>
          <a:ln/>
        </p:spPr>
        <p:txBody>
          <a:bodyPr wrap="square" lIns="0" tIns="0" rIns="0" bIns="0" rtlCol="0" anchor="ctr"/>
          <a:lstStyle/>
          <a:p>
            <a:pPr algn="l" indent="0" marL="0">
              <a:buNone/>
            </a:pPr>
            <a:r>
              <a:rPr lang="en-US" sz="1150" b="1" spc="50" kern="0" dirty="0">
                <a:solidFill>
                  <a:srgbClr val="176493"/>
                </a:solidFill>
                <a:latin typeface="Aptos" pitchFamily="34" charset="0"/>
                <a:ea typeface="Aptos" pitchFamily="34" charset="-122"/>
                <a:cs typeface="Aptos" pitchFamily="34" charset="-120"/>
              </a:rPr>
              <a:t>01</a:t>
            </a:r>
            <a:endParaRPr lang="en-US" sz="1150" dirty="0"/>
          </a:p>
        </p:txBody>
      </p:sp>
      <p:sp>
        <p:nvSpPr>
          <p:cNvPr id="13" name="Text 11"/>
          <p:cNvSpPr/>
          <p:nvPr/>
        </p:nvSpPr>
        <p:spPr>
          <a:xfrm>
            <a:off x="1536192" y="1984248"/>
            <a:ext cx="9738360" cy="420624"/>
          </a:xfrm>
          <a:prstGeom prst="rect">
            <a:avLst/>
          </a:prstGeom>
          <a:noFill/>
          <a:ln/>
        </p:spPr>
        <p:txBody>
          <a:bodyPr wrap="square" lIns="0" tIns="0" rIns="0" bIns="0" rtlCol="0" anchor="ctr"/>
          <a:lstStyle/>
          <a:p>
            <a:pPr algn="l" indent="0" marL="0">
              <a:buNone/>
            </a:pPr>
            <a:r>
              <a:rPr lang="en-US" sz="2500" b="1" dirty="0">
                <a:solidFill>
                  <a:srgbClr val="172233"/>
                </a:solidFill>
                <a:latin typeface="Aptos" pitchFamily="34" charset="0"/>
                <a:ea typeface="Aptos" pitchFamily="34" charset="-122"/>
                <a:cs typeface="Aptos" pitchFamily="34" charset="-120"/>
              </a:rPr>
              <a:t>Does the feature mean what we think?</a:t>
            </a:r>
            <a:endParaRPr lang="en-US" sz="2500" dirty="0"/>
          </a:p>
        </p:txBody>
      </p:sp>
      <p:sp>
        <p:nvSpPr>
          <p:cNvPr id="14" name="Text 12"/>
          <p:cNvSpPr/>
          <p:nvPr/>
        </p:nvSpPr>
        <p:spPr>
          <a:xfrm>
            <a:off x="1536192" y="2523744"/>
            <a:ext cx="9738360" cy="384048"/>
          </a:xfrm>
          <a:prstGeom prst="rect">
            <a:avLst/>
          </a:prstGeom>
          <a:noFill/>
          <a:ln/>
        </p:spPr>
        <p:txBody>
          <a:bodyPr wrap="square" lIns="0" tIns="0" rIns="0" bIns="0" rtlCol="0" anchor="ctr"/>
          <a:lstStyle/>
          <a:p>
            <a:pPr algn="l" indent="0" marL="0">
              <a:buNone/>
            </a:pPr>
            <a:r>
              <a:rPr lang="en-US" sz="2000" dirty="0">
                <a:solidFill>
                  <a:srgbClr val="53657A"/>
                </a:solidFill>
                <a:latin typeface="Aptos" pitchFamily="34" charset="0"/>
                <a:ea typeface="Aptos" pitchFamily="34" charset="-122"/>
                <a:cs typeface="Aptos" pitchFamily="34" charset="-120"/>
              </a:rPr>
              <a:t>Check the source, unit, population and time window.</a:t>
            </a:r>
            <a:endParaRPr lang="en-US" sz="2000" dirty="0"/>
          </a:p>
        </p:txBody>
      </p:sp>
      <p:sp>
        <p:nvSpPr>
          <p:cNvPr id="15" name="Text 13"/>
          <p:cNvSpPr/>
          <p:nvPr/>
        </p:nvSpPr>
        <p:spPr>
          <a:xfrm>
            <a:off x="795528" y="3145536"/>
            <a:ext cx="548640" cy="219456"/>
          </a:xfrm>
          <a:prstGeom prst="rect">
            <a:avLst/>
          </a:prstGeom>
          <a:noFill/>
          <a:ln/>
        </p:spPr>
        <p:txBody>
          <a:bodyPr wrap="square" lIns="0" tIns="0" rIns="0" bIns="0" rtlCol="0" anchor="ctr"/>
          <a:lstStyle/>
          <a:p>
            <a:pPr algn="l" indent="0" marL="0">
              <a:buNone/>
            </a:pPr>
            <a:r>
              <a:rPr lang="en-US" sz="1150" b="1" spc="50" kern="0" dirty="0">
                <a:solidFill>
                  <a:srgbClr val="176493"/>
                </a:solidFill>
                <a:latin typeface="Aptos" pitchFamily="34" charset="0"/>
                <a:ea typeface="Aptos" pitchFamily="34" charset="-122"/>
                <a:cs typeface="Aptos" pitchFamily="34" charset="-120"/>
              </a:rPr>
              <a:t>02</a:t>
            </a:r>
            <a:endParaRPr lang="en-US" sz="1150" dirty="0"/>
          </a:p>
        </p:txBody>
      </p:sp>
      <p:sp>
        <p:nvSpPr>
          <p:cNvPr id="16" name="Text 14"/>
          <p:cNvSpPr/>
          <p:nvPr/>
        </p:nvSpPr>
        <p:spPr>
          <a:xfrm>
            <a:off x="1536192" y="3118104"/>
            <a:ext cx="9738360" cy="420624"/>
          </a:xfrm>
          <a:prstGeom prst="rect">
            <a:avLst/>
          </a:prstGeom>
          <a:noFill/>
          <a:ln/>
        </p:spPr>
        <p:txBody>
          <a:bodyPr wrap="square" lIns="0" tIns="0" rIns="0" bIns="0" rtlCol="0" anchor="ctr"/>
          <a:lstStyle/>
          <a:p>
            <a:pPr algn="l" indent="0" marL="0">
              <a:buNone/>
            </a:pPr>
            <a:r>
              <a:rPr lang="en-US" sz="2500" b="1" dirty="0">
                <a:solidFill>
                  <a:srgbClr val="172233"/>
                </a:solidFill>
                <a:latin typeface="Aptos" pitchFamily="34" charset="0"/>
                <a:ea typeface="Aptos" pitchFamily="34" charset="-122"/>
                <a:cs typeface="Aptos" pitchFamily="34" charset="-120"/>
              </a:rPr>
              <a:t>Does the plot show what we claim?</a:t>
            </a:r>
            <a:endParaRPr lang="en-US" sz="2500" dirty="0"/>
          </a:p>
        </p:txBody>
      </p:sp>
      <p:sp>
        <p:nvSpPr>
          <p:cNvPr id="17" name="Text 15"/>
          <p:cNvSpPr/>
          <p:nvPr/>
        </p:nvSpPr>
        <p:spPr>
          <a:xfrm>
            <a:off x="1536192" y="3657600"/>
            <a:ext cx="9738360" cy="384048"/>
          </a:xfrm>
          <a:prstGeom prst="rect">
            <a:avLst/>
          </a:prstGeom>
          <a:noFill/>
          <a:ln/>
        </p:spPr>
        <p:txBody>
          <a:bodyPr wrap="square" lIns="0" tIns="0" rIns="0" bIns="0" rtlCol="0" anchor="ctr"/>
          <a:lstStyle/>
          <a:p>
            <a:pPr algn="l" indent="0" marL="0">
              <a:buNone/>
            </a:pPr>
            <a:r>
              <a:rPr lang="en-US" sz="2000" dirty="0">
                <a:solidFill>
                  <a:srgbClr val="53657A"/>
                </a:solidFill>
                <a:latin typeface="Aptos" pitchFamily="34" charset="0"/>
                <a:ea typeface="Aptos" pitchFamily="34" charset="-122"/>
                <a:cs typeface="Aptos" pitchFamily="34" charset="-120"/>
              </a:rPr>
              <a:t>Check labels, transformations and projection limits.</a:t>
            </a:r>
            <a:endParaRPr lang="en-US" sz="2000" dirty="0"/>
          </a:p>
        </p:txBody>
      </p:sp>
      <p:sp>
        <p:nvSpPr>
          <p:cNvPr id="18" name="Text 16"/>
          <p:cNvSpPr/>
          <p:nvPr/>
        </p:nvSpPr>
        <p:spPr>
          <a:xfrm>
            <a:off x="795528" y="4279392"/>
            <a:ext cx="548640" cy="219456"/>
          </a:xfrm>
          <a:prstGeom prst="rect">
            <a:avLst/>
          </a:prstGeom>
          <a:noFill/>
          <a:ln/>
        </p:spPr>
        <p:txBody>
          <a:bodyPr wrap="square" lIns="0" tIns="0" rIns="0" bIns="0" rtlCol="0" anchor="ctr"/>
          <a:lstStyle/>
          <a:p>
            <a:pPr algn="l" indent="0" marL="0">
              <a:buNone/>
            </a:pPr>
            <a:r>
              <a:rPr lang="en-US" sz="1150" b="1" spc="50" kern="0" dirty="0">
                <a:solidFill>
                  <a:srgbClr val="176493"/>
                </a:solidFill>
                <a:latin typeface="Aptos" pitchFamily="34" charset="0"/>
                <a:ea typeface="Aptos" pitchFamily="34" charset="-122"/>
                <a:cs typeface="Aptos" pitchFamily="34" charset="-120"/>
              </a:rPr>
              <a:t>03</a:t>
            </a:r>
            <a:endParaRPr lang="en-US" sz="1150" dirty="0"/>
          </a:p>
        </p:txBody>
      </p:sp>
      <p:sp>
        <p:nvSpPr>
          <p:cNvPr id="19" name="Text 17"/>
          <p:cNvSpPr/>
          <p:nvPr/>
        </p:nvSpPr>
        <p:spPr>
          <a:xfrm>
            <a:off x="1536192" y="4251960"/>
            <a:ext cx="9738360" cy="420624"/>
          </a:xfrm>
          <a:prstGeom prst="rect">
            <a:avLst/>
          </a:prstGeom>
          <a:noFill/>
          <a:ln/>
        </p:spPr>
        <p:txBody>
          <a:bodyPr wrap="square" lIns="0" tIns="0" rIns="0" bIns="0" rtlCol="0" anchor="ctr"/>
          <a:lstStyle/>
          <a:p>
            <a:pPr algn="l" indent="0" marL="0">
              <a:buNone/>
            </a:pPr>
            <a:r>
              <a:rPr lang="en-US" sz="2500" b="1" dirty="0">
                <a:solidFill>
                  <a:srgbClr val="172233"/>
                </a:solidFill>
                <a:latin typeface="Aptos" pitchFamily="34" charset="0"/>
                <a:ea typeface="Aptos" pitchFamily="34" charset="-122"/>
                <a:cs typeface="Aptos" pitchFamily="34" charset="-120"/>
              </a:rPr>
              <a:t>What evidence would change our decision?</a:t>
            </a:r>
            <a:endParaRPr lang="en-US" sz="2500" dirty="0"/>
          </a:p>
        </p:txBody>
      </p:sp>
      <p:sp>
        <p:nvSpPr>
          <p:cNvPr id="20" name="Text 18"/>
          <p:cNvSpPr/>
          <p:nvPr/>
        </p:nvSpPr>
        <p:spPr>
          <a:xfrm>
            <a:off x="1536192" y="4791456"/>
            <a:ext cx="9738360" cy="384048"/>
          </a:xfrm>
          <a:prstGeom prst="rect">
            <a:avLst/>
          </a:prstGeom>
          <a:noFill/>
          <a:ln/>
        </p:spPr>
        <p:txBody>
          <a:bodyPr wrap="square" lIns="0" tIns="0" rIns="0" bIns="0" rtlCol="0" anchor="ctr"/>
          <a:lstStyle/>
          <a:p>
            <a:pPr algn="l" indent="0" marL="0">
              <a:buNone/>
            </a:pPr>
            <a:r>
              <a:rPr lang="en-US" sz="2000" dirty="0">
                <a:solidFill>
                  <a:srgbClr val="53657A"/>
                </a:solidFill>
                <a:latin typeface="Aptos" pitchFamily="34" charset="0"/>
                <a:ea typeface="Aptos" pitchFamily="34" charset="-122"/>
                <a:cs typeface="Aptos" pitchFamily="34" charset="-120"/>
              </a:rPr>
              <a:t>Separate an observation from a hypothesis or an action.</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DS101</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DS101 Lecture 02 - Fundamentals I: Data, EDA and Pharma</dc:title>
  <dc:subject>L02: Data, EDA and Pharma - revised teaching edition</dc:subject>
  <dc:creator>DS101</dc:creator>
  <cp:lastModifiedBy>DS101</cp:lastModifiedBy>
  <cp:revision>1</cp:revision>
  <dcterms:created xsi:type="dcterms:W3CDTF">2026-09-28T23:27:40Z</dcterms:created>
  <dcterms:modified xsi:type="dcterms:W3CDTF">2026-09-28T23:27:40Z</dcterms:modified>
</cp:coreProperties>
</file>
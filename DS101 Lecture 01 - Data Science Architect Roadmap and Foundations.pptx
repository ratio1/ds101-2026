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theme without reading a syllabus paragraph. Ask students what makes a prediction useful, not which model they would pick. The formal course title and current course year are retained.
Instructor guidance: Keep the explanation oral; pause on the visual before revealing the conclusion.
Revision provenance: Original L01 slide(s) 1.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rather than restyles, the old 100-minute administrative agenda. Suggested pacing retains the existing 100-minute total. Teach role and expectations, then prerequisites and map, lifecycle and ETL, metrics and optimization, and a worked example/discussion. Keep transitions and recovery in notes, not on screen.
Instructor guidance: Keep the explanation oral; pause on the visual before revealing the conclusion.
Revision provenance: Original L01 slide(s) 2.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the original problem-specific engineering message. Do not imply that deep learning is always necessary or that one family dominates all tasks. Ask for a simple baseline before inviting a more complex architecture.
Instructor guidance: Keep the explanation oral; pause on the visual before revealing the conclusion.
Revision provenance: Original L01 slide(s) 3. Original repository commit d2610b64b34c9699073df88b5d29ec7e6cb4ef13.
[Sources]
https://github.com/Ratio1/DS101-template/blob/d2610b64b34c9699073df88b5d29ec7e6cb4ef13/scripts/lecture_2026_content.py
https://developers.google.com/machine-learning/crash-course/linear-regression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next three domain examples to show the same role under different observations and consequences. Do not repeat unsupported workforce-size or scarcity statistics from historical slides.
Instructor guidance: Keep the explanation oral; pause on the visual before revealing the conclusion.
Revision provenance: Original L01 slide(s) 4.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 original historical illustration restored.</a:t>
            </a:r>
          </a:p>
          <a:p>
            <a:r>
              <a:t>The original image from archive slide 4 replaces only the reconstructed domain graphic. Preserve the original artwork, labels, aspect ratio and full image; do not redraw or generate a replacement. Treat the historical evolutionary framing as a conceptual discussion, not a measured sequence or universal guarantee.</a:t>
            </a:r>
          </a:p>
          <a:p>
            <a:r>
              <a:t>Discussion: What evidence would justify stopping a production line?</a:t>
            </a:r>
          </a:p>
          <a:p>
            <a:r>
              <a:t>The revised title, header, footer and discussion prompt are unchanged.</a:t>
            </a:r>
          </a:p>
          <a:p>
            <a:r>
              <a:t>[Sources]</a:t>
            </a:r>
          </a:p>
          <a:p>
            <a:r>
              <a:t>https://github.com/Ratio1/DS101-template/blob/b3ff1a70341dbf0945f0da36c23d1f0226b30247/_lectures_archives/2025/DS101%20Lecture%201.pptx</a:t>
            </a:r>
          </a:p>
          <a:p>
            <a:r>
              <a:t>Archived source slide 4 (D1S04); embedded image SHA-256 16043be9ac432d96a343ecfe55a0788b63b7098ce8f4d1323170aef9084fcf1d.</a:t>
            </a:r>
          </a:p>
          <a:p>
            <a:r>
              <a:t>Reuse of the archived image does not independently certify its historical claims or upstream licensing.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Agriculture - original historical illustration restored.</a:t>
            </a:r>
          </a:p>
          <a:p>
            <a:r>
              <a:t>The original image from archive slide 5 replaces only the reconstructed domain graphic. Preserve the original artwork, labels, aspect ratio and full image; do not redraw or generate a replacement. Treat the historical evolutionary framing as a conceptual discussion, not a measured sequence or universal guarantee.</a:t>
            </a:r>
          </a:p>
          <a:p>
            <a:r>
              <a:t>Discussion: Which observation would change an irrigation decision?</a:t>
            </a:r>
          </a:p>
          <a:p>
            <a:r>
              <a:t>The revised title, header, footer and discussion prompt are unchanged.</a:t>
            </a:r>
          </a:p>
          <a:p>
            <a:r>
              <a:t>[Sources]</a:t>
            </a:r>
          </a:p>
          <a:p>
            <a:r>
              <a:t>https://github.com/Ratio1/DS101-template/blob/b3ff1a70341dbf0945f0da36c23d1f0226b30247/_lectures_archives/2025/DS101%20Lecture%201.pptx</a:t>
            </a:r>
          </a:p>
          <a:p>
            <a:r>
              <a:t>Archived source slide 5 (D1S05); embedded image SHA-256 6614fe0a12fd4000ed58e118b1346d975a9d823c235de08787fbe72fc0e0c0ac.</a:t>
            </a:r>
          </a:p>
          <a:p>
            <a:r>
              <a:t>Reuse of the archived image does not independently certify its historical claims or upstream licensing.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Healthcare - original historical illustration restored.</a:t>
            </a:r>
          </a:p>
          <a:p>
            <a:r>
              <a:t>The original image from archive slide 6 replaces only the reconstructed domain graphic. Preserve the original artwork, labels, aspect ratio and full image; do not redraw or generate a replacement. Treat the historical evolutionary framing as a conceptual discussion, not a measured sequence or universal guarantee.</a:t>
            </a:r>
          </a:p>
          <a:p>
            <a:r>
              <a:t>Discussion: A risk score is an input to a decision, not the decision itself.</a:t>
            </a:r>
          </a:p>
          <a:p>
            <a:r>
              <a:t>The revised title, header, footer and discussion prompt are unchanged.</a:t>
            </a:r>
          </a:p>
          <a:p>
            <a:r>
              <a:t>[Sources]</a:t>
            </a:r>
          </a:p>
          <a:p>
            <a:r>
              <a:t>https://github.com/Ratio1/DS101-template/blob/b3ff1a70341dbf0945f0da36c23d1f0226b30247/_lectures_archives/2025/DS101%20Lecture%201.pptx</a:t>
            </a:r>
          </a:p>
          <a:p>
            <a:r>
              <a:t>Archived source slide 6 (D1S06); embedded image SHA-256 9b10f8cccb1668651cdbf29dd2b96c01a8262a5e0630de0985e2f0215d28d58b.</a:t>
            </a:r>
          </a:p>
          <a:p>
            <a:r>
              <a:t>Reuse of the archived image does not independently certify its historical claims or upstream licensing.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weights are unchanged. The filled rectangles now sum to 100%, with exactly 30% and 70% of the common width. Generated assistance must be disclosed and understood. Do not introduce extra credit or a new graded assignment.
Instructor guidance: Keep the explanation oral; pause on the visual before revealing the conclusion.
Revision provenance: Original L01 slide(s) 8. Original repository commit d2610b64b34c9699073df88b5d29ec7e6cb4ef13.
[Sources]
https://github.com/Ratio1/DS101-template/blob/d2610b64b34c9699073df88b5d29ec7e6cb4ef13/scripts/lecture_2026_content.py
https://github.com/Ratio1/DS101-template/blob/d2610b64b34c9699073df88b5d29ec7e6cb4ef13/README.md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answer: 4 x 1. This is a diagnostic, not an assessment addition. Revisit matrix multiplication and derivatives as needed. Link only verified preparation resources in the learning platform. Keep environment installation outside this lecture.
Instructor guidance: Keep the explanation oral; pause on the visual before revealing the conclusion.
Revision provenance: Original L01 slide(s) 9.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upper row left to right and lower row right to left. Explain the feedback loop verbally: monitoring can send us back to problem framing or data collection. Tools assist the lifecycle but do not substitute for statistical judgment.
Instructor guidance: Keep the explanation oral; pause on the visual before revealing the conclusion.
Revision provenance: Original L01 slide(s) 10.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and classification are two common task types, not an exhaustive taxonomy. An output-type distinction is not the same as generative/discriminative modeling or deterministic/stochastic execution. The prior axis conflated these distinctions and is removed. The numeric example is illustrative, not a measured model prediction.
Instructor guidance: Keep the explanation oral; pause on the visual before revealing the conclusion.
Revision provenance: Original L01 slide(s) 11. Original repository commit d2610b64b34c9699073df88b5d29ec7e6cb4ef13.
[Sources]
https://github.com/Ratio1/DS101-template/blob/d2610b64b34c9699073df88b5d29ec7e6cb4ef13/scripts/lecture_2026_content.py
https://developers.google.com/machine-learning/crash-course/linear-regression
https://developers.google.com/machine-learning/gan/generative
https://developers.google.com/machine-learning/crash-course/classification/accuracy-precision-recall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units, types, provenance, and rights. The displayed record is constructed solely to illustrate ETL, not sampled from imobiliare_bucuresti.csv. Distinguish parsing from learned preprocessing. Fit imputers, scalers, and other learned transformations using training data only.
Instructor guidance: Keep the explanation oral; pause on the visual before revealing the conclusion.
Revision provenance: Original L01 slide(s) 12. Original repository commit d2610b64b34c9699073df88b5d29ec7e6cb4ef13.
[Sources]
https://github.com/Ratio1/DS101-template/blob/d2610b64b34c9699073df88b5d29ec7e6cb4ef13/scripts/lecture_2026_content.py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toy example: TN=80, FP=0, FN=20, TP=0. Accuracy=(TP+TN)/100=80%. Recall=TP/(TP+FN)=0%. Precision is undefined for this all-negative model because it makes no positive predictions; do not report zero precision without explicitly choosing a convention. The purpose is metric selection, not a real dataset claim.
Instructor guidance: Keep the explanation oral; pause on the visual before revealing the conclusion.
Revision provenance: Original L01 slide(s) 13. Original repository commit d2610b64b34c9699073df88b5d29ec7e6cb4ef13.
[Sources]
https://github.com/Ratio1/DS101-template/blob/d2610b64b34c9699073df88b5d29ec7e6cb4ef13/scripts/lecture_2026_content.py
https://developers.google.com/machine-learning/crash-course/classification/accuracy-precision-recall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points are synthetic: (40,110), (60,130), (80,190), (100,210), (120,280), with area in square metres and price in thousands of EUR. There is no claim that the largest observation is invalid. Ask for possible omitted variables and plausible data-quality checks. Reuse these points on the function-approximation and loss slides.
Instructor guidance: Keep the explanation oral; pause on the visual before revealing the conclusion.
Revision provenance: Original L01 slide(s) 14. Original repository commit d2610b64b34c9699073df88b5d29ec7e6cb4ef13.
[Sources]
https://github.com/Ratio1/DS101-template/blob/d2610b64b34c9699073df88b5d29ec7e6cb4ef13/scripts/lecture_2026_content.py
https://developers.google.com/machine-learning/crash-course/linear-regression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conceptual product boundary, not a claim that all controls have already been implemented in the course app. Examples include missing fields, wrong units, and inputs outside the intended use. A model can be numerically correct yet used incorrectly. Serving, monitoring and rollback are introduced here and developed in later lectures.
Instructor guidance: Keep the explanation oral; pause on the visual before revealing the conclusion.
Revision provenance: Original L01 slide(s) 15.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synthetic points as slide 14. The shown illustrative line is y_hat=20+2x, with y in thousands of EUR. It is a candidate model, not the least-squares optimum. Connect each symbol to the quantity on the axes. The dataset target must be verified before interpreting it as an asking price, transaction price, or valuation.
Instructor guidance: Keep the explanation oral; pause on the visual before revealing the conclusion.
Revision provenance: Original L01 slide(s) 16. Original repository commit d2610b64b34c9699073df88b5d29ec7e6cb4ef13.
[Sources]
https://github.com/Ratio1/DS101-template/blob/d2610b64b34c9699073df88b5d29ec7e6cb4ef13/scripts/lecture_2026_content.py
https://developers.google.com/machine-learning/crash-course/linear-regression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candidate line y_hat=20+2x, absolute errors in thousands of EUR are 10,10,10,10,20. MAE=12 thousand EUR. MSE=160 (thousand EUR)^2. These are synthetic in-sample explanatory calculations, not validation results. Explain the units of squared loss and distinguish training loss from the metric chosen to support an operational decision.
Instructor guidance: Keep the explanation oral; pause on the visual before revealing the conclusion.
Revision provenance: Original L01 slide(s) 17. Original repository commit d2610b64b34c9699073df88b5d29ec7e6cb4ef13.
[Sources]
https://github.com/Ratio1/DS101-template/blob/d2610b64b34c9699073df88b5d29ec7e6cb4ef13/scripts/lecture_2026_content.py
https://developers.google.com/machine-learning/crash-course/linear-regression/loss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includes an intercept column if the model requires one. Full column rank makes X^T X invertible. A Gaussian noise assumption is not required merely to compute ordinary least squares. In practical code, use a numerically appropriate solver rather than explicitly forming the inverse. For the five synthetic observations, the least-squares solution is intercept 16 and slope 2.1 in the displayed units. The original mathematical screenshot is reconstructed conceptually and not reproduced as an image.
Instructor guidance: Keep the explanation oral; pause on the visual before revealing the conclusion.
Revision provenance: Original L01 slide(s) 18. Original repository commit d2610b64b34c9699073df88b5d29ec7e6cb4ef13.
[Sources]
https://github.com/Ratio1/DS101-template/blob/d2610b64b34c9699073df88b5d29ec7e6cb4ef13/scripts/lecture_2026_content.py
https://numpy.org/doc/2.1/reference/generated/numpy.linalg.lstsq.html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curve is exactly L(w)=1/2(2w-4)^2=2(w-2)^2. Starting from w=1 gives loss 2 and derivative -4. With eta=0.1, w becomes 1.4 and loss is 0.72. This toy example is separate from the earlier five-property dataset; label the change of example clearly. Discuss step size without claiming every update or learning rate guarantees a reduction.
Instructor guidance: Keep the explanation oral; pause on the visual before revealing the conclusion.
Revision provenance: Original L01 slide(s) 19. Original repository commit d2610b64b34c9699073df88b5d29ec7e6cb4ef13.
[Sources]
https://github.com/Ratio1/DS101-template/blob/d2610b64b34c9699073df88b5d29ec7e6cb4ef13/scripts/lecture_2026_content.py
https://developers.google.com/machine-learning/crash-course/linear-regression/gradient-descent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dependency diagram, not a ranking of the three course pillars. Fundamentals are the supporting base. NextGenDS and YourAIYourData are complementary architectural responsibilities. Remove the former five-item pyramid and the unsupported implication created by placing fundamentals at its narrow top.
Instructor guidance: Keep the explanation oral; pause on the visual before revealing the conclusion.
Revision provenance: Original L01 slide(s) 20. Original repository commit d2610b64b34c9699073df88b5d29ec7e6cb4ef13.
[Sources]
https://github.com/Ratio1/DS101-template/blob/d2610b64b34c9699073df88b5d29ec7e6cb4ef13/scripts/lecture_2026_content.py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only the established full-pipeline and real-data requirements. Source rights, provenance, errors, reproducibility, and inspectable user interaction remain important. Do not assign the contested case-role hierarchy or add an unapproved graded submission. Evidence requirements for agent use remain conditional on actual agent use.
Instructor guidance: Keep the explanation oral; pause on the visual before revealing the conclusion.
Revision provenance: Original L01 slide(s) 21. Original repository commit d2610b64b34c9699073df88b5d29ec7e6cb4ef13.
[Sources]
https://github.com/Ratio1/DS101-template/blob/d2610b64b34c9699073df88b5d29ec7e6cb4ef13/scripts/lecture_2026_content.py
https://github.com/Ratio1/DS101-template/blob/d2610b64b34c9699073df88b5d29ec7e6cb4ef13/README.md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introductory framing guide, not a complete machine-learning taxonomy. Other settings include learning from interaction, weak labels, and self-supervision. The image-only original framing tree could not be visually inspected; this is a concept-level reconstruction, and exact branch inheritance remains a review item. Preserve source provenance rather than claiming a pixel-faithful redraw.
Instructor guidance: Keep the explanation oral; pause on the visual before revealing the conclusion.
Revision provenance: Original L01 slide(s) 22. Original repository commit d2610b64b34c9699073df88b5d29ec7e6cb4ef13.
[Sources]
https://github.com/Ratio1/DS101-template/blob/d2610b64b34c9699073df88b5d29ec7e6cb4ef13/scripts/lecture_2026_content.py
https://developers.google.com/machine-learning/crash-course/linear-regression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in-class worked discussion, not the contested canonical-case hierarchy and not a required new deliverable. The existing real-estate data can be opened only after its schema and provenance have been checked in the teaching environment. Do not present invented records or expected metrics as actual dataset outputs. Give students time to distinguish asking price, sale price, and valuation without asserting which the unverified field represents.
Instructor guidance: Keep the explanation oral; pause on the visual before revealing the conclusion.
Revision provenance: Original L01 slide(s) 24. Original repository commit d2610b64b34c9699073df88b5d29ec7e6cb4ef13.
[Sources]
https://github.com/Ratio1/DS101-template/blob/d2610b64b34c9699073df88b5d29ec7e6cb4ef13/scripts/lecture_2026_content.py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learner to connect the three statements using the worked example. Recap only concepts taught in the session. Do not finish by introducing an agentic contract or extra homework. The L02 topic is taken from the repository lecture sequence.
Instructor guidance: Keep the explanation oral; pause on the visual before revealing the conclusion.
Revision provenance: Original L01 slide(s) 25. Original repository commit d2610b64b34c9699073df88b5d29ec7e6cb4ef13.
[Sources]
https://github.com/Ratio1/DS101-template/blob/d2610b64b34c9699073df88b5d29ec7e6cb4ef13/scripts/lecture_2026_content.py
https://github.com/Ratio1/DS101-template/blob/d2610b64b34c9699073df88b5d29ec7e6cb4ef13/README.md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ROADMAP AND FOUNDATIONS</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Data Science Architect</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01 / 24</a:t>
            </a:r>
            <a:endParaRPr lang="en-US" sz="1000" dirty="0"/>
          </a:p>
        </p:txBody>
      </p:sp>
      <p:sp>
        <p:nvSpPr>
          <p:cNvPr id="10" name="Text 8"/>
          <p:cNvSpPr/>
          <p:nvPr/>
        </p:nvSpPr>
        <p:spPr>
          <a:xfrm>
            <a:off x="630936" y="1581912"/>
            <a:ext cx="6858000" cy="713232"/>
          </a:xfrm>
          <a:prstGeom prst="rect">
            <a:avLst/>
          </a:prstGeom>
          <a:noFill/>
          <a:ln/>
        </p:spPr>
        <p:txBody>
          <a:bodyPr wrap="square" lIns="0" tIns="0" rIns="0" bIns="0" rtlCol="0" anchor="ctr"/>
          <a:lstStyle/>
          <a:p>
            <a:pPr indent="0" marL="0">
              <a:buNone/>
            </a:pPr>
            <a:r>
              <a:rPr lang="en-US" sz="3500" b="1" dirty="0">
                <a:solidFill>
                  <a:srgbClr val="172233"/>
                </a:solidFill>
                <a:latin typeface="Aptos" pitchFamily="34" charset="0"/>
                <a:ea typeface="Aptos" pitchFamily="34" charset="-122"/>
                <a:cs typeface="Aptos" pitchFamily="34" charset="-120"/>
              </a:rPr>
              <a:t>Roadmap &amp; Foundations</a:t>
            </a:r>
            <a:endParaRPr lang="en-US" sz="3500" dirty="0"/>
          </a:p>
        </p:txBody>
      </p:sp>
      <p:sp>
        <p:nvSpPr>
          <p:cNvPr id="11" name="Text 9"/>
          <p:cNvSpPr/>
          <p:nvPr/>
        </p:nvSpPr>
        <p:spPr>
          <a:xfrm>
            <a:off x="658368" y="2542032"/>
            <a:ext cx="6400800" cy="987552"/>
          </a:xfrm>
          <a:prstGeom prst="rect">
            <a:avLst/>
          </a:prstGeom>
          <a:noFill/>
          <a:ln/>
        </p:spPr>
        <p:txBody>
          <a:bodyPr wrap="square" lIns="0" tIns="0" rIns="0" bIns="0" rtlCol="0" anchor="ctr"/>
          <a:lstStyle/>
          <a:p>
            <a:pPr indent="0" marL="0">
              <a:buNone/>
            </a:pPr>
            <a:r>
              <a:rPr lang="en-US" sz="2800" dirty="0">
                <a:solidFill>
                  <a:srgbClr val="53657A"/>
                </a:solidFill>
                <a:latin typeface="Aptos" pitchFamily="34" charset="0"/>
                <a:ea typeface="Aptos" pitchFamily="34" charset="-122"/>
                <a:cs typeface="Aptos" pitchFamily="34" charset="-120"/>
              </a:rPr>
              <a:t>From a problem to a model</a:t>
            </a:r>
            <a:endParaRPr lang="en-US" sz="2800" dirty="0"/>
          </a:p>
          <a:p>
            <a:pPr indent="0" marL="0">
              <a:buNone/>
            </a:pPr>
            <a:r>
              <a:rPr lang="en-US" sz="2800" dirty="0">
                <a:solidFill>
                  <a:srgbClr val="53657A"/>
                </a:solidFill>
                <a:latin typeface="Aptos" pitchFamily="34" charset="0"/>
                <a:ea typeface="Aptos" pitchFamily="34" charset="-122"/>
                <a:cs typeface="Aptos" pitchFamily="34" charset="-120"/>
              </a:rPr>
              <a:t>we can evaluate and use.</a:t>
            </a:r>
            <a:endParaRPr lang="en-US" sz="2800" dirty="0"/>
          </a:p>
        </p:txBody>
      </p:sp>
      <p:sp>
        <p:nvSpPr>
          <p:cNvPr id="12" name="Shape 10"/>
          <p:cNvSpPr/>
          <p:nvPr/>
        </p:nvSpPr>
        <p:spPr>
          <a:xfrm>
            <a:off x="667512" y="4005072"/>
            <a:ext cx="1481328" cy="347472"/>
          </a:xfrm>
          <a:prstGeom prst="roundRect">
            <a:avLst>
              <a:gd name="adj" fmla="val 26316"/>
            </a:avLst>
          </a:prstGeom>
          <a:solidFill>
            <a:srgbClr val="E3EFF7"/>
          </a:solidFill>
          <a:ln w="12700">
            <a:solidFill>
              <a:srgbClr val="E3EFF7"/>
            </a:solidFill>
            <a:prstDash val="solid"/>
          </a:ln>
        </p:spPr>
      </p:sp>
      <p:sp>
        <p:nvSpPr>
          <p:cNvPr id="13" name="Text 11"/>
          <p:cNvSpPr/>
          <p:nvPr/>
        </p:nvSpPr>
        <p:spPr>
          <a:xfrm>
            <a:off x="777240" y="4078224"/>
            <a:ext cx="1261872" cy="182880"/>
          </a:xfrm>
          <a:prstGeom prst="rect">
            <a:avLst/>
          </a:prstGeom>
          <a:noFill/>
          <a:ln/>
        </p:spPr>
        <p:txBody>
          <a:bodyPr wrap="square" lIns="0" tIns="0" rIns="0" bIns="0" rtlCol="0" anchor="ctr"/>
          <a:lstStyle/>
          <a:p>
            <a:pPr algn="ctr" indent="0" marL="0">
              <a:buNone/>
            </a:pPr>
            <a:r>
              <a:rPr lang="en-US" sz="1100" b="1" dirty="0">
                <a:solidFill>
                  <a:srgbClr val="176493"/>
                </a:solidFill>
                <a:latin typeface="Aptos" pitchFamily="34" charset="0"/>
                <a:ea typeface="Aptos" pitchFamily="34" charset="-122"/>
                <a:cs typeface="Aptos" pitchFamily="34" charset="-120"/>
              </a:rPr>
              <a:t>LECTURE 01</a:t>
            </a:r>
            <a:endParaRPr lang="en-US" sz="1100" dirty="0"/>
          </a:p>
        </p:txBody>
      </p:sp>
      <p:sp>
        <p:nvSpPr>
          <p:cNvPr id="14" name="Shape 12"/>
          <p:cNvSpPr/>
          <p:nvPr/>
        </p:nvSpPr>
        <p:spPr>
          <a:xfrm>
            <a:off x="2313432" y="4005072"/>
            <a:ext cx="1801368" cy="347472"/>
          </a:xfrm>
          <a:prstGeom prst="roundRect">
            <a:avLst>
              <a:gd name="adj" fmla="val 26316"/>
            </a:avLst>
          </a:prstGeom>
          <a:solidFill>
            <a:srgbClr val="E0F0F1"/>
          </a:solidFill>
          <a:ln w="12700">
            <a:solidFill>
              <a:srgbClr val="E0F0F1"/>
            </a:solidFill>
            <a:prstDash val="solid"/>
          </a:ln>
        </p:spPr>
      </p:sp>
      <p:sp>
        <p:nvSpPr>
          <p:cNvPr id="15" name="Text 13"/>
          <p:cNvSpPr/>
          <p:nvPr/>
        </p:nvSpPr>
        <p:spPr>
          <a:xfrm>
            <a:off x="2423160" y="4078224"/>
            <a:ext cx="1581912" cy="182880"/>
          </a:xfrm>
          <a:prstGeom prst="rect">
            <a:avLst/>
          </a:prstGeom>
          <a:noFill/>
          <a:ln/>
        </p:spPr>
        <p:txBody>
          <a:bodyPr wrap="square" lIns="0" tIns="0" rIns="0" bIns="0" rtlCol="0" anchor="ctr"/>
          <a:lstStyle/>
          <a:p>
            <a:pPr algn="ctr" indent="0" marL="0">
              <a:buNone/>
            </a:pPr>
            <a:r>
              <a:rPr lang="en-US" sz="1100" b="1" dirty="0">
                <a:solidFill>
                  <a:srgbClr val="167C85"/>
                </a:solidFill>
                <a:latin typeface="Aptos" pitchFamily="34" charset="0"/>
                <a:ea typeface="Aptos" pitchFamily="34" charset="-122"/>
                <a:cs typeface="Aptos" pitchFamily="34" charset="-120"/>
              </a:rPr>
              <a:t>DATA SCIENCE</a:t>
            </a:r>
            <a:endParaRPr lang="en-US" sz="1100" dirty="0"/>
          </a:p>
        </p:txBody>
      </p:sp>
      <p:sp>
        <p:nvSpPr>
          <p:cNvPr id="16" name="Shape 14"/>
          <p:cNvSpPr/>
          <p:nvPr/>
        </p:nvSpPr>
        <p:spPr>
          <a:xfrm>
            <a:off x="8001000" y="1773936"/>
            <a:ext cx="3383280" cy="4069080"/>
          </a:xfrm>
          <a:prstGeom prst="roundRect">
            <a:avLst>
              <a:gd name="adj" fmla="val 2703"/>
            </a:avLst>
          </a:prstGeom>
          <a:solidFill>
            <a:srgbClr val="FFFFFF"/>
          </a:solidFill>
          <a:ln w="10160">
            <a:solidFill>
              <a:srgbClr val="C4D2E2"/>
            </a:solidFill>
            <a:prstDash val="solid"/>
          </a:ln>
        </p:spPr>
      </p:sp>
      <p:sp>
        <p:nvSpPr>
          <p:cNvPr id="17" name="Shape 15"/>
          <p:cNvSpPr/>
          <p:nvPr/>
        </p:nvSpPr>
        <p:spPr>
          <a:xfrm>
            <a:off x="8318205" y="2118573"/>
            <a:ext cx="526877" cy="526877"/>
          </a:xfrm>
          <a:prstGeom prst="ellipse">
            <a:avLst/>
          </a:prstGeom>
          <a:solidFill>
            <a:srgbClr val="FFFFFF"/>
          </a:solidFill>
          <a:ln w="8890">
            <a:solidFill>
              <a:srgbClr val="176493"/>
            </a:solidFill>
            <a:prstDash val="solid"/>
          </a:ln>
        </p:spPr>
      </p:sp>
      <p:sp>
        <p:nvSpPr>
          <p:cNvPr id="18" name="Shape 16"/>
          <p:cNvSpPr/>
          <p:nvPr/>
        </p:nvSpPr>
        <p:spPr>
          <a:xfrm>
            <a:off x="8422356" y="2222724"/>
            <a:ext cx="318577" cy="318577"/>
          </a:xfrm>
          <a:prstGeom prst="ellipse">
            <a:avLst/>
          </a:prstGeom>
          <a:solidFill>
            <a:srgbClr val="FFFFFF"/>
          </a:solidFill>
          <a:ln w="8890">
            <a:solidFill>
              <a:srgbClr val="176493"/>
            </a:solidFill>
            <a:prstDash val="solid"/>
          </a:ln>
        </p:spPr>
      </p:sp>
      <p:sp>
        <p:nvSpPr>
          <p:cNvPr id="19" name="Shape 17"/>
          <p:cNvSpPr/>
          <p:nvPr/>
        </p:nvSpPr>
        <p:spPr>
          <a:xfrm>
            <a:off x="8526506" y="2326874"/>
            <a:ext cx="110277" cy="110277"/>
          </a:xfrm>
          <a:prstGeom prst="ellipse">
            <a:avLst/>
          </a:prstGeom>
          <a:solidFill>
            <a:srgbClr val="E3EFF7"/>
          </a:solidFill>
          <a:ln w="8890">
            <a:solidFill>
              <a:srgbClr val="176493"/>
            </a:solidFill>
            <a:prstDash val="solid"/>
          </a:ln>
        </p:spPr>
      </p:sp>
      <p:sp>
        <p:nvSpPr>
          <p:cNvPr id="20" name="Shape 18"/>
          <p:cNvSpPr/>
          <p:nvPr/>
        </p:nvSpPr>
        <p:spPr>
          <a:xfrm flipV="1">
            <a:off x="8612276" y="2149206"/>
            <a:ext cx="208300" cy="214427"/>
          </a:xfrm>
          <a:prstGeom prst="line">
            <a:avLst/>
          </a:prstGeom>
          <a:noFill/>
          <a:ln w="31750">
            <a:solidFill>
              <a:srgbClr val="176493"/>
            </a:solidFill>
            <a:prstDash val="solid"/>
            <a:headEnd type="none"/>
            <a:tailEnd type="none"/>
          </a:ln>
        </p:spPr>
      </p:sp>
      <p:sp>
        <p:nvSpPr>
          <p:cNvPr id="21" name="Text 19"/>
          <p:cNvSpPr/>
          <p:nvPr/>
        </p:nvSpPr>
        <p:spPr>
          <a:xfrm>
            <a:off x="9107424" y="2157984"/>
            <a:ext cx="1956816" cy="530352"/>
          </a:xfrm>
          <a:prstGeom prst="rect">
            <a:avLst/>
          </a:prstGeom>
          <a:noFill/>
          <a:ln/>
        </p:spPr>
        <p:txBody>
          <a:bodyPr wrap="square" lIns="0" tIns="0" rIns="0" bIns="0" rtlCol="0" anchor="ctr"/>
          <a:lstStyle/>
          <a:p>
            <a:pPr indent="0" marL="0">
              <a:buNone/>
            </a:pPr>
            <a:r>
              <a:rPr lang="en-US" sz="2100" b="1" dirty="0">
                <a:solidFill>
                  <a:srgbClr val="172233"/>
                </a:solidFill>
                <a:latin typeface="Aptos" pitchFamily="34" charset="0"/>
                <a:ea typeface="Aptos" pitchFamily="34" charset="-122"/>
                <a:cs typeface="Aptos" pitchFamily="34" charset="-120"/>
              </a:rPr>
              <a:t>Frame the problem</a:t>
            </a:r>
            <a:endParaRPr lang="en-US" sz="2100" dirty="0"/>
          </a:p>
        </p:txBody>
      </p:sp>
      <p:sp>
        <p:nvSpPr>
          <p:cNvPr id="22" name="Shape 20"/>
          <p:cNvSpPr/>
          <p:nvPr/>
        </p:nvSpPr>
        <p:spPr>
          <a:xfrm>
            <a:off x="8361091" y="3316712"/>
            <a:ext cx="441107" cy="441107"/>
          </a:xfrm>
          <a:prstGeom prst="rect">
            <a:avLst>
              <a:gd name="adj" fmla="val 20730"/>
            </a:avLst>
          </a:prstGeom>
          <a:solidFill>
            <a:srgbClr val="FFFFFF"/>
          </a:solidFill>
          <a:ln w="10160">
            <a:solidFill>
              <a:srgbClr val="176493"/>
            </a:solidFill>
            <a:prstDash val="solid"/>
          </a:ln>
        </p:spPr>
      </p:sp>
      <p:sp>
        <p:nvSpPr>
          <p:cNvPr id="23" name="Shape 21"/>
          <p:cNvSpPr/>
          <p:nvPr/>
        </p:nvSpPr>
        <p:spPr>
          <a:xfrm>
            <a:off x="8361091" y="3439241"/>
            <a:ext cx="441107" cy="0"/>
          </a:xfrm>
          <a:prstGeom prst="line">
            <a:avLst/>
          </a:prstGeom>
          <a:noFill/>
          <a:ln w="26670">
            <a:solidFill>
              <a:srgbClr val="176493"/>
            </a:solidFill>
            <a:prstDash val="solid"/>
            <a:headEnd type="none"/>
            <a:tailEnd type="none"/>
          </a:ln>
        </p:spPr>
      </p:sp>
      <p:sp>
        <p:nvSpPr>
          <p:cNvPr id="24" name="Shape 22"/>
          <p:cNvSpPr/>
          <p:nvPr/>
        </p:nvSpPr>
        <p:spPr>
          <a:xfrm>
            <a:off x="8361091" y="3549518"/>
            <a:ext cx="441107" cy="0"/>
          </a:xfrm>
          <a:prstGeom prst="line">
            <a:avLst/>
          </a:prstGeom>
          <a:noFill/>
          <a:ln w="26670">
            <a:solidFill>
              <a:srgbClr val="176493"/>
            </a:solidFill>
            <a:prstDash val="solid"/>
            <a:headEnd type="none"/>
            <a:tailEnd type="none"/>
          </a:ln>
        </p:spPr>
      </p:sp>
      <p:sp>
        <p:nvSpPr>
          <p:cNvPr id="25" name="Shape 23"/>
          <p:cNvSpPr/>
          <p:nvPr/>
        </p:nvSpPr>
        <p:spPr>
          <a:xfrm>
            <a:off x="8361091" y="3659795"/>
            <a:ext cx="441107" cy="0"/>
          </a:xfrm>
          <a:prstGeom prst="line">
            <a:avLst/>
          </a:prstGeom>
          <a:noFill/>
          <a:ln w="26670">
            <a:solidFill>
              <a:srgbClr val="176493"/>
            </a:solidFill>
            <a:prstDash val="solid"/>
            <a:headEnd type="none"/>
            <a:tailEnd type="none"/>
          </a:ln>
        </p:spPr>
      </p:sp>
      <p:sp>
        <p:nvSpPr>
          <p:cNvPr id="26" name="Shape 24"/>
          <p:cNvSpPr/>
          <p:nvPr/>
        </p:nvSpPr>
        <p:spPr>
          <a:xfrm>
            <a:off x="8514253" y="3316712"/>
            <a:ext cx="0" cy="441107"/>
          </a:xfrm>
          <a:prstGeom prst="line">
            <a:avLst/>
          </a:prstGeom>
          <a:noFill/>
          <a:ln w="26670">
            <a:solidFill>
              <a:srgbClr val="176493"/>
            </a:solidFill>
            <a:prstDash val="solid"/>
            <a:headEnd type="none"/>
            <a:tailEnd type="none"/>
          </a:ln>
        </p:spPr>
      </p:sp>
      <p:sp>
        <p:nvSpPr>
          <p:cNvPr id="27" name="Shape 25"/>
          <p:cNvSpPr/>
          <p:nvPr/>
        </p:nvSpPr>
        <p:spPr>
          <a:xfrm>
            <a:off x="8667415" y="3316712"/>
            <a:ext cx="0" cy="441107"/>
          </a:xfrm>
          <a:prstGeom prst="line">
            <a:avLst/>
          </a:prstGeom>
          <a:noFill/>
          <a:ln w="26670">
            <a:solidFill>
              <a:srgbClr val="176493"/>
            </a:solidFill>
            <a:prstDash val="solid"/>
            <a:headEnd type="none"/>
            <a:tailEnd type="none"/>
          </a:ln>
        </p:spPr>
      </p:sp>
      <p:sp>
        <p:nvSpPr>
          <p:cNvPr id="28" name="Text 26"/>
          <p:cNvSpPr/>
          <p:nvPr/>
        </p:nvSpPr>
        <p:spPr>
          <a:xfrm>
            <a:off x="9107424" y="3300984"/>
            <a:ext cx="1956816" cy="530352"/>
          </a:xfrm>
          <a:prstGeom prst="rect">
            <a:avLst/>
          </a:prstGeom>
          <a:noFill/>
          <a:ln/>
        </p:spPr>
        <p:txBody>
          <a:bodyPr wrap="square" lIns="0" tIns="0" rIns="0" bIns="0" rtlCol="0" anchor="ctr"/>
          <a:lstStyle/>
          <a:p>
            <a:pPr indent="0" marL="0">
              <a:buNone/>
            </a:pPr>
            <a:r>
              <a:rPr lang="en-US" sz="2100" b="1" dirty="0">
                <a:solidFill>
                  <a:srgbClr val="172233"/>
                </a:solidFill>
                <a:latin typeface="Aptos" pitchFamily="34" charset="0"/>
                <a:ea typeface="Aptos" pitchFamily="34" charset="-122"/>
                <a:cs typeface="Aptos" pitchFamily="34" charset="-120"/>
              </a:rPr>
              <a:t>Understand the data</a:t>
            </a:r>
            <a:endParaRPr lang="en-US" sz="2100" dirty="0"/>
          </a:p>
        </p:txBody>
      </p:sp>
      <p:sp>
        <p:nvSpPr>
          <p:cNvPr id="29" name="Shape 27"/>
          <p:cNvSpPr/>
          <p:nvPr/>
        </p:nvSpPr>
        <p:spPr>
          <a:xfrm>
            <a:off x="8361091" y="4429079"/>
            <a:ext cx="0" cy="483992"/>
          </a:xfrm>
          <a:prstGeom prst="line">
            <a:avLst/>
          </a:prstGeom>
          <a:noFill/>
          <a:ln w="26670">
            <a:solidFill>
              <a:srgbClr val="176493"/>
            </a:solidFill>
            <a:prstDash val="solid"/>
            <a:headEnd type="none"/>
            <a:tailEnd type="none"/>
          </a:ln>
        </p:spPr>
      </p:sp>
      <p:sp>
        <p:nvSpPr>
          <p:cNvPr id="30" name="Shape 28"/>
          <p:cNvSpPr/>
          <p:nvPr/>
        </p:nvSpPr>
        <p:spPr>
          <a:xfrm>
            <a:off x="8361091" y="4913071"/>
            <a:ext cx="483992" cy="0"/>
          </a:xfrm>
          <a:prstGeom prst="line">
            <a:avLst/>
          </a:prstGeom>
          <a:noFill/>
          <a:ln w="26670">
            <a:solidFill>
              <a:srgbClr val="176493"/>
            </a:solidFill>
            <a:prstDash val="solid"/>
            <a:headEnd type="none"/>
            <a:tailEnd type="none"/>
          </a:ln>
        </p:spPr>
      </p:sp>
      <p:sp>
        <p:nvSpPr>
          <p:cNvPr id="31" name="Shape 29"/>
          <p:cNvSpPr/>
          <p:nvPr/>
        </p:nvSpPr>
        <p:spPr>
          <a:xfrm flipV="1">
            <a:off x="8422356" y="4655759"/>
            <a:ext cx="116403" cy="122530"/>
          </a:xfrm>
          <a:prstGeom prst="line">
            <a:avLst/>
          </a:prstGeom>
          <a:noFill/>
          <a:ln w="26670">
            <a:solidFill>
              <a:srgbClr val="176493"/>
            </a:solidFill>
            <a:prstDash val="solid"/>
            <a:headEnd type="none"/>
            <a:tailEnd type="none"/>
          </a:ln>
        </p:spPr>
      </p:sp>
      <p:sp>
        <p:nvSpPr>
          <p:cNvPr id="32" name="Shape 30"/>
          <p:cNvSpPr/>
          <p:nvPr/>
        </p:nvSpPr>
        <p:spPr>
          <a:xfrm>
            <a:off x="8538759" y="4655759"/>
            <a:ext cx="122530" cy="79644"/>
          </a:xfrm>
          <a:prstGeom prst="line">
            <a:avLst/>
          </a:prstGeom>
          <a:noFill/>
          <a:ln w="26670">
            <a:solidFill>
              <a:srgbClr val="176493"/>
            </a:solidFill>
            <a:prstDash val="solid"/>
            <a:headEnd type="none"/>
            <a:tailEnd type="none"/>
          </a:ln>
        </p:spPr>
      </p:sp>
      <p:sp>
        <p:nvSpPr>
          <p:cNvPr id="33" name="Shape 31"/>
          <p:cNvSpPr/>
          <p:nvPr/>
        </p:nvSpPr>
        <p:spPr>
          <a:xfrm flipV="1">
            <a:off x="8661288" y="4496471"/>
            <a:ext cx="140909" cy="238933"/>
          </a:xfrm>
          <a:prstGeom prst="line">
            <a:avLst/>
          </a:prstGeom>
          <a:noFill/>
          <a:ln w="26670">
            <a:solidFill>
              <a:srgbClr val="176493"/>
            </a:solidFill>
            <a:prstDash val="solid"/>
            <a:headEnd type="none"/>
            <a:tailEnd type="none"/>
          </a:ln>
        </p:spPr>
      </p:sp>
      <p:sp>
        <p:nvSpPr>
          <p:cNvPr id="34" name="Shape 32"/>
          <p:cNvSpPr/>
          <p:nvPr/>
        </p:nvSpPr>
        <p:spPr>
          <a:xfrm>
            <a:off x="8391723" y="4747656"/>
            <a:ext cx="61265" cy="61265"/>
          </a:xfrm>
          <a:prstGeom prst="ellipse">
            <a:avLst/>
          </a:prstGeom>
          <a:solidFill>
            <a:srgbClr val="E3EFF7"/>
          </a:solidFill>
          <a:ln w="8890">
            <a:solidFill>
              <a:srgbClr val="176493"/>
            </a:solidFill>
            <a:prstDash val="solid"/>
          </a:ln>
        </p:spPr>
      </p:sp>
      <p:sp>
        <p:nvSpPr>
          <p:cNvPr id="35" name="Shape 33"/>
          <p:cNvSpPr/>
          <p:nvPr/>
        </p:nvSpPr>
        <p:spPr>
          <a:xfrm>
            <a:off x="8508126" y="4625127"/>
            <a:ext cx="61265" cy="61265"/>
          </a:xfrm>
          <a:prstGeom prst="ellipse">
            <a:avLst/>
          </a:prstGeom>
          <a:solidFill>
            <a:srgbClr val="E3EFF7"/>
          </a:solidFill>
          <a:ln w="8890">
            <a:solidFill>
              <a:srgbClr val="176493"/>
            </a:solidFill>
            <a:prstDash val="solid"/>
          </a:ln>
        </p:spPr>
      </p:sp>
      <p:sp>
        <p:nvSpPr>
          <p:cNvPr id="36" name="Shape 34"/>
          <p:cNvSpPr/>
          <p:nvPr/>
        </p:nvSpPr>
        <p:spPr>
          <a:xfrm>
            <a:off x="8630656" y="4704771"/>
            <a:ext cx="61265" cy="61265"/>
          </a:xfrm>
          <a:prstGeom prst="ellipse">
            <a:avLst/>
          </a:prstGeom>
          <a:solidFill>
            <a:srgbClr val="E3EFF7"/>
          </a:solidFill>
          <a:ln w="8890">
            <a:solidFill>
              <a:srgbClr val="176493"/>
            </a:solidFill>
            <a:prstDash val="solid"/>
          </a:ln>
        </p:spPr>
      </p:sp>
      <p:sp>
        <p:nvSpPr>
          <p:cNvPr id="37" name="Shape 35"/>
          <p:cNvSpPr/>
          <p:nvPr/>
        </p:nvSpPr>
        <p:spPr>
          <a:xfrm>
            <a:off x="8771565" y="4465838"/>
            <a:ext cx="61265" cy="61265"/>
          </a:xfrm>
          <a:prstGeom prst="ellipse">
            <a:avLst/>
          </a:prstGeom>
          <a:solidFill>
            <a:srgbClr val="E3EFF7"/>
          </a:solidFill>
          <a:ln w="8890">
            <a:solidFill>
              <a:srgbClr val="176493"/>
            </a:solidFill>
            <a:prstDash val="solid"/>
          </a:ln>
        </p:spPr>
      </p:sp>
      <p:sp>
        <p:nvSpPr>
          <p:cNvPr id="38" name="Text 36"/>
          <p:cNvSpPr/>
          <p:nvPr/>
        </p:nvSpPr>
        <p:spPr>
          <a:xfrm>
            <a:off x="9107424" y="4443984"/>
            <a:ext cx="1956816" cy="530352"/>
          </a:xfrm>
          <a:prstGeom prst="rect">
            <a:avLst/>
          </a:prstGeom>
          <a:noFill/>
          <a:ln/>
        </p:spPr>
        <p:txBody>
          <a:bodyPr wrap="square" lIns="0" tIns="0" rIns="0" bIns="0" rtlCol="0" anchor="ctr"/>
          <a:lstStyle/>
          <a:p>
            <a:pPr indent="0" marL="0">
              <a:buNone/>
            </a:pPr>
            <a:r>
              <a:rPr lang="en-US" sz="2100" b="1" dirty="0">
                <a:solidFill>
                  <a:srgbClr val="172233"/>
                </a:solidFill>
                <a:latin typeface="Aptos" pitchFamily="34" charset="0"/>
                <a:ea typeface="Aptos" pitchFamily="34" charset="-122"/>
                <a:cs typeface="Aptos" pitchFamily="34" charset="-120"/>
              </a:rPr>
              <a:t>Evaluate the result</a:t>
            </a:r>
            <a:endParaRPr lang="en-US" sz="2100" dirty="0"/>
          </a:p>
        </p:txBody>
      </p:sp>
      <p:sp>
        <p:nvSpPr>
          <p:cNvPr id="39" name="Text 37"/>
          <p:cNvSpPr/>
          <p:nvPr/>
        </p:nvSpPr>
        <p:spPr>
          <a:xfrm>
            <a:off x="676656" y="5202936"/>
            <a:ext cx="6748272" cy="594360"/>
          </a:xfrm>
          <a:prstGeom prst="rect">
            <a:avLst/>
          </a:prstGeom>
          <a:noFill/>
          <a:ln/>
        </p:spPr>
        <p:txBody>
          <a:bodyPr wrap="square" lIns="0" tIns="0" rIns="0" bIns="0" rtlCol="0" anchor="ctr"/>
          <a:lstStyle/>
          <a:p>
            <a:pPr indent="0" marL="0">
              <a:buNone/>
            </a:pPr>
            <a:r>
              <a:rPr lang="en-US" sz="2200" b="1" dirty="0">
                <a:solidFill>
                  <a:srgbClr val="176493"/>
                </a:solidFill>
                <a:latin typeface="Aptos" pitchFamily="34" charset="0"/>
                <a:ea typeface="Aptos" pitchFamily="34" charset="-122"/>
                <a:cs typeface="Aptos" pitchFamily="34" charset="-120"/>
              </a:rPr>
              <a:t>The model is a means. The decision is the point.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LECTURE PLAN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Today: from a problem to a usable result</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02 / 24</a:t>
            </a:r>
            <a:endParaRPr lang="en-US" sz="1000" dirty="0"/>
          </a:p>
        </p:txBody>
      </p:sp>
      <p:sp>
        <p:nvSpPr>
          <p:cNvPr id="10" name="Shape 8"/>
          <p:cNvSpPr/>
          <p:nvPr/>
        </p:nvSpPr>
        <p:spPr>
          <a:xfrm>
            <a:off x="685800" y="1993392"/>
            <a:ext cx="2560320" cy="3026664"/>
          </a:xfrm>
          <a:prstGeom prst="roundRect">
            <a:avLst>
              <a:gd name="adj" fmla="val 3571"/>
            </a:avLst>
          </a:prstGeom>
          <a:solidFill>
            <a:srgbClr val="FFFFFF"/>
          </a:solidFill>
          <a:ln w="10160">
            <a:solidFill>
              <a:srgbClr val="C4D2E2"/>
            </a:solidFill>
            <a:prstDash val="solid"/>
          </a:ln>
        </p:spPr>
      </p:sp>
      <p:sp>
        <p:nvSpPr>
          <p:cNvPr id="11" name="Text 9"/>
          <p:cNvSpPr/>
          <p:nvPr/>
        </p:nvSpPr>
        <p:spPr>
          <a:xfrm>
            <a:off x="877824" y="2221992"/>
            <a:ext cx="64008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01</a:t>
            </a:r>
            <a:endParaRPr lang="en-US" sz="1100" dirty="0"/>
          </a:p>
        </p:txBody>
      </p:sp>
      <p:sp>
        <p:nvSpPr>
          <p:cNvPr id="12" name="Shape 10"/>
          <p:cNvSpPr/>
          <p:nvPr/>
        </p:nvSpPr>
        <p:spPr>
          <a:xfrm>
            <a:off x="1730411" y="2766974"/>
            <a:ext cx="243779" cy="243779"/>
          </a:xfrm>
          <a:prstGeom prst="ellipse">
            <a:avLst/>
          </a:prstGeom>
          <a:solidFill>
            <a:srgbClr val="E3EFF7"/>
          </a:solidFill>
          <a:ln w="8890">
            <a:solidFill>
              <a:srgbClr val="176493"/>
            </a:solidFill>
            <a:prstDash val="solid"/>
          </a:ln>
        </p:spPr>
      </p:sp>
      <p:sp>
        <p:nvSpPr>
          <p:cNvPr id="13" name="Shape 11"/>
          <p:cNvSpPr/>
          <p:nvPr/>
        </p:nvSpPr>
        <p:spPr>
          <a:xfrm>
            <a:off x="1856232" y="3018617"/>
            <a:ext cx="0" cy="267371"/>
          </a:xfrm>
          <a:prstGeom prst="line">
            <a:avLst/>
          </a:prstGeom>
          <a:noFill/>
          <a:ln w="26670">
            <a:solidFill>
              <a:srgbClr val="176493"/>
            </a:solidFill>
            <a:prstDash val="solid"/>
            <a:headEnd type="none"/>
            <a:tailEnd type="none"/>
          </a:ln>
        </p:spPr>
      </p:sp>
      <p:sp>
        <p:nvSpPr>
          <p:cNvPr id="14" name="Shape 12"/>
          <p:cNvSpPr/>
          <p:nvPr/>
        </p:nvSpPr>
        <p:spPr>
          <a:xfrm flipV="1">
            <a:off x="1588861" y="3191622"/>
            <a:ext cx="70775" cy="188732"/>
          </a:xfrm>
          <a:prstGeom prst="line">
            <a:avLst/>
          </a:prstGeom>
          <a:noFill/>
          <a:ln w="26670">
            <a:solidFill>
              <a:srgbClr val="176493"/>
            </a:solidFill>
            <a:prstDash val="solid"/>
            <a:headEnd type="none"/>
            <a:tailEnd type="none"/>
          </a:ln>
        </p:spPr>
      </p:sp>
      <p:sp>
        <p:nvSpPr>
          <p:cNvPr id="15" name="Shape 13"/>
          <p:cNvSpPr/>
          <p:nvPr/>
        </p:nvSpPr>
        <p:spPr>
          <a:xfrm>
            <a:off x="1659636" y="3191622"/>
            <a:ext cx="385328" cy="0"/>
          </a:xfrm>
          <a:prstGeom prst="line">
            <a:avLst/>
          </a:prstGeom>
          <a:noFill/>
          <a:ln w="26670">
            <a:solidFill>
              <a:srgbClr val="176493"/>
            </a:solidFill>
            <a:prstDash val="solid"/>
            <a:headEnd type="none"/>
            <a:tailEnd type="none"/>
          </a:ln>
        </p:spPr>
      </p:sp>
      <p:sp>
        <p:nvSpPr>
          <p:cNvPr id="16" name="Shape 14"/>
          <p:cNvSpPr/>
          <p:nvPr/>
        </p:nvSpPr>
        <p:spPr>
          <a:xfrm>
            <a:off x="2044964" y="3191622"/>
            <a:ext cx="78638" cy="188732"/>
          </a:xfrm>
          <a:prstGeom prst="line">
            <a:avLst/>
          </a:prstGeom>
          <a:noFill/>
          <a:ln w="26670">
            <a:solidFill>
              <a:srgbClr val="176493"/>
            </a:solidFill>
            <a:prstDash val="solid"/>
            <a:headEnd type="none"/>
            <a:tailEnd type="none"/>
          </a:ln>
        </p:spPr>
      </p:sp>
      <p:sp>
        <p:nvSpPr>
          <p:cNvPr id="17" name="Text 15"/>
          <p:cNvSpPr/>
          <p:nvPr/>
        </p:nvSpPr>
        <p:spPr>
          <a:xfrm>
            <a:off x="868680" y="3502152"/>
            <a:ext cx="2194560" cy="722376"/>
          </a:xfrm>
          <a:prstGeom prst="rect">
            <a:avLst/>
          </a:prstGeom>
          <a:noFill/>
          <a:ln/>
        </p:spPr>
        <p:txBody>
          <a:bodyPr wrap="square" lIns="0" tIns="0" rIns="0" bIns="0" rtlCol="0" anchor="ctr"/>
          <a:lstStyle/>
          <a:p>
            <a:pPr algn="ctr" indent="0" marL="0">
              <a:buNone/>
            </a:pPr>
            <a:r>
              <a:rPr lang="en-US" sz="2100" b="1" dirty="0">
                <a:solidFill>
                  <a:srgbClr val="172233"/>
                </a:solidFill>
                <a:latin typeface="Aptos" pitchFamily="34" charset="0"/>
                <a:ea typeface="Aptos" pitchFamily="34" charset="-122"/>
                <a:cs typeface="Aptos" pitchFamily="34" charset="-120"/>
              </a:rPr>
              <a:t>The role</a:t>
            </a:r>
            <a:endParaRPr lang="en-US" sz="2100" dirty="0"/>
          </a:p>
        </p:txBody>
      </p:sp>
      <p:sp>
        <p:nvSpPr>
          <p:cNvPr id="18" name="Text 16"/>
          <p:cNvSpPr/>
          <p:nvPr/>
        </p:nvSpPr>
        <p:spPr>
          <a:xfrm>
            <a:off x="886968" y="4416552"/>
            <a:ext cx="2157984" cy="448056"/>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What does a Data Scientist decide?</a:t>
            </a:r>
            <a:endParaRPr lang="en-US" sz="1600" dirty="0"/>
          </a:p>
        </p:txBody>
      </p:sp>
      <p:sp>
        <p:nvSpPr>
          <p:cNvPr id="19" name="Shape 17"/>
          <p:cNvSpPr/>
          <p:nvPr/>
        </p:nvSpPr>
        <p:spPr>
          <a:xfrm>
            <a:off x="3474720" y="1993392"/>
            <a:ext cx="2560320" cy="3026664"/>
          </a:xfrm>
          <a:prstGeom prst="roundRect">
            <a:avLst>
              <a:gd name="adj" fmla="val 3571"/>
            </a:avLst>
          </a:prstGeom>
          <a:solidFill>
            <a:srgbClr val="FFFFFF"/>
          </a:solidFill>
          <a:ln w="10160">
            <a:solidFill>
              <a:srgbClr val="C4D2E2"/>
            </a:solidFill>
            <a:prstDash val="solid"/>
          </a:ln>
        </p:spPr>
      </p:sp>
      <p:sp>
        <p:nvSpPr>
          <p:cNvPr id="20" name="Text 18"/>
          <p:cNvSpPr/>
          <p:nvPr/>
        </p:nvSpPr>
        <p:spPr>
          <a:xfrm>
            <a:off x="3666744" y="2221992"/>
            <a:ext cx="64008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02</a:t>
            </a:r>
            <a:endParaRPr lang="en-US" sz="1100" dirty="0"/>
          </a:p>
        </p:txBody>
      </p:sp>
      <p:sp>
        <p:nvSpPr>
          <p:cNvPr id="21" name="Shape 19"/>
          <p:cNvSpPr/>
          <p:nvPr/>
        </p:nvSpPr>
        <p:spPr>
          <a:xfrm>
            <a:off x="4362054" y="2814157"/>
            <a:ext cx="566196" cy="566196"/>
          </a:xfrm>
          <a:prstGeom prst="rect">
            <a:avLst>
              <a:gd name="adj" fmla="val 16150"/>
            </a:avLst>
          </a:prstGeom>
          <a:solidFill>
            <a:srgbClr val="FFFFFF"/>
          </a:solidFill>
          <a:ln w="10160">
            <a:solidFill>
              <a:srgbClr val="176493"/>
            </a:solidFill>
            <a:prstDash val="solid"/>
          </a:ln>
        </p:spPr>
      </p:sp>
      <p:sp>
        <p:nvSpPr>
          <p:cNvPr id="22" name="Shape 20"/>
          <p:cNvSpPr/>
          <p:nvPr/>
        </p:nvSpPr>
        <p:spPr>
          <a:xfrm>
            <a:off x="4362054" y="2971434"/>
            <a:ext cx="566196" cy="0"/>
          </a:xfrm>
          <a:prstGeom prst="line">
            <a:avLst/>
          </a:prstGeom>
          <a:noFill/>
          <a:ln w="26670">
            <a:solidFill>
              <a:srgbClr val="176493"/>
            </a:solidFill>
            <a:prstDash val="solid"/>
            <a:headEnd type="none"/>
            <a:tailEnd type="none"/>
          </a:ln>
        </p:spPr>
      </p:sp>
      <p:sp>
        <p:nvSpPr>
          <p:cNvPr id="23" name="Shape 21"/>
          <p:cNvSpPr/>
          <p:nvPr/>
        </p:nvSpPr>
        <p:spPr>
          <a:xfrm>
            <a:off x="4362054" y="3112983"/>
            <a:ext cx="566196" cy="0"/>
          </a:xfrm>
          <a:prstGeom prst="line">
            <a:avLst/>
          </a:prstGeom>
          <a:noFill/>
          <a:ln w="26670">
            <a:solidFill>
              <a:srgbClr val="176493"/>
            </a:solidFill>
            <a:prstDash val="solid"/>
            <a:headEnd type="none"/>
            <a:tailEnd type="none"/>
          </a:ln>
        </p:spPr>
      </p:sp>
      <p:sp>
        <p:nvSpPr>
          <p:cNvPr id="24" name="Shape 22"/>
          <p:cNvSpPr/>
          <p:nvPr/>
        </p:nvSpPr>
        <p:spPr>
          <a:xfrm>
            <a:off x="4362054" y="3254532"/>
            <a:ext cx="566196" cy="0"/>
          </a:xfrm>
          <a:prstGeom prst="line">
            <a:avLst/>
          </a:prstGeom>
          <a:noFill/>
          <a:ln w="26670">
            <a:solidFill>
              <a:srgbClr val="176493"/>
            </a:solidFill>
            <a:prstDash val="solid"/>
            <a:headEnd type="none"/>
            <a:tailEnd type="none"/>
          </a:ln>
        </p:spPr>
      </p:sp>
      <p:sp>
        <p:nvSpPr>
          <p:cNvPr id="25" name="Shape 23"/>
          <p:cNvSpPr/>
          <p:nvPr/>
        </p:nvSpPr>
        <p:spPr>
          <a:xfrm>
            <a:off x="4558650" y="2814157"/>
            <a:ext cx="0" cy="566196"/>
          </a:xfrm>
          <a:prstGeom prst="line">
            <a:avLst/>
          </a:prstGeom>
          <a:noFill/>
          <a:ln w="26670">
            <a:solidFill>
              <a:srgbClr val="176493"/>
            </a:solidFill>
            <a:prstDash val="solid"/>
            <a:headEnd type="none"/>
            <a:tailEnd type="none"/>
          </a:ln>
        </p:spPr>
      </p:sp>
      <p:sp>
        <p:nvSpPr>
          <p:cNvPr id="26" name="Shape 24"/>
          <p:cNvSpPr/>
          <p:nvPr/>
        </p:nvSpPr>
        <p:spPr>
          <a:xfrm>
            <a:off x="4755246" y="2814157"/>
            <a:ext cx="0" cy="566196"/>
          </a:xfrm>
          <a:prstGeom prst="line">
            <a:avLst/>
          </a:prstGeom>
          <a:noFill/>
          <a:ln w="26670">
            <a:solidFill>
              <a:srgbClr val="176493"/>
            </a:solidFill>
            <a:prstDash val="solid"/>
            <a:headEnd type="none"/>
            <a:tailEnd type="none"/>
          </a:ln>
        </p:spPr>
      </p:sp>
      <p:sp>
        <p:nvSpPr>
          <p:cNvPr id="27" name="Text 25"/>
          <p:cNvSpPr/>
          <p:nvPr/>
        </p:nvSpPr>
        <p:spPr>
          <a:xfrm>
            <a:off x="3657600" y="3502152"/>
            <a:ext cx="2194560" cy="722376"/>
          </a:xfrm>
          <a:prstGeom prst="rect">
            <a:avLst/>
          </a:prstGeom>
          <a:noFill/>
          <a:ln/>
        </p:spPr>
        <p:txBody>
          <a:bodyPr wrap="square" lIns="0" tIns="0" rIns="0" bIns="0" rtlCol="0" anchor="ctr"/>
          <a:lstStyle/>
          <a:p>
            <a:pPr algn="ctr" indent="0" marL="0">
              <a:buNone/>
            </a:pPr>
            <a:r>
              <a:rPr lang="en-US" sz="2100" b="1" dirty="0">
                <a:solidFill>
                  <a:srgbClr val="172233"/>
                </a:solidFill>
                <a:latin typeface="Aptos" pitchFamily="34" charset="0"/>
                <a:ea typeface="Aptos" pitchFamily="34" charset="-122"/>
                <a:cs typeface="Aptos" pitchFamily="34" charset="-120"/>
              </a:rPr>
              <a:t>The lifecycle</a:t>
            </a:r>
            <a:endParaRPr lang="en-US" sz="2100" dirty="0"/>
          </a:p>
        </p:txBody>
      </p:sp>
      <p:sp>
        <p:nvSpPr>
          <p:cNvPr id="28" name="Text 26"/>
          <p:cNvSpPr/>
          <p:nvPr/>
        </p:nvSpPr>
        <p:spPr>
          <a:xfrm>
            <a:off x="3675888" y="4416552"/>
            <a:ext cx="2157984" cy="448056"/>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How does data become a product?</a:t>
            </a:r>
            <a:endParaRPr lang="en-US" sz="1600" dirty="0"/>
          </a:p>
        </p:txBody>
      </p:sp>
      <p:sp>
        <p:nvSpPr>
          <p:cNvPr id="29" name="Shape 27"/>
          <p:cNvSpPr/>
          <p:nvPr/>
        </p:nvSpPr>
        <p:spPr>
          <a:xfrm>
            <a:off x="6263640" y="1993392"/>
            <a:ext cx="2560320" cy="3026664"/>
          </a:xfrm>
          <a:prstGeom prst="roundRect">
            <a:avLst>
              <a:gd name="adj" fmla="val 3571"/>
            </a:avLst>
          </a:prstGeom>
          <a:solidFill>
            <a:srgbClr val="FFFFFF"/>
          </a:solidFill>
          <a:ln w="10160">
            <a:solidFill>
              <a:srgbClr val="C4D2E2"/>
            </a:solidFill>
            <a:prstDash val="solid"/>
          </a:ln>
        </p:spPr>
      </p:sp>
      <p:sp>
        <p:nvSpPr>
          <p:cNvPr id="30" name="Text 28"/>
          <p:cNvSpPr/>
          <p:nvPr/>
        </p:nvSpPr>
        <p:spPr>
          <a:xfrm>
            <a:off x="6455664" y="2221992"/>
            <a:ext cx="64008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03</a:t>
            </a:r>
            <a:endParaRPr lang="en-US" sz="1100" dirty="0"/>
          </a:p>
        </p:txBody>
      </p:sp>
      <p:sp>
        <p:nvSpPr>
          <p:cNvPr id="31" name="Shape 29"/>
          <p:cNvSpPr/>
          <p:nvPr/>
        </p:nvSpPr>
        <p:spPr>
          <a:xfrm>
            <a:off x="7150974" y="2774838"/>
            <a:ext cx="0" cy="621243"/>
          </a:xfrm>
          <a:prstGeom prst="line">
            <a:avLst/>
          </a:prstGeom>
          <a:noFill/>
          <a:ln w="26670">
            <a:solidFill>
              <a:srgbClr val="176493"/>
            </a:solidFill>
            <a:prstDash val="solid"/>
            <a:headEnd type="none"/>
            <a:tailEnd type="none"/>
          </a:ln>
        </p:spPr>
      </p:sp>
      <p:sp>
        <p:nvSpPr>
          <p:cNvPr id="32" name="Shape 30"/>
          <p:cNvSpPr/>
          <p:nvPr/>
        </p:nvSpPr>
        <p:spPr>
          <a:xfrm>
            <a:off x="7150974" y="3396082"/>
            <a:ext cx="621243" cy="0"/>
          </a:xfrm>
          <a:prstGeom prst="line">
            <a:avLst/>
          </a:prstGeom>
          <a:noFill/>
          <a:ln w="26670">
            <a:solidFill>
              <a:srgbClr val="176493"/>
            </a:solidFill>
            <a:prstDash val="solid"/>
            <a:headEnd type="none"/>
            <a:tailEnd type="none"/>
          </a:ln>
        </p:spPr>
      </p:sp>
      <p:sp>
        <p:nvSpPr>
          <p:cNvPr id="33" name="Shape 31"/>
          <p:cNvSpPr/>
          <p:nvPr/>
        </p:nvSpPr>
        <p:spPr>
          <a:xfrm flipV="1">
            <a:off x="7229612" y="3065800"/>
            <a:ext cx="149413" cy="157277"/>
          </a:xfrm>
          <a:prstGeom prst="line">
            <a:avLst/>
          </a:prstGeom>
          <a:noFill/>
          <a:ln w="26670">
            <a:solidFill>
              <a:srgbClr val="176493"/>
            </a:solidFill>
            <a:prstDash val="solid"/>
            <a:headEnd type="none"/>
            <a:tailEnd type="none"/>
          </a:ln>
        </p:spPr>
      </p:sp>
      <p:sp>
        <p:nvSpPr>
          <p:cNvPr id="34" name="Shape 32"/>
          <p:cNvSpPr/>
          <p:nvPr/>
        </p:nvSpPr>
        <p:spPr>
          <a:xfrm>
            <a:off x="7379025" y="3065800"/>
            <a:ext cx="157277" cy="102230"/>
          </a:xfrm>
          <a:prstGeom prst="line">
            <a:avLst/>
          </a:prstGeom>
          <a:noFill/>
          <a:ln w="26670">
            <a:solidFill>
              <a:srgbClr val="176493"/>
            </a:solidFill>
            <a:prstDash val="solid"/>
            <a:headEnd type="none"/>
            <a:tailEnd type="none"/>
          </a:ln>
        </p:spPr>
      </p:sp>
      <p:sp>
        <p:nvSpPr>
          <p:cNvPr id="35" name="Shape 33"/>
          <p:cNvSpPr/>
          <p:nvPr/>
        </p:nvSpPr>
        <p:spPr>
          <a:xfrm flipV="1">
            <a:off x="7536302" y="2861340"/>
            <a:ext cx="180868" cy="306690"/>
          </a:xfrm>
          <a:prstGeom prst="line">
            <a:avLst/>
          </a:prstGeom>
          <a:noFill/>
          <a:ln w="26670">
            <a:solidFill>
              <a:srgbClr val="176493"/>
            </a:solidFill>
            <a:prstDash val="solid"/>
            <a:headEnd type="none"/>
            <a:tailEnd type="none"/>
          </a:ln>
        </p:spPr>
      </p:sp>
      <p:sp>
        <p:nvSpPr>
          <p:cNvPr id="36" name="Shape 34"/>
          <p:cNvSpPr/>
          <p:nvPr/>
        </p:nvSpPr>
        <p:spPr>
          <a:xfrm>
            <a:off x="7190293" y="3183758"/>
            <a:ext cx="78638" cy="78638"/>
          </a:xfrm>
          <a:prstGeom prst="ellipse">
            <a:avLst/>
          </a:prstGeom>
          <a:solidFill>
            <a:srgbClr val="E3EFF7"/>
          </a:solidFill>
          <a:ln w="8890">
            <a:solidFill>
              <a:srgbClr val="176493"/>
            </a:solidFill>
            <a:prstDash val="solid"/>
          </a:ln>
        </p:spPr>
      </p:sp>
      <p:sp>
        <p:nvSpPr>
          <p:cNvPr id="37" name="Shape 35"/>
          <p:cNvSpPr/>
          <p:nvPr/>
        </p:nvSpPr>
        <p:spPr>
          <a:xfrm>
            <a:off x="7339706" y="3026481"/>
            <a:ext cx="78638" cy="78638"/>
          </a:xfrm>
          <a:prstGeom prst="ellipse">
            <a:avLst/>
          </a:prstGeom>
          <a:solidFill>
            <a:srgbClr val="E3EFF7"/>
          </a:solidFill>
          <a:ln w="8890">
            <a:solidFill>
              <a:srgbClr val="176493"/>
            </a:solidFill>
            <a:prstDash val="solid"/>
          </a:ln>
        </p:spPr>
      </p:sp>
      <p:sp>
        <p:nvSpPr>
          <p:cNvPr id="38" name="Shape 36"/>
          <p:cNvSpPr/>
          <p:nvPr/>
        </p:nvSpPr>
        <p:spPr>
          <a:xfrm>
            <a:off x="7496983" y="3128711"/>
            <a:ext cx="78638" cy="78638"/>
          </a:xfrm>
          <a:prstGeom prst="ellipse">
            <a:avLst/>
          </a:prstGeom>
          <a:solidFill>
            <a:srgbClr val="E3EFF7"/>
          </a:solidFill>
          <a:ln w="8890">
            <a:solidFill>
              <a:srgbClr val="176493"/>
            </a:solidFill>
            <a:prstDash val="solid"/>
          </a:ln>
        </p:spPr>
      </p:sp>
      <p:sp>
        <p:nvSpPr>
          <p:cNvPr id="39" name="Shape 37"/>
          <p:cNvSpPr/>
          <p:nvPr/>
        </p:nvSpPr>
        <p:spPr>
          <a:xfrm>
            <a:off x="7677851" y="2822021"/>
            <a:ext cx="78638" cy="78638"/>
          </a:xfrm>
          <a:prstGeom prst="ellipse">
            <a:avLst/>
          </a:prstGeom>
          <a:solidFill>
            <a:srgbClr val="E3EFF7"/>
          </a:solidFill>
          <a:ln w="8890">
            <a:solidFill>
              <a:srgbClr val="176493"/>
            </a:solidFill>
            <a:prstDash val="solid"/>
          </a:ln>
        </p:spPr>
      </p:sp>
      <p:sp>
        <p:nvSpPr>
          <p:cNvPr id="40" name="Text 38"/>
          <p:cNvSpPr/>
          <p:nvPr/>
        </p:nvSpPr>
        <p:spPr>
          <a:xfrm>
            <a:off x="6446520" y="3502152"/>
            <a:ext cx="2194560" cy="722376"/>
          </a:xfrm>
          <a:prstGeom prst="rect">
            <a:avLst/>
          </a:prstGeom>
          <a:noFill/>
          <a:ln/>
        </p:spPr>
        <p:txBody>
          <a:bodyPr wrap="square" lIns="0" tIns="0" rIns="0" bIns="0" rtlCol="0" anchor="ctr"/>
          <a:lstStyle/>
          <a:p>
            <a:pPr algn="ctr" indent="0" marL="0">
              <a:buNone/>
            </a:pPr>
            <a:r>
              <a:rPr lang="en-US" sz="2100" b="1" dirty="0">
                <a:solidFill>
                  <a:srgbClr val="172233"/>
                </a:solidFill>
                <a:latin typeface="Aptos" pitchFamily="34" charset="0"/>
                <a:ea typeface="Aptos" pitchFamily="34" charset="-122"/>
                <a:cs typeface="Aptos" pitchFamily="34" charset="-120"/>
              </a:rPr>
              <a:t>Models and errors</a:t>
            </a:r>
            <a:endParaRPr lang="en-US" sz="2100" dirty="0"/>
          </a:p>
        </p:txBody>
      </p:sp>
      <p:sp>
        <p:nvSpPr>
          <p:cNvPr id="41" name="Text 39"/>
          <p:cNvSpPr/>
          <p:nvPr/>
        </p:nvSpPr>
        <p:spPr>
          <a:xfrm>
            <a:off x="6464808" y="4416552"/>
            <a:ext cx="2157984" cy="448056"/>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What is learned, and how is it tested?</a:t>
            </a:r>
            <a:endParaRPr lang="en-US" sz="1600" dirty="0"/>
          </a:p>
        </p:txBody>
      </p:sp>
      <p:sp>
        <p:nvSpPr>
          <p:cNvPr id="42" name="Shape 40"/>
          <p:cNvSpPr/>
          <p:nvPr/>
        </p:nvSpPr>
        <p:spPr>
          <a:xfrm>
            <a:off x="9052560" y="1993392"/>
            <a:ext cx="2560320" cy="3026664"/>
          </a:xfrm>
          <a:prstGeom prst="roundRect">
            <a:avLst>
              <a:gd name="adj" fmla="val 3571"/>
            </a:avLst>
          </a:prstGeom>
          <a:solidFill>
            <a:srgbClr val="FFFFFF"/>
          </a:solidFill>
          <a:ln w="10160">
            <a:solidFill>
              <a:srgbClr val="C4D2E2"/>
            </a:solidFill>
            <a:prstDash val="solid"/>
          </a:ln>
        </p:spPr>
      </p:sp>
      <p:sp>
        <p:nvSpPr>
          <p:cNvPr id="43" name="Text 41"/>
          <p:cNvSpPr/>
          <p:nvPr/>
        </p:nvSpPr>
        <p:spPr>
          <a:xfrm>
            <a:off x="9244584" y="2221992"/>
            <a:ext cx="64008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04</a:t>
            </a:r>
            <a:endParaRPr lang="en-US" sz="1100" dirty="0"/>
          </a:p>
        </p:txBody>
      </p:sp>
      <p:sp>
        <p:nvSpPr>
          <p:cNvPr id="44" name="Shape 42"/>
          <p:cNvSpPr/>
          <p:nvPr/>
        </p:nvSpPr>
        <p:spPr>
          <a:xfrm>
            <a:off x="9963485" y="2766974"/>
            <a:ext cx="534741" cy="629107"/>
          </a:xfrm>
          <a:prstGeom prst="rect">
            <a:avLst>
              <a:gd name="adj" fmla="val 17100"/>
            </a:avLst>
          </a:prstGeom>
          <a:solidFill>
            <a:srgbClr val="FFFFFF"/>
          </a:solidFill>
          <a:ln w="10160">
            <a:solidFill>
              <a:srgbClr val="176493"/>
            </a:solidFill>
            <a:prstDash val="solid"/>
          </a:ln>
        </p:spPr>
      </p:sp>
      <p:sp>
        <p:nvSpPr>
          <p:cNvPr id="45" name="Shape 43"/>
          <p:cNvSpPr/>
          <p:nvPr/>
        </p:nvSpPr>
        <p:spPr>
          <a:xfrm>
            <a:off x="10057851" y="2971434"/>
            <a:ext cx="102230" cy="102230"/>
          </a:xfrm>
          <a:prstGeom prst="line">
            <a:avLst/>
          </a:prstGeom>
          <a:noFill/>
          <a:ln w="31750">
            <a:solidFill>
              <a:srgbClr val="176493"/>
            </a:solidFill>
            <a:prstDash val="solid"/>
            <a:headEnd type="none"/>
            <a:tailEnd type="none"/>
          </a:ln>
        </p:spPr>
      </p:sp>
      <p:sp>
        <p:nvSpPr>
          <p:cNvPr id="46" name="Shape 44"/>
          <p:cNvSpPr/>
          <p:nvPr/>
        </p:nvSpPr>
        <p:spPr>
          <a:xfrm flipV="1">
            <a:off x="10160081" y="2869204"/>
            <a:ext cx="212324" cy="204460"/>
          </a:xfrm>
          <a:prstGeom prst="line">
            <a:avLst/>
          </a:prstGeom>
          <a:noFill/>
          <a:ln w="31750">
            <a:solidFill>
              <a:srgbClr val="176493"/>
            </a:solidFill>
            <a:prstDash val="solid"/>
            <a:headEnd type="none"/>
            <a:tailEnd type="none"/>
          </a:ln>
        </p:spPr>
      </p:sp>
      <p:sp>
        <p:nvSpPr>
          <p:cNvPr id="47" name="Shape 45"/>
          <p:cNvSpPr/>
          <p:nvPr/>
        </p:nvSpPr>
        <p:spPr>
          <a:xfrm>
            <a:off x="10065715" y="3223077"/>
            <a:ext cx="314554" cy="0"/>
          </a:xfrm>
          <a:prstGeom prst="line">
            <a:avLst/>
          </a:prstGeom>
          <a:noFill/>
          <a:ln w="19050">
            <a:solidFill>
              <a:srgbClr val="176493"/>
            </a:solidFill>
            <a:prstDash val="solid"/>
            <a:headEnd type="none"/>
            <a:tailEnd type="none"/>
          </a:ln>
        </p:spPr>
      </p:sp>
      <p:sp>
        <p:nvSpPr>
          <p:cNvPr id="48" name="Shape 46"/>
          <p:cNvSpPr/>
          <p:nvPr/>
        </p:nvSpPr>
        <p:spPr>
          <a:xfrm>
            <a:off x="10065715" y="3301716"/>
            <a:ext cx="251643" cy="0"/>
          </a:xfrm>
          <a:prstGeom prst="line">
            <a:avLst/>
          </a:prstGeom>
          <a:noFill/>
          <a:ln w="19050">
            <a:solidFill>
              <a:srgbClr val="176493"/>
            </a:solidFill>
            <a:prstDash val="solid"/>
            <a:headEnd type="none"/>
            <a:tailEnd type="none"/>
          </a:ln>
        </p:spPr>
      </p:sp>
      <p:sp>
        <p:nvSpPr>
          <p:cNvPr id="49" name="Text 47"/>
          <p:cNvSpPr/>
          <p:nvPr/>
        </p:nvSpPr>
        <p:spPr>
          <a:xfrm>
            <a:off x="9235440" y="3502152"/>
            <a:ext cx="2194560" cy="722376"/>
          </a:xfrm>
          <a:prstGeom prst="rect">
            <a:avLst/>
          </a:prstGeom>
          <a:noFill/>
          <a:ln/>
        </p:spPr>
        <p:txBody>
          <a:bodyPr wrap="square" lIns="0" tIns="0" rIns="0" bIns="0" rtlCol="0" anchor="ctr"/>
          <a:lstStyle/>
          <a:p>
            <a:pPr algn="ctr" indent="0" marL="0">
              <a:buNone/>
            </a:pPr>
            <a:r>
              <a:rPr lang="en-US" sz="2100" b="1" dirty="0">
                <a:solidFill>
                  <a:srgbClr val="172233"/>
                </a:solidFill>
                <a:latin typeface="Aptos" pitchFamily="34" charset="0"/>
                <a:ea typeface="Aptos" pitchFamily="34" charset="-122"/>
                <a:cs typeface="Aptos" pitchFamily="34" charset="-120"/>
              </a:rPr>
              <a:t>Project expectations</a:t>
            </a:r>
            <a:endParaRPr lang="en-US" sz="2100" dirty="0"/>
          </a:p>
        </p:txBody>
      </p:sp>
      <p:sp>
        <p:nvSpPr>
          <p:cNvPr id="50" name="Text 48"/>
          <p:cNvSpPr/>
          <p:nvPr/>
        </p:nvSpPr>
        <p:spPr>
          <a:xfrm>
            <a:off x="9253728" y="4416552"/>
            <a:ext cx="2157984" cy="448056"/>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What must a complete project show?</a:t>
            </a:r>
            <a:endParaRPr lang="en-US" sz="1600" dirty="0"/>
          </a:p>
        </p:txBody>
      </p:sp>
      <p:sp>
        <p:nvSpPr>
          <p:cNvPr id="51" name="Shape 49"/>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52" name="Text 50"/>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Define the problem. Explain the error. Choose the next step.</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FOUNDATIONS</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Choose the tool after the problem</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03 / 24</a:t>
            </a:r>
            <a:endParaRPr lang="en-US" sz="1000" dirty="0"/>
          </a:p>
        </p:txBody>
      </p:sp>
      <p:sp>
        <p:nvSpPr>
          <p:cNvPr id="10" name="Shape 8"/>
          <p:cNvSpPr/>
          <p:nvPr/>
        </p:nvSpPr>
        <p:spPr>
          <a:xfrm>
            <a:off x="685800" y="1847088"/>
            <a:ext cx="2779776" cy="3319272"/>
          </a:xfrm>
          <a:prstGeom prst="roundRect">
            <a:avLst>
              <a:gd name="adj" fmla="val 3289"/>
            </a:avLst>
          </a:prstGeom>
          <a:solidFill>
            <a:srgbClr val="FFFFFF"/>
          </a:solidFill>
          <a:ln w="10160">
            <a:solidFill>
              <a:srgbClr val="C4D2E2"/>
            </a:solidFill>
            <a:prstDash val="solid"/>
          </a:ln>
        </p:spPr>
      </p:sp>
      <p:sp>
        <p:nvSpPr>
          <p:cNvPr id="11" name="Shape 9"/>
          <p:cNvSpPr/>
          <p:nvPr/>
        </p:nvSpPr>
        <p:spPr>
          <a:xfrm>
            <a:off x="1641897" y="2217969"/>
            <a:ext cx="849295" cy="849295"/>
          </a:xfrm>
          <a:prstGeom prst="ellipse">
            <a:avLst/>
          </a:prstGeom>
          <a:solidFill>
            <a:srgbClr val="FFFFFF"/>
          </a:solidFill>
          <a:ln w="8890">
            <a:solidFill>
              <a:srgbClr val="176493"/>
            </a:solidFill>
            <a:prstDash val="solid"/>
          </a:ln>
        </p:spPr>
      </p:sp>
      <p:sp>
        <p:nvSpPr>
          <p:cNvPr id="12" name="Shape 10"/>
          <p:cNvSpPr/>
          <p:nvPr/>
        </p:nvSpPr>
        <p:spPr>
          <a:xfrm>
            <a:off x="1809780" y="2385852"/>
            <a:ext cx="513527" cy="513527"/>
          </a:xfrm>
          <a:prstGeom prst="ellipse">
            <a:avLst/>
          </a:prstGeom>
          <a:solidFill>
            <a:srgbClr val="FFFFFF"/>
          </a:solidFill>
          <a:ln w="8890">
            <a:solidFill>
              <a:srgbClr val="176493"/>
            </a:solidFill>
            <a:prstDash val="solid"/>
          </a:ln>
        </p:spPr>
      </p:sp>
      <p:sp>
        <p:nvSpPr>
          <p:cNvPr id="13" name="Shape 11"/>
          <p:cNvSpPr/>
          <p:nvPr/>
        </p:nvSpPr>
        <p:spPr>
          <a:xfrm>
            <a:off x="1977664" y="2553736"/>
            <a:ext cx="177759" cy="177759"/>
          </a:xfrm>
          <a:prstGeom prst="ellipse">
            <a:avLst/>
          </a:prstGeom>
          <a:solidFill>
            <a:srgbClr val="E3EFF7"/>
          </a:solidFill>
          <a:ln w="8890">
            <a:solidFill>
              <a:srgbClr val="176493"/>
            </a:solidFill>
            <a:prstDash val="solid"/>
          </a:ln>
        </p:spPr>
      </p:sp>
      <p:sp>
        <p:nvSpPr>
          <p:cNvPr id="14" name="Shape 12"/>
          <p:cNvSpPr/>
          <p:nvPr/>
        </p:nvSpPr>
        <p:spPr>
          <a:xfrm flipV="1">
            <a:off x="2115922" y="2267346"/>
            <a:ext cx="335768" cy="345643"/>
          </a:xfrm>
          <a:prstGeom prst="line">
            <a:avLst/>
          </a:prstGeom>
          <a:noFill/>
          <a:ln w="31750">
            <a:solidFill>
              <a:srgbClr val="176493"/>
            </a:solidFill>
            <a:prstDash val="solid"/>
            <a:headEnd type="none"/>
            <a:tailEnd type="none"/>
          </a:ln>
        </p:spPr>
      </p:sp>
      <p:sp>
        <p:nvSpPr>
          <p:cNvPr id="15" name="Text 13"/>
          <p:cNvSpPr/>
          <p:nvPr/>
        </p:nvSpPr>
        <p:spPr>
          <a:xfrm>
            <a:off x="914400" y="3502152"/>
            <a:ext cx="2322576" cy="914400"/>
          </a:xfrm>
          <a:prstGeom prst="rect">
            <a:avLst/>
          </a:prstGeom>
          <a:noFill/>
          <a:ln/>
        </p:spPr>
        <p:txBody>
          <a:bodyPr wrap="square" lIns="0" tIns="0" rIns="0" bIns="0" rtlCol="0" anchor="ctr"/>
          <a:lstStyle/>
          <a:p>
            <a:pPr algn="ctr" indent="0" marL="0">
              <a:buNone/>
            </a:pPr>
            <a:r>
              <a:rPr lang="en-US" sz="2500" b="1" dirty="0">
                <a:solidFill>
                  <a:srgbClr val="172233"/>
                </a:solidFill>
                <a:latin typeface="Aptos" pitchFamily="34" charset="0"/>
                <a:ea typeface="Aptos" pitchFamily="34" charset="-122"/>
                <a:cs typeface="Aptos" pitchFamily="34" charset="-120"/>
              </a:rPr>
              <a:t>What must</a:t>
            </a:r>
            <a:endParaRPr lang="en-US" sz="2500" dirty="0"/>
          </a:p>
          <a:p>
            <a:pPr algn="ctr" indent="0" marL="0">
              <a:buNone/>
            </a:pPr>
            <a:r>
              <a:rPr lang="en-US" sz="2500" b="1" dirty="0">
                <a:solidFill>
                  <a:srgbClr val="172233"/>
                </a:solidFill>
                <a:latin typeface="Aptos" pitchFamily="34" charset="0"/>
                <a:ea typeface="Aptos" pitchFamily="34" charset="-122"/>
                <a:cs typeface="Aptos" pitchFamily="34" charset="-120"/>
              </a:rPr>
              <a:t>the system predict?</a:t>
            </a:r>
            <a:endParaRPr lang="en-US" sz="2500" dirty="0"/>
          </a:p>
        </p:txBody>
      </p:sp>
      <p:sp>
        <p:nvSpPr>
          <p:cNvPr id="16" name="Shape 14"/>
          <p:cNvSpPr/>
          <p:nvPr/>
        </p:nvSpPr>
        <p:spPr>
          <a:xfrm>
            <a:off x="4087368" y="1847088"/>
            <a:ext cx="3191256" cy="950976"/>
          </a:xfrm>
          <a:prstGeom prst="roundRect">
            <a:avLst>
              <a:gd name="adj" fmla="val 9615"/>
            </a:avLst>
          </a:prstGeom>
          <a:solidFill>
            <a:srgbClr val="FFFFFF"/>
          </a:solidFill>
          <a:ln w="10160">
            <a:solidFill>
              <a:srgbClr val="C4D2E2"/>
            </a:solidFill>
            <a:prstDash val="solid"/>
          </a:ln>
        </p:spPr>
      </p:sp>
      <p:sp>
        <p:nvSpPr>
          <p:cNvPr id="17" name="Text 15"/>
          <p:cNvSpPr/>
          <p:nvPr/>
        </p:nvSpPr>
        <p:spPr>
          <a:xfrm>
            <a:off x="4297680" y="1965960"/>
            <a:ext cx="2688336" cy="265176"/>
          </a:xfrm>
          <a:prstGeom prst="rect">
            <a:avLst/>
          </a:prstGeom>
          <a:noFill/>
          <a:ln/>
        </p:spPr>
        <p:txBody>
          <a:bodyPr wrap="square" lIns="0" tIns="0" rIns="0" bIns="0" rtlCol="0" anchor="ctr"/>
          <a:lstStyle/>
          <a:p>
            <a:pPr indent="0" marL="0">
              <a:buNone/>
            </a:pPr>
            <a:r>
              <a:rPr lang="en-US" sz="2100" b="1" dirty="0">
                <a:solidFill>
                  <a:srgbClr val="176493"/>
                </a:solidFill>
                <a:latin typeface="Aptos" pitchFamily="34" charset="0"/>
                <a:ea typeface="Aptos" pitchFamily="34" charset="-122"/>
                <a:cs typeface="Aptos" pitchFamily="34" charset="-120"/>
              </a:rPr>
              <a:t>Data</a:t>
            </a:r>
            <a:endParaRPr lang="en-US" sz="2100" dirty="0"/>
          </a:p>
        </p:txBody>
      </p:sp>
      <p:sp>
        <p:nvSpPr>
          <p:cNvPr id="18" name="Text 16"/>
          <p:cNvSpPr/>
          <p:nvPr/>
        </p:nvSpPr>
        <p:spPr>
          <a:xfrm>
            <a:off x="4297680" y="2386584"/>
            <a:ext cx="2688336" cy="265176"/>
          </a:xfrm>
          <a:prstGeom prst="rect">
            <a:avLst/>
          </a:prstGeom>
          <a:noFill/>
          <a:ln/>
        </p:spPr>
        <p:txBody>
          <a:bodyPr wrap="square" lIns="0" tIns="0" rIns="0" bIns="0" rtlCol="0" anchor="ctr"/>
          <a:lstStyle/>
          <a:p>
            <a:pPr indent="0" marL="0">
              <a:buNone/>
            </a:pPr>
            <a:r>
              <a:rPr lang="en-US" sz="1700" dirty="0">
                <a:solidFill>
                  <a:srgbClr val="53657A"/>
                </a:solidFill>
                <a:latin typeface="Aptos" pitchFamily="34" charset="0"/>
                <a:ea typeface="Aptos" pitchFamily="34" charset="-122"/>
                <a:cs typeface="Aptos" pitchFamily="34" charset="-120"/>
              </a:rPr>
              <a:t>What can be observed?</a:t>
            </a:r>
            <a:endParaRPr lang="en-US" sz="1700" dirty="0"/>
          </a:p>
        </p:txBody>
      </p:sp>
      <p:sp>
        <p:nvSpPr>
          <p:cNvPr id="19" name="Shape 17"/>
          <p:cNvSpPr/>
          <p:nvPr/>
        </p:nvSpPr>
        <p:spPr>
          <a:xfrm>
            <a:off x="4087368" y="3026664"/>
            <a:ext cx="3191256" cy="950976"/>
          </a:xfrm>
          <a:prstGeom prst="roundRect">
            <a:avLst>
              <a:gd name="adj" fmla="val 9615"/>
            </a:avLst>
          </a:prstGeom>
          <a:solidFill>
            <a:srgbClr val="FFFFFF"/>
          </a:solidFill>
          <a:ln w="10160">
            <a:solidFill>
              <a:srgbClr val="C4D2E2"/>
            </a:solidFill>
            <a:prstDash val="solid"/>
          </a:ln>
        </p:spPr>
      </p:sp>
      <p:sp>
        <p:nvSpPr>
          <p:cNvPr id="20" name="Text 18"/>
          <p:cNvSpPr/>
          <p:nvPr/>
        </p:nvSpPr>
        <p:spPr>
          <a:xfrm>
            <a:off x="4297680" y="3145536"/>
            <a:ext cx="2688336" cy="265176"/>
          </a:xfrm>
          <a:prstGeom prst="rect">
            <a:avLst/>
          </a:prstGeom>
          <a:noFill/>
          <a:ln/>
        </p:spPr>
        <p:txBody>
          <a:bodyPr wrap="square" lIns="0" tIns="0" rIns="0" bIns="0" rtlCol="0" anchor="ctr"/>
          <a:lstStyle/>
          <a:p>
            <a:pPr indent="0" marL="0">
              <a:buNone/>
            </a:pPr>
            <a:r>
              <a:rPr lang="en-US" sz="2100" b="1" dirty="0">
                <a:solidFill>
                  <a:srgbClr val="176493"/>
                </a:solidFill>
                <a:latin typeface="Aptos" pitchFamily="34" charset="0"/>
                <a:ea typeface="Aptos" pitchFamily="34" charset="-122"/>
                <a:cs typeface="Aptos" pitchFamily="34" charset="-120"/>
              </a:rPr>
              <a:t>Loss</a:t>
            </a:r>
            <a:endParaRPr lang="en-US" sz="2100" dirty="0"/>
          </a:p>
        </p:txBody>
      </p:sp>
      <p:sp>
        <p:nvSpPr>
          <p:cNvPr id="21" name="Text 19"/>
          <p:cNvSpPr/>
          <p:nvPr/>
        </p:nvSpPr>
        <p:spPr>
          <a:xfrm>
            <a:off x="4297680" y="3566160"/>
            <a:ext cx="2688336" cy="265176"/>
          </a:xfrm>
          <a:prstGeom prst="rect">
            <a:avLst/>
          </a:prstGeom>
          <a:noFill/>
          <a:ln/>
        </p:spPr>
        <p:txBody>
          <a:bodyPr wrap="square" lIns="0" tIns="0" rIns="0" bIns="0" rtlCol="0" anchor="ctr"/>
          <a:lstStyle/>
          <a:p>
            <a:pPr indent="0" marL="0">
              <a:buNone/>
            </a:pPr>
            <a:r>
              <a:rPr lang="en-US" sz="1700" dirty="0">
                <a:solidFill>
                  <a:srgbClr val="53657A"/>
                </a:solidFill>
                <a:latin typeface="Aptos" pitchFamily="34" charset="0"/>
                <a:ea typeface="Aptos" pitchFamily="34" charset="-122"/>
                <a:cs typeface="Aptos" pitchFamily="34" charset="-120"/>
              </a:rPr>
              <a:t>What counts as an error?</a:t>
            </a:r>
            <a:endParaRPr lang="en-US" sz="1700" dirty="0"/>
          </a:p>
        </p:txBody>
      </p:sp>
      <p:sp>
        <p:nvSpPr>
          <p:cNvPr id="22" name="Shape 20"/>
          <p:cNvSpPr/>
          <p:nvPr/>
        </p:nvSpPr>
        <p:spPr>
          <a:xfrm>
            <a:off x="4087368" y="4206240"/>
            <a:ext cx="3191256" cy="950976"/>
          </a:xfrm>
          <a:prstGeom prst="roundRect">
            <a:avLst>
              <a:gd name="adj" fmla="val 9615"/>
            </a:avLst>
          </a:prstGeom>
          <a:solidFill>
            <a:srgbClr val="FFFFFF"/>
          </a:solidFill>
          <a:ln w="10160">
            <a:solidFill>
              <a:srgbClr val="C4D2E2"/>
            </a:solidFill>
            <a:prstDash val="solid"/>
          </a:ln>
        </p:spPr>
      </p:sp>
      <p:sp>
        <p:nvSpPr>
          <p:cNvPr id="23" name="Text 21"/>
          <p:cNvSpPr/>
          <p:nvPr/>
        </p:nvSpPr>
        <p:spPr>
          <a:xfrm>
            <a:off x="4297680" y="4325112"/>
            <a:ext cx="2688336" cy="265176"/>
          </a:xfrm>
          <a:prstGeom prst="rect">
            <a:avLst/>
          </a:prstGeom>
          <a:noFill/>
          <a:ln/>
        </p:spPr>
        <p:txBody>
          <a:bodyPr wrap="square" lIns="0" tIns="0" rIns="0" bIns="0" rtlCol="0" anchor="ctr"/>
          <a:lstStyle/>
          <a:p>
            <a:pPr indent="0" marL="0">
              <a:buNone/>
            </a:pPr>
            <a:r>
              <a:rPr lang="en-US" sz="2100" b="1" dirty="0">
                <a:solidFill>
                  <a:srgbClr val="176493"/>
                </a:solidFill>
                <a:latin typeface="Aptos" pitchFamily="34" charset="0"/>
                <a:ea typeface="Aptos" pitchFamily="34" charset="-122"/>
                <a:cs typeface="Aptos" pitchFamily="34" charset="-120"/>
              </a:rPr>
              <a:t>Evaluation</a:t>
            </a:r>
            <a:endParaRPr lang="en-US" sz="2100" dirty="0"/>
          </a:p>
        </p:txBody>
      </p:sp>
      <p:sp>
        <p:nvSpPr>
          <p:cNvPr id="24" name="Text 22"/>
          <p:cNvSpPr/>
          <p:nvPr/>
        </p:nvSpPr>
        <p:spPr>
          <a:xfrm>
            <a:off x="4297680" y="4745736"/>
            <a:ext cx="2688336" cy="265176"/>
          </a:xfrm>
          <a:prstGeom prst="rect">
            <a:avLst/>
          </a:prstGeom>
          <a:noFill/>
          <a:ln/>
        </p:spPr>
        <p:txBody>
          <a:bodyPr wrap="square" lIns="0" tIns="0" rIns="0" bIns="0" rtlCol="0" anchor="ctr"/>
          <a:lstStyle/>
          <a:p>
            <a:pPr indent="0" marL="0">
              <a:buNone/>
            </a:pPr>
            <a:r>
              <a:rPr lang="en-US" sz="1700" dirty="0">
                <a:solidFill>
                  <a:srgbClr val="53657A"/>
                </a:solidFill>
                <a:latin typeface="Aptos" pitchFamily="34" charset="0"/>
                <a:ea typeface="Aptos" pitchFamily="34" charset="-122"/>
                <a:cs typeface="Aptos" pitchFamily="34" charset="-120"/>
              </a:rPr>
              <a:t>What would justify use?</a:t>
            </a:r>
            <a:endParaRPr lang="en-US" sz="1700" dirty="0"/>
          </a:p>
        </p:txBody>
      </p:sp>
      <p:sp>
        <p:nvSpPr>
          <p:cNvPr id="25" name="Shape 23"/>
          <p:cNvSpPr/>
          <p:nvPr/>
        </p:nvSpPr>
        <p:spPr>
          <a:xfrm>
            <a:off x="3547872" y="3502152"/>
            <a:ext cx="429768" cy="0"/>
          </a:xfrm>
          <a:prstGeom prst="line">
            <a:avLst/>
          </a:prstGeom>
          <a:noFill/>
          <a:ln w="25400">
            <a:solidFill>
              <a:srgbClr val="2684BF"/>
            </a:solidFill>
            <a:prstDash val="solid"/>
            <a:headEnd type="none"/>
            <a:tailEnd type="triangle"/>
          </a:ln>
        </p:spPr>
      </p:sp>
      <p:sp>
        <p:nvSpPr>
          <p:cNvPr id="26" name="Shape 24"/>
          <p:cNvSpPr/>
          <p:nvPr/>
        </p:nvSpPr>
        <p:spPr>
          <a:xfrm>
            <a:off x="7946136" y="1847088"/>
            <a:ext cx="3502152" cy="3319272"/>
          </a:xfrm>
          <a:prstGeom prst="roundRect">
            <a:avLst>
              <a:gd name="adj" fmla="val 2755"/>
            </a:avLst>
          </a:prstGeom>
          <a:solidFill>
            <a:srgbClr val="FFFFFF"/>
          </a:solidFill>
          <a:ln w="10160">
            <a:solidFill>
              <a:srgbClr val="C4D2E2"/>
            </a:solidFill>
            <a:prstDash val="solid"/>
          </a:ln>
        </p:spPr>
      </p:sp>
      <p:sp>
        <p:nvSpPr>
          <p:cNvPr id="27" name="Text 25"/>
          <p:cNvSpPr/>
          <p:nvPr/>
        </p:nvSpPr>
        <p:spPr>
          <a:xfrm>
            <a:off x="8211312" y="2157984"/>
            <a:ext cx="274320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THEN COMPARE</a:t>
            </a:r>
            <a:endParaRPr lang="en-US" sz="1100" dirty="0"/>
          </a:p>
        </p:txBody>
      </p:sp>
      <p:sp>
        <p:nvSpPr>
          <p:cNvPr id="28" name="Text 26"/>
          <p:cNvSpPr/>
          <p:nvPr/>
        </p:nvSpPr>
        <p:spPr>
          <a:xfrm>
            <a:off x="8220456" y="2779776"/>
            <a:ext cx="2907792" cy="1655064"/>
          </a:xfrm>
          <a:prstGeom prst="rect">
            <a:avLst/>
          </a:prstGeom>
          <a:noFill/>
          <a:ln/>
        </p:spPr>
        <p:txBody>
          <a:bodyPr wrap="square" lIns="0" tIns="0" rIns="0" bIns="0" rtlCol="0" anchor="ctr"/>
          <a:lstStyle/>
          <a:p>
            <a:pPr indent="0" marL="0">
              <a:buNone/>
            </a:pPr>
            <a:r>
              <a:rPr lang="en-US" sz="2500" dirty="0">
                <a:solidFill>
                  <a:srgbClr val="172233"/>
                </a:solidFill>
                <a:latin typeface="Aptos" pitchFamily="34" charset="0"/>
                <a:ea typeface="Aptos" pitchFamily="34" charset="-122"/>
                <a:cs typeface="Aptos" pitchFamily="34" charset="-120"/>
              </a:rPr>
              <a:t>Simple rule</a:t>
            </a:r>
            <a:endParaRPr lang="en-US" sz="2500" dirty="0"/>
          </a:p>
          <a:p>
            <a:pPr indent="0" marL="0">
              <a:buNone/>
            </a:pPr>
            <a:r>
              <a:rPr lang="en-US" sz="2500" dirty="0">
                <a:solidFill>
                  <a:srgbClr val="172233"/>
                </a:solidFill>
                <a:latin typeface="Aptos" pitchFamily="34" charset="0"/>
                <a:ea typeface="Aptos" pitchFamily="34" charset="-122"/>
                <a:cs typeface="Aptos" pitchFamily="34" charset="-120"/>
              </a:rPr>
              <a:t>Linear or tree</a:t>
            </a:r>
            <a:endParaRPr lang="en-US" sz="2500" dirty="0"/>
          </a:p>
          <a:p>
            <a:pPr indent="0" marL="0">
              <a:buNone/>
            </a:pPr>
            <a:r>
              <a:rPr lang="en-US" sz="2500" dirty="0">
                <a:solidFill>
                  <a:srgbClr val="172233"/>
                </a:solidFill>
                <a:latin typeface="Aptos" pitchFamily="34" charset="0"/>
                <a:ea typeface="Aptos" pitchFamily="34" charset="-122"/>
                <a:cs typeface="Aptos" pitchFamily="34" charset="-120"/>
              </a:rPr>
              <a:t>Neural network</a:t>
            </a:r>
            <a:endParaRPr lang="en-US" sz="2500" dirty="0"/>
          </a:p>
        </p:txBody>
      </p:sp>
      <p:sp>
        <p:nvSpPr>
          <p:cNvPr id="29" name="Shape 27"/>
          <p:cNvSpPr/>
          <p:nvPr/>
        </p:nvSpPr>
        <p:spPr>
          <a:xfrm>
            <a:off x="7379208" y="3502152"/>
            <a:ext cx="457200" cy="0"/>
          </a:xfrm>
          <a:prstGeom prst="line">
            <a:avLst/>
          </a:prstGeom>
          <a:noFill/>
          <a:ln w="25400">
            <a:solidFill>
              <a:srgbClr val="2684BF"/>
            </a:solidFill>
            <a:prstDash val="solid"/>
            <a:headEnd type="none"/>
            <a:tailEnd type="triangle"/>
          </a:ln>
        </p:spPr>
      </p:sp>
      <p:sp>
        <p:nvSpPr>
          <p:cNvPr id="30" name="Shape 28"/>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31" name="Text 29"/>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Deep learning is part of Data Science, not a replacement for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THE DATA SCIENTIST ROLE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Turn observations into decisions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04 / 24</a:t>
            </a:r>
            <a:endParaRPr lang="en-US" sz="1000" dirty="0"/>
          </a:p>
        </p:txBody>
      </p:sp>
      <p:sp>
        <p:nvSpPr>
          <p:cNvPr id="10" name="Shape 8"/>
          <p:cNvSpPr/>
          <p:nvPr/>
        </p:nvSpPr>
        <p:spPr>
          <a:xfrm>
            <a:off x="713232" y="1947672"/>
            <a:ext cx="3529584" cy="3401568"/>
          </a:xfrm>
          <a:prstGeom prst="roundRect">
            <a:avLst>
              <a:gd name="adj" fmla="val 2688"/>
            </a:avLst>
          </a:prstGeom>
          <a:solidFill>
            <a:srgbClr val="FFFFFF"/>
          </a:solidFill>
          <a:ln w="10160">
            <a:solidFill>
              <a:srgbClr val="C4D2E2"/>
            </a:solidFill>
            <a:prstDash val="solid"/>
          </a:ln>
        </p:spPr>
      </p:sp>
      <p:sp>
        <p:nvSpPr>
          <p:cNvPr id="11" name="Shape 9"/>
          <p:cNvSpPr/>
          <p:nvPr/>
        </p:nvSpPr>
        <p:spPr>
          <a:xfrm>
            <a:off x="2049536" y="2351288"/>
            <a:ext cx="802112" cy="802112"/>
          </a:xfrm>
          <a:prstGeom prst="ellipse">
            <a:avLst/>
          </a:prstGeom>
          <a:solidFill>
            <a:srgbClr val="FFFFFF"/>
          </a:solidFill>
          <a:ln w="8890">
            <a:solidFill>
              <a:srgbClr val="176493"/>
            </a:solidFill>
            <a:prstDash val="solid"/>
          </a:ln>
        </p:spPr>
      </p:sp>
      <p:sp>
        <p:nvSpPr>
          <p:cNvPr id="12" name="Shape 10"/>
          <p:cNvSpPr/>
          <p:nvPr/>
        </p:nvSpPr>
        <p:spPr>
          <a:xfrm>
            <a:off x="2208093" y="2509845"/>
            <a:ext cx="484998" cy="484998"/>
          </a:xfrm>
          <a:prstGeom prst="ellipse">
            <a:avLst/>
          </a:prstGeom>
          <a:solidFill>
            <a:srgbClr val="FFFFFF"/>
          </a:solidFill>
          <a:ln w="8890">
            <a:solidFill>
              <a:srgbClr val="176493"/>
            </a:solidFill>
            <a:prstDash val="solid"/>
          </a:ln>
        </p:spPr>
      </p:sp>
      <p:sp>
        <p:nvSpPr>
          <p:cNvPr id="13" name="Shape 11"/>
          <p:cNvSpPr/>
          <p:nvPr/>
        </p:nvSpPr>
        <p:spPr>
          <a:xfrm>
            <a:off x="2366650" y="2668402"/>
            <a:ext cx="167884" cy="167884"/>
          </a:xfrm>
          <a:prstGeom prst="ellipse">
            <a:avLst/>
          </a:prstGeom>
          <a:solidFill>
            <a:srgbClr val="E3EFF7"/>
          </a:solidFill>
          <a:ln w="8890">
            <a:solidFill>
              <a:srgbClr val="176493"/>
            </a:solidFill>
            <a:prstDash val="solid"/>
          </a:ln>
        </p:spPr>
      </p:sp>
      <p:sp>
        <p:nvSpPr>
          <p:cNvPr id="14" name="Shape 12"/>
          <p:cNvSpPr/>
          <p:nvPr/>
        </p:nvSpPr>
        <p:spPr>
          <a:xfrm flipV="1">
            <a:off x="2497226" y="2397923"/>
            <a:ext cx="317114" cy="326441"/>
          </a:xfrm>
          <a:prstGeom prst="line">
            <a:avLst/>
          </a:prstGeom>
          <a:noFill/>
          <a:ln w="31750">
            <a:solidFill>
              <a:srgbClr val="176493"/>
            </a:solidFill>
            <a:prstDash val="solid"/>
            <a:headEnd type="none"/>
            <a:tailEnd type="none"/>
          </a:ln>
        </p:spPr>
      </p:sp>
      <p:sp>
        <p:nvSpPr>
          <p:cNvPr id="15" name="Text 13"/>
          <p:cNvSpPr/>
          <p:nvPr/>
        </p:nvSpPr>
        <p:spPr>
          <a:xfrm>
            <a:off x="960120" y="3520440"/>
            <a:ext cx="3035808" cy="438912"/>
          </a:xfrm>
          <a:prstGeom prst="rect">
            <a:avLst/>
          </a:prstGeom>
          <a:noFill/>
          <a:ln/>
        </p:spPr>
        <p:txBody>
          <a:bodyPr wrap="square" lIns="0" tIns="0" rIns="0" bIns="0" rtlCol="0" anchor="ctr"/>
          <a:lstStyle/>
          <a:p>
            <a:pPr algn="ctr" indent="0" marL="0">
              <a:buNone/>
            </a:pPr>
            <a:r>
              <a:rPr lang="en-US" sz="2700" b="1" dirty="0">
                <a:solidFill>
                  <a:srgbClr val="172233"/>
                </a:solidFill>
                <a:latin typeface="Aptos" pitchFamily="34" charset="0"/>
                <a:ea typeface="Aptos" pitchFamily="34" charset="-122"/>
                <a:cs typeface="Aptos" pitchFamily="34" charset="-120"/>
              </a:rPr>
              <a:t>Frame</a:t>
            </a:r>
            <a:endParaRPr lang="en-US" sz="2700" dirty="0"/>
          </a:p>
        </p:txBody>
      </p:sp>
      <p:sp>
        <p:nvSpPr>
          <p:cNvPr id="16" name="Text 14"/>
          <p:cNvSpPr/>
          <p:nvPr/>
        </p:nvSpPr>
        <p:spPr>
          <a:xfrm>
            <a:off x="941832" y="4215384"/>
            <a:ext cx="3072384" cy="758952"/>
          </a:xfrm>
          <a:prstGeom prst="rect">
            <a:avLst/>
          </a:prstGeom>
          <a:noFill/>
          <a:ln/>
        </p:spPr>
        <p:txBody>
          <a:bodyPr wrap="square" lIns="0" tIns="0" rIns="0" bIns="0" rtlCol="0" anchor="ctr"/>
          <a:lstStyle/>
          <a:p>
            <a:pPr algn="ctr" indent="0" marL="0">
              <a:buNone/>
            </a:pPr>
            <a:r>
              <a:rPr lang="en-US" sz="2100" dirty="0">
                <a:solidFill>
                  <a:srgbClr val="53657A"/>
                </a:solidFill>
                <a:latin typeface="Aptos" pitchFamily="34" charset="0"/>
                <a:ea typeface="Aptos" pitchFamily="34" charset="-122"/>
                <a:cs typeface="Aptos" pitchFamily="34" charset="-120"/>
              </a:rPr>
              <a:t>Define the user, target,</a:t>
            </a:r>
            <a:endParaRPr lang="en-US" sz="2100" dirty="0"/>
          </a:p>
          <a:p>
            <a:pPr algn="ctr" indent="0" marL="0">
              <a:buNone/>
            </a:pPr>
            <a:r>
              <a:rPr lang="en-US" sz="2100" dirty="0">
                <a:solidFill>
                  <a:srgbClr val="53657A"/>
                </a:solidFill>
                <a:latin typeface="Aptos" pitchFamily="34" charset="0"/>
                <a:ea typeface="Aptos" pitchFamily="34" charset="-122"/>
                <a:cs typeface="Aptos" pitchFamily="34" charset="-120"/>
              </a:rPr>
              <a:t>and consequence of error.</a:t>
            </a:r>
            <a:endParaRPr lang="en-US" sz="2100" dirty="0"/>
          </a:p>
        </p:txBody>
      </p:sp>
      <p:sp>
        <p:nvSpPr>
          <p:cNvPr id="17" name="Shape 15"/>
          <p:cNvSpPr/>
          <p:nvPr/>
        </p:nvSpPr>
        <p:spPr>
          <a:xfrm>
            <a:off x="4471416" y="1947672"/>
            <a:ext cx="3529584" cy="3401568"/>
          </a:xfrm>
          <a:prstGeom prst="roundRect">
            <a:avLst>
              <a:gd name="adj" fmla="val 2688"/>
            </a:avLst>
          </a:prstGeom>
          <a:solidFill>
            <a:srgbClr val="FFFFFF"/>
          </a:solidFill>
          <a:ln w="10160">
            <a:solidFill>
              <a:srgbClr val="C4D2E2"/>
            </a:solidFill>
            <a:prstDash val="solid"/>
          </a:ln>
        </p:spPr>
      </p:sp>
      <p:sp>
        <p:nvSpPr>
          <p:cNvPr id="18" name="Shape 16"/>
          <p:cNvSpPr/>
          <p:nvPr/>
        </p:nvSpPr>
        <p:spPr>
          <a:xfrm>
            <a:off x="5873008" y="2388596"/>
            <a:ext cx="0" cy="736824"/>
          </a:xfrm>
          <a:prstGeom prst="line">
            <a:avLst/>
          </a:prstGeom>
          <a:noFill/>
          <a:ln w="26670">
            <a:solidFill>
              <a:srgbClr val="176493"/>
            </a:solidFill>
            <a:prstDash val="solid"/>
            <a:headEnd type="none"/>
            <a:tailEnd type="none"/>
          </a:ln>
        </p:spPr>
      </p:sp>
      <p:sp>
        <p:nvSpPr>
          <p:cNvPr id="19" name="Shape 17"/>
          <p:cNvSpPr/>
          <p:nvPr/>
        </p:nvSpPr>
        <p:spPr>
          <a:xfrm>
            <a:off x="5873008" y="3125419"/>
            <a:ext cx="736824" cy="0"/>
          </a:xfrm>
          <a:prstGeom prst="line">
            <a:avLst/>
          </a:prstGeom>
          <a:noFill/>
          <a:ln w="26670">
            <a:solidFill>
              <a:srgbClr val="176493"/>
            </a:solidFill>
            <a:prstDash val="solid"/>
            <a:headEnd type="none"/>
            <a:tailEnd type="none"/>
          </a:ln>
        </p:spPr>
      </p:sp>
      <p:sp>
        <p:nvSpPr>
          <p:cNvPr id="20" name="Shape 18"/>
          <p:cNvSpPr/>
          <p:nvPr/>
        </p:nvSpPr>
        <p:spPr>
          <a:xfrm flipV="1">
            <a:off x="5966277" y="2733690"/>
            <a:ext cx="177211" cy="186538"/>
          </a:xfrm>
          <a:prstGeom prst="line">
            <a:avLst/>
          </a:prstGeom>
          <a:noFill/>
          <a:ln w="26670">
            <a:solidFill>
              <a:srgbClr val="176493"/>
            </a:solidFill>
            <a:prstDash val="solid"/>
            <a:headEnd type="none"/>
            <a:tailEnd type="none"/>
          </a:ln>
        </p:spPr>
      </p:sp>
      <p:sp>
        <p:nvSpPr>
          <p:cNvPr id="21" name="Shape 19"/>
          <p:cNvSpPr/>
          <p:nvPr/>
        </p:nvSpPr>
        <p:spPr>
          <a:xfrm>
            <a:off x="6143488" y="2733690"/>
            <a:ext cx="186538" cy="121249"/>
          </a:xfrm>
          <a:prstGeom prst="line">
            <a:avLst/>
          </a:prstGeom>
          <a:noFill/>
          <a:ln w="26670">
            <a:solidFill>
              <a:srgbClr val="176493"/>
            </a:solidFill>
            <a:prstDash val="solid"/>
            <a:headEnd type="none"/>
            <a:tailEnd type="none"/>
          </a:ln>
        </p:spPr>
      </p:sp>
      <p:sp>
        <p:nvSpPr>
          <p:cNvPr id="22" name="Shape 20"/>
          <p:cNvSpPr/>
          <p:nvPr/>
        </p:nvSpPr>
        <p:spPr>
          <a:xfrm flipV="1">
            <a:off x="6330025" y="2491191"/>
            <a:ext cx="214518" cy="363748"/>
          </a:xfrm>
          <a:prstGeom prst="line">
            <a:avLst/>
          </a:prstGeom>
          <a:noFill/>
          <a:ln w="26670">
            <a:solidFill>
              <a:srgbClr val="176493"/>
            </a:solidFill>
            <a:prstDash val="solid"/>
            <a:headEnd type="none"/>
            <a:tailEnd type="none"/>
          </a:ln>
        </p:spPr>
      </p:sp>
      <p:sp>
        <p:nvSpPr>
          <p:cNvPr id="23" name="Shape 21"/>
          <p:cNvSpPr/>
          <p:nvPr/>
        </p:nvSpPr>
        <p:spPr>
          <a:xfrm>
            <a:off x="5919643" y="2873593"/>
            <a:ext cx="93269" cy="93269"/>
          </a:xfrm>
          <a:prstGeom prst="ellipse">
            <a:avLst/>
          </a:prstGeom>
          <a:solidFill>
            <a:srgbClr val="E3EFF7"/>
          </a:solidFill>
          <a:ln w="8890">
            <a:solidFill>
              <a:srgbClr val="176493"/>
            </a:solidFill>
            <a:prstDash val="solid"/>
          </a:ln>
        </p:spPr>
      </p:sp>
      <p:sp>
        <p:nvSpPr>
          <p:cNvPr id="24" name="Shape 22"/>
          <p:cNvSpPr/>
          <p:nvPr/>
        </p:nvSpPr>
        <p:spPr>
          <a:xfrm>
            <a:off x="6096853" y="2687056"/>
            <a:ext cx="93269" cy="93269"/>
          </a:xfrm>
          <a:prstGeom prst="ellipse">
            <a:avLst/>
          </a:prstGeom>
          <a:solidFill>
            <a:srgbClr val="E3EFF7"/>
          </a:solidFill>
          <a:ln w="8890">
            <a:solidFill>
              <a:srgbClr val="176493"/>
            </a:solidFill>
            <a:prstDash val="solid"/>
          </a:ln>
        </p:spPr>
      </p:sp>
      <p:sp>
        <p:nvSpPr>
          <p:cNvPr id="25" name="Shape 23"/>
          <p:cNvSpPr/>
          <p:nvPr/>
        </p:nvSpPr>
        <p:spPr>
          <a:xfrm>
            <a:off x="6283391" y="2808305"/>
            <a:ext cx="93269" cy="93269"/>
          </a:xfrm>
          <a:prstGeom prst="ellipse">
            <a:avLst/>
          </a:prstGeom>
          <a:solidFill>
            <a:srgbClr val="E3EFF7"/>
          </a:solidFill>
          <a:ln w="8890">
            <a:solidFill>
              <a:srgbClr val="176493"/>
            </a:solidFill>
            <a:prstDash val="solid"/>
          </a:ln>
        </p:spPr>
      </p:sp>
      <p:sp>
        <p:nvSpPr>
          <p:cNvPr id="26" name="Shape 24"/>
          <p:cNvSpPr/>
          <p:nvPr/>
        </p:nvSpPr>
        <p:spPr>
          <a:xfrm>
            <a:off x="6497909" y="2444557"/>
            <a:ext cx="93269" cy="93269"/>
          </a:xfrm>
          <a:prstGeom prst="ellipse">
            <a:avLst/>
          </a:prstGeom>
          <a:solidFill>
            <a:srgbClr val="E3EFF7"/>
          </a:solidFill>
          <a:ln w="8890">
            <a:solidFill>
              <a:srgbClr val="176493"/>
            </a:solidFill>
            <a:prstDash val="solid"/>
          </a:ln>
        </p:spPr>
      </p:sp>
      <p:sp>
        <p:nvSpPr>
          <p:cNvPr id="27" name="Text 25"/>
          <p:cNvSpPr/>
          <p:nvPr/>
        </p:nvSpPr>
        <p:spPr>
          <a:xfrm>
            <a:off x="4718304" y="3520440"/>
            <a:ext cx="3035808" cy="438912"/>
          </a:xfrm>
          <a:prstGeom prst="rect">
            <a:avLst/>
          </a:prstGeom>
          <a:noFill/>
          <a:ln/>
        </p:spPr>
        <p:txBody>
          <a:bodyPr wrap="square" lIns="0" tIns="0" rIns="0" bIns="0" rtlCol="0" anchor="ctr"/>
          <a:lstStyle/>
          <a:p>
            <a:pPr algn="ctr" indent="0" marL="0">
              <a:buNone/>
            </a:pPr>
            <a:r>
              <a:rPr lang="en-US" sz="2700" b="1" dirty="0">
                <a:solidFill>
                  <a:srgbClr val="172233"/>
                </a:solidFill>
                <a:latin typeface="Aptos" pitchFamily="34" charset="0"/>
                <a:ea typeface="Aptos" pitchFamily="34" charset="-122"/>
                <a:cs typeface="Aptos" pitchFamily="34" charset="-120"/>
              </a:rPr>
              <a:t>Test</a:t>
            </a:r>
            <a:endParaRPr lang="en-US" sz="2700" dirty="0"/>
          </a:p>
        </p:txBody>
      </p:sp>
      <p:sp>
        <p:nvSpPr>
          <p:cNvPr id="28" name="Text 26"/>
          <p:cNvSpPr/>
          <p:nvPr/>
        </p:nvSpPr>
        <p:spPr>
          <a:xfrm>
            <a:off x="4700016" y="4215384"/>
            <a:ext cx="3072384" cy="758952"/>
          </a:xfrm>
          <a:prstGeom prst="rect">
            <a:avLst/>
          </a:prstGeom>
          <a:noFill/>
          <a:ln/>
        </p:spPr>
        <p:txBody>
          <a:bodyPr wrap="square" lIns="0" tIns="0" rIns="0" bIns="0" rtlCol="0" anchor="ctr"/>
          <a:lstStyle/>
          <a:p>
            <a:pPr algn="ctr" indent="0" marL="0">
              <a:buNone/>
            </a:pPr>
            <a:r>
              <a:rPr lang="en-US" sz="2100" dirty="0">
                <a:solidFill>
                  <a:srgbClr val="53657A"/>
                </a:solidFill>
                <a:latin typeface="Aptos" pitchFamily="34" charset="0"/>
                <a:ea typeface="Aptos" pitchFamily="34" charset="-122"/>
                <a:cs typeface="Aptos" pitchFamily="34" charset="-120"/>
              </a:rPr>
              <a:t>Compare models with</a:t>
            </a:r>
            <a:endParaRPr lang="en-US" sz="2100" dirty="0"/>
          </a:p>
          <a:p>
            <a:pPr algn="ctr" indent="0" marL="0">
              <a:buNone/>
            </a:pPr>
            <a:r>
              <a:rPr lang="en-US" sz="2100" dirty="0">
                <a:solidFill>
                  <a:srgbClr val="53657A"/>
                </a:solidFill>
                <a:latin typeface="Aptos" pitchFamily="34" charset="0"/>
                <a:ea typeface="Aptos" pitchFamily="34" charset="-122"/>
                <a:cs typeface="Aptos" pitchFamily="34" charset="-120"/>
              </a:rPr>
              <a:t>credible evaluation.</a:t>
            </a:r>
            <a:endParaRPr lang="en-US" sz="2100" dirty="0"/>
          </a:p>
        </p:txBody>
      </p:sp>
      <p:sp>
        <p:nvSpPr>
          <p:cNvPr id="29" name="Shape 27"/>
          <p:cNvSpPr/>
          <p:nvPr/>
        </p:nvSpPr>
        <p:spPr>
          <a:xfrm>
            <a:off x="8229600" y="1947672"/>
            <a:ext cx="3529584" cy="3401568"/>
          </a:xfrm>
          <a:prstGeom prst="roundRect">
            <a:avLst>
              <a:gd name="adj" fmla="val 2688"/>
            </a:avLst>
          </a:prstGeom>
          <a:solidFill>
            <a:srgbClr val="FFFFFF"/>
          </a:solidFill>
          <a:ln w="10160">
            <a:solidFill>
              <a:srgbClr val="C4D2E2"/>
            </a:solidFill>
            <a:prstDash val="solid"/>
          </a:ln>
        </p:spPr>
      </p:sp>
      <p:sp>
        <p:nvSpPr>
          <p:cNvPr id="30" name="Shape 28"/>
          <p:cNvSpPr/>
          <p:nvPr/>
        </p:nvSpPr>
        <p:spPr>
          <a:xfrm>
            <a:off x="9659173" y="2379269"/>
            <a:ext cx="634228" cy="746150"/>
          </a:xfrm>
          <a:prstGeom prst="rect">
            <a:avLst>
              <a:gd name="adj" fmla="val 14418"/>
            </a:avLst>
          </a:prstGeom>
          <a:solidFill>
            <a:srgbClr val="FFFFFF"/>
          </a:solidFill>
          <a:ln w="10160">
            <a:solidFill>
              <a:srgbClr val="176493"/>
            </a:solidFill>
            <a:prstDash val="solid"/>
          </a:ln>
        </p:spPr>
      </p:sp>
      <p:sp>
        <p:nvSpPr>
          <p:cNvPr id="31" name="Shape 29"/>
          <p:cNvSpPr/>
          <p:nvPr/>
        </p:nvSpPr>
        <p:spPr>
          <a:xfrm>
            <a:off x="9771096" y="2621768"/>
            <a:ext cx="121249" cy="121249"/>
          </a:xfrm>
          <a:prstGeom prst="line">
            <a:avLst/>
          </a:prstGeom>
          <a:noFill/>
          <a:ln w="31750">
            <a:solidFill>
              <a:srgbClr val="176493"/>
            </a:solidFill>
            <a:prstDash val="solid"/>
            <a:headEnd type="none"/>
            <a:tailEnd type="none"/>
          </a:ln>
        </p:spPr>
      </p:sp>
      <p:sp>
        <p:nvSpPr>
          <p:cNvPr id="32" name="Shape 30"/>
          <p:cNvSpPr/>
          <p:nvPr/>
        </p:nvSpPr>
        <p:spPr>
          <a:xfrm flipV="1">
            <a:off x="9892345" y="2500518"/>
            <a:ext cx="251826" cy="242499"/>
          </a:xfrm>
          <a:prstGeom prst="line">
            <a:avLst/>
          </a:prstGeom>
          <a:noFill/>
          <a:ln w="31750">
            <a:solidFill>
              <a:srgbClr val="176493"/>
            </a:solidFill>
            <a:prstDash val="solid"/>
            <a:headEnd type="none"/>
            <a:tailEnd type="none"/>
          </a:ln>
        </p:spPr>
      </p:sp>
      <p:sp>
        <p:nvSpPr>
          <p:cNvPr id="33" name="Shape 31"/>
          <p:cNvSpPr/>
          <p:nvPr/>
        </p:nvSpPr>
        <p:spPr>
          <a:xfrm>
            <a:off x="9780422" y="2920228"/>
            <a:ext cx="373075" cy="0"/>
          </a:xfrm>
          <a:prstGeom prst="line">
            <a:avLst/>
          </a:prstGeom>
          <a:noFill/>
          <a:ln w="19050">
            <a:solidFill>
              <a:srgbClr val="176493"/>
            </a:solidFill>
            <a:prstDash val="solid"/>
            <a:headEnd type="none"/>
            <a:tailEnd type="none"/>
          </a:ln>
        </p:spPr>
      </p:sp>
      <p:sp>
        <p:nvSpPr>
          <p:cNvPr id="34" name="Shape 32"/>
          <p:cNvSpPr/>
          <p:nvPr/>
        </p:nvSpPr>
        <p:spPr>
          <a:xfrm>
            <a:off x="9780422" y="3013497"/>
            <a:ext cx="298460" cy="0"/>
          </a:xfrm>
          <a:prstGeom prst="line">
            <a:avLst/>
          </a:prstGeom>
          <a:noFill/>
          <a:ln w="19050">
            <a:solidFill>
              <a:srgbClr val="176493"/>
            </a:solidFill>
            <a:prstDash val="solid"/>
            <a:headEnd type="none"/>
            <a:tailEnd type="none"/>
          </a:ln>
        </p:spPr>
      </p:sp>
      <p:sp>
        <p:nvSpPr>
          <p:cNvPr id="35" name="Text 33"/>
          <p:cNvSpPr/>
          <p:nvPr/>
        </p:nvSpPr>
        <p:spPr>
          <a:xfrm>
            <a:off x="8476488" y="3520440"/>
            <a:ext cx="3035808" cy="438912"/>
          </a:xfrm>
          <a:prstGeom prst="rect">
            <a:avLst/>
          </a:prstGeom>
          <a:noFill/>
          <a:ln/>
        </p:spPr>
        <p:txBody>
          <a:bodyPr wrap="square" lIns="0" tIns="0" rIns="0" bIns="0" rtlCol="0" anchor="ctr"/>
          <a:lstStyle/>
          <a:p>
            <a:pPr algn="ctr" indent="0" marL="0">
              <a:buNone/>
            </a:pPr>
            <a:r>
              <a:rPr lang="en-US" sz="2700" b="1" dirty="0">
                <a:solidFill>
                  <a:srgbClr val="172233"/>
                </a:solidFill>
                <a:latin typeface="Aptos" pitchFamily="34" charset="0"/>
                <a:ea typeface="Aptos" pitchFamily="34" charset="-122"/>
                <a:cs typeface="Aptos" pitchFamily="34" charset="-120"/>
              </a:rPr>
              <a:t>Operate</a:t>
            </a:r>
            <a:endParaRPr lang="en-US" sz="2700" dirty="0"/>
          </a:p>
        </p:txBody>
      </p:sp>
      <p:sp>
        <p:nvSpPr>
          <p:cNvPr id="36" name="Text 34"/>
          <p:cNvSpPr/>
          <p:nvPr/>
        </p:nvSpPr>
        <p:spPr>
          <a:xfrm>
            <a:off x="8458200" y="4215384"/>
            <a:ext cx="3072384" cy="758952"/>
          </a:xfrm>
          <a:prstGeom prst="rect">
            <a:avLst/>
          </a:prstGeom>
          <a:noFill/>
          <a:ln/>
        </p:spPr>
        <p:txBody>
          <a:bodyPr wrap="square" lIns="0" tIns="0" rIns="0" bIns="0" rtlCol="0" anchor="ctr"/>
          <a:lstStyle/>
          <a:p>
            <a:pPr algn="ctr" indent="0" marL="0">
              <a:buNone/>
            </a:pPr>
            <a:r>
              <a:rPr lang="en-US" sz="2100" dirty="0">
                <a:solidFill>
                  <a:srgbClr val="53657A"/>
                </a:solidFill>
                <a:latin typeface="Aptos" pitchFamily="34" charset="0"/>
                <a:ea typeface="Aptos" pitchFamily="34" charset="-122"/>
                <a:cs typeface="Aptos" pitchFamily="34" charset="-120"/>
              </a:rPr>
              <a:t>Make the result usable,</a:t>
            </a:r>
            <a:endParaRPr lang="en-US" sz="2100" dirty="0"/>
          </a:p>
          <a:p>
            <a:pPr algn="ctr" indent="0" marL="0">
              <a:buNone/>
            </a:pPr>
            <a:r>
              <a:rPr lang="en-US" sz="2100" dirty="0">
                <a:solidFill>
                  <a:srgbClr val="53657A"/>
                </a:solidFill>
                <a:latin typeface="Aptos" pitchFamily="34" charset="0"/>
                <a:ea typeface="Aptos" pitchFamily="34" charset="-122"/>
                <a:cs typeface="Aptos" pitchFamily="34" charset="-120"/>
              </a:rPr>
              <a:t>observable, and reversible.</a:t>
            </a:r>
            <a:endParaRPr lang="en-US" sz="2100" dirty="0"/>
          </a:p>
        </p:txBody>
      </p:sp>
      <p:sp>
        <p:nvSpPr>
          <p:cNvPr id="37" name="Shape 35"/>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38" name="Text 36"/>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The domain changes. These responsibilities remain.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DOMAIN EXAMPLE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Industry: from automation to better decisions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05 / 24</a:t>
            </a:r>
            <a:endParaRPr lang="en-US" sz="1000" dirty="0"/>
          </a:p>
        </p:txBody>
      </p:sp>
      <p:sp>
        <p:nvSpPr>
          <p:cNvPr id="71" name="Shape 69"/>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72" name="Text 70"/>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What evidence would justify stopping a production line?</a:t>
            </a:r>
            <a:endParaRPr lang="en-US" sz="1700" dirty="0"/>
          </a:p>
        </p:txBody>
      </p:sp>
      <p:pic>
        <p:nvPicPr>
          <p:cNvPr id="73" name="Original Industry illustration - archive slide 4" descr="Original unredrawn Industry image from archived DS101 Lecture 1 slide 4. Full source image preserved without cropping or stretching."/>
          <p:cNvPicPr>
            <a:picLocks noChangeAspect="1"/>
          </p:cNvPicPr>
          <p:nvPr/>
        </p:nvPicPr>
        <p:blipFill>
          <a:blip r:embed="rId3"/>
          <a:stretch>
            <a:fillRect/>
          </a:stretch>
        </p:blipFill>
        <p:spPr>
          <a:xfrm>
            <a:off x="3355848" y="1581912"/>
            <a:ext cx="5486400" cy="411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DOMAIN EXAMPLE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Agriculture: from observations to targeted action</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06 / 24</a:t>
            </a:r>
            <a:endParaRPr lang="en-US" sz="1000" dirty="0"/>
          </a:p>
        </p:txBody>
      </p:sp>
      <p:sp>
        <p:nvSpPr>
          <p:cNvPr id="71" name="Shape 69"/>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72" name="Text 70"/>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Which observation would change an irrigation decision?</a:t>
            </a:r>
            <a:endParaRPr lang="en-US" sz="1700" dirty="0"/>
          </a:p>
        </p:txBody>
      </p:sp>
      <p:pic>
        <p:nvPicPr>
          <p:cNvPr id="73" name="Original Agriculture illustration - archive slide 5" descr="Original unredrawn Agriculture image from archived DS101 Lecture 1 slide 5. Full source image preserved without cropping or stretching."/>
          <p:cNvPicPr>
            <a:picLocks noChangeAspect="1"/>
          </p:cNvPicPr>
          <p:nvPr/>
        </p:nvPicPr>
        <p:blipFill>
          <a:blip r:embed="rId3"/>
          <a:stretch>
            <a:fillRect/>
          </a:stretch>
        </p:blipFill>
        <p:spPr>
          <a:xfrm>
            <a:off x="2003611" y="1581912"/>
            <a:ext cx="8190872"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DOMAIN EXAMPLE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Healthcare: from records to reviewed decisions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07 / 24</a:t>
            </a:r>
            <a:endParaRPr lang="en-US" sz="1000" dirty="0"/>
          </a:p>
        </p:txBody>
      </p:sp>
      <p:sp>
        <p:nvSpPr>
          <p:cNvPr id="64" name="Shape 62"/>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65" name="Text 63"/>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A risk score is an input to a decision, not the decision itself.</a:t>
            </a:r>
            <a:endParaRPr lang="en-US" sz="1700" dirty="0"/>
          </a:p>
        </p:txBody>
      </p:sp>
      <p:pic>
        <p:nvPicPr>
          <p:cNvPr id="66" name="Original Healthcare illustration - archive slide 6" descr="Original unredrawn Healthcare image from archived DS101 Lecture 1 slide 6. Full source image preserved without cropping or stretching."/>
          <p:cNvPicPr>
            <a:picLocks noChangeAspect="1"/>
          </p:cNvPicPr>
          <p:nvPr/>
        </p:nvPicPr>
        <p:blipFill>
          <a:blip r:embed="rId3"/>
          <a:stretch>
            <a:fillRect/>
          </a:stretch>
        </p:blipFill>
        <p:spPr>
          <a:xfrm>
            <a:off x="2499837" y="1581912"/>
            <a:ext cx="7198421"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COURSE EXPECTATIONS</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How the course is assessed</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08 / 24</a:t>
            </a:r>
            <a:endParaRPr lang="en-US" sz="1000" dirty="0"/>
          </a:p>
        </p:txBody>
      </p:sp>
      <p:sp>
        <p:nvSpPr>
          <p:cNvPr id="10" name="Text 8"/>
          <p:cNvSpPr/>
          <p:nvPr/>
        </p:nvSpPr>
        <p:spPr>
          <a:xfrm>
            <a:off x="731520" y="1764792"/>
            <a:ext cx="365760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FINAL GRADE</a:t>
            </a:r>
            <a:endParaRPr lang="en-US" sz="1100" dirty="0"/>
          </a:p>
        </p:txBody>
      </p:sp>
      <p:sp>
        <p:nvSpPr>
          <p:cNvPr id="11" name="Shape 9"/>
          <p:cNvSpPr/>
          <p:nvPr/>
        </p:nvSpPr>
        <p:spPr>
          <a:xfrm>
            <a:off x="731520" y="2377440"/>
            <a:ext cx="3215030" cy="1060704"/>
          </a:xfrm>
          <a:prstGeom prst="rect">
            <a:avLst>
              <a:gd name="adj" fmla="val 8621"/>
            </a:avLst>
          </a:prstGeom>
          <a:solidFill>
            <a:srgbClr val="176493"/>
          </a:solidFill>
          <a:ln w="12700">
            <a:solidFill>
              <a:srgbClr val="176493"/>
            </a:solidFill>
            <a:prstDash val="solid"/>
          </a:ln>
        </p:spPr>
      </p:sp>
      <p:sp>
        <p:nvSpPr>
          <p:cNvPr id="12" name="Shape 10"/>
          <p:cNvSpPr/>
          <p:nvPr/>
        </p:nvSpPr>
        <p:spPr>
          <a:xfrm>
            <a:off x="3946550" y="2377440"/>
            <a:ext cx="7501738" cy="1060704"/>
          </a:xfrm>
          <a:prstGeom prst="rect">
            <a:avLst>
              <a:gd name="adj" fmla="val 8621"/>
            </a:avLst>
          </a:prstGeom>
          <a:solidFill>
            <a:srgbClr val="167C85"/>
          </a:solidFill>
          <a:ln w="12700">
            <a:solidFill>
              <a:srgbClr val="167C85"/>
            </a:solidFill>
            <a:prstDash val="solid"/>
          </a:ln>
        </p:spPr>
      </p:sp>
      <p:sp>
        <p:nvSpPr>
          <p:cNvPr id="13" name="Text 11"/>
          <p:cNvSpPr/>
          <p:nvPr/>
        </p:nvSpPr>
        <p:spPr>
          <a:xfrm>
            <a:off x="868680" y="2651760"/>
            <a:ext cx="2940710" cy="457200"/>
          </a:xfrm>
          <a:prstGeom prst="rect">
            <a:avLst/>
          </a:prstGeom>
          <a:noFill/>
          <a:ln/>
        </p:spPr>
        <p:txBody>
          <a:bodyPr wrap="square" lIns="0" tIns="0" rIns="0" bIns="0" rtlCol="0" anchor="ctr"/>
          <a:lstStyle/>
          <a:p>
            <a:pPr algn="ctr" indent="0" marL="0">
              <a:buNone/>
            </a:pPr>
            <a:r>
              <a:rPr lang="en-US" sz="3500" b="1" dirty="0">
                <a:solidFill>
                  <a:srgbClr val="FFFFFF"/>
                </a:solidFill>
                <a:latin typeface="Aptos" pitchFamily="34" charset="0"/>
                <a:ea typeface="Aptos" pitchFamily="34" charset="-122"/>
                <a:cs typeface="Aptos" pitchFamily="34" charset="-120"/>
              </a:rPr>
              <a:t>30%</a:t>
            </a:r>
            <a:endParaRPr lang="en-US" sz="3500" dirty="0"/>
          </a:p>
        </p:txBody>
      </p:sp>
      <p:sp>
        <p:nvSpPr>
          <p:cNvPr id="14" name="Text 12"/>
          <p:cNvSpPr/>
          <p:nvPr/>
        </p:nvSpPr>
        <p:spPr>
          <a:xfrm>
            <a:off x="4083710" y="2651760"/>
            <a:ext cx="7227418" cy="457200"/>
          </a:xfrm>
          <a:prstGeom prst="rect">
            <a:avLst/>
          </a:prstGeom>
          <a:noFill/>
          <a:ln/>
        </p:spPr>
        <p:txBody>
          <a:bodyPr wrap="square" lIns="0" tIns="0" rIns="0" bIns="0" rtlCol="0" anchor="ctr"/>
          <a:lstStyle/>
          <a:p>
            <a:pPr algn="ctr" indent="0" marL="0">
              <a:buNone/>
            </a:pPr>
            <a:r>
              <a:rPr lang="en-US" sz="3500" b="1" dirty="0">
                <a:solidFill>
                  <a:srgbClr val="FFFFFF"/>
                </a:solidFill>
                <a:latin typeface="Aptos" pitchFamily="34" charset="0"/>
                <a:ea typeface="Aptos" pitchFamily="34" charset="-122"/>
                <a:cs typeface="Aptos" pitchFamily="34" charset="-120"/>
              </a:rPr>
              <a:t>70%</a:t>
            </a:r>
            <a:endParaRPr lang="en-US" sz="3500" dirty="0"/>
          </a:p>
        </p:txBody>
      </p:sp>
      <p:sp>
        <p:nvSpPr>
          <p:cNvPr id="15" name="Text 13"/>
          <p:cNvSpPr/>
          <p:nvPr/>
        </p:nvSpPr>
        <p:spPr>
          <a:xfrm>
            <a:off x="758952" y="3694176"/>
            <a:ext cx="3675888" cy="393192"/>
          </a:xfrm>
          <a:prstGeom prst="rect">
            <a:avLst/>
          </a:prstGeom>
          <a:noFill/>
          <a:ln/>
        </p:spPr>
        <p:txBody>
          <a:bodyPr wrap="square" lIns="0" tIns="0" rIns="0" bIns="0" rtlCol="0" anchor="ctr"/>
          <a:lstStyle/>
          <a:p>
            <a:pPr indent="0" marL="0">
              <a:buNone/>
            </a:pPr>
            <a:r>
              <a:rPr lang="en-US" sz="2400" b="1" dirty="0">
                <a:solidFill>
                  <a:srgbClr val="172233"/>
                </a:solidFill>
                <a:latin typeface="Aptos" pitchFamily="34" charset="0"/>
                <a:ea typeface="Aptos" pitchFamily="34" charset="-122"/>
                <a:cs typeface="Aptos" pitchFamily="34" charset="-120"/>
              </a:rPr>
              <a:t>Individual presentation</a:t>
            </a:r>
            <a:endParaRPr lang="en-US" sz="2400" dirty="0"/>
          </a:p>
        </p:txBody>
      </p:sp>
      <p:sp>
        <p:nvSpPr>
          <p:cNvPr id="16" name="Text 14"/>
          <p:cNvSpPr/>
          <p:nvPr/>
        </p:nvSpPr>
        <p:spPr>
          <a:xfrm>
            <a:off x="758952" y="4224528"/>
            <a:ext cx="3675888" cy="676656"/>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Research paper or</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approved technical topic</a:t>
            </a:r>
            <a:endParaRPr lang="en-US" sz="2100" dirty="0"/>
          </a:p>
        </p:txBody>
      </p:sp>
      <p:sp>
        <p:nvSpPr>
          <p:cNvPr id="17" name="Text 15"/>
          <p:cNvSpPr/>
          <p:nvPr/>
        </p:nvSpPr>
        <p:spPr>
          <a:xfrm>
            <a:off x="4663440" y="3694176"/>
            <a:ext cx="6729984" cy="393192"/>
          </a:xfrm>
          <a:prstGeom prst="rect">
            <a:avLst/>
          </a:prstGeom>
          <a:noFill/>
          <a:ln/>
        </p:spPr>
        <p:txBody>
          <a:bodyPr wrap="square" lIns="0" tIns="0" rIns="0" bIns="0" rtlCol="0" anchor="ctr"/>
          <a:lstStyle/>
          <a:p>
            <a:pPr indent="0" marL="0">
              <a:buNone/>
            </a:pPr>
            <a:r>
              <a:rPr lang="en-US" sz="2400" b="1" dirty="0">
                <a:solidFill>
                  <a:srgbClr val="172233"/>
                </a:solidFill>
                <a:latin typeface="Aptos" pitchFamily="34" charset="0"/>
                <a:ea typeface="Aptos" pitchFamily="34" charset="-122"/>
                <a:cs typeface="Aptos" pitchFamily="34" charset="-120"/>
              </a:rPr>
              <a:t>End-to-end project</a:t>
            </a:r>
            <a:endParaRPr lang="en-US" sz="2400" dirty="0"/>
          </a:p>
        </p:txBody>
      </p:sp>
      <p:sp>
        <p:nvSpPr>
          <p:cNvPr id="18" name="Text 16"/>
          <p:cNvSpPr/>
          <p:nvPr/>
        </p:nvSpPr>
        <p:spPr>
          <a:xfrm>
            <a:off x="4663440" y="4224528"/>
            <a:ext cx="6675120" cy="676656"/>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Repository, report, demonstration,</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and oral defense</a:t>
            </a:r>
            <a:endParaRPr lang="en-US" sz="2100" dirty="0"/>
          </a:p>
        </p:txBody>
      </p:sp>
      <p:sp>
        <p:nvSpPr>
          <p:cNvPr id="19" name="Shape 17"/>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20" name="Text 18"/>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You must be able to explain and defend every submitted artifact.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PREREQUISITES</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The working tools behind this lecture</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09 / 24</a:t>
            </a:r>
            <a:endParaRPr lang="en-US" sz="1000" dirty="0"/>
          </a:p>
        </p:txBody>
      </p:sp>
      <p:sp>
        <p:nvSpPr>
          <p:cNvPr id="10" name="Shape 8"/>
          <p:cNvSpPr/>
          <p:nvPr/>
        </p:nvSpPr>
        <p:spPr>
          <a:xfrm>
            <a:off x="704088" y="1883664"/>
            <a:ext cx="3520440" cy="3566160"/>
          </a:xfrm>
          <a:prstGeom prst="roundRect">
            <a:avLst>
              <a:gd name="adj" fmla="val 2597"/>
            </a:avLst>
          </a:prstGeom>
          <a:solidFill>
            <a:srgbClr val="FFFFFF"/>
          </a:solidFill>
          <a:ln w="10160">
            <a:solidFill>
              <a:srgbClr val="C4D2E2"/>
            </a:solidFill>
            <a:prstDash val="solid"/>
          </a:ln>
        </p:spPr>
      </p:sp>
      <p:sp>
        <p:nvSpPr>
          <p:cNvPr id="11" name="Shape 9"/>
          <p:cNvSpPr/>
          <p:nvPr/>
        </p:nvSpPr>
        <p:spPr>
          <a:xfrm>
            <a:off x="2136038" y="2266798"/>
            <a:ext cx="0" cy="650138"/>
          </a:xfrm>
          <a:prstGeom prst="line">
            <a:avLst/>
          </a:prstGeom>
          <a:noFill/>
          <a:ln w="26670">
            <a:solidFill>
              <a:srgbClr val="176493"/>
            </a:solidFill>
            <a:prstDash val="solid"/>
            <a:headEnd type="none"/>
            <a:tailEnd type="none"/>
          </a:ln>
        </p:spPr>
      </p:sp>
      <p:sp>
        <p:nvSpPr>
          <p:cNvPr id="12" name="Shape 10"/>
          <p:cNvSpPr/>
          <p:nvPr/>
        </p:nvSpPr>
        <p:spPr>
          <a:xfrm>
            <a:off x="2136038" y="2916936"/>
            <a:ext cx="650138" cy="0"/>
          </a:xfrm>
          <a:prstGeom prst="line">
            <a:avLst/>
          </a:prstGeom>
          <a:noFill/>
          <a:ln w="26670">
            <a:solidFill>
              <a:srgbClr val="176493"/>
            </a:solidFill>
            <a:prstDash val="solid"/>
            <a:headEnd type="none"/>
            <a:tailEnd type="none"/>
          </a:ln>
        </p:spPr>
      </p:sp>
      <p:sp>
        <p:nvSpPr>
          <p:cNvPr id="13" name="Shape 11"/>
          <p:cNvSpPr/>
          <p:nvPr/>
        </p:nvSpPr>
        <p:spPr>
          <a:xfrm flipV="1">
            <a:off x="2218334" y="2571293"/>
            <a:ext cx="156362" cy="164592"/>
          </a:xfrm>
          <a:prstGeom prst="line">
            <a:avLst/>
          </a:prstGeom>
          <a:noFill/>
          <a:ln w="26670">
            <a:solidFill>
              <a:srgbClr val="176493"/>
            </a:solidFill>
            <a:prstDash val="solid"/>
            <a:headEnd type="none"/>
            <a:tailEnd type="none"/>
          </a:ln>
        </p:spPr>
      </p:sp>
      <p:sp>
        <p:nvSpPr>
          <p:cNvPr id="14" name="Shape 12"/>
          <p:cNvSpPr/>
          <p:nvPr/>
        </p:nvSpPr>
        <p:spPr>
          <a:xfrm>
            <a:off x="2374697" y="2571293"/>
            <a:ext cx="164592" cy="106985"/>
          </a:xfrm>
          <a:prstGeom prst="line">
            <a:avLst/>
          </a:prstGeom>
          <a:noFill/>
          <a:ln w="26670">
            <a:solidFill>
              <a:srgbClr val="176493"/>
            </a:solidFill>
            <a:prstDash val="solid"/>
            <a:headEnd type="none"/>
            <a:tailEnd type="none"/>
          </a:ln>
        </p:spPr>
      </p:sp>
      <p:sp>
        <p:nvSpPr>
          <p:cNvPr id="15" name="Shape 13"/>
          <p:cNvSpPr/>
          <p:nvPr/>
        </p:nvSpPr>
        <p:spPr>
          <a:xfrm flipV="1">
            <a:off x="2539289" y="2357323"/>
            <a:ext cx="189281" cy="320954"/>
          </a:xfrm>
          <a:prstGeom prst="line">
            <a:avLst/>
          </a:prstGeom>
          <a:noFill/>
          <a:ln w="26670">
            <a:solidFill>
              <a:srgbClr val="176493"/>
            </a:solidFill>
            <a:prstDash val="solid"/>
            <a:headEnd type="none"/>
            <a:tailEnd type="none"/>
          </a:ln>
        </p:spPr>
      </p:sp>
      <p:sp>
        <p:nvSpPr>
          <p:cNvPr id="16" name="Shape 14"/>
          <p:cNvSpPr/>
          <p:nvPr/>
        </p:nvSpPr>
        <p:spPr>
          <a:xfrm>
            <a:off x="2177186" y="2694737"/>
            <a:ext cx="82296" cy="82296"/>
          </a:xfrm>
          <a:prstGeom prst="ellipse">
            <a:avLst/>
          </a:prstGeom>
          <a:solidFill>
            <a:srgbClr val="E3EFF7"/>
          </a:solidFill>
          <a:ln w="8890">
            <a:solidFill>
              <a:srgbClr val="176493"/>
            </a:solidFill>
            <a:prstDash val="solid"/>
          </a:ln>
        </p:spPr>
      </p:sp>
      <p:sp>
        <p:nvSpPr>
          <p:cNvPr id="17" name="Shape 15"/>
          <p:cNvSpPr/>
          <p:nvPr/>
        </p:nvSpPr>
        <p:spPr>
          <a:xfrm>
            <a:off x="2333549" y="2530145"/>
            <a:ext cx="82296" cy="82296"/>
          </a:xfrm>
          <a:prstGeom prst="ellipse">
            <a:avLst/>
          </a:prstGeom>
          <a:solidFill>
            <a:srgbClr val="E3EFF7"/>
          </a:solidFill>
          <a:ln w="8890">
            <a:solidFill>
              <a:srgbClr val="176493"/>
            </a:solidFill>
            <a:prstDash val="solid"/>
          </a:ln>
        </p:spPr>
      </p:sp>
      <p:sp>
        <p:nvSpPr>
          <p:cNvPr id="18" name="Shape 16"/>
          <p:cNvSpPr/>
          <p:nvPr/>
        </p:nvSpPr>
        <p:spPr>
          <a:xfrm>
            <a:off x="2498141" y="2637130"/>
            <a:ext cx="82296" cy="82296"/>
          </a:xfrm>
          <a:prstGeom prst="ellipse">
            <a:avLst/>
          </a:prstGeom>
          <a:solidFill>
            <a:srgbClr val="E3EFF7"/>
          </a:solidFill>
          <a:ln w="8890">
            <a:solidFill>
              <a:srgbClr val="176493"/>
            </a:solidFill>
            <a:prstDash val="solid"/>
          </a:ln>
        </p:spPr>
      </p:sp>
      <p:sp>
        <p:nvSpPr>
          <p:cNvPr id="19" name="Shape 17"/>
          <p:cNvSpPr/>
          <p:nvPr/>
        </p:nvSpPr>
        <p:spPr>
          <a:xfrm>
            <a:off x="2687422" y="2316175"/>
            <a:ext cx="82296" cy="82296"/>
          </a:xfrm>
          <a:prstGeom prst="ellipse">
            <a:avLst/>
          </a:prstGeom>
          <a:solidFill>
            <a:srgbClr val="E3EFF7"/>
          </a:solidFill>
          <a:ln w="8890">
            <a:solidFill>
              <a:srgbClr val="176493"/>
            </a:solidFill>
            <a:prstDash val="solid"/>
          </a:ln>
        </p:spPr>
      </p:sp>
      <p:sp>
        <p:nvSpPr>
          <p:cNvPr id="20" name="Text 18"/>
          <p:cNvSpPr/>
          <p:nvPr/>
        </p:nvSpPr>
        <p:spPr>
          <a:xfrm>
            <a:off x="932688" y="3236976"/>
            <a:ext cx="3063240" cy="402336"/>
          </a:xfrm>
          <a:prstGeom prst="rect">
            <a:avLst/>
          </a:prstGeom>
          <a:noFill/>
          <a:ln/>
        </p:spPr>
        <p:txBody>
          <a:bodyPr wrap="square" lIns="0" tIns="0" rIns="0" bIns="0" rtlCol="0" anchor="ctr"/>
          <a:lstStyle/>
          <a:p>
            <a:pPr algn="ctr" indent="0" marL="0">
              <a:buNone/>
            </a:pPr>
            <a:r>
              <a:rPr lang="en-US" sz="2500" b="1" dirty="0">
                <a:solidFill>
                  <a:srgbClr val="172233"/>
                </a:solidFill>
                <a:latin typeface="Aptos" pitchFamily="34" charset="0"/>
                <a:ea typeface="Aptos" pitchFamily="34" charset="-122"/>
                <a:cs typeface="Aptos" pitchFamily="34" charset="-120"/>
              </a:rPr>
              <a:t>Mathematics</a:t>
            </a:r>
            <a:endParaRPr lang="en-US" sz="2500" dirty="0"/>
          </a:p>
        </p:txBody>
      </p:sp>
      <p:sp>
        <p:nvSpPr>
          <p:cNvPr id="21" name="Text 19"/>
          <p:cNvSpPr/>
          <p:nvPr/>
        </p:nvSpPr>
        <p:spPr>
          <a:xfrm>
            <a:off x="987552" y="3904488"/>
            <a:ext cx="2953512" cy="1216152"/>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Vectors and matrices</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Derivatives</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Probability</a:t>
            </a:r>
            <a:endParaRPr lang="en-US" sz="2100" dirty="0"/>
          </a:p>
        </p:txBody>
      </p:sp>
      <p:sp>
        <p:nvSpPr>
          <p:cNvPr id="22" name="Shape 20"/>
          <p:cNvSpPr/>
          <p:nvPr/>
        </p:nvSpPr>
        <p:spPr>
          <a:xfrm>
            <a:off x="4453128" y="1883664"/>
            <a:ext cx="3520440" cy="3566160"/>
          </a:xfrm>
          <a:prstGeom prst="roundRect">
            <a:avLst>
              <a:gd name="adj" fmla="val 2597"/>
            </a:avLst>
          </a:prstGeom>
          <a:solidFill>
            <a:srgbClr val="FFFFFF"/>
          </a:solidFill>
          <a:ln w="10160">
            <a:solidFill>
              <a:srgbClr val="C4D2E2"/>
            </a:solidFill>
            <a:prstDash val="solid"/>
          </a:ln>
        </p:spPr>
      </p:sp>
      <p:sp>
        <p:nvSpPr>
          <p:cNvPr id="23" name="Shape 21"/>
          <p:cNvSpPr/>
          <p:nvPr/>
        </p:nvSpPr>
        <p:spPr>
          <a:xfrm flipH="1">
            <a:off x="5852160" y="2357323"/>
            <a:ext cx="189281" cy="230429"/>
          </a:xfrm>
          <a:prstGeom prst="line">
            <a:avLst/>
          </a:prstGeom>
          <a:noFill/>
          <a:ln w="26670">
            <a:solidFill>
              <a:srgbClr val="176493"/>
            </a:solidFill>
            <a:prstDash val="solid"/>
            <a:headEnd type="none"/>
            <a:tailEnd type="none"/>
          </a:ln>
        </p:spPr>
      </p:sp>
      <p:sp>
        <p:nvSpPr>
          <p:cNvPr id="24" name="Shape 22"/>
          <p:cNvSpPr/>
          <p:nvPr/>
        </p:nvSpPr>
        <p:spPr>
          <a:xfrm>
            <a:off x="5852160" y="2587752"/>
            <a:ext cx="189281" cy="222199"/>
          </a:xfrm>
          <a:prstGeom prst="line">
            <a:avLst/>
          </a:prstGeom>
          <a:noFill/>
          <a:ln w="26670">
            <a:solidFill>
              <a:srgbClr val="176493"/>
            </a:solidFill>
            <a:prstDash val="solid"/>
            <a:headEnd type="none"/>
            <a:tailEnd type="none"/>
          </a:ln>
        </p:spPr>
      </p:sp>
      <p:sp>
        <p:nvSpPr>
          <p:cNvPr id="25" name="Shape 23"/>
          <p:cNvSpPr/>
          <p:nvPr/>
        </p:nvSpPr>
        <p:spPr>
          <a:xfrm>
            <a:off x="6321247" y="2357323"/>
            <a:ext cx="189281" cy="230429"/>
          </a:xfrm>
          <a:prstGeom prst="line">
            <a:avLst/>
          </a:prstGeom>
          <a:noFill/>
          <a:ln w="26670">
            <a:solidFill>
              <a:srgbClr val="176493"/>
            </a:solidFill>
            <a:prstDash val="solid"/>
            <a:headEnd type="none"/>
            <a:tailEnd type="none"/>
          </a:ln>
        </p:spPr>
      </p:sp>
      <p:sp>
        <p:nvSpPr>
          <p:cNvPr id="26" name="Shape 24"/>
          <p:cNvSpPr/>
          <p:nvPr/>
        </p:nvSpPr>
        <p:spPr>
          <a:xfrm flipH="1">
            <a:off x="6321247" y="2587752"/>
            <a:ext cx="189281" cy="222199"/>
          </a:xfrm>
          <a:prstGeom prst="line">
            <a:avLst/>
          </a:prstGeom>
          <a:noFill/>
          <a:ln w="26670">
            <a:solidFill>
              <a:srgbClr val="176493"/>
            </a:solidFill>
            <a:prstDash val="solid"/>
            <a:headEnd type="none"/>
            <a:tailEnd type="none"/>
          </a:ln>
        </p:spPr>
      </p:sp>
      <p:sp>
        <p:nvSpPr>
          <p:cNvPr id="27" name="Shape 25"/>
          <p:cNvSpPr/>
          <p:nvPr/>
        </p:nvSpPr>
        <p:spPr>
          <a:xfrm flipH="1">
            <a:off x="6131966" y="2258568"/>
            <a:ext cx="98755" cy="658368"/>
          </a:xfrm>
          <a:prstGeom prst="line">
            <a:avLst/>
          </a:prstGeom>
          <a:noFill/>
          <a:ln w="26670">
            <a:solidFill>
              <a:srgbClr val="176493"/>
            </a:solidFill>
            <a:prstDash val="solid"/>
            <a:headEnd type="none"/>
            <a:tailEnd type="none"/>
          </a:ln>
        </p:spPr>
      </p:sp>
      <p:sp>
        <p:nvSpPr>
          <p:cNvPr id="28" name="Text 26"/>
          <p:cNvSpPr/>
          <p:nvPr/>
        </p:nvSpPr>
        <p:spPr>
          <a:xfrm>
            <a:off x="4681728" y="3236976"/>
            <a:ext cx="3063240" cy="402336"/>
          </a:xfrm>
          <a:prstGeom prst="rect">
            <a:avLst/>
          </a:prstGeom>
          <a:noFill/>
          <a:ln/>
        </p:spPr>
        <p:txBody>
          <a:bodyPr wrap="square" lIns="0" tIns="0" rIns="0" bIns="0" rtlCol="0" anchor="ctr"/>
          <a:lstStyle/>
          <a:p>
            <a:pPr algn="ctr" indent="0" marL="0">
              <a:buNone/>
            </a:pPr>
            <a:r>
              <a:rPr lang="en-US" sz="2500" b="1" dirty="0">
                <a:solidFill>
                  <a:srgbClr val="172233"/>
                </a:solidFill>
                <a:latin typeface="Aptos" pitchFamily="34" charset="0"/>
                <a:ea typeface="Aptos" pitchFamily="34" charset="-122"/>
                <a:cs typeface="Aptos" pitchFamily="34" charset="-120"/>
              </a:rPr>
              <a:t>Python and data</a:t>
            </a:r>
            <a:endParaRPr lang="en-US" sz="2500" dirty="0"/>
          </a:p>
        </p:txBody>
      </p:sp>
      <p:sp>
        <p:nvSpPr>
          <p:cNvPr id="29" name="Text 27"/>
          <p:cNvSpPr/>
          <p:nvPr/>
        </p:nvSpPr>
        <p:spPr>
          <a:xfrm>
            <a:off x="4736592" y="3904488"/>
            <a:ext cx="2953512" cy="1216152"/>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NumPy and pandas</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Jupyter or an IDE</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Inspect and plot</a:t>
            </a:r>
            <a:endParaRPr lang="en-US" sz="2100" dirty="0"/>
          </a:p>
        </p:txBody>
      </p:sp>
      <p:sp>
        <p:nvSpPr>
          <p:cNvPr id="30" name="Shape 28"/>
          <p:cNvSpPr/>
          <p:nvPr/>
        </p:nvSpPr>
        <p:spPr>
          <a:xfrm>
            <a:off x="8202168" y="1883664"/>
            <a:ext cx="3520440" cy="3566160"/>
          </a:xfrm>
          <a:prstGeom prst="roundRect">
            <a:avLst>
              <a:gd name="adj" fmla="val 2597"/>
            </a:avLst>
          </a:prstGeom>
          <a:solidFill>
            <a:srgbClr val="FFFFFF"/>
          </a:solidFill>
          <a:ln w="10160">
            <a:solidFill>
              <a:srgbClr val="C4D2E2"/>
            </a:solidFill>
            <a:prstDash val="solid"/>
          </a:ln>
        </p:spPr>
      </p:sp>
      <p:sp>
        <p:nvSpPr>
          <p:cNvPr id="31" name="Shape 29"/>
          <p:cNvSpPr/>
          <p:nvPr/>
        </p:nvSpPr>
        <p:spPr>
          <a:xfrm>
            <a:off x="9658807" y="2258568"/>
            <a:ext cx="559613" cy="658368"/>
          </a:xfrm>
          <a:prstGeom prst="rect">
            <a:avLst>
              <a:gd name="adj" fmla="val 16340"/>
            </a:avLst>
          </a:prstGeom>
          <a:solidFill>
            <a:srgbClr val="FFFFFF"/>
          </a:solidFill>
          <a:ln w="10160">
            <a:solidFill>
              <a:srgbClr val="176493"/>
            </a:solidFill>
            <a:prstDash val="solid"/>
          </a:ln>
        </p:spPr>
      </p:sp>
      <p:sp>
        <p:nvSpPr>
          <p:cNvPr id="32" name="Shape 30"/>
          <p:cNvSpPr/>
          <p:nvPr/>
        </p:nvSpPr>
        <p:spPr>
          <a:xfrm>
            <a:off x="9757562" y="2472538"/>
            <a:ext cx="106985" cy="106985"/>
          </a:xfrm>
          <a:prstGeom prst="line">
            <a:avLst/>
          </a:prstGeom>
          <a:noFill/>
          <a:ln w="31750">
            <a:solidFill>
              <a:srgbClr val="176493"/>
            </a:solidFill>
            <a:prstDash val="solid"/>
            <a:headEnd type="none"/>
            <a:tailEnd type="none"/>
          </a:ln>
        </p:spPr>
      </p:sp>
      <p:sp>
        <p:nvSpPr>
          <p:cNvPr id="33" name="Shape 31"/>
          <p:cNvSpPr/>
          <p:nvPr/>
        </p:nvSpPr>
        <p:spPr>
          <a:xfrm flipV="1">
            <a:off x="9864547" y="2365553"/>
            <a:ext cx="222199" cy="213970"/>
          </a:xfrm>
          <a:prstGeom prst="line">
            <a:avLst/>
          </a:prstGeom>
          <a:noFill/>
          <a:ln w="31750">
            <a:solidFill>
              <a:srgbClr val="176493"/>
            </a:solidFill>
            <a:prstDash val="solid"/>
            <a:headEnd type="none"/>
            <a:tailEnd type="none"/>
          </a:ln>
        </p:spPr>
      </p:sp>
      <p:sp>
        <p:nvSpPr>
          <p:cNvPr id="34" name="Shape 32"/>
          <p:cNvSpPr/>
          <p:nvPr/>
        </p:nvSpPr>
        <p:spPr>
          <a:xfrm>
            <a:off x="9765792" y="2735885"/>
            <a:ext cx="329184" cy="0"/>
          </a:xfrm>
          <a:prstGeom prst="line">
            <a:avLst/>
          </a:prstGeom>
          <a:noFill/>
          <a:ln w="19050">
            <a:solidFill>
              <a:srgbClr val="176493"/>
            </a:solidFill>
            <a:prstDash val="solid"/>
            <a:headEnd type="none"/>
            <a:tailEnd type="none"/>
          </a:ln>
        </p:spPr>
      </p:sp>
      <p:sp>
        <p:nvSpPr>
          <p:cNvPr id="35" name="Shape 33"/>
          <p:cNvSpPr/>
          <p:nvPr/>
        </p:nvSpPr>
        <p:spPr>
          <a:xfrm>
            <a:off x="9765792" y="2818181"/>
            <a:ext cx="263347" cy="0"/>
          </a:xfrm>
          <a:prstGeom prst="line">
            <a:avLst/>
          </a:prstGeom>
          <a:noFill/>
          <a:ln w="19050">
            <a:solidFill>
              <a:srgbClr val="176493"/>
            </a:solidFill>
            <a:prstDash val="solid"/>
            <a:headEnd type="none"/>
            <a:tailEnd type="none"/>
          </a:ln>
        </p:spPr>
      </p:sp>
      <p:sp>
        <p:nvSpPr>
          <p:cNvPr id="36" name="Text 34"/>
          <p:cNvSpPr/>
          <p:nvPr/>
        </p:nvSpPr>
        <p:spPr>
          <a:xfrm>
            <a:off x="8430768" y="3236976"/>
            <a:ext cx="3063240" cy="402336"/>
          </a:xfrm>
          <a:prstGeom prst="rect">
            <a:avLst/>
          </a:prstGeom>
          <a:noFill/>
          <a:ln/>
        </p:spPr>
        <p:txBody>
          <a:bodyPr wrap="square" lIns="0" tIns="0" rIns="0" bIns="0" rtlCol="0" anchor="ctr"/>
          <a:lstStyle/>
          <a:p>
            <a:pPr algn="ctr" indent="0" marL="0">
              <a:buNone/>
            </a:pPr>
            <a:r>
              <a:rPr lang="en-US" sz="2500" b="1" dirty="0">
                <a:solidFill>
                  <a:srgbClr val="172233"/>
                </a:solidFill>
                <a:latin typeface="Aptos" pitchFamily="34" charset="0"/>
                <a:ea typeface="Aptos" pitchFamily="34" charset="-122"/>
                <a:cs typeface="Aptos" pitchFamily="34" charset="-120"/>
              </a:rPr>
              <a:t>Reproducible work</a:t>
            </a:r>
            <a:endParaRPr lang="en-US" sz="2500" dirty="0"/>
          </a:p>
        </p:txBody>
      </p:sp>
      <p:sp>
        <p:nvSpPr>
          <p:cNvPr id="37" name="Text 35"/>
          <p:cNvSpPr/>
          <p:nvPr/>
        </p:nvSpPr>
        <p:spPr>
          <a:xfrm>
            <a:off x="8485632" y="3904488"/>
            <a:ext cx="2953512" cy="1216152"/>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Git and environments</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Versioned inputs</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Reproducible runs</a:t>
            </a:r>
            <a:endParaRPr lang="en-US" sz="2100" dirty="0"/>
          </a:p>
        </p:txBody>
      </p:sp>
      <p:sp>
        <p:nvSpPr>
          <p:cNvPr id="38" name="Shape 36"/>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39" name="Text 37"/>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Check: if X is 4 x 3 and w is 3 x 1, what is the shape of Xw?</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COURSE MAP</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The full lifecycle starts before modeling</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10 / 24</a:t>
            </a:r>
            <a:endParaRPr lang="en-US" sz="1000" dirty="0"/>
          </a:p>
        </p:txBody>
      </p:sp>
      <p:sp>
        <p:nvSpPr>
          <p:cNvPr id="10" name="Shape 8"/>
          <p:cNvSpPr/>
          <p:nvPr/>
        </p:nvSpPr>
        <p:spPr>
          <a:xfrm>
            <a:off x="758952" y="1965960"/>
            <a:ext cx="2194560" cy="1234440"/>
          </a:xfrm>
          <a:prstGeom prst="roundRect">
            <a:avLst>
              <a:gd name="adj" fmla="val 7407"/>
            </a:avLst>
          </a:prstGeom>
          <a:solidFill>
            <a:srgbClr val="FFFFFF"/>
          </a:solidFill>
          <a:ln w="10160">
            <a:solidFill>
              <a:srgbClr val="C4D2E2"/>
            </a:solidFill>
            <a:prstDash val="solid"/>
          </a:ln>
        </p:spPr>
      </p:sp>
      <p:sp>
        <p:nvSpPr>
          <p:cNvPr id="11" name="Text 9"/>
          <p:cNvSpPr/>
          <p:nvPr/>
        </p:nvSpPr>
        <p:spPr>
          <a:xfrm>
            <a:off x="905256" y="21122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01</a:t>
            </a:r>
            <a:endParaRPr lang="en-US" sz="1100" dirty="0"/>
          </a:p>
        </p:txBody>
      </p:sp>
      <p:sp>
        <p:nvSpPr>
          <p:cNvPr id="12" name="Text 10"/>
          <p:cNvSpPr/>
          <p:nvPr/>
        </p:nvSpPr>
        <p:spPr>
          <a:xfrm>
            <a:off x="1307592" y="20756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Frame</a:t>
            </a:r>
            <a:endParaRPr lang="en-US" sz="2300" dirty="0"/>
          </a:p>
        </p:txBody>
      </p:sp>
      <p:sp>
        <p:nvSpPr>
          <p:cNvPr id="13" name="Text 11"/>
          <p:cNvSpPr/>
          <p:nvPr/>
        </p:nvSpPr>
        <p:spPr>
          <a:xfrm>
            <a:off x="905256" y="25877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User and decision</a:t>
            </a:r>
            <a:endParaRPr lang="en-US" sz="1600" dirty="0"/>
          </a:p>
        </p:txBody>
      </p:sp>
      <p:sp>
        <p:nvSpPr>
          <p:cNvPr id="14" name="Shape 12"/>
          <p:cNvSpPr/>
          <p:nvPr/>
        </p:nvSpPr>
        <p:spPr>
          <a:xfrm>
            <a:off x="3593592" y="1965960"/>
            <a:ext cx="2194560" cy="1234440"/>
          </a:xfrm>
          <a:prstGeom prst="roundRect">
            <a:avLst>
              <a:gd name="adj" fmla="val 7407"/>
            </a:avLst>
          </a:prstGeom>
          <a:solidFill>
            <a:srgbClr val="FFFFFF"/>
          </a:solidFill>
          <a:ln w="10160">
            <a:solidFill>
              <a:srgbClr val="C4D2E2"/>
            </a:solidFill>
            <a:prstDash val="solid"/>
          </a:ln>
        </p:spPr>
      </p:sp>
      <p:sp>
        <p:nvSpPr>
          <p:cNvPr id="15" name="Text 13"/>
          <p:cNvSpPr/>
          <p:nvPr/>
        </p:nvSpPr>
        <p:spPr>
          <a:xfrm>
            <a:off x="3739896" y="21122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02</a:t>
            </a:r>
            <a:endParaRPr lang="en-US" sz="1100" dirty="0"/>
          </a:p>
        </p:txBody>
      </p:sp>
      <p:sp>
        <p:nvSpPr>
          <p:cNvPr id="16" name="Text 14"/>
          <p:cNvSpPr/>
          <p:nvPr/>
        </p:nvSpPr>
        <p:spPr>
          <a:xfrm>
            <a:off x="4142232" y="20756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Acquire</a:t>
            </a:r>
            <a:endParaRPr lang="en-US" sz="2300" dirty="0"/>
          </a:p>
        </p:txBody>
      </p:sp>
      <p:sp>
        <p:nvSpPr>
          <p:cNvPr id="17" name="Text 15"/>
          <p:cNvSpPr/>
          <p:nvPr/>
        </p:nvSpPr>
        <p:spPr>
          <a:xfrm>
            <a:off x="3739896" y="25877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Source and rights</a:t>
            </a:r>
            <a:endParaRPr lang="en-US" sz="1600" dirty="0"/>
          </a:p>
        </p:txBody>
      </p:sp>
      <p:sp>
        <p:nvSpPr>
          <p:cNvPr id="18" name="Shape 16"/>
          <p:cNvSpPr/>
          <p:nvPr/>
        </p:nvSpPr>
        <p:spPr>
          <a:xfrm>
            <a:off x="6428232" y="1965960"/>
            <a:ext cx="2194560" cy="1234440"/>
          </a:xfrm>
          <a:prstGeom prst="roundRect">
            <a:avLst>
              <a:gd name="adj" fmla="val 7407"/>
            </a:avLst>
          </a:prstGeom>
          <a:solidFill>
            <a:srgbClr val="FFFFFF"/>
          </a:solidFill>
          <a:ln w="10160">
            <a:solidFill>
              <a:srgbClr val="C4D2E2"/>
            </a:solidFill>
            <a:prstDash val="solid"/>
          </a:ln>
        </p:spPr>
      </p:sp>
      <p:sp>
        <p:nvSpPr>
          <p:cNvPr id="19" name="Text 17"/>
          <p:cNvSpPr/>
          <p:nvPr/>
        </p:nvSpPr>
        <p:spPr>
          <a:xfrm>
            <a:off x="6574536" y="21122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03</a:t>
            </a:r>
            <a:endParaRPr lang="en-US" sz="1100" dirty="0"/>
          </a:p>
        </p:txBody>
      </p:sp>
      <p:sp>
        <p:nvSpPr>
          <p:cNvPr id="20" name="Text 18"/>
          <p:cNvSpPr/>
          <p:nvPr/>
        </p:nvSpPr>
        <p:spPr>
          <a:xfrm>
            <a:off x="6976872" y="20756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Prepare</a:t>
            </a:r>
            <a:endParaRPr lang="en-US" sz="2300" dirty="0"/>
          </a:p>
        </p:txBody>
      </p:sp>
      <p:sp>
        <p:nvSpPr>
          <p:cNvPr id="21" name="Text 19"/>
          <p:cNvSpPr/>
          <p:nvPr/>
        </p:nvSpPr>
        <p:spPr>
          <a:xfrm>
            <a:off x="6574536" y="25877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Schema and features</a:t>
            </a:r>
            <a:endParaRPr lang="en-US" sz="1600" dirty="0"/>
          </a:p>
        </p:txBody>
      </p:sp>
      <p:sp>
        <p:nvSpPr>
          <p:cNvPr id="22" name="Shape 20"/>
          <p:cNvSpPr/>
          <p:nvPr/>
        </p:nvSpPr>
        <p:spPr>
          <a:xfrm>
            <a:off x="9262872" y="1965960"/>
            <a:ext cx="2194560" cy="1234440"/>
          </a:xfrm>
          <a:prstGeom prst="roundRect">
            <a:avLst>
              <a:gd name="adj" fmla="val 7407"/>
            </a:avLst>
          </a:prstGeom>
          <a:solidFill>
            <a:srgbClr val="FFFFFF"/>
          </a:solidFill>
          <a:ln w="10160">
            <a:solidFill>
              <a:srgbClr val="C4D2E2"/>
            </a:solidFill>
            <a:prstDash val="solid"/>
          </a:ln>
        </p:spPr>
      </p:sp>
      <p:sp>
        <p:nvSpPr>
          <p:cNvPr id="23" name="Text 21"/>
          <p:cNvSpPr/>
          <p:nvPr/>
        </p:nvSpPr>
        <p:spPr>
          <a:xfrm>
            <a:off x="9409176" y="21122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04</a:t>
            </a:r>
            <a:endParaRPr lang="en-US" sz="1100" dirty="0"/>
          </a:p>
        </p:txBody>
      </p:sp>
      <p:sp>
        <p:nvSpPr>
          <p:cNvPr id="24" name="Text 22"/>
          <p:cNvSpPr/>
          <p:nvPr/>
        </p:nvSpPr>
        <p:spPr>
          <a:xfrm>
            <a:off x="9811512" y="20756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Explore</a:t>
            </a:r>
            <a:endParaRPr lang="en-US" sz="2300" dirty="0"/>
          </a:p>
        </p:txBody>
      </p:sp>
      <p:sp>
        <p:nvSpPr>
          <p:cNvPr id="25" name="Text 23"/>
          <p:cNvSpPr/>
          <p:nvPr/>
        </p:nvSpPr>
        <p:spPr>
          <a:xfrm>
            <a:off x="9409176" y="25877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Patterns and questions</a:t>
            </a:r>
            <a:endParaRPr lang="en-US" sz="1600" dirty="0"/>
          </a:p>
        </p:txBody>
      </p:sp>
      <p:sp>
        <p:nvSpPr>
          <p:cNvPr id="26" name="Shape 24"/>
          <p:cNvSpPr/>
          <p:nvPr/>
        </p:nvSpPr>
        <p:spPr>
          <a:xfrm>
            <a:off x="9262872" y="4023360"/>
            <a:ext cx="2194560" cy="1234440"/>
          </a:xfrm>
          <a:prstGeom prst="roundRect">
            <a:avLst>
              <a:gd name="adj" fmla="val 7407"/>
            </a:avLst>
          </a:prstGeom>
          <a:solidFill>
            <a:srgbClr val="FFFFFF"/>
          </a:solidFill>
          <a:ln w="10160">
            <a:solidFill>
              <a:srgbClr val="C4D2E2"/>
            </a:solidFill>
            <a:prstDash val="solid"/>
          </a:ln>
        </p:spPr>
      </p:sp>
      <p:sp>
        <p:nvSpPr>
          <p:cNvPr id="27" name="Text 25"/>
          <p:cNvSpPr/>
          <p:nvPr/>
        </p:nvSpPr>
        <p:spPr>
          <a:xfrm>
            <a:off x="9409176" y="41696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05</a:t>
            </a:r>
            <a:endParaRPr lang="en-US" sz="1100" dirty="0"/>
          </a:p>
        </p:txBody>
      </p:sp>
      <p:sp>
        <p:nvSpPr>
          <p:cNvPr id="28" name="Text 26"/>
          <p:cNvSpPr/>
          <p:nvPr/>
        </p:nvSpPr>
        <p:spPr>
          <a:xfrm>
            <a:off x="9811512" y="41330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Model</a:t>
            </a:r>
            <a:endParaRPr lang="en-US" sz="2300" dirty="0"/>
          </a:p>
        </p:txBody>
      </p:sp>
      <p:sp>
        <p:nvSpPr>
          <p:cNvPr id="29" name="Text 27"/>
          <p:cNvSpPr/>
          <p:nvPr/>
        </p:nvSpPr>
        <p:spPr>
          <a:xfrm>
            <a:off x="9409176" y="46451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Baseline and fit</a:t>
            </a:r>
            <a:endParaRPr lang="en-US" sz="1600" dirty="0"/>
          </a:p>
        </p:txBody>
      </p:sp>
      <p:sp>
        <p:nvSpPr>
          <p:cNvPr id="30" name="Shape 28"/>
          <p:cNvSpPr/>
          <p:nvPr/>
        </p:nvSpPr>
        <p:spPr>
          <a:xfrm>
            <a:off x="6428232" y="4023360"/>
            <a:ext cx="2194560" cy="1234440"/>
          </a:xfrm>
          <a:prstGeom prst="roundRect">
            <a:avLst>
              <a:gd name="adj" fmla="val 7407"/>
            </a:avLst>
          </a:prstGeom>
          <a:solidFill>
            <a:srgbClr val="FFFFFF"/>
          </a:solidFill>
          <a:ln w="10160">
            <a:solidFill>
              <a:srgbClr val="C4D2E2"/>
            </a:solidFill>
            <a:prstDash val="solid"/>
          </a:ln>
        </p:spPr>
      </p:sp>
      <p:sp>
        <p:nvSpPr>
          <p:cNvPr id="31" name="Text 29"/>
          <p:cNvSpPr/>
          <p:nvPr/>
        </p:nvSpPr>
        <p:spPr>
          <a:xfrm>
            <a:off x="6574536" y="41696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06</a:t>
            </a:r>
            <a:endParaRPr lang="en-US" sz="1100" dirty="0"/>
          </a:p>
        </p:txBody>
      </p:sp>
      <p:sp>
        <p:nvSpPr>
          <p:cNvPr id="32" name="Text 30"/>
          <p:cNvSpPr/>
          <p:nvPr/>
        </p:nvSpPr>
        <p:spPr>
          <a:xfrm>
            <a:off x="6976872" y="41330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Evaluate</a:t>
            </a:r>
            <a:endParaRPr lang="en-US" sz="2300" dirty="0"/>
          </a:p>
        </p:txBody>
      </p:sp>
      <p:sp>
        <p:nvSpPr>
          <p:cNvPr id="33" name="Text 31"/>
          <p:cNvSpPr/>
          <p:nvPr/>
        </p:nvSpPr>
        <p:spPr>
          <a:xfrm>
            <a:off x="6574536" y="46451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Errors and limits</a:t>
            </a:r>
            <a:endParaRPr lang="en-US" sz="1600" dirty="0"/>
          </a:p>
        </p:txBody>
      </p:sp>
      <p:sp>
        <p:nvSpPr>
          <p:cNvPr id="34" name="Shape 32"/>
          <p:cNvSpPr/>
          <p:nvPr/>
        </p:nvSpPr>
        <p:spPr>
          <a:xfrm>
            <a:off x="3593592" y="4023360"/>
            <a:ext cx="2194560" cy="1234440"/>
          </a:xfrm>
          <a:prstGeom prst="roundRect">
            <a:avLst>
              <a:gd name="adj" fmla="val 7407"/>
            </a:avLst>
          </a:prstGeom>
          <a:solidFill>
            <a:srgbClr val="FFFFFF"/>
          </a:solidFill>
          <a:ln w="10160">
            <a:solidFill>
              <a:srgbClr val="C4D2E2"/>
            </a:solidFill>
            <a:prstDash val="solid"/>
          </a:ln>
        </p:spPr>
      </p:sp>
      <p:sp>
        <p:nvSpPr>
          <p:cNvPr id="35" name="Text 33"/>
          <p:cNvSpPr/>
          <p:nvPr/>
        </p:nvSpPr>
        <p:spPr>
          <a:xfrm>
            <a:off x="3739896" y="41696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07</a:t>
            </a:r>
            <a:endParaRPr lang="en-US" sz="1100" dirty="0"/>
          </a:p>
        </p:txBody>
      </p:sp>
      <p:sp>
        <p:nvSpPr>
          <p:cNvPr id="36" name="Text 34"/>
          <p:cNvSpPr/>
          <p:nvPr/>
        </p:nvSpPr>
        <p:spPr>
          <a:xfrm>
            <a:off x="4142232" y="41330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Serve</a:t>
            </a:r>
            <a:endParaRPr lang="en-US" sz="2300" dirty="0"/>
          </a:p>
        </p:txBody>
      </p:sp>
      <p:sp>
        <p:nvSpPr>
          <p:cNvPr id="37" name="Text 35"/>
          <p:cNvSpPr/>
          <p:nvPr/>
        </p:nvSpPr>
        <p:spPr>
          <a:xfrm>
            <a:off x="3739896" y="46451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User interaction</a:t>
            </a:r>
            <a:endParaRPr lang="en-US" sz="1600" dirty="0"/>
          </a:p>
        </p:txBody>
      </p:sp>
      <p:sp>
        <p:nvSpPr>
          <p:cNvPr id="38" name="Shape 36"/>
          <p:cNvSpPr/>
          <p:nvPr/>
        </p:nvSpPr>
        <p:spPr>
          <a:xfrm>
            <a:off x="758952" y="4023360"/>
            <a:ext cx="2194560" cy="1234440"/>
          </a:xfrm>
          <a:prstGeom prst="roundRect">
            <a:avLst>
              <a:gd name="adj" fmla="val 7407"/>
            </a:avLst>
          </a:prstGeom>
          <a:solidFill>
            <a:srgbClr val="FFFFFF"/>
          </a:solidFill>
          <a:ln w="10160">
            <a:solidFill>
              <a:srgbClr val="C4D2E2"/>
            </a:solidFill>
            <a:prstDash val="solid"/>
          </a:ln>
        </p:spPr>
      </p:sp>
      <p:sp>
        <p:nvSpPr>
          <p:cNvPr id="39" name="Text 37"/>
          <p:cNvSpPr/>
          <p:nvPr/>
        </p:nvSpPr>
        <p:spPr>
          <a:xfrm>
            <a:off x="905256" y="4169664"/>
            <a:ext cx="3657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08</a:t>
            </a:r>
            <a:endParaRPr lang="en-US" sz="1100" dirty="0"/>
          </a:p>
        </p:txBody>
      </p:sp>
      <p:sp>
        <p:nvSpPr>
          <p:cNvPr id="40" name="Text 38"/>
          <p:cNvSpPr/>
          <p:nvPr/>
        </p:nvSpPr>
        <p:spPr>
          <a:xfrm>
            <a:off x="1307592" y="4133088"/>
            <a:ext cx="1517904" cy="3200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Monitor</a:t>
            </a:r>
            <a:endParaRPr lang="en-US" sz="2300" dirty="0"/>
          </a:p>
        </p:txBody>
      </p:sp>
      <p:sp>
        <p:nvSpPr>
          <p:cNvPr id="41" name="Text 39"/>
          <p:cNvSpPr/>
          <p:nvPr/>
        </p:nvSpPr>
        <p:spPr>
          <a:xfrm>
            <a:off x="905256" y="4645152"/>
            <a:ext cx="1901952" cy="4846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Change and recovery</a:t>
            </a:r>
            <a:endParaRPr lang="en-US" sz="1600" dirty="0"/>
          </a:p>
        </p:txBody>
      </p:sp>
      <p:sp>
        <p:nvSpPr>
          <p:cNvPr id="42" name="Shape 40"/>
          <p:cNvSpPr/>
          <p:nvPr/>
        </p:nvSpPr>
        <p:spPr>
          <a:xfrm>
            <a:off x="3035808" y="2569464"/>
            <a:ext cx="466344" cy="0"/>
          </a:xfrm>
          <a:prstGeom prst="line">
            <a:avLst/>
          </a:prstGeom>
          <a:noFill/>
          <a:ln w="22860">
            <a:solidFill>
              <a:srgbClr val="2684BF"/>
            </a:solidFill>
            <a:prstDash val="solid"/>
            <a:headEnd type="none"/>
            <a:tailEnd type="triangle"/>
          </a:ln>
        </p:spPr>
      </p:sp>
      <p:sp>
        <p:nvSpPr>
          <p:cNvPr id="43" name="Shape 41"/>
          <p:cNvSpPr/>
          <p:nvPr/>
        </p:nvSpPr>
        <p:spPr>
          <a:xfrm>
            <a:off x="5870448" y="2569464"/>
            <a:ext cx="466344" cy="0"/>
          </a:xfrm>
          <a:prstGeom prst="line">
            <a:avLst/>
          </a:prstGeom>
          <a:noFill/>
          <a:ln w="22860">
            <a:solidFill>
              <a:srgbClr val="2684BF"/>
            </a:solidFill>
            <a:prstDash val="solid"/>
            <a:headEnd type="none"/>
            <a:tailEnd type="triangle"/>
          </a:ln>
        </p:spPr>
      </p:sp>
      <p:sp>
        <p:nvSpPr>
          <p:cNvPr id="44" name="Shape 42"/>
          <p:cNvSpPr/>
          <p:nvPr/>
        </p:nvSpPr>
        <p:spPr>
          <a:xfrm>
            <a:off x="8705088" y="2569464"/>
            <a:ext cx="466344" cy="0"/>
          </a:xfrm>
          <a:prstGeom prst="line">
            <a:avLst/>
          </a:prstGeom>
          <a:noFill/>
          <a:ln w="22860">
            <a:solidFill>
              <a:srgbClr val="2684BF"/>
            </a:solidFill>
            <a:prstDash val="solid"/>
            <a:headEnd type="none"/>
            <a:tailEnd type="triangle"/>
          </a:ln>
        </p:spPr>
      </p:sp>
      <p:sp>
        <p:nvSpPr>
          <p:cNvPr id="45" name="Shape 43"/>
          <p:cNvSpPr/>
          <p:nvPr/>
        </p:nvSpPr>
        <p:spPr>
          <a:xfrm>
            <a:off x="10360152" y="3319272"/>
            <a:ext cx="0" cy="548640"/>
          </a:xfrm>
          <a:prstGeom prst="line">
            <a:avLst/>
          </a:prstGeom>
          <a:noFill/>
          <a:ln w="22860">
            <a:solidFill>
              <a:srgbClr val="2684BF"/>
            </a:solidFill>
            <a:prstDash val="solid"/>
            <a:headEnd type="none"/>
            <a:tailEnd type="triangle"/>
          </a:ln>
        </p:spPr>
      </p:sp>
      <p:sp>
        <p:nvSpPr>
          <p:cNvPr id="46" name="Shape 44"/>
          <p:cNvSpPr/>
          <p:nvPr/>
        </p:nvSpPr>
        <p:spPr>
          <a:xfrm flipH="1">
            <a:off x="8723376" y="4626864"/>
            <a:ext cx="438912" cy="0"/>
          </a:xfrm>
          <a:prstGeom prst="line">
            <a:avLst/>
          </a:prstGeom>
          <a:noFill/>
          <a:ln w="22860">
            <a:solidFill>
              <a:srgbClr val="2684BF"/>
            </a:solidFill>
            <a:prstDash val="solid"/>
            <a:headEnd type="none"/>
            <a:tailEnd type="triangle"/>
          </a:ln>
        </p:spPr>
      </p:sp>
      <p:sp>
        <p:nvSpPr>
          <p:cNvPr id="47" name="Shape 45"/>
          <p:cNvSpPr/>
          <p:nvPr/>
        </p:nvSpPr>
        <p:spPr>
          <a:xfrm flipH="1">
            <a:off x="5888736" y="4626864"/>
            <a:ext cx="438912" cy="0"/>
          </a:xfrm>
          <a:prstGeom prst="line">
            <a:avLst/>
          </a:prstGeom>
          <a:noFill/>
          <a:ln w="22860">
            <a:solidFill>
              <a:srgbClr val="2684BF"/>
            </a:solidFill>
            <a:prstDash val="solid"/>
            <a:headEnd type="none"/>
            <a:tailEnd type="triangle"/>
          </a:ln>
        </p:spPr>
      </p:sp>
      <p:sp>
        <p:nvSpPr>
          <p:cNvPr id="48" name="Shape 46"/>
          <p:cNvSpPr/>
          <p:nvPr/>
        </p:nvSpPr>
        <p:spPr>
          <a:xfrm flipH="1">
            <a:off x="3054096" y="4626864"/>
            <a:ext cx="438912" cy="0"/>
          </a:xfrm>
          <a:prstGeom prst="line">
            <a:avLst/>
          </a:prstGeom>
          <a:noFill/>
          <a:ln w="22860">
            <a:solidFill>
              <a:srgbClr val="2684BF"/>
            </a:solidFill>
            <a:prstDash val="solid"/>
            <a:headEnd type="none"/>
            <a:tailEnd type="triangle"/>
          </a:ln>
        </p:spPr>
      </p:sp>
      <p:sp>
        <p:nvSpPr>
          <p:cNvPr id="49" name="Shape 47"/>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50" name="Text 48"/>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Each stage changes what the final result can legitimately claim.</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PROBLEM FRAMING</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What should the model output?</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11 / 24</a:t>
            </a:r>
            <a:endParaRPr lang="en-US" sz="1000" dirty="0"/>
          </a:p>
        </p:txBody>
      </p:sp>
      <p:sp>
        <p:nvSpPr>
          <p:cNvPr id="10" name="Shape 8"/>
          <p:cNvSpPr/>
          <p:nvPr/>
        </p:nvSpPr>
        <p:spPr>
          <a:xfrm>
            <a:off x="722376" y="1856232"/>
            <a:ext cx="5184648" cy="3694176"/>
          </a:xfrm>
          <a:prstGeom prst="roundRect">
            <a:avLst>
              <a:gd name="adj" fmla="val 2475"/>
            </a:avLst>
          </a:prstGeom>
          <a:solidFill>
            <a:srgbClr val="FFFFFF"/>
          </a:solidFill>
          <a:ln w="10160">
            <a:solidFill>
              <a:srgbClr val="C4D2E2"/>
            </a:solidFill>
            <a:prstDash val="solid"/>
          </a:ln>
        </p:spPr>
      </p:sp>
      <p:sp>
        <p:nvSpPr>
          <p:cNvPr id="11" name="Shape 9"/>
          <p:cNvSpPr/>
          <p:nvPr/>
        </p:nvSpPr>
        <p:spPr>
          <a:xfrm>
            <a:off x="6272784" y="1856232"/>
            <a:ext cx="5184648" cy="3694176"/>
          </a:xfrm>
          <a:prstGeom prst="roundRect">
            <a:avLst>
              <a:gd name="adj" fmla="val 2475"/>
            </a:avLst>
          </a:prstGeom>
          <a:solidFill>
            <a:srgbClr val="FFFFFF"/>
          </a:solidFill>
          <a:ln w="10160">
            <a:solidFill>
              <a:srgbClr val="C4D2E2"/>
            </a:solidFill>
            <a:prstDash val="solid"/>
          </a:ln>
        </p:spPr>
      </p:sp>
      <p:sp>
        <p:nvSpPr>
          <p:cNvPr id="12" name="Text 10"/>
          <p:cNvSpPr/>
          <p:nvPr/>
        </p:nvSpPr>
        <p:spPr>
          <a:xfrm>
            <a:off x="1005840" y="2103120"/>
            <a:ext cx="365760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REGRESSION</a:t>
            </a:r>
            <a:endParaRPr lang="en-US" sz="1100" dirty="0"/>
          </a:p>
        </p:txBody>
      </p:sp>
      <p:sp>
        <p:nvSpPr>
          <p:cNvPr id="13" name="Text 11"/>
          <p:cNvSpPr/>
          <p:nvPr/>
        </p:nvSpPr>
        <p:spPr>
          <a:xfrm>
            <a:off x="6565392" y="2103120"/>
            <a:ext cx="3657600" cy="228600"/>
          </a:xfrm>
          <a:prstGeom prst="rect">
            <a:avLst/>
          </a:prstGeom>
          <a:noFill/>
          <a:ln/>
        </p:spPr>
        <p:txBody>
          <a:bodyPr wrap="square" lIns="0" tIns="0" rIns="0" bIns="0" rtlCol="0" anchor="ctr"/>
          <a:lstStyle/>
          <a:p>
            <a:pPr indent="0" marL="0">
              <a:buNone/>
            </a:pPr>
            <a:r>
              <a:rPr lang="en-US" sz="1100" b="1" spc="110" kern="0" dirty="0">
                <a:solidFill>
                  <a:srgbClr val="167C85"/>
                </a:solidFill>
                <a:latin typeface="Aptos" pitchFamily="34" charset="0"/>
                <a:ea typeface="Aptos" pitchFamily="34" charset="-122"/>
                <a:cs typeface="Aptos" pitchFamily="34" charset="-120"/>
              </a:rPr>
              <a:t>CLASSIFICATION</a:t>
            </a:r>
            <a:endParaRPr lang="en-US" sz="1100" dirty="0"/>
          </a:p>
        </p:txBody>
      </p:sp>
      <p:sp>
        <p:nvSpPr>
          <p:cNvPr id="14" name="Shape 12"/>
          <p:cNvSpPr/>
          <p:nvPr/>
        </p:nvSpPr>
        <p:spPr>
          <a:xfrm flipV="1">
            <a:off x="1110082" y="2783434"/>
            <a:ext cx="307238" cy="248717"/>
          </a:xfrm>
          <a:prstGeom prst="line">
            <a:avLst/>
          </a:prstGeom>
          <a:noFill/>
          <a:ln w="26670">
            <a:solidFill>
              <a:srgbClr val="176493"/>
            </a:solidFill>
            <a:prstDash val="solid"/>
            <a:headEnd type="none"/>
            <a:tailEnd type="none"/>
          </a:ln>
        </p:spPr>
      </p:sp>
      <p:sp>
        <p:nvSpPr>
          <p:cNvPr id="15" name="Shape 13"/>
          <p:cNvSpPr/>
          <p:nvPr/>
        </p:nvSpPr>
        <p:spPr>
          <a:xfrm>
            <a:off x="1417320" y="2783434"/>
            <a:ext cx="307238" cy="248717"/>
          </a:xfrm>
          <a:prstGeom prst="line">
            <a:avLst/>
          </a:prstGeom>
          <a:noFill/>
          <a:ln w="26670">
            <a:solidFill>
              <a:srgbClr val="176493"/>
            </a:solidFill>
            <a:prstDash val="solid"/>
            <a:headEnd type="none"/>
            <a:tailEnd type="none"/>
          </a:ln>
        </p:spPr>
      </p:sp>
      <p:sp>
        <p:nvSpPr>
          <p:cNvPr id="16" name="Shape 14"/>
          <p:cNvSpPr/>
          <p:nvPr/>
        </p:nvSpPr>
        <p:spPr>
          <a:xfrm>
            <a:off x="1190549" y="2988259"/>
            <a:ext cx="0" cy="395021"/>
          </a:xfrm>
          <a:prstGeom prst="line">
            <a:avLst/>
          </a:prstGeom>
          <a:noFill/>
          <a:ln w="26670">
            <a:solidFill>
              <a:srgbClr val="176493"/>
            </a:solidFill>
            <a:prstDash val="solid"/>
            <a:headEnd type="none"/>
            <a:tailEnd type="none"/>
          </a:ln>
        </p:spPr>
      </p:sp>
      <p:sp>
        <p:nvSpPr>
          <p:cNvPr id="17" name="Shape 15"/>
          <p:cNvSpPr/>
          <p:nvPr/>
        </p:nvSpPr>
        <p:spPr>
          <a:xfrm>
            <a:off x="1644091" y="2988259"/>
            <a:ext cx="0" cy="395021"/>
          </a:xfrm>
          <a:prstGeom prst="line">
            <a:avLst/>
          </a:prstGeom>
          <a:noFill/>
          <a:ln w="26670">
            <a:solidFill>
              <a:srgbClr val="176493"/>
            </a:solidFill>
            <a:prstDash val="solid"/>
            <a:headEnd type="none"/>
            <a:tailEnd type="none"/>
          </a:ln>
        </p:spPr>
      </p:sp>
      <p:sp>
        <p:nvSpPr>
          <p:cNvPr id="18" name="Shape 16"/>
          <p:cNvSpPr/>
          <p:nvPr/>
        </p:nvSpPr>
        <p:spPr>
          <a:xfrm>
            <a:off x="1190549" y="3383280"/>
            <a:ext cx="453542" cy="0"/>
          </a:xfrm>
          <a:prstGeom prst="line">
            <a:avLst/>
          </a:prstGeom>
          <a:noFill/>
          <a:ln w="26670">
            <a:solidFill>
              <a:srgbClr val="176493"/>
            </a:solidFill>
            <a:prstDash val="solid"/>
            <a:headEnd type="none"/>
            <a:tailEnd type="none"/>
          </a:ln>
        </p:spPr>
      </p:sp>
      <p:sp>
        <p:nvSpPr>
          <p:cNvPr id="19" name="Shape 17"/>
          <p:cNvSpPr/>
          <p:nvPr/>
        </p:nvSpPr>
        <p:spPr>
          <a:xfrm>
            <a:off x="1366114" y="3163824"/>
            <a:ext cx="124358" cy="219456"/>
          </a:xfrm>
          <a:prstGeom prst="rect">
            <a:avLst>
              <a:gd name="adj" fmla="val 73530"/>
            </a:avLst>
          </a:prstGeom>
          <a:solidFill>
            <a:srgbClr val="E3EFF7"/>
          </a:solidFill>
          <a:ln w="10160">
            <a:solidFill>
              <a:srgbClr val="176493"/>
            </a:solidFill>
            <a:prstDash val="solid"/>
          </a:ln>
        </p:spPr>
      </p:sp>
      <p:sp>
        <p:nvSpPr>
          <p:cNvPr id="20" name="Shape 18"/>
          <p:cNvSpPr/>
          <p:nvPr/>
        </p:nvSpPr>
        <p:spPr>
          <a:xfrm>
            <a:off x="2066544" y="3136392"/>
            <a:ext cx="694944" cy="0"/>
          </a:xfrm>
          <a:prstGeom prst="line">
            <a:avLst/>
          </a:prstGeom>
          <a:noFill/>
          <a:ln w="22860">
            <a:solidFill>
              <a:srgbClr val="2684BF"/>
            </a:solidFill>
            <a:prstDash val="solid"/>
            <a:headEnd type="none"/>
            <a:tailEnd type="triangle"/>
          </a:ln>
        </p:spPr>
      </p:sp>
      <p:sp>
        <p:nvSpPr>
          <p:cNvPr id="21" name="Text 19"/>
          <p:cNvSpPr/>
          <p:nvPr/>
        </p:nvSpPr>
        <p:spPr>
          <a:xfrm>
            <a:off x="2926080" y="2770632"/>
            <a:ext cx="2651760" cy="630936"/>
          </a:xfrm>
          <a:prstGeom prst="rect">
            <a:avLst/>
          </a:prstGeom>
          <a:noFill/>
          <a:ln/>
        </p:spPr>
        <p:txBody>
          <a:bodyPr wrap="square" lIns="0" tIns="0" rIns="0" bIns="0" rtlCol="0" anchor="ctr"/>
          <a:lstStyle/>
          <a:p>
            <a:pPr indent="0" marL="0">
              <a:buNone/>
            </a:pPr>
            <a:r>
              <a:rPr lang="en-US" sz="2700" b="1" dirty="0">
                <a:solidFill>
                  <a:srgbClr val="176493"/>
                </a:solidFill>
                <a:latin typeface="Aptos" pitchFamily="34" charset="0"/>
                <a:ea typeface="Aptos" pitchFamily="34" charset="-122"/>
                <a:cs typeface="Aptos" pitchFamily="34" charset="-120"/>
              </a:rPr>
              <a:t>180,000 EUR</a:t>
            </a:r>
            <a:endParaRPr lang="en-US" sz="2700" dirty="0"/>
          </a:p>
        </p:txBody>
      </p:sp>
      <p:sp>
        <p:nvSpPr>
          <p:cNvPr id="22" name="Text 20"/>
          <p:cNvSpPr/>
          <p:nvPr/>
        </p:nvSpPr>
        <p:spPr>
          <a:xfrm>
            <a:off x="1024128" y="3758184"/>
            <a:ext cx="4544568" cy="393192"/>
          </a:xfrm>
          <a:prstGeom prst="rect">
            <a:avLst/>
          </a:prstGeom>
          <a:noFill/>
          <a:ln/>
        </p:spPr>
        <p:txBody>
          <a:bodyPr wrap="square" lIns="0" tIns="0" rIns="0" bIns="0" rtlCol="0" anchor="ctr"/>
          <a:lstStyle/>
          <a:p>
            <a:pPr indent="0" marL="0">
              <a:buNone/>
            </a:pPr>
            <a:r>
              <a:rPr lang="en-US" sz="2500" b="1" dirty="0">
                <a:solidFill>
                  <a:srgbClr val="172233"/>
                </a:solidFill>
                <a:latin typeface="Aptos" pitchFamily="34" charset="0"/>
                <a:ea typeface="Aptos" pitchFamily="34" charset="-122"/>
                <a:cs typeface="Aptos" pitchFamily="34" charset="-120"/>
              </a:rPr>
              <a:t>A numerical value</a:t>
            </a:r>
            <a:endParaRPr lang="en-US" sz="2500" dirty="0"/>
          </a:p>
        </p:txBody>
      </p:sp>
      <p:sp>
        <p:nvSpPr>
          <p:cNvPr id="23" name="Text 21"/>
          <p:cNvSpPr/>
          <p:nvPr/>
        </p:nvSpPr>
        <p:spPr>
          <a:xfrm>
            <a:off x="1024128" y="4462272"/>
            <a:ext cx="4553712" cy="768096"/>
          </a:xfrm>
          <a:prstGeom prst="rect">
            <a:avLst/>
          </a:prstGeom>
          <a:noFill/>
          <a:ln/>
        </p:spPr>
        <p:txBody>
          <a:bodyPr wrap="square" lIns="0" tIns="0" rIns="0" bIns="0" rtlCol="0" anchor="ctr"/>
          <a:lstStyle/>
          <a:p>
            <a:pPr indent="0" marL="0">
              <a:buNone/>
            </a:pPr>
            <a:r>
              <a:rPr lang="en-US" sz="2000" dirty="0">
                <a:solidFill>
                  <a:srgbClr val="53657A"/>
                </a:solidFill>
                <a:latin typeface="Aptos" pitchFamily="34" charset="0"/>
                <a:ea typeface="Aptos" pitchFamily="34" charset="-122"/>
                <a:cs typeface="Aptos" pitchFamily="34" charset="-120"/>
              </a:rPr>
              <a:t>Example: price estimate</a:t>
            </a:r>
            <a:endParaRPr lang="en-US" sz="2000" dirty="0"/>
          </a:p>
          <a:p>
            <a:pPr indent="0" marL="0">
              <a:buNone/>
            </a:pPr>
            <a:r>
              <a:rPr lang="en-US" sz="2000" dirty="0">
                <a:solidFill>
                  <a:srgbClr val="53657A"/>
                </a:solidFill>
                <a:latin typeface="Aptos" pitchFamily="34" charset="0"/>
                <a:ea typeface="Aptos" pitchFamily="34" charset="-122"/>
                <a:cs typeface="Aptos" pitchFamily="34" charset="-120"/>
              </a:rPr>
              <a:t>Error: distance from the observed value</a:t>
            </a:r>
            <a:endParaRPr lang="en-US" sz="2000" dirty="0"/>
          </a:p>
        </p:txBody>
      </p:sp>
      <p:sp>
        <p:nvSpPr>
          <p:cNvPr id="24" name="Shape 22"/>
          <p:cNvSpPr/>
          <p:nvPr/>
        </p:nvSpPr>
        <p:spPr>
          <a:xfrm>
            <a:off x="6660490" y="3046781"/>
            <a:ext cx="629107" cy="343814"/>
          </a:xfrm>
          <a:prstGeom prst="rect">
            <a:avLst>
              <a:gd name="adj" fmla="val 26596"/>
            </a:avLst>
          </a:prstGeom>
          <a:solidFill>
            <a:srgbClr val="FFFFFF"/>
          </a:solidFill>
          <a:ln w="10160">
            <a:solidFill>
              <a:srgbClr val="176493"/>
            </a:solidFill>
            <a:prstDash val="solid"/>
          </a:ln>
        </p:spPr>
      </p:sp>
      <p:sp>
        <p:nvSpPr>
          <p:cNvPr id="25" name="Shape 23"/>
          <p:cNvSpPr/>
          <p:nvPr/>
        </p:nvSpPr>
        <p:spPr>
          <a:xfrm flipV="1">
            <a:off x="6660490" y="2915107"/>
            <a:ext cx="168250" cy="131674"/>
          </a:xfrm>
          <a:prstGeom prst="line">
            <a:avLst/>
          </a:prstGeom>
          <a:noFill/>
          <a:ln w="26670">
            <a:solidFill>
              <a:srgbClr val="176493"/>
            </a:solidFill>
            <a:prstDash val="solid"/>
            <a:headEnd type="none"/>
            <a:tailEnd type="none"/>
          </a:ln>
        </p:spPr>
      </p:sp>
      <p:sp>
        <p:nvSpPr>
          <p:cNvPr id="26" name="Shape 24"/>
          <p:cNvSpPr/>
          <p:nvPr/>
        </p:nvSpPr>
        <p:spPr>
          <a:xfrm>
            <a:off x="6828739" y="2915107"/>
            <a:ext cx="0" cy="131674"/>
          </a:xfrm>
          <a:prstGeom prst="line">
            <a:avLst/>
          </a:prstGeom>
          <a:noFill/>
          <a:ln w="26670">
            <a:solidFill>
              <a:srgbClr val="176493"/>
            </a:solidFill>
            <a:prstDash val="solid"/>
            <a:headEnd type="none"/>
            <a:tailEnd type="none"/>
          </a:ln>
        </p:spPr>
      </p:sp>
      <p:sp>
        <p:nvSpPr>
          <p:cNvPr id="27" name="Shape 25"/>
          <p:cNvSpPr/>
          <p:nvPr/>
        </p:nvSpPr>
        <p:spPr>
          <a:xfrm flipV="1">
            <a:off x="6828739" y="2915107"/>
            <a:ext cx="175565" cy="131674"/>
          </a:xfrm>
          <a:prstGeom prst="line">
            <a:avLst/>
          </a:prstGeom>
          <a:noFill/>
          <a:ln w="26670">
            <a:solidFill>
              <a:srgbClr val="176493"/>
            </a:solidFill>
            <a:prstDash val="solid"/>
            <a:headEnd type="none"/>
            <a:tailEnd type="none"/>
          </a:ln>
        </p:spPr>
      </p:sp>
      <p:sp>
        <p:nvSpPr>
          <p:cNvPr id="28" name="Shape 26"/>
          <p:cNvSpPr/>
          <p:nvPr/>
        </p:nvSpPr>
        <p:spPr>
          <a:xfrm>
            <a:off x="7004304" y="2915107"/>
            <a:ext cx="0" cy="131674"/>
          </a:xfrm>
          <a:prstGeom prst="line">
            <a:avLst/>
          </a:prstGeom>
          <a:noFill/>
          <a:ln w="26670">
            <a:solidFill>
              <a:srgbClr val="176493"/>
            </a:solidFill>
            <a:prstDash val="solid"/>
            <a:headEnd type="none"/>
            <a:tailEnd type="none"/>
          </a:ln>
        </p:spPr>
      </p:sp>
      <p:sp>
        <p:nvSpPr>
          <p:cNvPr id="29" name="Shape 27"/>
          <p:cNvSpPr/>
          <p:nvPr/>
        </p:nvSpPr>
        <p:spPr>
          <a:xfrm>
            <a:off x="7128662" y="2783434"/>
            <a:ext cx="87782" cy="263347"/>
          </a:xfrm>
          <a:prstGeom prst="rect">
            <a:avLst>
              <a:gd name="adj" fmla="val 104167"/>
            </a:avLst>
          </a:prstGeom>
          <a:solidFill>
            <a:srgbClr val="FFFFFF"/>
          </a:solidFill>
          <a:ln w="10160">
            <a:solidFill>
              <a:srgbClr val="176493"/>
            </a:solidFill>
            <a:prstDash val="solid"/>
          </a:ln>
        </p:spPr>
      </p:sp>
      <p:sp>
        <p:nvSpPr>
          <p:cNvPr id="30" name="Shape 28"/>
          <p:cNvSpPr/>
          <p:nvPr/>
        </p:nvSpPr>
        <p:spPr>
          <a:xfrm>
            <a:off x="6748272" y="3178454"/>
            <a:ext cx="73152" cy="95098"/>
          </a:xfrm>
          <a:prstGeom prst="rect">
            <a:avLst>
              <a:gd name="adj" fmla="val 125000"/>
            </a:avLst>
          </a:prstGeom>
          <a:solidFill>
            <a:srgbClr val="E3EFF7"/>
          </a:solidFill>
          <a:ln w="10160">
            <a:solidFill>
              <a:srgbClr val="176493"/>
            </a:solidFill>
            <a:prstDash val="solid"/>
          </a:ln>
        </p:spPr>
      </p:sp>
      <p:sp>
        <p:nvSpPr>
          <p:cNvPr id="31" name="Shape 29"/>
          <p:cNvSpPr/>
          <p:nvPr/>
        </p:nvSpPr>
        <p:spPr>
          <a:xfrm>
            <a:off x="6916522" y="3178454"/>
            <a:ext cx="73152" cy="95098"/>
          </a:xfrm>
          <a:prstGeom prst="rect">
            <a:avLst>
              <a:gd name="adj" fmla="val 125000"/>
            </a:avLst>
          </a:prstGeom>
          <a:solidFill>
            <a:srgbClr val="E3EFF7"/>
          </a:solidFill>
          <a:ln w="10160">
            <a:solidFill>
              <a:srgbClr val="176493"/>
            </a:solidFill>
            <a:prstDash val="solid"/>
          </a:ln>
        </p:spPr>
      </p:sp>
      <p:sp>
        <p:nvSpPr>
          <p:cNvPr id="32" name="Shape 30"/>
          <p:cNvSpPr/>
          <p:nvPr/>
        </p:nvSpPr>
        <p:spPr>
          <a:xfrm>
            <a:off x="7084771" y="3178454"/>
            <a:ext cx="73152" cy="95098"/>
          </a:xfrm>
          <a:prstGeom prst="rect">
            <a:avLst>
              <a:gd name="adj" fmla="val 125000"/>
            </a:avLst>
          </a:prstGeom>
          <a:solidFill>
            <a:srgbClr val="E3EFF7"/>
          </a:solidFill>
          <a:ln w="10160">
            <a:solidFill>
              <a:srgbClr val="176493"/>
            </a:solidFill>
            <a:prstDash val="solid"/>
          </a:ln>
        </p:spPr>
      </p:sp>
      <p:sp>
        <p:nvSpPr>
          <p:cNvPr id="33" name="Shape 31"/>
          <p:cNvSpPr/>
          <p:nvPr/>
        </p:nvSpPr>
        <p:spPr>
          <a:xfrm>
            <a:off x="7626096" y="3136392"/>
            <a:ext cx="640080" cy="0"/>
          </a:xfrm>
          <a:prstGeom prst="line">
            <a:avLst/>
          </a:prstGeom>
          <a:noFill/>
          <a:ln w="22860">
            <a:solidFill>
              <a:srgbClr val="167C85"/>
            </a:solidFill>
            <a:prstDash val="solid"/>
            <a:headEnd type="none"/>
            <a:tailEnd type="triangle"/>
          </a:ln>
        </p:spPr>
      </p:sp>
      <p:sp>
        <p:nvSpPr>
          <p:cNvPr id="34" name="Shape 32"/>
          <p:cNvSpPr/>
          <p:nvPr/>
        </p:nvSpPr>
        <p:spPr>
          <a:xfrm>
            <a:off x="8449056" y="2953512"/>
            <a:ext cx="2587752" cy="347472"/>
          </a:xfrm>
          <a:prstGeom prst="roundRect">
            <a:avLst>
              <a:gd name="adj" fmla="val 26316"/>
            </a:avLst>
          </a:prstGeom>
          <a:solidFill>
            <a:srgbClr val="E0F0F1"/>
          </a:solidFill>
          <a:ln w="12700">
            <a:solidFill>
              <a:srgbClr val="E0F0F1"/>
            </a:solidFill>
            <a:prstDash val="solid"/>
          </a:ln>
        </p:spPr>
      </p:sp>
      <p:sp>
        <p:nvSpPr>
          <p:cNvPr id="35" name="Text 33"/>
          <p:cNvSpPr/>
          <p:nvPr/>
        </p:nvSpPr>
        <p:spPr>
          <a:xfrm>
            <a:off x="8558784" y="3026664"/>
            <a:ext cx="2368296" cy="182880"/>
          </a:xfrm>
          <a:prstGeom prst="rect">
            <a:avLst/>
          </a:prstGeom>
          <a:noFill/>
          <a:ln/>
        </p:spPr>
        <p:txBody>
          <a:bodyPr wrap="square" lIns="0" tIns="0" rIns="0" bIns="0" rtlCol="0" anchor="ctr"/>
          <a:lstStyle/>
          <a:p>
            <a:pPr algn="ctr" indent="0" marL="0">
              <a:buNone/>
            </a:pPr>
            <a:r>
              <a:rPr lang="en-US" sz="1100" b="1" dirty="0">
                <a:solidFill>
                  <a:srgbClr val="167C85"/>
                </a:solidFill>
                <a:latin typeface="Aptos" pitchFamily="34" charset="0"/>
                <a:ea typeface="Aptos" pitchFamily="34" charset="-122"/>
                <a:cs typeface="Aptos" pitchFamily="34" charset="-120"/>
              </a:rPr>
              <a:t>FAULT / NO FAULT</a:t>
            </a:r>
            <a:endParaRPr lang="en-US" sz="1100" dirty="0"/>
          </a:p>
        </p:txBody>
      </p:sp>
      <p:sp>
        <p:nvSpPr>
          <p:cNvPr id="36" name="Text 34"/>
          <p:cNvSpPr/>
          <p:nvPr/>
        </p:nvSpPr>
        <p:spPr>
          <a:xfrm>
            <a:off x="6574536" y="3730752"/>
            <a:ext cx="4562856" cy="77724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A category or class probability</a:t>
            </a:r>
            <a:endParaRPr lang="en-US" sz="2300" dirty="0"/>
          </a:p>
        </p:txBody>
      </p:sp>
      <p:sp>
        <p:nvSpPr>
          <p:cNvPr id="37" name="Text 35"/>
          <p:cNvSpPr/>
          <p:nvPr/>
        </p:nvSpPr>
        <p:spPr>
          <a:xfrm>
            <a:off x="6574536" y="4517136"/>
            <a:ext cx="4562856" cy="713232"/>
          </a:xfrm>
          <a:prstGeom prst="rect">
            <a:avLst/>
          </a:prstGeom>
          <a:noFill/>
          <a:ln/>
        </p:spPr>
        <p:txBody>
          <a:bodyPr wrap="square" lIns="0" tIns="0" rIns="0" bIns="0" rtlCol="0" anchor="ctr"/>
          <a:lstStyle/>
          <a:p>
            <a:pPr indent="0" marL="0">
              <a:buNone/>
            </a:pPr>
            <a:r>
              <a:rPr lang="en-US" sz="2000" dirty="0">
                <a:solidFill>
                  <a:srgbClr val="53657A"/>
                </a:solidFill>
                <a:latin typeface="Aptos" pitchFamily="34" charset="0"/>
                <a:ea typeface="Aptos" pitchFamily="34" charset="-122"/>
                <a:cs typeface="Aptos" pitchFamily="34" charset="-120"/>
              </a:rPr>
              <a:t>Example: equipment-fault alert</a:t>
            </a:r>
            <a:endParaRPr lang="en-US" sz="2000" dirty="0"/>
          </a:p>
          <a:p>
            <a:pPr indent="0" marL="0">
              <a:buNone/>
            </a:pPr>
            <a:r>
              <a:rPr lang="en-US" sz="2000" dirty="0">
                <a:solidFill>
                  <a:srgbClr val="53657A"/>
                </a:solidFill>
                <a:latin typeface="Aptos" pitchFamily="34" charset="0"/>
                <a:ea typeface="Aptos" pitchFamily="34" charset="-122"/>
                <a:cs typeface="Aptos" pitchFamily="34" charset="-120"/>
              </a:rPr>
              <a:t>Error: false alarm or missed fault</a:t>
            </a:r>
            <a:endParaRPr lang="en-US" sz="2000" dirty="0"/>
          </a:p>
        </p:txBody>
      </p:sp>
      <p:sp>
        <p:nvSpPr>
          <p:cNvPr id="38" name="Shape 36"/>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39" name="Text 37"/>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Define the output and the consequence of a wrong answer first.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DATA PREPARATION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From raw records to usable features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12 / 24</a:t>
            </a:r>
            <a:endParaRPr lang="en-US" sz="1000" dirty="0"/>
          </a:p>
        </p:txBody>
      </p:sp>
      <p:sp>
        <p:nvSpPr>
          <p:cNvPr id="10" name="Shape 8"/>
          <p:cNvSpPr/>
          <p:nvPr/>
        </p:nvSpPr>
        <p:spPr>
          <a:xfrm>
            <a:off x="731520" y="1956816"/>
            <a:ext cx="4352544" cy="3465576"/>
          </a:xfrm>
          <a:prstGeom prst="roundRect">
            <a:avLst>
              <a:gd name="adj" fmla="val 2639"/>
            </a:avLst>
          </a:prstGeom>
          <a:solidFill>
            <a:srgbClr val="FFFFFF"/>
          </a:solidFill>
          <a:ln w="10160">
            <a:solidFill>
              <a:srgbClr val="C4D2E2"/>
            </a:solidFill>
            <a:prstDash val="solid"/>
          </a:ln>
        </p:spPr>
      </p:sp>
      <p:sp>
        <p:nvSpPr>
          <p:cNvPr id="11" name="Shape 9"/>
          <p:cNvSpPr/>
          <p:nvPr/>
        </p:nvSpPr>
        <p:spPr>
          <a:xfrm>
            <a:off x="6473952" y="1956816"/>
            <a:ext cx="4983480" cy="3465576"/>
          </a:xfrm>
          <a:prstGeom prst="roundRect">
            <a:avLst>
              <a:gd name="adj" fmla="val 2639"/>
            </a:avLst>
          </a:prstGeom>
          <a:solidFill>
            <a:srgbClr val="FFFFFF"/>
          </a:solidFill>
          <a:ln w="10160">
            <a:solidFill>
              <a:srgbClr val="C4D2E2"/>
            </a:solidFill>
            <a:prstDash val="solid"/>
          </a:ln>
        </p:spPr>
      </p:sp>
      <p:sp>
        <p:nvSpPr>
          <p:cNvPr id="12" name="Text 10"/>
          <p:cNvSpPr/>
          <p:nvPr/>
        </p:nvSpPr>
        <p:spPr>
          <a:xfrm>
            <a:off x="987552" y="2212848"/>
            <a:ext cx="365760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RAW RECORD</a:t>
            </a:r>
            <a:endParaRPr lang="en-US" sz="1100" dirty="0"/>
          </a:p>
        </p:txBody>
      </p:sp>
      <p:sp>
        <p:nvSpPr>
          <p:cNvPr id="13" name="Text 11"/>
          <p:cNvSpPr/>
          <p:nvPr/>
        </p:nvSpPr>
        <p:spPr>
          <a:xfrm>
            <a:off x="6757416" y="2212848"/>
            <a:ext cx="365760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TYPED RECORD</a:t>
            </a:r>
            <a:endParaRPr lang="en-US" sz="1100" dirty="0"/>
          </a:p>
        </p:txBody>
      </p:sp>
      <p:sp>
        <p:nvSpPr>
          <p:cNvPr id="14" name="Text 12"/>
          <p:cNvSpPr/>
          <p:nvPr/>
        </p:nvSpPr>
        <p:spPr>
          <a:xfrm>
            <a:off x="1005840" y="2834640"/>
            <a:ext cx="960120" cy="338328"/>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Area</a:t>
            </a:r>
            <a:endParaRPr lang="en-US" sz="2100" dirty="0"/>
          </a:p>
        </p:txBody>
      </p:sp>
      <p:sp>
        <p:nvSpPr>
          <p:cNvPr id="15" name="Text 13"/>
          <p:cNvSpPr/>
          <p:nvPr/>
        </p:nvSpPr>
        <p:spPr>
          <a:xfrm>
            <a:off x="2139696" y="2834640"/>
            <a:ext cx="2569464" cy="338328"/>
          </a:xfrm>
          <a:prstGeom prst="rect">
            <a:avLst/>
          </a:prstGeom>
          <a:noFill/>
          <a:ln/>
        </p:spPr>
        <p:txBody>
          <a:bodyPr wrap="square" lIns="0" tIns="0" rIns="0" bIns="0" rtlCol="0" anchor="ctr"/>
          <a:lstStyle/>
          <a:p>
            <a:pPr indent="0" marL="0">
              <a:buNone/>
            </a:pPr>
            <a:r>
              <a:rPr lang="en-US" sz="2200" b="1" dirty="0">
                <a:solidFill>
                  <a:srgbClr val="172233"/>
                </a:solidFill>
                <a:latin typeface="Aptos" pitchFamily="34" charset="0"/>
                <a:ea typeface="Aptos" pitchFamily="34" charset="-122"/>
                <a:cs typeface="Aptos" pitchFamily="34" charset="-120"/>
              </a:rPr>
              <a:t>"80 m2"</a:t>
            </a:r>
            <a:endParaRPr lang="en-US" sz="2200" dirty="0"/>
          </a:p>
        </p:txBody>
      </p:sp>
      <p:sp>
        <p:nvSpPr>
          <p:cNvPr id="16" name="Text 14"/>
          <p:cNvSpPr/>
          <p:nvPr/>
        </p:nvSpPr>
        <p:spPr>
          <a:xfrm>
            <a:off x="1005840" y="3493008"/>
            <a:ext cx="960120" cy="338328"/>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Rooms</a:t>
            </a:r>
            <a:endParaRPr lang="en-US" sz="2100" dirty="0"/>
          </a:p>
        </p:txBody>
      </p:sp>
      <p:sp>
        <p:nvSpPr>
          <p:cNvPr id="17" name="Text 15"/>
          <p:cNvSpPr/>
          <p:nvPr/>
        </p:nvSpPr>
        <p:spPr>
          <a:xfrm>
            <a:off x="2139696" y="3493008"/>
            <a:ext cx="2569464" cy="338328"/>
          </a:xfrm>
          <a:prstGeom prst="rect">
            <a:avLst/>
          </a:prstGeom>
          <a:noFill/>
          <a:ln/>
        </p:spPr>
        <p:txBody>
          <a:bodyPr wrap="square" lIns="0" tIns="0" rIns="0" bIns="0" rtlCol="0" anchor="ctr"/>
          <a:lstStyle/>
          <a:p>
            <a:pPr indent="0" marL="0">
              <a:buNone/>
            </a:pPr>
            <a:r>
              <a:rPr lang="en-US" sz="2200" b="1" dirty="0">
                <a:solidFill>
                  <a:srgbClr val="172233"/>
                </a:solidFill>
                <a:latin typeface="Aptos" pitchFamily="34" charset="0"/>
                <a:ea typeface="Aptos" pitchFamily="34" charset="-122"/>
                <a:cs typeface="Aptos" pitchFamily="34" charset="-120"/>
              </a:rPr>
              <a:t>"3"</a:t>
            </a:r>
            <a:endParaRPr lang="en-US" sz="2200" dirty="0"/>
          </a:p>
        </p:txBody>
      </p:sp>
      <p:sp>
        <p:nvSpPr>
          <p:cNvPr id="18" name="Text 16"/>
          <p:cNvSpPr/>
          <p:nvPr/>
        </p:nvSpPr>
        <p:spPr>
          <a:xfrm>
            <a:off x="1005840" y="4151376"/>
            <a:ext cx="960120" cy="338328"/>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Price</a:t>
            </a:r>
            <a:endParaRPr lang="en-US" sz="2100" dirty="0"/>
          </a:p>
        </p:txBody>
      </p:sp>
      <p:sp>
        <p:nvSpPr>
          <p:cNvPr id="19" name="Text 17"/>
          <p:cNvSpPr/>
          <p:nvPr/>
        </p:nvSpPr>
        <p:spPr>
          <a:xfrm>
            <a:off x="2139696" y="4151376"/>
            <a:ext cx="2569464" cy="338328"/>
          </a:xfrm>
          <a:prstGeom prst="rect">
            <a:avLst/>
          </a:prstGeom>
          <a:noFill/>
          <a:ln/>
        </p:spPr>
        <p:txBody>
          <a:bodyPr wrap="square" lIns="0" tIns="0" rIns="0" bIns="0" rtlCol="0" anchor="ctr"/>
          <a:lstStyle/>
          <a:p>
            <a:pPr indent="0" marL="0">
              <a:buNone/>
            </a:pPr>
            <a:r>
              <a:rPr lang="en-US" sz="2200" b="1" dirty="0">
                <a:solidFill>
                  <a:srgbClr val="172233"/>
                </a:solidFill>
                <a:latin typeface="Aptos" pitchFamily="34" charset="0"/>
                <a:ea typeface="Aptos" pitchFamily="34" charset="-122"/>
                <a:cs typeface="Aptos" pitchFamily="34" charset="-120"/>
              </a:rPr>
              <a:t>"180,000 EUR"</a:t>
            </a:r>
            <a:endParaRPr lang="en-US" sz="2200" dirty="0"/>
          </a:p>
        </p:txBody>
      </p:sp>
      <p:sp>
        <p:nvSpPr>
          <p:cNvPr id="20" name="Text 18"/>
          <p:cNvSpPr/>
          <p:nvPr/>
        </p:nvSpPr>
        <p:spPr>
          <a:xfrm>
            <a:off x="6766560" y="2834640"/>
            <a:ext cx="1847088" cy="338328"/>
          </a:xfrm>
          <a:prstGeom prst="rect">
            <a:avLst/>
          </a:prstGeom>
          <a:noFill/>
          <a:ln/>
        </p:spPr>
        <p:txBody>
          <a:bodyPr wrap="square" lIns="0" tIns="0" rIns="0" bIns="0" rtlCol="0" anchor="ctr"/>
          <a:lstStyle/>
          <a:p>
            <a:pPr indent="0" marL="0">
              <a:buNone/>
            </a:pPr>
            <a:r>
              <a:rPr lang="en-US" sz="2000" dirty="0">
                <a:solidFill>
                  <a:srgbClr val="53657A"/>
                </a:solidFill>
                <a:latin typeface="Aptos" pitchFamily="34" charset="0"/>
                <a:ea typeface="Aptos" pitchFamily="34" charset="-122"/>
                <a:cs typeface="Aptos" pitchFamily="34" charset="-120"/>
              </a:rPr>
              <a:t>area_m2</a:t>
            </a:r>
            <a:endParaRPr lang="en-US" sz="2000" dirty="0"/>
          </a:p>
        </p:txBody>
      </p:sp>
      <p:sp>
        <p:nvSpPr>
          <p:cNvPr id="21" name="Text 19"/>
          <p:cNvSpPr/>
          <p:nvPr/>
        </p:nvSpPr>
        <p:spPr>
          <a:xfrm>
            <a:off x="8741664" y="2834640"/>
            <a:ext cx="1225296" cy="338328"/>
          </a:xfrm>
          <a:prstGeom prst="rect">
            <a:avLst/>
          </a:prstGeom>
          <a:noFill/>
          <a:ln/>
        </p:spPr>
        <p:txBody>
          <a:bodyPr wrap="square" lIns="0" tIns="0" rIns="0" bIns="0" rtlCol="0" anchor="ctr"/>
          <a:lstStyle/>
          <a:p>
            <a:pPr indent="0" marL="0">
              <a:buNone/>
            </a:pPr>
            <a:r>
              <a:rPr lang="en-US" sz="2200" b="1" dirty="0">
                <a:solidFill>
                  <a:srgbClr val="172233"/>
                </a:solidFill>
                <a:latin typeface="Aptos" pitchFamily="34" charset="0"/>
                <a:ea typeface="Aptos" pitchFamily="34" charset="-122"/>
                <a:cs typeface="Aptos" pitchFamily="34" charset="-120"/>
              </a:rPr>
              <a:t>80</a:t>
            </a:r>
            <a:endParaRPr lang="en-US" sz="2200" dirty="0"/>
          </a:p>
        </p:txBody>
      </p:sp>
      <p:sp>
        <p:nvSpPr>
          <p:cNvPr id="22" name="Text 20"/>
          <p:cNvSpPr/>
          <p:nvPr/>
        </p:nvSpPr>
        <p:spPr>
          <a:xfrm>
            <a:off x="10213848" y="2834640"/>
            <a:ext cx="987552" cy="338328"/>
          </a:xfrm>
          <a:prstGeom prst="rect">
            <a:avLst/>
          </a:prstGeom>
          <a:noFill/>
          <a:ln/>
        </p:spPr>
        <p:txBody>
          <a:bodyPr wrap="square" lIns="0" tIns="0" rIns="0" bIns="0" rtlCol="0" anchor="ctr"/>
          <a:lstStyle/>
          <a:p>
            <a:pPr indent="0" marL="0">
              <a:buNone/>
            </a:pPr>
            <a:r>
              <a:rPr lang="en-US" sz="1600" dirty="0">
                <a:solidFill>
                  <a:srgbClr val="167C85"/>
                </a:solidFill>
                <a:latin typeface="Aptos" pitchFamily="34" charset="0"/>
                <a:ea typeface="Aptos" pitchFamily="34" charset="-122"/>
                <a:cs typeface="Aptos" pitchFamily="34" charset="-120"/>
              </a:rPr>
              <a:t>number</a:t>
            </a:r>
            <a:endParaRPr lang="en-US" sz="1600" dirty="0"/>
          </a:p>
        </p:txBody>
      </p:sp>
      <p:sp>
        <p:nvSpPr>
          <p:cNvPr id="23" name="Text 21"/>
          <p:cNvSpPr/>
          <p:nvPr/>
        </p:nvSpPr>
        <p:spPr>
          <a:xfrm>
            <a:off x="6766560" y="3493008"/>
            <a:ext cx="1847088" cy="338328"/>
          </a:xfrm>
          <a:prstGeom prst="rect">
            <a:avLst/>
          </a:prstGeom>
          <a:noFill/>
          <a:ln/>
        </p:spPr>
        <p:txBody>
          <a:bodyPr wrap="square" lIns="0" tIns="0" rIns="0" bIns="0" rtlCol="0" anchor="ctr"/>
          <a:lstStyle/>
          <a:p>
            <a:pPr indent="0" marL="0">
              <a:buNone/>
            </a:pPr>
            <a:r>
              <a:rPr lang="en-US" sz="2000" dirty="0">
                <a:solidFill>
                  <a:srgbClr val="53657A"/>
                </a:solidFill>
                <a:latin typeface="Aptos" pitchFamily="34" charset="0"/>
                <a:ea typeface="Aptos" pitchFamily="34" charset="-122"/>
                <a:cs typeface="Aptos" pitchFamily="34" charset="-120"/>
              </a:rPr>
              <a:t>rooms</a:t>
            </a:r>
            <a:endParaRPr lang="en-US" sz="2000" dirty="0"/>
          </a:p>
        </p:txBody>
      </p:sp>
      <p:sp>
        <p:nvSpPr>
          <p:cNvPr id="24" name="Text 22"/>
          <p:cNvSpPr/>
          <p:nvPr/>
        </p:nvSpPr>
        <p:spPr>
          <a:xfrm>
            <a:off x="8741664" y="3493008"/>
            <a:ext cx="1225296" cy="338328"/>
          </a:xfrm>
          <a:prstGeom prst="rect">
            <a:avLst/>
          </a:prstGeom>
          <a:noFill/>
          <a:ln/>
        </p:spPr>
        <p:txBody>
          <a:bodyPr wrap="square" lIns="0" tIns="0" rIns="0" bIns="0" rtlCol="0" anchor="ctr"/>
          <a:lstStyle/>
          <a:p>
            <a:pPr indent="0" marL="0">
              <a:buNone/>
            </a:pPr>
            <a:r>
              <a:rPr lang="en-US" sz="2200" b="1" dirty="0">
                <a:solidFill>
                  <a:srgbClr val="172233"/>
                </a:solidFill>
                <a:latin typeface="Aptos" pitchFamily="34" charset="0"/>
                <a:ea typeface="Aptos" pitchFamily="34" charset="-122"/>
                <a:cs typeface="Aptos" pitchFamily="34" charset="-120"/>
              </a:rPr>
              <a:t>3</a:t>
            </a:r>
            <a:endParaRPr lang="en-US" sz="2200" dirty="0"/>
          </a:p>
        </p:txBody>
      </p:sp>
      <p:sp>
        <p:nvSpPr>
          <p:cNvPr id="25" name="Text 23"/>
          <p:cNvSpPr/>
          <p:nvPr/>
        </p:nvSpPr>
        <p:spPr>
          <a:xfrm>
            <a:off x="10213848" y="3493008"/>
            <a:ext cx="987552" cy="338328"/>
          </a:xfrm>
          <a:prstGeom prst="rect">
            <a:avLst/>
          </a:prstGeom>
          <a:noFill/>
          <a:ln/>
        </p:spPr>
        <p:txBody>
          <a:bodyPr wrap="square" lIns="0" tIns="0" rIns="0" bIns="0" rtlCol="0" anchor="ctr"/>
          <a:lstStyle/>
          <a:p>
            <a:pPr indent="0" marL="0">
              <a:buNone/>
            </a:pPr>
            <a:r>
              <a:rPr lang="en-US" sz="1600" dirty="0">
                <a:solidFill>
                  <a:srgbClr val="167C85"/>
                </a:solidFill>
                <a:latin typeface="Aptos" pitchFamily="34" charset="0"/>
                <a:ea typeface="Aptos" pitchFamily="34" charset="-122"/>
                <a:cs typeface="Aptos" pitchFamily="34" charset="-120"/>
              </a:rPr>
              <a:t>integer</a:t>
            </a:r>
            <a:endParaRPr lang="en-US" sz="1600" dirty="0"/>
          </a:p>
        </p:txBody>
      </p:sp>
      <p:sp>
        <p:nvSpPr>
          <p:cNvPr id="26" name="Text 24"/>
          <p:cNvSpPr/>
          <p:nvPr/>
        </p:nvSpPr>
        <p:spPr>
          <a:xfrm>
            <a:off x="6766560" y="4151376"/>
            <a:ext cx="1847088" cy="338328"/>
          </a:xfrm>
          <a:prstGeom prst="rect">
            <a:avLst/>
          </a:prstGeom>
          <a:noFill/>
          <a:ln/>
        </p:spPr>
        <p:txBody>
          <a:bodyPr wrap="square" lIns="0" tIns="0" rIns="0" bIns="0" rtlCol="0" anchor="ctr"/>
          <a:lstStyle/>
          <a:p>
            <a:pPr indent="0" marL="0">
              <a:buNone/>
            </a:pPr>
            <a:r>
              <a:rPr lang="en-US" sz="2000" dirty="0">
                <a:solidFill>
                  <a:srgbClr val="53657A"/>
                </a:solidFill>
                <a:latin typeface="Aptos" pitchFamily="34" charset="0"/>
                <a:ea typeface="Aptos" pitchFamily="34" charset="-122"/>
                <a:cs typeface="Aptos" pitchFamily="34" charset="-120"/>
              </a:rPr>
              <a:t>price_eur</a:t>
            </a:r>
            <a:endParaRPr lang="en-US" sz="2000" dirty="0"/>
          </a:p>
        </p:txBody>
      </p:sp>
      <p:sp>
        <p:nvSpPr>
          <p:cNvPr id="27" name="Text 25"/>
          <p:cNvSpPr/>
          <p:nvPr/>
        </p:nvSpPr>
        <p:spPr>
          <a:xfrm>
            <a:off x="8741664" y="4151376"/>
            <a:ext cx="1225296" cy="338328"/>
          </a:xfrm>
          <a:prstGeom prst="rect">
            <a:avLst/>
          </a:prstGeom>
          <a:noFill/>
          <a:ln/>
        </p:spPr>
        <p:txBody>
          <a:bodyPr wrap="square" lIns="0" tIns="0" rIns="0" bIns="0" rtlCol="0" anchor="ctr"/>
          <a:lstStyle/>
          <a:p>
            <a:pPr indent="0" marL="0">
              <a:buNone/>
            </a:pPr>
            <a:r>
              <a:rPr lang="en-US" sz="2200" b="1" dirty="0">
                <a:solidFill>
                  <a:srgbClr val="172233"/>
                </a:solidFill>
                <a:latin typeface="Aptos" pitchFamily="34" charset="0"/>
                <a:ea typeface="Aptos" pitchFamily="34" charset="-122"/>
                <a:cs typeface="Aptos" pitchFamily="34" charset="-120"/>
              </a:rPr>
              <a:t>180000</a:t>
            </a:r>
            <a:endParaRPr lang="en-US" sz="2200" dirty="0"/>
          </a:p>
        </p:txBody>
      </p:sp>
      <p:sp>
        <p:nvSpPr>
          <p:cNvPr id="28" name="Text 26"/>
          <p:cNvSpPr/>
          <p:nvPr/>
        </p:nvSpPr>
        <p:spPr>
          <a:xfrm>
            <a:off x="10213848" y="4151376"/>
            <a:ext cx="987552" cy="338328"/>
          </a:xfrm>
          <a:prstGeom prst="rect">
            <a:avLst/>
          </a:prstGeom>
          <a:noFill/>
          <a:ln/>
        </p:spPr>
        <p:txBody>
          <a:bodyPr wrap="square" lIns="0" tIns="0" rIns="0" bIns="0" rtlCol="0" anchor="ctr"/>
          <a:lstStyle/>
          <a:p>
            <a:pPr indent="0" marL="0">
              <a:buNone/>
            </a:pPr>
            <a:r>
              <a:rPr lang="en-US" sz="1600" dirty="0">
                <a:solidFill>
                  <a:srgbClr val="167C85"/>
                </a:solidFill>
                <a:latin typeface="Aptos" pitchFamily="34" charset="0"/>
                <a:ea typeface="Aptos" pitchFamily="34" charset="-122"/>
                <a:cs typeface="Aptos" pitchFamily="34" charset="-120"/>
              </a:rPr>
              <a:t>number</a:t>
            </a:r>
            <a:endParaRPr lang="en-US" sz="1600" dirty="0"/>
          </a:p>
        </p:txBody>
      </p:sp>
      <p:sp>
        <p:nvSpPr>
          <p:cNvPr id="29" name="Shape 27"/>
          <p:cNvSpPr/>
          <p:nvPr/>
        </p:nvSpPr>
        <p:spPr>
          <a:xfrm>
            <a:off x="5285232" y="3575304"/>
            <a:ext cx="978408" cy="0"/>
          </a:xfrm>
          <a:prstGeom prst="line">
            <a:avLst/>
          </a:prstGeom>
          <a:noFill/>
          <a:ln w="25400">
            <a:solidFill>
              <a:srgbClr val="2684BF"/>
            </a:solidFill>
            <a:prstDash val="solid"/>
            <a:headEnd type="none"/>
            <a:tailEnd type="triangle"/>
          </a:ln>
        </p:spPr>
      </p:sp>
      <p:sp>
        <p:nvSpPr>
          <p:cNvPr id="30" name="Text 28"/>
          <p:cNvSpPr/>
          <p:nvPr/>
        </p:nvSpPr>
        <p:spPr>
          <a:xfrm>
            <a:off x="5166360" y="3822192"/>
            <a:ext cx="1179576" cy="640080"/>
          </a:xfrm>
          <a:prstGeom prst="rect">
            <a:avLst/>
          </a:prstGeom>
          <a:noFill/>
          <a:ln/>
        </p:spPr>
        <p:txBody>
          <a:bodyPr wrap="square" lIns="0" tIns="0" rIns="0" bIns="0" rtlCol="0" anchor="ctr"/>
          <a:lstStyle/>
          <a:p>
            <a:pPr algn="ctr" indent="0" marL="0">
              <a:buNone/>
            </a:pPr>
            <a:r>
              <a:rPr lang="en-US" sz="1600" dirty="0">
                <a:solidFill>
                  <a:srgbClr val="176493"/>
                </a:solidFill>
                <a:latin typeface="Aptos" pitchFamily="34" charset="0"/>
                <a:ea typeface="Aptos" pitchFamily="34" charset="-122"/>
                <a:cs typeface="Aptos" pitchFamily="34" charset="-120"/>
              </a:rPr>
              <a:t>Validate</a:t>
            </a:r>
            <a:endParaRPr lang="en-US" sz="1600" dirty="0"/>
          </a:p>
          <a:p>
            <a:pPr algn="ctr" indent="0" marL="0">
              <a:buNone/>
            </a:pPr>
            <a:r>
              <a:rPr lang="en-US" sz="1600" dirty="0">
                <a:solidFill>
                  <a:srgbClr val="176493"/>
                </a:solidFill>
                <a:latin typeface="Aptos" pitchFamily="34" charset="0"/>
                <a:ea typeface="Aptos" pitchFamily="34" charset="-122"/>
                <a:cs typeface="Aptos" pitchFamily="34" charset="-120"/>
              </a:rPr>
              <a:t>Transform</a:t>
            </a:r>
            <a:endParaRPr lang="en-US" sz="1600" dirty="0"/>
          </a:p>
        </p:txBody>
      </p:sp>
      <p:sp>
        <p:nvSpPr>
          <p:cNvPr id="31" name="Text 29"/>
          <p:cNvSpPr/>
          <p:nvPr/>
        </p:nvSpPr>
        <p:spPr>
          <a:xfrm>
            <a:off x="813816" y="5541264"/>
            <a:ext cx="914400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ILLUSTRATIVE RECORD - NOT A COURSE-DATA EXTRACT</a:t>
            </a:r>
            <a:endParaRPr lang="en-US" sz="1100" dirty="0"/>
          </a:p>
        </p:txBody>
      </p:sp>
      <p:sp>
        <p:nvSpPr>
          <p:cNvPr id="32" name="Shape 30"/>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33" name="Text 31"/>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Preserve the raw data. Record the transformation and its assumptions.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EVALUATION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80% accuracy can miss every positive</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13 / 24</a:t>
            </a:r>
            <a:endParaRPr lang="en-US" sz="1000" dirty="0"/>
          </a:p>
        </p:txBody>
      </p:sp>
      <p:sp>
        <p:nvSpPr>
          <p:cNvPr id="10" name="Shape 8"/>
          <p:cNvSpPr/>
          <p:nvPr/>
        </p:nvSpPr>
        <p:spPr>
          <a:xfrm>
            <a:off x="713232" y="1883664"/>
            <a:ext cx="3758184" cy="3712464"/>
          </a:xfrm>
          <a:prstGeom prst="roundRect">
            <a:avLst>
              <a:gd name="adj" fmla="val 2463"/>
            </a:avLst>
          </a:prstGeom>
          <a:solidFill>
            <a:srgbClr val="FFFFFF"/>
          </a:solidFill>
          <a:ln w="10160">
            <a:solidFill>
              <a:srgbClr val="C4D2E2"/>
            </a:solidFill>
            <a:prstDash val="solid"/>
          </a:ln>
        </p:spPr>
      </p:sp>
      <p:sp>
        <p:nvSpPr>
          <p:cNvPr id="11" name="Text 9"/>
          <p:cNvSpPr/>
          <p:nvPr/>
        </p:nvSpPr>
        <p:spPr>
          <a:xfrm>
            <a:off x="950976" y="2121408"/>
            <a:ext cx="301752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100 OBSERVATIONS</a:t>
            </a:r>
            <a:endParaRPr lang="en-US" sz="1100" dirty="0"/>
          </a:p>
        </p:txBody>
      </p:sp>
      <p:sp>
        <p:nvSpPr>
          <p:cNvPr id="12" name="Shape 10"/>
          <p:cNvSpPr/>
          <p:nvPr/>
        </p:nvSpPr>
        <p:spPr>
          <a:xfrm>
            <a:off x="969264" y="2660904"/>
            <a:ext cx="132588" cy="132588"/>
          </a:xfrm>
          <a:prstGeom prst="ellipse">
            <a:avLst/>
          </a:prstGeom>
          <a:solidFill>
            <a:srgbClr val="176493"/>
          </a:solidFill>
          <a:ln w="8890">
            <a:solidFill>
              <a:srgbClr val="176493"/>
            </a:solidFill>
            <a:prstDash val="solid"/>
          </a:ln>
        </p:spPr>
      </p:sp>
      <p:sp>
        <p:nvSpPr>
          <p:cNvPr id="13" name="Shape 11"/>
          <p:cNvSpPr/>
          <p:nvPr/>
        </p:nvSpPr>
        <p:spPr>
          <a:xfrm>
            <a:off x="1261872" y="2660904"/>
            <a:ext cx="132588" cy="132588"/>
          </a:xfrm>
          <a:prstGeom prst="ellipse">
            <a:avLst/>
          </a:prstGeom>
          <a:solidFill>
            <a:srgbClr val="176493"/>
          </a:solidFill>
          <a:ln w="8890">
            <a:solidFill>
              <a:srgbClr val="176493"/>
            </a:solidFill>
            <a:prstDash val="solid"/>
          </a:ln>
        </p:spPr>
      </p:sp>
      <p:sp>
        <p:nvSpPr>
          <p:cNvPr id="14" name="Shape 12"/>
          <p:cNvSpPr/>
          <p:nvPr/>
        </p:nvSpPr>
        <p:spPr>
          <a:xfrm>
            <a:off x="1554480" y="2660904"/>
            <a:ext cx="132588" cy="132588"/>
          </a:xfrm>
          <a:prstGeom prst="ellipse">
            <a:avLst/>
          </a:prstGeom>
          <a:solidFill>
            <a:srgbClr val="176493"/>
          </a:solidFill>
          <a:ln w="8890">
            <a:solidFill>
              <a:srgbClr val="176493"/>
            </a:solidFill>
            <a:prstDash val="solid"/>
          </a:ln>
        </p:spPr>
      </p:sp>
      <p:sp>
        <p:nvSpPr>
          <p:cNvPr id="15" name="Shape 13"/>
          <p:cNvSpPr/>
          <p:nvPr/>
        </p:nvSpPr>
        <p:spPr>
          <a:xfrm>
            <a:off x="1847088" y="2660904"/>
            <a:ext cx="132588" cy="132588"/>
          </a:xfrm>
          <a:prstGeom prst="ellipse">
            <a:avLst/>
          </a:prstGeom>
          <a:solidFill>
            <a:srgbClr val="176493"/>
          </a:solidFill>
          <a:ln w="8890">
            <a:solidFill>
              <a:srgbClr val="176493"/>
            </a:solidFill>
            <a:prstDash val="solid"/>
          </a:ln>
        </p:spPr>
      </p:sp>
      <p:sp>
        <p:nvSpPr>
          <p:cNvPr id="16" name="Shape 14"/>
          <p:cNvSpPr/>
          <p:nvPr/>
        </p:nvSpPr>
        <p:spPr>
          <a:xfrm>
            <a:off x="2139696" y="2660904"/>
            <a:ext cx="132588" cy="132588"/>
          </a:xfrm>
          <a:prstGeom prst="ellipse">
            <a:avLst/>
          </a:prstGeom>
          <a:solidFill>
            <a:srgbClr val="176493"/>
          </a:solidFill>
          <a:ln w="8890">
            <a:solidFill>
              <a:srgbClr val="176493"/>
            </a:solidFill>
            <a:prstDash val="solid"/>
          </a:ln>
        </p:spPr>
      </p:sp>
      <p:sp>
        <p:nvSpPr>
          <p:cNvPr id="17" name="Shape 15"/>
          <p:cNvSpPr/>
          <p:nvPr/>
        </p:nvSpPr>
        <p:spPr>
          <a:xfrm>
            <a:off x="2432304" y="2660904"/>
            <a:ext cx="132588" cy="132588"/>
          </a:xfrm>
          <a:prstGeom prst="ellipse">
            <a:avLst/>
          </a:prstGeom>
          <a:solidFill>
            <a:srgbClr val="176493"/>
          </a:solidFill>
          <a:ln w="8890">
            <a:solidFill>
              <a:srgbClr val="176493"/>
            </a:solidFill>
            <a:prstDash val="solid"/>
          </a:ln>
        </p:spPr>
      </p:sp>
      <p:sp>
        <p:nvSpPr>
          <p:cNvPr id="18" name="Shape 16"/>
          <p:cNvSpPr/>
          <p:nvPr/>
        </p:nvSpPr>
        <p:spPr>
          <a:xfrm>
            <a:off x="2724912" y="2660904"/>
            <a:ext cx="132588" cy="132588"/>
          </a:xfrm>
          <a:prstGeom prst="ellipse">
            <a:avLst/>
          </a:prstGeom>
          <a:solidFill>
            <a:srgbClr val="176493"/>
          </a:solidFill>
          <a:ln w="8890">
            <a:solidFill>
              <a:srgbClr val="176493"/>
            </a:solidFill>
            <a:prstDash val="solid"/>
          </a:ln>
        </p:spPr>
      </p:sp>
      <p:sp>
        <p:nvSpPr>
          <p:cNvPr id="19" name="Shape 17"/>
          <p:cNvSpPr/>
          <p:nvPr/>
        </p:nvSpPr>
        <p:spPr>
          <a:xfrm>
            <a:off x="3017520" y="2660904"/>
            <a:ext cx="132588" cy="132588"/>
          </a:xfrm>
          <a:prstGeom prst="ellipse">
            <a:avLst/>
          </a:prstGeom>
          <a:solidFill>
            <a:srgbClr val="176493"/>
          </a:solidFill>
          <a:ln w="8890">
            <a:solidFill>
              <a:srgbClr val="176493"/>
            </a:solidFill>
            <a:prstDash val="solid"/>
          </a:ln>
        </p:spPr>
      </p:sp>
      <p:sp>
        <p:nvSpPr>
          <p:cNvPr id="20" name="Shape 18"/>
          <p:cNvSpPr/>
          <p:nvPr/>
        </p:nvSpPr>
        <p:spPr>
          <a:xfrm>
            <a:off x="3310128" y="2660904"/>
            <a:ext cx="132588" cy="132588"/>
          </a:xfrm>
          <a:prstGeom prst="ellipse">
            <a:avLst/>
          </a:prstGeom>
          <a:solidFill>
            <a:srgbClr val="176493"/>
          </a:solidFill>
          <a:ln w="8890">
            <a:solidFill>
              <a:srgbClr val="176493"/>
            </a:solidFill>
            <a:prstDash val="solid"/>
          </a:ln>
        </p:spPr>
      </p:sp>
      <p:sp>
        <p:nvSpPr>
          <p:cNvPr id="21" name="Shape 19"/>
          <p:cNvSpPr/>
          <p:nvPr/>
        </p:nvSpPr>
        <p:spPr>
          <a:xfrm>
            <a:off x="3602736" y="2660904"/>
            <a:ext cx="132588" cy="132588"/>
          </a:xfrm>
          <a:prstGeom prst="ellipse">
            <a:avLst/>
          </a:prstGeom>
          <a:solidFill>
            <a:srgbClr val="176493"/>
          </a:solidFill>
          <a:ln w="8890">
            <a:solidFill>
              <a:srgbClr val="176493"/>
            </a:solidFill>
            <a:prstDash val="solid"/>
          </a:ln>
        </p:spPr>
      </p:sp>
      <p:sp>
        <p:nvSpPr>
          <p:cNvPr id="22" name="Shape 20"/>
          <p:cNvSpPr/>
          <p:nvPr/>
        </p:nvSpPr>
        <p:spPr>
          <a:xfrm>
            <a:off x="969264" y="2875788"/>
            <a:ext cx="132588" cy="132588"/>
          </a:xfrm>
          <a:prstGeom prst="ellipse">
            <a:avLst/>
          </a:prstGeom>
          <a:solidFill>
            <a:srgbClr val="176493"/>
          </a:solidFill>
          <a:ln w="8890">
            <a:solidFill>
              <a:srgbClr val="176493"/>
            </a:solidFill>
            <a:prstDash val="solid"/>
          </a:ln>
        </p:spPr>
      </p:sp>
      <p:sp>
        <p:nvSpPr>
          <p:cNvPr id="23" name="Shape 21"/>
          <p:cNvSpPr/>
          <p:nvPr/>
        </p:nvSpPr>
        <p:spPr>
          <a:xfrm>
            <a:off x="1261872" y="2875788"/>
            <a:ext cx="132588" cy="132588"/>
          </a:xfrm>
          <a:prstGeom prst="ellipse">
            <a:avLst/>
          </a:prstGeom>
          <a:solidFill>
            <a:srgbClr val="176493"/>
          </a:solidFill>
          <a:ln w="8890">
            <a:solidFill>
              <a:srgbClr val="176493"/>
            </a:solidFill>
            <a:prstDash val="solid"/>
          </a:ln>
        </p:spPr>
      </p:sp>
      <p:sp>
        <p:nvSpPr>
          <p:cNvPr id="24" name="Shape 22"/>
          <p:cNvSpPr/>
          <p:nvPr/>
        </p:nvSpPr>
        <p:spPr>
          <a:xfrm>
            <a:off x="1554480" y="2875788"/>
            <a:ext cx="132588" cy="132588"/>
          </a:xfrm>
          <a:prstGeom prst="ellipse">
            <a:avLst/>
          </a:prstGeom>
          <a:solidFill>
            <a:srgbClr val="176493"/>
          </a:solidFill>
          <a:ln w="8890">
            <a:solidFill>
              <a:srgbClr val="176493"/>
            </a:solidFill>
            <a:prstDash val="solid"/>
          </a:ln>
        </p:spPr>
      </p:sp>
      <p:sp>
        <p:nvSpPr>
          <p:cNvPr id="25" name="Shape 23"/>
          <p:cNvSpPr/>
          <p:nvPr/>
        </p:nvSpPr>
        <p:spPr>
          <a:xfrm>
            <a:off x="1847088" y="2875788"/>
            <a:ext cx="132588" cy="132588"/>
          </a:xfrm>
          <a:prstGeom prst="ellipse">
            <a:avLst/>
          </a:prstGeom>
          <a:solidFill>
            <a:srgbClr val="176493"/>
          </a:solidFill>
          <a:ln w="8890">
            <a:solidFill>
              <a:srgbClr val="176493"/>
            </a:solidFill>
            <a:prstDash val="solid"/>
          </a:ln>
        </p:spPr>
      </p:sp>
      <p:sp>
        <p:nvSpPr>
          <p:cNvPr id="26" name="Shape 24"/>
          <p:cNvSpPr/>
          <p:nvPr/>
        </p:nvSpPr>
        <p:spPr>
          <a:xfrm>
            <a:off x="2139696" y="2875788"/>
            <a:ext cx="132588" cy="132588"/>
          </a:xfrm>
          <a:prstGeom prst="ellipse">
            <a:avLst/>
          </a:prstGeom>
          <a:solidFill>
            <a:srgbClr val="176493"/>
          </a:solidFill>
          <a:ln w="8890">
            <a:solidFill>
              <a:srgbClr val="176493"/>
            </a:solidFill>
            <a:prstDash val="solid"/>
          </a:ln>
        </p:spPr>
      </p:sp>
      <p:sp>
        <p:nvSpPr>
          <p:cNvPr id="27" name="Shape 25"/>
          <p:cNvSpPr/>
          <p:nvPr/>
        </p:nvSpPr>
        <p:spPr>
          <a:xfrm>
            <a:off x="2432304" y="2875788"/>
            <a:ext cx="132588" cy="132588"/>
          </a:xfrm>
          <a:prstGeom prst="ellipse">
            <a:avLst/>
          </a:prstGeom>
          <a:solidFill>
            <a:srgbClr val="176493"/>
          </a:solidFill>
          <a:ln w="8890">
            <a:solidFill>
              <a:srgbClr val="176493"/>
            </a:solidFill>
            <a:prstDash val="solid"/>
          </a:ln>
        </p:spPr>
      </p:sp>
      <p:sp>
        <p:nvSpPr>
          <p:cNvPr id="28" name="Shape 26"/>
          <p:cNvSpPr/>
          <p:nvPr/>
        </p:nvSpPr>
        <p:spPr>
          <a:xfrm>
            <a:off x="2724912" y="2875788"/>
            <a:ext cx="132588" cy="132588"/>
          </a:xfrm>
          <a:prstGeom prst="ellipse">
            <a:avLst/>
          </a:prstGeom>
          <a:solidFill>
            <a:srgbClr val="176493"/>
          </a:solidFill>
          <a:ln w="8890">
            <a:solidFill>
              <a:srgbClr val="176493"/>
            </a:solidFill>
            <a:prstDash val="solid"/>
          </a:ln>
        </p:spPr>
      </p:sp>
      <p:sp>
        <p:nvSpPr>
          <p:cNvPr id="29" name="Shape 27"/>
          <p:cNvSpPr/>
          <p:nvPr/>
        </p:nvSpPr>
        <p:spPr>
          <a:xfrm>
            <a:off x="3017520" y="2875788"/>
            <a:ext cx="132588" cy="132588"/>
          </a:xfrm>
          <a:prstGeom prst="ellipse">
            <a:avLst/>
          </a:prstGeom>
          <a:solidFill>
            <a:srgbClr val="176493"/>
          </a:solidFill>
          <a:ln w="8890">
            <a:solidFill>
              <a:srgbClr val="176493"/>
            </a:solidFill>
            <a:prstDash val="solid"/>
          </a:ln>
        </p:spPr>
      </p:sp>
      <p:sp>
        <p:nvSpPr>
          <p:cNvPr id="30" name="Shape 28"/>
          <p:cNvSpPr/>
          <p:nvPr/>
        </p:nvSpPr>
        <p:spPr>
          <a:xfrm>
            <a:off x="3310128" y="2875788"/>
            <a:ext cx="132588" cy="132588"/>
          </a:xfrm>
          <a:prstGeom prst="ellipse">
            <a:avLst/>
          </a:prstGeom>
          <a:solidFill>
            <a:srgbClr val="176493"/>
          </a:solidFill>
          <a:ln w="8890">
            <a:solidFill>
              <a:srgbClr val="176493"/>
            </a:solidFill>
            <a:prstDash val="solid"/>
          </a:ln>
        </p:spPr>
      </p:sp>
      <p:sp>
        <p:nvSpPr>
          <p:cNvPr id="31" name="Shape 29"/>
          <p:cNvSpPr/>
          <p:nvPr/>
        </p:nvSpPr>
        <p:spPr>
          <a:xfrm>
            <a:off x="3602736" y="2875788"/>
            <a:ext cx="132588" cy="132588"/>
          </a:xfrm>
          <a:prstGeom prst="ellipse">
            <a:avLst/>
          </a:prstGeom>
          <a:solidFill>
            <a:srgbClr val="176493"/>
          </a:solidFill>
          <a:ln w="8890">
            <a:solidFill>
              <a:srgbClr val="176493"/>
            </a:solidFill>
            <a:prstDash val="solid"/>
          </a:ln>
        </p:spPr>
      </p:sp>
      <p:sp>
        <p:nvSpPr>
          <p:cNvPr id="32" name="Shape 30"/>
          <p:cNvSpPr/>
          <p:nvPr/>
        </p:nvSpPr>
        <p:spPr>
          <a:xfrm>
            <a:off x="969264" y="3090672"/>
            <a:ext cx="132588" cy="132588"/>
          </a:xfrm>
          <a:prstGeom prst="ellipse">
            <a:avLst/>
          </a:prstGeom>
          <a:solidFill>
            <a:srgbClr val="176493"/>
          </a:solidFill>
          <a:ln w="8890">
            <a:solidFill>
              <a:srgbClr val="176493"/>
            </a:solidFill>
            <a:prstDash val="solid"/>
          </a:ln>
        </p:spPr>
      </p:sp>
      <p:sp>
        <p:nvSpPr>
          <p:cNvPr id="33" name="Shape 31"/>
          <p:cNvSpPr/>
          <p:nvPr/>
        </p:nvSpPr>
        <p:spPr>
          <a:xfrm>
            <a:off x="1261872" y="3090672"/>
            <a:ext cx="132588" cy="132588"/>
          </a:xfrm>
          <a:prstGeom prst="ellipse">
            <a:avLst/>
          </a:prstGeom>
          <a:solidFill>
            <a:srgbClr val="176493"/>
          </a:solidFill>
          <a:ln w="8890">
            <a:solidFill>
              <a:srgbClr val="176493"/>
            </a:solidFill>
            <a:prstDash val="solid"/>
          </a:ln>
        </p:spPr>
      </p:sp>
      <p:sp>
        <p:nvSpPr>
          <p:cNvPr id="34" name="Shape 32"/>
          <p:cNvSpPr/>
          <p:nvPr/>
        </p:nvSpPr>
        <p:spPr>
          <a:xfrm>
            <a:off x="1554480" y="3090672"/>
            <a:ext cx="132588" cy="132588"/>
          </a:xfrm>
          <a:prstGeom prst="ellipse">
            <a:avLst/>
          </a:prstGeom>
          <a:solidFill>
            <a:srgbClr val="176493"/>
          </a:solidFill>
          <a:ln w="8890">
            <a:solidFill>
              <a:srgbClr val="176493"/>
            </a:solidFill>
            <a:prstDash val="solid"/>
          </a:ln>
        </p:spPr>
      </p:sp>
      <p:sp>
        <p:nvSpPr>
          <p:cNvPr id="35" name="Shape 33"/>
          <p:cNvSpPr/>
          <p:nvPr/>
        </p:nvSpPr>
        <p:spPr>
          <a:xfrm>
            <a:off x="1847088" y="3090672"/>
            <a:ext cx="132588" cy="132588"/>
          </a:xfrm>
          <a:prstGeom prst="ellipse">
            <a:avLst/>
          </a:prstGeom>
          <a:solidFill>
            <a:srgbClr val="176493"/>
          </a:solidFill>
          <a:ln w="8890">
            <a:solidFill>
              <a:srgbClr val="176493"/>
            </a:solidFill>
            <a:prstDash val="solid"/>
          </a:ln>
        </p:spPr>
      </p:sp>
      <p:sp>
        <p:nvSpPr>
          <p:cNvPr id="36" name="Shape 34"/>
          <p:cNvSpPr/>
          <p:nvPr/>
        </p:nvSpPr>
        <p:spPr>
          <a:xfrm>
            <a:off x="2139696" y="3090672"/>
            <a:ext cx="132588" cy="132588"/>
          </a:xfrm>
          <a:prstGeom prst="ellipse">
            <a:avLst/>
          </a:prstGeom>
          <a:solidFill>
            <a:srgbClr val="176493"/>
          </a:solidFill>
          <a:ln w="8890">
            <a:solidFill>
              <a:srgbClr val="176493"/>
            </a:solidFill>
            <a:prstDash val="solid"/>
          </a:ln>
        </p:spPr>
      </p:sp>
      <p:sp>
        <p:nvSpPr>
          <p:cNvPr id="37" name="Shape 35"/>
          <p:cNvSpPr/>
          <p:nvPr/>
        </p:nvSpPr>
        <p:spPr>
          <a:xfrm>
            <a:off x="2432304" y="3090672"/>
            <a:ext cx="132588" cy="132588"/>
          </a:xfrm>
          <a:prstGeom prst="ellipse">
            <a:avLst/>
          </a:prstGeom>
          <a:solidFill>
            <a:srgbClr val="176493"/>
          </a:solidFill>
          <a:ln w="8890">
            <a:solidFill>
              <a:srgbClr val="176493"/>
            </a:solidFill>
            <a:prstDash val="solid"/>
          </a:ln>
        </p:spPr>
      </p:sp>
      <p:sp>
        <p:nvSpPr>
          <p:cNvPr id="38" name="Shape 36"/>
          <p:cNvSpPr/>
          <p:nvPr/>
        </p:nvSpPr>
        <p:spPr>
          <a:xfrm>
            <a:off x="2724912" y="3090672"/>
            <a:ext cx="132588" cy="132588"/>
          </a:xfrm>
          <a:prstGeom prst="ellipse">
            <a:avLst/>
          </a:prstGeom>
          <a:solidFill>
            <a:srgbClr val="176493"/>
          </a:solidFill>
          <a:ln w="8890">
            <a:solidFill>
              <a:srgbClr val="176493"/>
            </a:solidFill>
            <a:prstDash val="solid"/>
          </a:ln>
        </p:spPr>
      </p:sp>
      <p:sp>
        <p:nvSpPr>
          <p:cNvPr id="39" name="Shape 37"/>
          <p:cNvSpPr/>
          <p:nvPr/>
        </p:nvSpPr>
        <p:spPr>
          <a:xfrm>
            <a:off x="3017520" y="3090672"/>
            <a:ext cx="132588" cy="132588"/>
          </a:xfrm>
          <a:prstGeom prst="ellipse">
            <a:avLst/>
          </a:prstGeom>
          <a:solidFill>
            <a:srgbClr val="176493"/>
          </a:solidFill>
          <a:ln w="8890">
            <a:solidFill>
              <a:srgbClr val="176493"/>
            </a:solidFill>
            <a:prstDash val="solid"/>
          </a:ln>
        </p:spPr>
      </p:sp>
      <p:sp>
        <p:nvSpPr>
          <p:cNvPr id="40" name="Shape 38"/>
          <p:cNvSpPr/>
          <p:nvPr/>
        </p:nvSpPr>
        <p:spPr>
          <a:xfrm>
            <a:off x="3310128" y="3090672"/>
            <a:ext cx="132588" cy="132588"/>
          </a:xfrm>
          <a:prstGeom prst="ellipse">
            <a:avLst/>
          </a:prstGeom>
          <a:solidFill>
            <a:srgbClr val="176493"/>
          </a:solidFill>
          <a:ln w="8890">
            <a:solidFill>
              <a:srgbClr val="176493"/>
            </a:solidFill>
            <a:prstDash val="solid"/>
          </a:ln>
        </p:spPr>
      </p:sp>
      <p:sp>
        <p:nvSpPr>
          <p:cNvPr id="41" name="Shape 39"/>
          <p:cNvSpPr/>
          <p:nvPr/>
        </p:nvSpPr>
        <p:spPr>
          <a:xfrm>
            <a:off x="3602736" y="3090672"/>
            <a:ext cx="132588" cy="132588"/>
          </a:xfrm>
          <a:prstGeom prst="ellipse">
            <a:avLst/>
          </a:prstGeom>
          <a:solidFill>
            <a:srgbClr val="176493"/>
          </a:solidFill>
          <a:ln w="8890">
            <a:solidFill>
              <a:srgbClr val="176493"/>
            </a:solidFill>
            <a:prstDash val="solid"/>
          </a:ln>
        </p:spPr>
      </p:sp>
      <p:sp>
        <p:nvSpPr>
          <p:cNvPr id="42" name="Shape 40"/>
          <p:cNvSpPr/>
          <p:nvPr/>
        </p:nvSpPr>
        <p:spPr>
          <a:xfrm>
            <a:off x="969264" y="3305556"/>
            <a:ext cx="132588" cy="132588"/>
          </a:xfrm>
          <a:prstGeom prst="ellipse">
            <a:avLst/>
          </a:prstGeom>
          <a:solidFill>
            <a:srgbClr val="176493"/>
          </a:solidFill>
          <a:ln w="8890">
            <a:solidFill>
              <a:srgbClr val="176493"/>
            </a:solidFill>
            <a:prstDash val="solid"/>
          </a:ln>
        </p:spPr>
      </p:sp>
      <p:sp>
        <p:nvSpPr>
          <p:cNvPr id="43" name="Shape 41"/>
          <p:cNvSpPr/>
          <p:nvPr/>
        </p:nvSpPr>
        <p:spPr>
          <a:xfrm>
            <a:off x="1261872" y="3305556"/>
            <a:ext cx="132588" cy="132588"/>
          </a:xfrm>
          <a:prstGeom prst="ellipse">
            <a:avLst/>
          </a:prstGeom>
          <a:solidFill>
            <a:srgbClr val="176493"/>
          </a:solidFill>
          <a:ln w="8890">
            <a:solidFill>
              <a:srgbClr val="176493"/>
            </a:solidFill>
            <a:prstDash val="solid"/>
          </a:ln>
        </p:spPr>
      </p:sp>
      <p:sp>
        <p:nvSpPr>
          <p:cNvPr id="44" name="Shape 42"/>
          <p:cNvSpPr/>
          <p:nvPr/>
        </p:nvSpPr>
        <p:spPr>
          <a:xfrm>
            <a:off x="1554480" y="3305556"/>
            <a:ext cx="132588" cy="132588"/>
          </a:xfrm>
          <a:prstGeom prst="ellipse">
            <a:avLst/>
          </a:prstGeom>
          <a:solidFill>
            <a:srgbClr val="176493"/>
          </a:solidFill>
          <a:ln w="8890">
            <a:solidFill>
              <a:srgbClr val="176493"/>
            </a:solidFill>
            <a:prstDash val="solid"/>
          </a:ln>
        </p:spPr>
      </p:sp>
      <p:sp>
        <p:nvSpPr>
          <p:cNvPr id="45" name="Shape 43"/>
          <p:cNvSpPr/>
          <p:nvPr/>
        </p:nvSpPr>
        <p:spPr>
          <a:xfrm>
            <a:off x="1847088" y="3305556"/>
            <a:ext cx="132588" cy="132588"/>
          </a:xfrm>
          <a:prstGeom prst="ellipse">
            <a:avLst/>
          </a:prstGeom>
          <a:solidFill>
            <a:srgbClr val="176493"/>
          </a:solidFill>
          <a:ln w="8890">
            <a:solidFill>
              <a:srgbClr val="176493"/>
            </a:solidFill>
            <a:prstDash val="solid"/>
          </a:ln>
        </p:spPr>
      </p:sp>
      <p:sp>
        <p:nvSpPr>
          <p:cNvPr id="46" name="Shape 44"/>
          <p:cNvSpPr/>
          <p:nvPr/>
        </p:nvSpPr>
        <p:spPr>
          <a:xfrm>
            <a:off x="2139696" y="3305556"/>
            <a:ext cx="132588" cy="132588"/>
          </a:xfrm>
          <a:prstGeom prst="ellipse">
            <a:avLst/>
          </a:prstGeom>
          <a:solidFill>
            <a:srgbClr val="176493"/>
          </a:solidFill>
          <a:ln w="8890">
            <a:solidFill>
              <a:srgbClr val="176493"/>
            </a:solidFill>
            <a:prstDash val="solid"/>
          </a:ln>
        </p:spPr>
      </p:sp>
      <p:sp>
        <p:nvSpPr>
          <p:cNvPr id="47" name="Shape 45"/>
          <p:cNvSpPr/>
          <p:nvPr/>
        </p:nvSpPr>
        <p:spPr>
          <a:xfrm>
            <a:off x="2432304" y="3305556"/>
            <a:ext cx="132588" cy="132588"/>
          </a:xfrm>
          <a:prstGeom prst="ellipse">
            <a:avLst/>
          </a:prstGeom>
          <a:solidFill>
            <a:srgbClr val="176493"/>
          </a:solidFill>
          <a:ln w="8890">
            <a:solidFill>
              <a:srgbClr val="176493"/>
            </a:solidFill>
            <a:prstDash val="solid"/>
          </a:ln>
        </p:spPr>
      </p:sp>
      <p:sp>
        <p:nvSpPr>
          <p:cNvPr id="48" name="Shape 46"/>
          <p:cNvSpPr/>
          <p:nvPr/>
        </p:nvSpPr>
        <p:spPr>
          <a:xfrm>
            <a:off x="2724912" y="3305556"/>
            <a:ext cx="132588" cy="132588"/>
          </a:xfrm>
          <a:prstGeom prst="ellipse">
            <a:avLst/>
          </a:prstGeom>
          <a:solidFill>
            <a:srgbClr val="176493"/>
          </a:solidFill>
          <a:ln w="8890">
            <a:solidFill>
              <a:srgbClr val="176493"/>
            </a:solidFill>
            <a:prstDash val="solid"/>
          </a:ln>
        </p:spPr>
      </p:sp>
      <p:sp>
        <p:nvSpPr>
          <p:cNvPr id="49" name="Shape 47"/>
          <p:cNvSpPr/>
          <p:nvPr/>
        </p:nvSpPr>
        <p:spPr>
          <a:xfrm>
            <a:off x="3017520" y="3305556"/>
            <a:ext cx="132588" cy="132588"/>
          </a:xfrm>
          <a:prstGeom prst="ellipse">
            <a:avLst/>
          </a:prstGeom>
          <a:solidFill>
            <a:srgbClr val="176493"/>
          </a:solidFill>
          <a:ln w="8890">
            <a:solidFill>
              <a:srgbClr val="176493"/>
            </a:solidFill>
            <a:prstDash val="solid"/>
          </a:ln>
        </p:spPr>
      </p:sp>
      <p:sp>
        <p:nvSpPr>
          <p:cNvPr id="50" name="Shape 48"/>
          <p:cNvSpPr/>
          <p:nvPr/>
        </p:nvSpPr>
        <p:spPr>
          <a:xfrm>
            <a:off x="3310128" y="3305556"/>
            <a:ext cx="132588" cy="132588"/>
          </a:xfrm>
          <a:prstGeom prst="ellipse">
            <a:avLst/>
          </a:prstGeom>
          <a:solidFill>
            <a:srgbClr val="176493"/>
          </a:solidFill>
          <a:ln w="8890">
            <a:solidFill>
              <a:srgbClr val="176493"/>
            </a:solidFill>
            <a:prstDash val="solid"/>
          </a:ln>
        </p:spPr>
      </p:sp>
      <p:sp>
        <p:nvSpPr>
          <p:cNvPr id="51" name="Shape 49"/>
          <p:cNvSpPr/>
          <p:nvPr/>
        </p:nvSpPr>
        <p:spPr>
          <a:xfrm>
            <a:off x="3602736" y="3305556"/>
            <a:ext cx="132588" cy="132588"/>
          </a:xfrm>
          <a:prstGeom prst="ellipse">
            <a:avLst/>
          </a:prstGeom>
          <a:solidFill>
            <a:srgbClr val="176493"/>
          </a:solidFill>
          <a:ln w="8890">
            <a:solidFill>
              <a:srgbClr val="176493"/>
            </a:solidFill>
            <a:prstDash val="solid"/>
          </a:ln>
        </p:spPr>
      </p:sp>
      <p:sp>
        <p:nvSpPr>
          <p:cNvPr id="52" name="Shape 50"/>
          <p:cNvSpPr/>
          <p:nvPr/>
        </p:nvSpPr>
        <p:spPr>
          <a:xfrm>
            <a:off x="969264" y="3520440"/>
            <a:ext cx="132588" cy="132588"/>
          </a:xfrm>
          <a:prstGeom prst="ellipse">
            <a:avLst/>
          </a:prstGeom>
          <a:solidFill>
            <a:srgbClr val="176493"/>
          </a:solidFill>
          <a:ln w="8890">
            <a:solidFill>
              <a:srgbClr val="176493"/>
            </a:solidFill>
            <a:prstDash val="solid"/>
          </a:ln>
        </p:spPr>
      </p:sp>
      <p:sp>
        <p:nvSpPr>
          <p:cNvPr id="53" name="Shape 51"/>
          <p:cNvSpPr/>
          <p:nvPr/>
        </p:nvSpPr>
        <p:spPr>
          <a:xfrm>
            <a:off x="1261872" y="3520440"/>
            <a:ext cx="132588" cy="132588"/>
          </a:xfrm>
          <a:prstGeom prst="ellipse">
            <a:avLst/>
          </a:prstGeom>
          <a:solidFill>
            <a:srgbClr val="176493"/>
          </a:solidFill>
          <a:ln w="8890">
            <a:solidFill>
              <a:srgbClr val="176493"/>
            </a:solidFill>
            <a:prstDash val="solid"/>
          </a:ln>
        </p:spPr>
      </p:sp>
      <p:sp>
        <p:nvSpPr>
          <p:cNvPr id="54" name="Shape 52"/>
          <p:cNvSpPr/>
          <p:nvPr/>
        </p:nvSpPr>
        <p:spPr>
          <a:xfrm>
            <a:off x="1554480" y="3520440"/>
            <a:ext cx="132588" cy="132588"/>
          </a:xfrm>
          <a:prstGeom prst="ellipse">
            <a:avLst/>
          </a:prstGeom>
          <a:solidFill>
            <a:srgbClr val="176493"/>
          </a:solidFill>
          <a:ln w="8890">
            <a:solidFill>
              <a:srgbClr val="176493"/>
            </a:solidFill>
            <a:prstDash val="solid"/>
          </a:ln>
        </p:spPr>
      </p:sp>
      <p:sp>
        <p:nvSpPr>
          <p:cNvPr id="55" name="Shape 53"/>
          <p:cNvSpPr/>
          <p:nvPr/>
        </p:nvSpPr>
        <p:spPr>
          <a:xfrm>
            <a:off x="1847088" y="3520440"/>
            <a:ext cx="132588" cy="132588"/>
          </a:xfrm>
          <a:prstGeom prst="ellipse">
            <a:avLst/>
          </a:prstGeom>
          <a:solidFill>
            <a:srgbClr val="176493"/>
          </a:solidFill>
          <a:ln w="8890">
            <a:solidFill>
              <a:srgbClr val="176493"/>
            </a:solidFill>
            <a:prstDash val="solid"/>
          </a:ln>
        </p:spPr>
      </p:sp>
      <p:sp>
        <p:nvSpPr>
          <p:cNvPr id="56" name="Shape 54"/>
          <p:cNvSpPr/>
          <p:nvPr/>
        </p:nvSpPr>
        <p:spPr>
          <a:xfrm>
            <a:off x="2139696" y="3520440"/>
            <a:ext cx="132588" cy="132588"/>
          </a:xfrm>
          <a:prstGeom prst="ellipse">
            <a:avLst/>
          </a:prstGeom>
          <a:solidFill>
            <a:srgbClr val="176493"/>
          </a:solidFill>
          <a:ln w="8890">
            <a:solidFill>
              <a:srgbClr val="176493"/>
            </a:solidFill>
            <a:prstDash val="solid"/>
          </a:ln>
        </p:spPr>
      </p:sp>
      <p:sp>
        <p:nvSpPr>
          <p:cNvPr id="57" name="Shape 55"/>
          <p:cNvSpPr/>
          <p:nvPr/>
        </p:nvSpPr>
        <p:spPr>
          <a:xfrm>
            <a:off x="2432304" y="3520440"/>
            <a:ext cx="132588" cy="132588"/>
          </a:xfrm>
          <a:prstGeom prst="ellipse">
            <a:avLst/>
          </a:prstGeom>
          <a:solidFill>
            <a:srgbClr val="176493"/>
          </a:solidFill>
          <a:ln w="8890">
            <a:solidFill>
              <a:srgbClr val="176493"/>
            </a:solidFill>
            <a:prstDash val="solid"/>
          </a:ln>
        </p:spPr>
      </p:sp>
      <p:sp>
        <p:nvSpPr>
          <p:cNvPr id="58" name="Shape 56"/>
          <p:cNvSpPr/>
          <p:nvPr/>
        </p:nvSpPr>
        <p:spPr>
          <a:xfrm>
            <a:off x="2724912" y="3520440"/>
            <a:ext cx="132588" cy="132588"/>
          </a:xfrm>
          <a:prstGeom prst="ellipse">
            <a:avLst/>
          </a:prstGeom>
          <a:solidFill>
            <a:srgbClr val="176493"/>
          </a:solidFill>
          <a:ln w="8890">
            <a:solidFill>
              <a:srgbClr val="176493"/>
            </a:solidFill>
            <a:prstDash val="solid"/>
          </a:ln>
        </p:spPr>
      </p:sp>
      <p:sp>
        <p:nvSpPr>
          <p:cNvPr id="59" name="Shape 57"/>
          <p:cNvSpPr/>
          <p:nvPr/>
        </p:nvSpPr>
        <p:spPr>
          <a:xfrm>
            <a:off x="3017520" y="3520440"/>
            <a:ext cx="132588" cy="132588"/>
          </a:xfrm>
          <a:prstGeom prst="ellipse">
            <a:avLst/>
          </a:prstGeom>
          <a:solidFill>
            <a:srgbClr val="176493"/>
          </a:solidFill>
          <a:ln w="8890">
            <a:solidFill>
              <a:srgbClr val="176493"/>
            </a:solidFill>
            <a:prstDash val="solid"/>
          </a:ln>
        </p:spPr>
      </p:sp>
      <p:sp>
        <p:nvSpPr>
          <p:cNvPr id="60" name="Shape 58"/>
          <p:cNvSpPr/>
          <p:nvPr/>
        </p:nvSpPr>
        <p:spPr>
          <a:xfrm>
            <a:off x="3310128" y="3520440"/>
            <a:ext cx="132588" cy="132588"/>
          </a:xfrm>
          <a:prstGeom prst="ellipse">
            <a:avLst/>
          </a:prstGeom>
          <a:solidFill>
            <a:srgbClr val="176493"/>
          </a:solidFill>
          <a:ln w="8890">
            <a:solidFill>
              <a:srgbClr val="176493"/>
            </a:solidFill>
            <a:prstDash val="solid"/>
          </a:ln>
        </p:spPr>
      </p:sp>
      <p:sp>
        <p:nvSpPr>
          <p:cNvPr id="61" name="Shape 59"/>
          <p:cNvSpPr/>
          <p:nvPr/>
        </p:nvSpPr>
        <p:spPr>
          <a:xfrm>
            <a:off x="3602736" y="3520440"/>
            <a:ext cx="132588" cy="132588"/>
          </a:xfrm>
          <a:prstGeom prst="ellipse">
            <a:avLst/>
          </a:prstGeom>
          <a:solidFill>
            <a:srgbClr val="176493"/>
          </a:solidFill>
          <a:ln w="8890">
            <a:solidFill>
              <a:srgbClr val="176493"/>
            </a:solidFill>
            <a:prstDash val="solid"/>
          </a:ln>
        </p:spPr>
      </p:sp>
      <p:sp>
        <p:nvSpPr>
          <p:cNvPr id="62" name="Shape 60"/>
          <p:cNvSpPr/>
          <p:nvPr/>
        </p:nvSpPr>
        <p:spPr>
          <a:xfrm>
            <a:off x="969264" y="3735324"/>
            <a:ext cx="132588" cy="132588"/>
          </a:xfrm>
          <a:prstGeom prst="ellipse">
            <a:avLst/>
          </a:prstGeom>
          <a:solidFill>
            <a:srgbClr val="176493"/>
          </a:solidFill>
          <a:ln w="8890">
            <a:solidFill>
              <a:srgbClr val="176493"/>
            </a:solidFill>
            <a:prstDash val="solid"/>
          </a:ln>
        </p:spPr>
      </p:sp>
      <p:sp>
        <p:nvSpPr>
          <p:cNvPr id="63" name="Shape 61"/>
          <p:cNvSpPr/>
          <p:nvPr/>
        </p:nvSpPr>
        <p:spPr>
          <a:xfrm>
            <a:off x="1261872" y="3735324"/>
            <a:ext cx="132588" cy="132588"/>
          </a:xfrm>
          <a:prstGeom prst="ellipse">
            <a:avLst/>
          </a:prstGeom>
          <a:solidFill>
            <a:srgbClr val="176493"/>
          </a:solidFill>
          <a:ln w="8890">
            <a:solidFill>
              <a:srgbClr val="176493"/>
            </a:solidFill>
            <a:prstDash val="solid"/>
          </a:ln>
        </p:spPr>
      </p:sp>
      <p:sp>
        <p:nvSpPr>
          <p:cNvPr id="64" name="Shape 62"/>
          <p:cNvSpPr/>
          <p:nvPr/>
        </p:nvSpPr>
        <p:spPr>
          <a:xfrm>
            <a:off x="1554480" y="3735324"/>
            <a:ext cx="132588" cy="132588"/>
          </a:xfrm>
          <a:prstGeom prst="ellipse">
            <a:avLst/>
          </a:prstGeom>
          <a:solidFill>
            <a:srgbClr val="176493"/>
          </a:solidFill>
          <a:ln w="8890">
            <a:solidFill>
              <a:srgbClr val="176493"/>
            </a:solidFill>
            <a:prstDash val="solid"/>
          </a:ln>
        </p:spPr>
      </p:sp>
      <p:sp>
        <p:nvSpPr>
          <p:cNvPr id="65" name="Shape 63"/>
          <p:cNvSpPr/>
          <p:nvPr/>
        </p:nvSpPr>
        <p:spPr>
          <a:xfrm>
            <a:off x="1847088" y="3735324"/>
            <a:ext cx="132588" cy="132588"/>
          </a:xfrm>
          <a:prstGeom prst="ellipse">
            <a:avLst/>
          </a:prstGeom>
          <a:solidFill>
            <a:srgbClr val="176493"/>
          </a:solidFill>
          <a:ln w="8890">
            <a:solidFill>
              <a:srgbClr val="176493"/>
            </a:solidFill>
            <a:prstDash val="solid"/>
          </a:ln>
        </p:spPr>
      </p:sp>
      <p:sp>
        <p:nvSpPr>
          <p:cNvPr id="66" name="Shape 64"/>
          <p:cNvSpPr/>
          <p:nvPr/>
        </p:nvSpPr>
        <p:spPr>
          <a:xfrm>
            <a:off x="2139696" y="3735324"/>
            <a:ext cx="132588" cy="132588"/>
          </a:xfrm>
          <a:prstGeom prst="ellipse">
            <a:avLst/>
          </a:prstGeom>
          <a:solidFill>
            <a:srgbClr val="176493"/>
          </a:solidFill>
          <a:ln w="8890">
            <a:solidFill>
              <a:srgbClr val="176493"/>
            </a:solidFill>
            <a:prstDash val="solid"/>
          </a:ln>
        </p:spPr>
      </p:sp>
      <p:sp>
        <p:nvSpPr>
          <p:cNvPr id="67" name="Shape 65"/>
          <p:cNvSpPr/>
          <p:nvPr/>
        </p:nvSpPr>
        <p:spPr>
          <a:xfrm>
            <a:off x="2432304" y="3735324"/>
            <a:ext cx="132588" cy="132588"/>
          </a:xfrm>
          <a:prstGeom prst="ellipse">
            <a:avLst/>
          </a:prstGeom>
          <a:solidFill>
            <a:srgbClr val="176493"/>
          </a:solidFill>
          <a:ln w="8890">
            <a:solidFill>
              <a:srgbClr val="176493"/>
            </a:solidFill>
            <a:prstDash val="solid"/>
          </a:ln>
        </p:spPr>
      </p:sp>
      <p:sp>
        <p:nvSpPr>
          <p:cNvPr id="68" name="Shape 66"/>
          <p:cNvSpPr/>
          <p:nvPr/>
        </p:nvSpPr>
        <p:spPr>
          <a:xfrm>
            <a:off x="2724912" y="3735324"/>
            <a:ext cx="132588" cy="132588"/>
          </a:xfrm>
          <a:prstGeom prst="ellipse">
            <a:avLst/>
          </a:prstGeom>
          <a:solidFill>
            <a:srgbClr val="176493"/>
          </a:solidFill>
          <a:ln w="8890">
            <a:solidFill>
              <a:srgbClr val="176493"/>
            </a:solidFill>
            <a:prstDash val="solid"/>
          </a:ln>
        </p:spPr>
      </p:sp>
      <p:sp>
        <p:nvSpPr>
          <p:cNvPr id="69" name="Shape 67"/>
          <p:cNvSpPr/>
          <p:nvPr/>
        </p:nvSpPr>
        <p:spPr>
          <a:xfrm>
            <a:off x="3017520" y="3735324"/>
            <a:ext cx="132588" cy="132588"/>
          </a:xfrm>
          <a:prstGeom prst="ellipse">
            <a:avLst/>
          </a:prstGeom>
          <a:solidFill>
            <a:srgbClr val="176493"/>
          </a:solidFill>
          <a:ln w="8890">
            <a:solidFill>
              <a:srgbClr val="176493"/>
            </a:solidFill>
            <a:prstDash val="solid"/>
          </a:ln>
        </p:spPr>
      </p:sp>
      <p:sp>
        <p:nvSpPr>
          <p:cNvPr id="70" name="Shape 68"/>
          <p:cNvSpPr/>
          <p:nvPr/>
        </p:nvSpPr>
        <p:spPr>
          <a:xfrm>
            <a:off x="3310128" y="3735324"/>
            <a:ext cx="132588" cy="132588"/>
          </a:xfrm>
          <a:prstGeom prst="ellipse">
            <a:avLst/>
          </a:prstGeom>
          <a:solidFill>
            <a:srgbClr val="176493"/>
          </a:solidFill>
          <a:ln w="8890">
            <a:solidFill>
              <a:srgbClr val="176493"/>
            </a:solidFill>
            <a:prstDash val="solid"/>
          </a:ln>
        </p:spPr>
      </p:sp>
      <p:sp>
        <p:nvSpPr>
          <p:cNvPr id="71" name="Shape 69"/>
          <p:cNvSpPr/>
          <p:nvPr/>
        </p:nvSpPr>
        <p:spPr>
          <a:xfrm>
            <a:off x="3602736" y="3735324"/>
            <a:ext cx="132588" cy="132588"/>
          </a:xfrm>
          <a:prstGeom prst="ellipse">
            <a:avLst/>
          </a:prstGeom>
          <a:solidFill>
            <a:srgbClr val="176493"/>
          </a:solidFill>
          <a:ln w="8890">
            <a:solidFill>
              <a:srgbClr val="176493"/>
            </a:solidFill>
            <a:prstDash val="solid"/>
          </a:ln>
        </p:spPr>
      </p:sp>
      <p:sp>
        <p:nvSpPr>
          <p:cNvPr id="72" name="Shape 70"/>
          <p:cNvSpPr/>
          <p:nvPr/>
        </p:nvSpPr>
        <p:spPr>
          <a:xfrm>
            <a:off x="969264" y="3950208"/>
            <a:ext cx="132588" cy="132588"/>
          </a:xfrm>
          <a:prstGeom prst="ellipse">
            <a:avLst/>
          </a:prstGeom>
          <a:solidFill>
            <a:srgbClr val="176493"/>
          </a:solidFill>
          <a:ln w="8890">
            <a:solidFill>
              <a:srgbClr val="176493"/>
            </a:solidFill>
            <a:prstDash val="solid"/>
          </a:ln>
        </p:spPr>
      </p:sp>
      <p:sp>
        <p:nvSpPr>
          <p:cNvPr id="73" name="Shape 71"/>
          <p:cNvSpPr/>
          <p:nvPr/>
        </p:nvSpPr>
        <p:spPr>
          <a:xfrm>
            <a:off x="1261872" y="3950208"/>
            <a:ext cx="132588" cy="132588"/>
          </a:xfrm>
          <a:prstGeom prst="ellipse">
            <a:avLst/>
          </a:prstGeom>
          <a:solidFill>
            <a:srgbClr val="176493"/>
          </a:solidFill>
          <a:ln w="8890">
            <a:solidFill>
              <a:srgbClr val="176493"/>
            </a:solidFill>
            <a:prstDash val="solid"/>
          </a:ln>
        </p:spPr>
      </p:sp>
      <p:sp>
        <p:nvSpPr>
          <p:cNvPr id="74" name="Shape 72"/>
          <p:cNvSpPr/>
          <p:nvPr/>
        </p:nvSpPr>
        <p:spPr>
          <a:xfrm>
            <a:off x="1554480" y="3950208"/>
            <a:ext cx="132588" cy="132588"/>
          </a:xfrm>
          <a:prstGeom prst="ellipse">
            <a:avLst/>
          </a:prstGeom>
          <a:solidFill>
            <a:srgbClr val="176493"/>
          </a:solidFill>
          <a:ln w="8890">
            <a:solidFill>
              <a:srgbClr val="176493"/>
            </a:solidFill>
            <a:prstDash val="solid"/>
          </a:ln>
        </p:spPr>
      </p:sp>
      <p:sp>
        <p:nvSpPr>
          <p:cNvPr id="75" name="Shape 73"/>
          <p:cNvSpPr/>
          <p:nvPr/>
        </p:nvSpPr>
        <p:spPr>
          <a:xfrm>
            <a:off x="1847088" y="3950208"/>
            <a:ext cx="132588" cy="132588"/>
          </a:xfrm>
          <a:prstGeom prst="ellipse">
            <a:avLst/>
          </a:prstGeom>
          <a:solidFill>
            <a:srgbClr val="176493"/>
          </a:solidFill>
          <a:ln w="8890">
            <a:solidFill>
              <a:srgbClr val="176493"/>
            </a:solidFill>
            <a:prstDash val="solid"/>
          </a:ln>
        </p:spPr>
      </p:sp>
      <p:sp>
        <p:nvSpPr>
          <p:cNvPr id="76" name="Shape 74"/>
          <p:cNvSpPr/>
          <p:nvPr/>
        </p:nvSpPr>
        <p:spPr>
          <a:xfrm>
            <a:off x="2139696" y="3950208"/>
            <a:ext cx="132588" cy="132588"/>
          </a:xfrm>
          <a:prstGeom prst="ellipse">
            <a:avLst/>
          </a:prstGeom>
          <a:solidFill>
            <a:srgbClr val="176493"/>
          </a:solidFill>
          <a:ln w="8890">
            <a:solidFill>
              <a:srgbClr val="176493"/>
            </a:solidFill>
            <a:prstDash val="solid"/>
          </a:ln>
        </p:spPr>
      </p:sp>
      <p:sp>
        <p:nvSpPr>
          <p:cNvPr id="77" name="Shape 75"/>
          <p:cNvSpPr/>
          <p:nvPr/>
        </p:nvSpPr>
        <p:spPr>
          <a:xfrm>
            <a:off x="2432304" y="3950208"/>
            <a:ext cx="132588" cy="132588"/>
          </a:xfrm>
          <a:prstGeom prst="ellipse">
            <a:avLst/>
          </a:prstGeom>
          <a:solidFill>
            <a:srgbClr val="176493"/>
          </a:solidFill>
          <a:ln w="8890">
            <a:solidFill>
              <a:srgbClr val="176493"/>
            </a:solidFill>
            <a:prstDash val="solid"/>
          </a:ln>
        </p:spPr>
      </p:sp>
      <p:sp>
        <p:nvSpPr>
          <p:cNvPr id="78" name="Shape 76"/>
          <p:cNvSpPr/>
          <p:nvPr/>
        </p:nvSpPr>
        <p:spPr>
          <a:xfrm>
            <a:off x="2724912" y="3950208"/>
            <a:ext cx="132588" cy="132588"/>
          </a:xfrm>
          <a:prstGeom prst="ellipse">
            <a:avLst/>
          </a:prstGeom>
          <a:solidFill>
            <a:srgbClr val="176493"/>
          </a:solidFill>
          <a:ln w="8890">
            <a:solidFill>
              <a:srgbClr val="176493"/>
            </a:solidFill>
            <a:prstDash val="solid"/>
          </a:ln>
        </p:spPr>
      </p:sp>
      <p:sp>
        <p:nvSpPr>
          <p:cNvPr id="79" name="Shape 77"/>
          <p:cNvSpPr/>
          <p:nvPr/>
        </p:nvSpPr>
        <p:spPr>
          <a:xfrm>
            <a:off x="3017520" y="3950208"/>
            <a:ext cx="132588" cy="132588"/>
          </a:xfrm>
          <a:prstGeom prst="ellipse">
            <a:avLst/>
          </a:prstGeom>
          <a:solidFill>
            <a:srgbClr val="176493"/>
          </a:solidFill>
          <a:ln w="8890">
            <a:solidFill>
              <a:srgbClr val="176493"/>
            </a:solidFill>
            <a:prstDash val="solid"/>
          </a:ln>
        </p:spPr>
      </p:sp>
      <p:sp>
        <p:nvSpPr>
          <p:cNvPr id="80" name="Shape 78"/>
          <p:cNvSpPr/>
          <p:nvPr/>
        </p:nvSpPr>
        <p:spPr>
          <a:xfrm>
            <a:off x="3310128" y="3950208"/>
            <a:ext cx="132588" cy="132588"/>
          </a:xfrm>
          <a:prstGeom prst="ellipse">
            <a:avLst/>
          </a:prstGeom>
          <a:solidFill>
            <a:srgbClr val="176493"/>
          </a:solidFill>
          <a:ln w="8890">
            <a:solidFill>
              <a:srgbClr val="176493"/>
            </a:solidFill>
            <a:prstDash val="solid"/>
          </a:ln>
        </p:spPr>
      </p:sp>
      <p:sp>
        <p:nvSpPr>
          <p:cNvPr id="81" name="Shape 79"/>
          <p:cNvSpPr/>
          <p:nvPr/>
        </p:nvSpPr>
        <p:spPr>
          <a:xfrm>
            <a:off x="3602736" y="3950208"/>
            <a:ext cx="132588" cy="132588"/>
          </a:xfrm>
          <a:prstGeom prst="ellipse">
            <a:avLst/>
          </a:prstGeom>
          <a:solidFill>
            <a:srgbClr val="176493"/>
          </a:solidFill>
          <a:ln w="8890">
            <a:solidFill>
              <a:srgbClr val="176493"/>
            </a:solidFill>
            <a:prstDash val="solid"/>
          </a:ln>
        </p:spPr>
      </p:sp>
      <p:sp>
        <p:nvSpPr>
          <p:cNvPr id="82" name="Shape 80"/>
          <p:cNvSpPr/>
          <p:nvPr/>
        </p:nvSpPr>
        <p:spPr>
          <a:xfrm>
            <a:off x="969264" y="4165092"/>
            <a:ext cx="132588" cy="132588"/>
          </a:xfrm>
          <a:prstGeom prst="ellipse">
            <a:avLst/>
          </a:prstGeom>
          <a:solidFill>
            <a:srgbClr val="176493"/>
          </a:solidFill>
          <a:ln w="8890">
            <a:solidFill>
              <a:srgbClr val="176493"/>
            </a:solidFill>
            <a:prstDash val="solid"/>
          </a:ln>
        </p:spPr>
      </p:sp>
      <p:sp>
        <p:nvSpPr>
          <p:cNvPr id="83" name="Shape 81"/>
          <p:cNvSpPr/>
          <p:nvPr/>
        </p:nvSpPr>
        <p:spPr>
          <a:xfrm>
            <a:off x="1261872" y="4165092"/>
            <a:ext cx="132588" cy="132588"/>
          </a:xfrm>
          <a:prstGeom prst="ellipse">
            <a:avLst/>
          </a:prstGeom>
          <a:solidFill>
            <a:srgbClr val="176493"/>
          </a:solidFill>
          <a:ln w="8890">
            <a:solidFill>
              <a:srgbClr val="176493"/>
            </a:solidFill>
            <a:prstDash val="solid"/>
          </a:ln>
        </p:spPr>
      </p:sp>
      <p:sp>
        <p:nvSpPr>
          <p:cNvPr id="84" name="Shape 82"/>
          <p:cNvSpPr/>
          <p:nvPr/>
        </p:nvSpPr>
        <p:spPr>
          <a:xfrm>
            <a:off x="1554480" y="4165092"/>
            <a:ext cx="132588" cy="132588"/>
          </a:xfrm>
          <a:prstGeom prst="ellipse">
            <a:avLst/>
          </a:prstGeom>
          <a:solidFill>
            <a:srgbClr val="176493"/>
          </a:solidFill>
          <a:ln w="8890">
            <a:solidFill>
              <a:srgbClr val="176493"/>
            </a:solidFill>
            <a:prstDash val="solid"/>
          </a:ln>
        </p:spPr>
      </p:sp>
      <p:sp>
        <p:nvSpPr>
          <p:cNvPr id="85" name="Shape 83"/>
          <p:cNvSpPr/>
          <p:nvPr/>
        </p:nvSpPr>
        <p:spPr>
          <a:xfrm>
            <a:off x="1847088" y="4165092"/>
            <a:ext cx="132588" cy="132588"/>
          </a:xfrm>
          <a:prstGeom prst="ellipse">
            <a:avLst/>
          </a:prstGeom>
          <a:solidFill>
            <a:srgbClr val="176493"/>
          </a:solidFill>
          <a:ln w="8890">
            <a:solidFill>
              <a:srgbClr val="176493"/>
            </a:solidFill>
            <a:prstDash val="solid"/>
          </a:ln>
        </p:spPr>
      </p:sp>
      <p:sp>
        <p:nvSpPr>
          <p:cNvPr id="86" name="Shape 84"/>
          <p:cNvSpPr/>
          <p:nvPr/>
        </p:nvSpPr>
        <p:spPr>
          <a:xfrm>
            <a:off x="2139696" y="4165092"/>
            <a:ext cx="132588" cy="132588"/>
          </a:xfrm>
          <a:prstGeom prst="ellipse">
            <a:avLst/>
          </a:prstGeom>
          <a:solidFill>
            <a:srgbClr val="176493"/>
          </a:solidFill>
          <a:ln w="8890">
            <a:solidFill>
              <a:srgbClr val="176493"/>
            </a:solidFill>
            <a:prstDash val="solid"/>
          </a:ln>
        </p:spPr>
      </p:sp>
      <p:sp>
        <p:nvSpPr>
          <p:cNvPr id="87" name="Shape 85"/>
          <p:cNvSpPr/>
          <p:nvPr/>
        </p:nvSpPr>
        <p:spPr>
          <a:xfrm>
            <a:off x="2432304" y="4165092"/>
            <a:ext cx="132588" cy="132588"/>
          </a:xfrm>
          <a:prstGeom prst="ellipse">
            <a:avLst/>
          </a:prstGeom>
          <a:solidFill>
            <a:srgbClr val="176493"/>
          </a:solidFill>
          <a:ln w="8890">
            <a:solidFill>
              <a:srgbClr val="176493"/>
            </a:solidFill>
            <a:prstDash val="solid"/>
          </a:ln>
        </p:spPr>
      </p:sp>
      <p:sp>
        <p:nvSpPr>
          <p:cNvPr id="88" name="Shape 86"/>
          <p:cNvSpPr/>
          <p:nvPr/>
        </p:nvSpPr>
        <p:spPr>
          <a:xfrm>
            <a:off x="2724912" y="4165092"/>
            <a:ext cx="132588" cy="132588"/>
          </a:xfrm>
          <a:prstGeom prst="ellipse">
            <a:avLst/>
          </a:prstGeom>
          <a:solidFill>
            <a:srgbClr val="176493"/>
          </a:solidFill>
          <a:ln w="8890">
            <a:solidFill>
              <a:srgbClr val="176493"/>
            </a:solidFill>
            <a:prstDash val="solid"/>
          </a:ln>
        </p:spPr>
      </p:sp>
      <p:sp>
        <p:nvSpPr>
          <p:cNvPr id="89" name="Shape 87"/>
          <p:cNvSpPr/>
          <p:nvPr/>
        </p:nvSpPr>
        <p:spPr>
          <a:xfrm>
            <a:off x="3017520" y="4165092"/>
            <a:ext cx="132588" cy="132588"/>
          </a:xfrm>
          <a:prstGeom prst="ellipse">
            <a:avLst/>
          </a:prstGeom>
          <a:solidFill>
            <a:srgbClr val="176493"/>
          </a:solidFill>
          <a:ln w="8890">
            <a:solidFill>
              <a:srgbClr val="176493"/>
            </a:solidFill>
            <a:prstDash val="solid"/>
          </a:ln>
        </p:spPr>
      </p:sp>
      <p:sp>
        <p:nvSpPr>
          <p:cNvPr id="90" name="Shape 88"/>
          <p:cNvSpPr/>
          <p:nvPr/>
        </p:nvSpPr>
        <p:spPr>
          <a:xfrm>
            <a:off x="3310128" y="4165092"/>
            <a:ext cx="132588" cy="132588"/>
          </a:xfrm>
          <a:prstGeom prst="ellipse">
            <a:avLst/>
          </a:prstGeom>
          <a:solidFill>
            <a:srgbClr val="176493"/>
          </a:solidFill>
          <a:ln w="8890">
            <a:solidFill>
              <a:srgbClr val="176493"/>
            </a:solidFill>
            <a:prstDash val="solid"/>
          </a:ln>
        </p:spPr>
      </p:sp>
      <p:sp>
        <p:nvSpPr>
          <p:cNvPr id="91" name="Shape 89"/>
          <p:cNvSpPr/>
          <p:nvPr/>
        </p:nvSpPr>
        <p:spPr>
          <a:xfrm>
            <a:off x="3602736" y="4165092"/>
            <a:ext cx="132588" cy="132588"/>
          </a:xfrm>
          <a:prstGeom prst="ellipse">
            <a:avLst/>
          </a:prstGeom>
          <a:solidFill>
            <a:srgbClr val="176493"/>
          </a:solidFill>
          <a:ln w="8890">
            <a:solidFill>
              <a:srgbClr val="176493"/>
            </a:solidFill>
            <a:prstDash val="solid"/>
          </a:ln>
        </p:spPr>
      </p:sp>
      <p:sp>
        <p:nvSpPr>
          <p:cNvPr id="92" name="Shape 90"/>
          <p:cNvSpPr/>
          <p:nvPr/>
        </p:nvSpPr>
        <p:spPr>
          <a:xfrm>
            <a:off x="969264" y="4379976"/>
            <a:ext cx="132588" cy="132588"/>
          </a:xfrm>
          <a:prstGeom prst="ellipse">
            <a:avLst/>
          </a:prstGeom>
          <a:solidFill>
            <a:srgbClr val="B33B43"/>
          </a:solidFill>
          <a:ln w="8890">
            <a:solidFill>
              <a:srgbClr val="B33B43"/>
            </a:solidFill>
            <a:prstDash val="solid"/>
          </a:ln>
        </p:spPr>
      </p:sp>
      <p:sp>
        <p:nvSpPr>
          <p:cNvPr id="93" name="Shape 91"/>
          <p:cNvSpPr/>
          <p:nvPr/>
        </p:nvSpPr>
        <p:spPr>
          <a:xfrm>
            <a:off x="1261872" y="4379976"/>
            <a:ext cx="132588" cy="132588"/>
          </a:xfrm>
          <a:prstGeom prst="ellipse">
            <a:avLst/>
          </a:prstGeom>
          <a:solidFill>
            <a:srgbClr val="B33B43"/>
          </a:solidFill>
          <a:ln w="8890">
            <a:solidFill>
              <a:srgbClr val="B33B43"/>
            </a:solidFill>
            <a:prstDash val="solid"/>
          </a:ln>
        </p:spPr>
      </p:sp>
      <p:sp>
        <p:nvSpPr>
          <p:cNvPr id="94" name="Shape 92"/>
          <p:cNvSpPr/>
          <p:nvPr/>
        </p:nvSpPr>
        <p:spPr>
          <a:xfrm>
            <a:off x="1554480" y="4379976"/>
            <a:ext cx="132588" cy="132588"/>
          </a:xfrm>
          <a:prstGeom prst="ellipse">
            <a:avLst/>
          </a:prstGeom>
          <a:solidFill>
            <a:srgbClr val="B33B43"/>
          </a:solidFill>
          <a:ln w="8890">
            <a:solidFill>
              <a:srgbClr val="B33B43"/>
            </a:solidFill>
            <a:prstDash val="solid"/>
          </a:ln>
        </p:spPr>
      </p:sp>
      <p:sp>
        <p:nvSpPr>
          <p:cNvPr id="95" name="Shape 93"/>
          <p:cNvSpPr/>
          <p:nvPr/>
        </p:nvSpPr>
        <p:spPr>
          <a:xfrm>
            <a:off x="1847088" y="4379976"/>
            <a:ext cx="132588" cy="132588"/>
          </a:xfrm>
          <a:prstGeom prst="ellipse">
            <a:avLst/>
          </a:prstGeom>
          <a:solidFill>
            <a:srgbClr val="B33B43"/>
          </a:solidFill>
          <a:ln w="8890">
            <a:solidFill>
              <a:srgbClr val="B33B43"/>
            </a:solidFill>
            <a:prstDash val="solid"/>
          </a:ln>
        </p:spPr>
      </p:sp>
      <p:sp>
        <p:nvSpPr>
          <p:cNvPr id="96" name="Shape 94"/>
          <p:cNvSpPr/>
          <p:nvPr/>
        </p:nvSpPr>
        <p:spPr>
          <a:xfrm>
            <a:off x="2139696" y="4379976"/>
            <a:ext cx="132588" cy="132588"/>
          </a:xfrm>
          <a:prstGeom prst="ellipse">
            <a:avLst/>
          </a:prstGeom>
          <a:solidFill>
            <a:srgbClr val="B33B43"/>
          </a:solidFill>
          <a:ln w="8890">
            <a:solidFill>
              <a:srgbClr val="B33B43"/>
            </a:solidFill>
            <a:prstDash val="solid"/>
          </a:ln>
        </p:spPr>
      </p:sp>
      <p:sp>
        <p:nvSpPr>
          <p:cNvPr id="97" name="Shape 95"/>
          <p:cNvSpPr/>
          <p:nvPr/>
        </p:nvSpPr>
        <p:spPr>
          <a:xfrm>
            <a:off x="2432304" y="4379976"/>
            <a:ext cx="132588" cy="132588"/>
          </a:xfrm>
          <a:prstGeom prst="ellipse">
            <a:avLst/>
          </a:prstGeom>
          <a:solidFill>
            <a:srgbClr val="B33B43"/>
          </a:solidFill>
          <a:ln w="8890">
            <a:solidFill>
              <a:srgbClr val="B33B43"/>
            </a:solidFill>
            <a:prstDash val="solid"/>
          </a:ln>
        </p:spPr>
      </p:sp>
      <p:sp>
        <p:nvSpPr>
          <p:cNvPr id="98" name="Shape 96"/>
          <p:cNvSpPr/>
          <p:nvPr/>
        </p:nvSpPr>
        <p:spPr>
          <a:xfrm>
            <a:off x="2724912" y="4379976"/>
            <a:ext cx="132588" cy="132588"/>
          </a:xfrm>
          <a:prstGeom prst="ellipse">
            <a:avLst/>
          </a:prstGeom>
          <a:solidFill>
            <a:srgbClr val="B33B43"/>
          </a:solidFill>
          <a:ln w="8890">
            <a:solidFill>
              <a:srgbClr val="B33B43"/>
            </a:solidFill>
            <a:prstDash val="solid"/>
          </a:ln>
        </p:spPr>
      </p:sp>
      <p:sp>
        <p:nvSpPr>
          <p:cNvPr id="99" name="Shape 97"/>
          <p:cNvSpPr/>
          <p:nvPr/>
        </p:nvSpPr>
        <p:spPr>
          <a:xfrm>
            <a:off x="3017520" y="4379976"/>
            <a:ext cx="132588" cy="132588"/>
          </a:xfrm>
          <a:prstGeom prst="ellipse">
            <a:avLst/>
          </a:prstGeom>
          <a:solidFill>
            <a:srgbClr val="B33B43"/>
          </a:solidFill>
          <a:ln w="8890">
            <a:solidFill>
              <a:srgbClr val="B33B43"/>
            </a:solidFill>
            <a:prstDash val="solid"/>
          </a:ln>
        </p:spPr>
      </p:sp>
      <p:sp>
        <p:nvSpPr>
          <p:cNvPr id="100" name="Shape 98"/>
          <p:cNvSpPr/>
          <p:nvPr/>
        </p:nvSpPr>
        <p:spPr>
          <a:xfrm>
            <a:off x="3310128" y="4379976"/>
            <a:ext cx="132588" cy="132588"/>
          </a:xfrm>
          <a:prstGeom prst="ellipse">
            <a:avLst/>
          </a:prstGeom>
          <a:solidFill>
            <a:srgbClr val="B33B43"/>
          </a:solidFill>
          <a:ln w="8890">
            <a:solidFill>
              <a:srgbClr val="B33B43"/>
            </a:solidFill>
            <a:prstDash val="solid"/>
          </a:ln>
        </p:spPr>
      </p:sp>
      <p:sp>
        <p:nvSpPr>
          <p:cNvPr id="101" name="Shape 99"/>
          <p:cNvSpPr/>
          <p:nvPr/>
        </p:nvSpPr>
        <p:spPr>
          <a:xfrm>
            <a:off x="3602736" y="4379976"/>
            <a:ext cx="132588" cy="132588"/>
          </a:xfrm>
          <a:prstGeom prst="ellipse">
            <a:avLst/>
          </a:prstGeom>
          <a:solidFill>
            <a:srgbClr val="B33B43"/>
          </a:solidFill>
          <a:ln w="8890">
            <a:solidFill>
              <a:srgbClr val="B33B43"/>
            </a:solidFill>
            <a:prstDash val="solid"/>
          </a:ln>
        </p:spPr>
      </p:sp>
      <p:sp>
        <p:nvSpPr>
          <p:cNvPr id="102" name="Shape 100"/>
          <p:cNvSpPr/>
          <p:nvPr/>
        </p:nvSpPr>
        <p:spPr>
          <a:xfrm>
            <a:off x="969264" y="4594860"/>
            <a:ext cx="132588" cy="132588"/>
          </a:xfrm>
          <a:prstGeom prst="ellipse">
            <a:avLst/>
          </a:prstGeom>
          <a:solidFill>
            <a:srgbClr val="B33B43"/>
          </a:solidFill>
          <a:ln w="8890">
            <a:solidFill>
              <a:srgbClr val="B33B43"/>
            </a:solidFill>
            <a:prstDash val="solid"/>
          </a:ln>
        </p:spPr>
      </p:sp>
      <p:sp>
        <p:nvSpPr>
          <p:cNvPr id="103" name="Shape 101"/>
          <p:cNvSpPr/>
          <p:nvPr/>
        </p:nvSpPr>
        <p:spPr>
          <a:xfrm>
            <a:off x="1261872" y="4594860"/>
            <a:ext cx="132588" cy="132588"/>
          </a:xfrm>
          <a:prstGeom prst="ellipse">
            <a:avLst/>
          </a:prstGeom>
          <a:solidFill>
            <a:srgbClr val="B33B43"/>
          </a:solidFill>
          <a:ln w="8890">
            <a:solidFill>
              <a:srgbClr val="B33B43"/>
            </a:solidFill>
            <a:prstDash val="solid"/>
          </a:ln>
        </p:spPr>
      </p:sp>
      <p:sp>
        <p:nvSpPr>
          <p:cNvPr id="104" name="Shape 102"/>
          <p:cNvSpPr/>
          <p:nvPr/>
        </p:nvSpPr>
        <p:spPr>
          <a:xfrm>
            <a:off x="1554480" y="4594860"/>
            <a:ext cx="132588" cy="132588"/>
          </a:xfrm>
          <a:prstGeom prst="ellipse">
            <a:avLst/>
          </a:prstGeom>
          <a:solidFill>
            <a:srgbClr val="B33B43"/>
          </a:solidFill>
          <a:ln w="8890">
            <a:solidFill>
              <a:srgbClr val="B33B43"/>
            </a:solidFill>
            <a:prstDash val="solid"/>
          </a:ln>
        </p:spPr>
      </p:sp>
      <p:sp>
        <p:nvSpPr>
          <p:cNvPr id="105" name="Shape 103"/>
          <p:cNvSpPr/>
          <p:nvPr/>
        </p:nvSpPr>
        <p:spPr>
          <a:xfrm>
            <a:off x="1847088" y="4594860"/>
            <a:ext cx="132588" cy="132588"/>
          </a:xfrm>
          <a:prstGeom prst="ellipse">
            <a:avLst/>
          </a:prstGeom>
          <a:solidFill>
            <a:srgbClr val="B33B43"/>
          </a:solidFill>
          <a:ln w="8890">
            <a:solidFill>
              <a:srgbClr val="B33B43"/>
            </a:solidFill>
            <a:prstDash val="solid"/>
          </a:ln>
        </p:spPr>
      </p:sp>
      <p:sp>
        <p:nvSpPr>
          <p:cNvPr id="106" name="Shape 104"/>
          <p:cNvSpPr/>
          <p:nvPr/>
        </p:nvSpPr>
        <p:spPr>
          <a:xfrm>
            <a:off x="2139696" y="4594860"/>
            <a:ext cx="132588" cy="132588"/>
          </a:xfrm>
          <a:prstGeom prst="ellipse">
            <a:avLst/>
          </a:prstGeom>
          <a:solidFill>
            <a:srgbClr val="B33B43"/>
          </a:solidFill>
          <a:ln w="8890">
            <a:solidFill>
              <a:srgbClr val="B33B43"/>
            </a:solidFill>
            <a:prstDash val="solid"/>
          </a:ln>
        </p:spPr>
      </p:sp>
      <p:sp>
        <p:nvSpPr>
          <p:cNvPr id="107" name="Shape 105"/>
          <p:cNvSpPr/>
          <p:nvPr/>
        </p:nvSpPr>
        <p:spPr>
          <a:xfrm>
            <a:off x="2432304" y="4594860"/>
            <a:ext cx="132588" cy="132588"/>
          </a:xfrm>
          <a:prstGeom prst="ellipse">
            <a:avLst/>
          </a:prstGeom>
          <a:solidFill>
            <a:srgbClr val="B33B43"/>
          </a:solidFill>
          <a:ln w="8890">
            <a:solidFill>
              <a:srgbClr val="B33B43"/>
            </a:solidFill>
            <a:prstDash val="solid"/>
          </a:ln>
        </p:spPr>
      </p:sp>
      <p:sp>
        <p:nvSpPr>
          <p:cNvPr id="108" name="Shape 106"/>
          <p:cNvSpPr/>
          <p:nvPr/>
        </p:nvSpPr>
        <p:spPr>
          <a:xfrm>
            <a:off x="2724912" y="4594860"/>
            <a:ext cx="132588" cy="132588"/>
          </a:xfrm>
          <a:prstGeom prst="ellipse">
            <a:avLst/>
          </a:prstGeom>
          <a:solidFill>
            <a:srgbClr val="B33B43"/>
          </a:solidFill>
          <a:ln w="8890">
            <a:solidFill>
              <a:srgbClr val="B33B43"/>
            </a:solidFill>
            <a:prstDash val="solid"/>
          </a:ln>
        </p:spPr>
      </p:sp>
      <p:sp>
        <p:nvSpPr>
          <p:cNvPr id="109" name="Shape 107"/>
          <p:cNvSpPr/>
          <p:nvPr/>
        </p:nvSpPr>
        <p:spPr>
          <a:xfrm>
            <a:off x="3017520" y="4594860"/>
            <a:ext cx="132588" cy="132588"/>
          </a:xfrm>
          <a:prstGeom prst="ellipse">
            <a:avLst/>
          </a:prstGeom>
          <a:solidFill>
            <a:srgbClr val="B33B43"/>
          </a:solidFill>
          <a:ln w="8890">
            <a:solidFill>
              <a:srgbClr val="B33B43"/>
            </a:solidFill>
            <a:prstDash val="solid"/>
          </a:ln>
        </p:spPr>
      </p:sp>
      <p:sp>
        <p:nvSpPr>
          <p:cNvPr id="110" name="Shape 108"/>
          <p:cNvSpPr/>
          <p:nvPr/>
        </p:nvSpPr>
        <p:spPr>
          <a:xfrm>
            <a:off x="3310128" y="4594860"/>
            <a:ext cx="132588" cy="132588"/>
          </a:xfrm>
          <a:prstGeom prst="ellipse">
            <a:avLst/>
          </a:prstGeom>
          <a:solidFill>
            <a:srgbClr val="B33B43"/>
          </a:solidFill>
          <a:ln w="8890">
            <a:solidFill>
              <a:srgbClr val="B33B43"/>
            </a:solidFill>
            <a:prstDash val="solid"/>
          </a:ln>
        </p:spPr>
      </p:sp>
      <p:sp>
        <p:nvSpPr>
          <p:cNvPr id="111" name="Shape 109"/>
          <p:cNvSpPr/>
          <p:nvPr/>
        </p:nvSpPr>
        <p:spPr>
          <a:xfrm>
            <a:off x="3602736" y="4594860"/>
            <a:ext cx="132588" cy="132588"/>
          </a:xfrm>
          <a:prstGeom prst="ellipse">
            <a:avLst/>
          </a:prstGeom>
          <a:solidFill>
            <a:srgbClr val="B33B43"/>
          </a:solidFill>
          <a:ln w="8890">
            <a:solidFill>
              <a:srgbClr val="B33B43"/>
            </a:solidFill>
            <a:prstDash val="solid"/>
          </a:ln>
        </p:spPr>
      </p:sp>
      <p:sp>
        <p:nvSpPr>
          <p:cNvPr id="112" name="Shape 110"/>
          <p:cNvSpPr/>
          <p:nvPr/>
        </p:nvSpPr>
        <p:spPr>
          <a:xfrm>
            <a:off x="1005840" y="5093208"/>
            <a:ext cx="109728" cy="109728"/>
          </a:xfrm>
          <a:prstGeom prst="ellipse">
            <a:avLst/>
          </a:prstGeom>
          <a:solidFill>
            <a:srgbClr val="176493"/>
          </a:solidFill>
          <a:ln w="8890">
            <a:solidFill>
              <a:srgbClr val="176493"/>
            </a:solidFill>
            <a:prstDash val="solid"/>
          </a:ln>
        </p:spPr>
      </p:sp>
      <p:sp>
        <p:nvSpPr>
          <p:cNvPr id="113" name="Text 111"/>
          <p:cNvSpPr/>
          <p:nvPr/>
        </p:nvSpPr>
        <p:spPr>
          <a:xfrm>
            <a:off x="1216152" y="5001768"/>
            <a:ext cx="1353312" cy="301752"/>
          </a:xfrm>
          <a:prstGeom prst="rect">
            <a:avLst/>
          </a:prstGeom>
          <a:noFill/>
          <a:ln/>
        </p:spPr>
        <p:txBody>
          <a:bodyPr wrap="square" lIns="0" tIns="0" rIns="0" bIns="0" rtlCol="0" anchor="ctr"/>
          <a:lstStyle/>
          <a:p>
            <a:pPr indent="0" marL="0">
              <a:buNone/>
            </a:pPr>
            <a:r>
              <a:rPr lang="en-US" sz="1500" dirty="0">
                <a:solidFill>
                  <a:srgbClr val="53657A"/>
                </a:solidFill>
                <a:latin typeface="Aptos" pitchFamily="34" charset="0"/>
                <a:ea typeface="Aptos" pitchFamily="34" charset="-122"/>
                <a:cs typeface="Aptos" pitchFamily="34" charset="-120"/>
              </a:rPr>
              <a:t>80 negative</a:t>
            </a:r>
            <a:endParaRPr lang="en-US" sz="1500" dirty="0"/>
          </a:p>
        </p:txBody>
      </p:sp>
      <p:sp>
        <p:nvSpPr>
          <p:cNvPr id="114" name="Shape 112"/>
          <p:cNvSpPr/>
          <p:nvPr/>
        </p:nvSpPr>
        <p:spPr>
          <a:xfrm>
            <a:off x="2679192" y="5093208"/>
            <a:ext cx="109728" cy="109728"/>
          </a:xfrm>
          <a:prstGeom prst="ellipse">
            <a:avLst/>
          </a:prstGeom>
          <a:solidFill>
            <a:srgbClr val="B33B43"/>
          </a:solidFill>
          <a:ln w="8890">
            <a:solidFill>
              <a:srgbClr val="B33B43"/>
            </a:solidFill>
            <a:prstDash val="solid"/>
          </a:ln>
        </p:spPr>
      </p:sp>
      <p:sp>
        <p:nvSpPr>
          <p:cNvPr id="115" name="Text 113"/>
          <p:cNvSpPr/>
          <p:nvPr/>
        </p:nvSpPr>
        <p:spPr>
          <a:xfrm>
            <a:off x="2880360" y="5001768"/>
            <a:ext cx="1380744" cy="301752"/>
          </a:xfrm>
          <a:prstGeom prst="rect">
            <a:avLst/>
          </a:prstGeom>
          <a:noFill/>
          <a:ln/>
        </p:spPr>
        <p:txBody>
          <a:bodyPr wrap="square" lIns="0" tIns="0" rIns="0" bIns="0" rtlCol="0" anchor="ctr"/>
          <a:lstStyle/>
          <a:p>
            <a:pPr indent="0" marL="0">
              <a:buNone/>
            </a:pPr>
            <a:r>
              <a:rPr lang="en-US" sz="1500" dirty="0">
                <a:solidFill>
                  <a:srgbClr val="53657A"/>
                </a:solidFill>
                <a:latin typeface="Aptos" pitchFamily="34" charset="0"/>
                <a:ea typeface="Aptos" pitchFamily="34" charset="-122"/>
                <a:cs typeface="Aptos" pitchFamily="34" charset="-120"/>
              </a:rPr>
              <a:t>20 positive</a:t>
            </a:r>
            <a:endParaRPr lang="en-US" sz="1500" dirty="0"/>
          </a:p>
        </p:txBody>
      </p:sp>
      <p:sp>
        <p:nvSpPr>
          <p:cNvPr id="116" name="Text 114"/>
          <p:cNvSpPr/>
          <p:nvPr/>
        </p:nvSpPr>
        <p:spPr>
          <a:xfrm>
            <a:off x="4901184" y="2084832"/>
            <a:ext cx="6309360" cy="228600"/>
          </a:xfrm>
          <a:prstGeom prst="rect">
            <a:avLst/>
          </a:prstGeom>
          <a:noFill/>
          <a:ln/>
        </p:spPr>
        <p:txBody>
          <a:bodyPr wrap="square" lIns="0" tIns="0" rIns="0" bIns="0" rtlCol="0" anchor="ctr"/>
          <a:lstStyle/>
          <a:p>
            <a:pPr indent="0" marL="0">
              <a:buNone/>
            </a:pPr>
            <a:r>
              <a:rPr lang="en-US" sz="1100" b="1" spc="110" kern="0" dirty="0">
                <a:solidFill>
                  <a:srgbClr val="53657A"/>
                </a:solidFill>
                <a:latin typeface="Aptos" pitchFamily="34" charset="0"/>
                <a:ea typeface="Aptos" pitchFamily="34" charset="-122"/>
                <a:cs typeface="Aptos" pitchFamily="34" charset="-120"/>
              </a:rPr>
              <a:t>MODEL PREDICTS NEGATIVE EVERY TIME</a:t>
            </a:r>
            <a:endParaRPr lang="en-US" sz="1100" dirty="0"/>
          </a:p>
        </p:txBody>
      </p:sp>
      <p:sp>
        <p:nvSpPr>
          <p:cNvPr id="117" name="Text 115"/>
          <p:cNvSpPr/>
          <p:nvPr/>
        </p:nvSpPr>
        <p:spPr>
          <a:xfrm>
            <a:off x="6638544" y="2423160"/>
            <a:ext cx="2221992" cy="338328"/>
          </a:xfrm>
          <a:prstGeom prst="rect">
            <a:avLst/>
          </a:prstGeom>
          <a:noFill/>
          <a:ln/>
        </p:spPr>
        <p:txBody>
          <a:bodyPr wrap="square" lIns="0" tIns="0" rIns="0" bIns="0" rtlCol="0" anchor="ctr"/>
          <a:lstStyle/>
          <a:p>
            <a:pPr algn="ctr" indent="0" marL="0">
              <a:buNone/>
            </a:pPr>
            <a:r>
              <a:rPr lang="en-US" sz="1800" b="1" dirty="0">
                <a:solidFill>
                  <a:srgbClr val="172233"/>
                </a:solidFill>
                <a:latin typeface="Aptos" pitchFamily="34" charset="0"/>
                <a:ea typeface="Aptos" pitchFamily="34" charset="-122"/>
                <a:cs typeface="Aptos" pitchFamily="34" charset="-120"/>
              </a:rPr>
              <a:t>Pred. negative</a:t>
            </a:r>
            <a:endParaRPr lang="en-US" sz="1800" dirty="0"/>
          </a:p>
        </p:txBody>
      </p:sp>
      <p:sp>
        <p:nvSpPr>
          <p:cNvPr id="118" name="Text 116"/>
          <p:cNvSpPr/>
          <p:nvPr/>
        </p:nvSpPr>
        <p:spPr>
          <a:xfrm>
            <a:off x="8860536" y="2423160"/>
            <a:ext cx="2221992" cy="338328"/>
          </a:xfrm>
          <a:prstGeom prst="rect">
            <a:avLst/>
          </a:prstGeom>
          <a:noFill/>
          <a:ln/>
        </p:spPr>
        <p:txBody>
          <a:bodyPr wrap="square" lIns="0" tIns="0" rIns="0" bIns="0" rtlCol="0" anchor="ctr"/>
          <a:lstStyle/>
          <a:p>
            <a:pPr algn="ctr" indent="0" marL="0">
              <a:buNone/>
            </a:pPr>
            <a:r>
              <a:rPr lang="en-US" sz="1800" b="1" dirty="0">
                <a:solidFill>
                  <a:srgbClr val="172233"/>
                </a:solidFill>
                <a:latin typeface="Aptos" pitchFamily="34" charset="0"/>
                <a:ea typeface="Aptos" pitchFamily="34" charset="-122"/>
                <a:cs typeface="Aptos" pitchFamily="34" charset="-120"/>
              </a:rPr>
              <a:t>Pred. positive</a:t>
            </a:r>
            <a:endParaRPr lang="en-US" sz="1800" dirty="0"/>
          </a:p>
        </p:txBody>
      </p:sp>
      <p:sp>
        <p:nvSpPr>
          <p:cNvPr id="119" name="Text 117"/>
          <p:cNvSpPr/>
          <p:nvPr/>
        </p:nvSpPr>
        <p:spPr>
          <a:xfrm>
            <a:off x="4864608" y="2907792"/>
            <a:ext cx="1618488" cy="667512"/>
          </a:xfrm>
          <a:prstGeom prst="rect">
            <a:avLst/>
          </a:prstGeom>
          <a:noFill/>
          <a:ln/>
        </p:spPr>
        <p:txBody>
          <a:bodyPr wrap="square" lIns="0" tIns="0" rIns="0" bIns="0" rtlCol="0" anchor="ctr"/>
          <a:lstStyle/>
          <a:p>
            <a:pPr indent="0" marL="0">
              <a:buNone/>
            </a:pPr>
            <a:r>
              <a:rPr lang="en-US" sz="1800" b="1" dirty="0">
                <a:solidFill>
                  <a:srgbClr val="172233"/>
                </a:solidFill>
                <a:latin typeface="Aptos" pitchFamily="34" charset="0"/>
                <a:ea typeface="Aptos" pitchFamily="34" charset="-122"/>
                <a:cs typeface="Aptos" pitchFamily="34" charset="-120"/>
              </a:rPr>
              <a:t>Actual negative</a:t>
            </a:r>
            <a:endParaRPr lang="en-US" sz="1800" dirty="0"/>
          </a:p>
        </p:txBody>
      </p:sp>
      <p:sp>
        <p:nvSpPr>
          <p:cNvPr id="120" name="Text 118"/>
          <p:cNvSpPr/>
          <p:nvPr/>
        </p:nvSpPr>
        <p:spPr>
          <a:xfrm>
            <a:off x="4864608" y="3575304"/>
            <a:ext cx="1618488" cy="667512"/>
          </a:xfrm>
          <a:prstGeom prst="rect">
            <a:avLst/>
          </a:prstGeom>
          <a:noFill/>
          <a:ln/>
        </p:spPr>
        <p:txBody>
          <a:bodyPr wrap="square" lIns="0" tIns="0" rIns="0" bIns="0" rtlCol="0" anchor="ctr"/>
          <a:lstStyle/>
          <a:p>
            <a:pPr indent="0" marL="0">
              <a:buNone/>
            </a:pPr>
            <a:r>
              <a:rPr lang="en-US" sz="1800" b="1" dirty="0">
                <a:solidFill>
                  <a:srgbClr val="172233"/>
                </a:solidFill>
                <a:latin typeface="Aptos" pitchFamily="34" charset="0"/>
                <a:ea typeface="Aptos" pitchFamily="34" charset="-122"/>
                <a:cs typeface="Aptos" pitchFamily="34" charset="-120"/>
              </a:rPr>
              <a:t>Actual positive</a:t>
            </a:r>
            <a:endParaRPr lang="en-US" sz="1800" dirty="0"/>
          </a:p>
        </p:txBody>
      </p:sp>
      <p:sp>
        <p:nvSpPr>
          <p:cNvPr id="121" name="Shape 119"/>
          <p:cNvSpPr/>
          <p:nvPr/>
        </p:nvSpPr>
        <p:spPr>
          <a:xfrm>
            <a:off x="6638544" y="2907792"/>
            <a:ext cx="2221992" cy="667512"/>
          </a:xfrm>
          <a:prstGeom prst="rect">
            <a:avLst>
              <a:gd name="adj" fmla="val 13699"/>
            </a:avLst>
          </a:prstGeom>
          <a:solidFill>
            <a:srgbClr val="E3EFF7"/>
          </a:solidFill>
          <a:ln w="10160">
            <a:solidFill>
              <a:srgbClr val="FFFFFF"/>
            </a:solidFill>
            <a:prstDash val="solid"/>
          </a:ln>
        </p:spPr>
      </p:sp>
      <p:sp>
        <p:nvSpPr>
          <p:cNvPr id="122" name="Text 120"/>
          <p:cNvSpPr/>
          <p:nvPr/>
        </p:nvSpPr>
        <p:spPr>
          <a:xfrm>
            <a:off x="6693408" y="2939796"/>
            <a:ext cx="2112264" cy="603504"/>
          </a:xfrm>
          <a:prstGeom prst="rect">
            <a:avLst/>
          </a:prstGeom>
          <a:noFill/>
          <a:ln/>
        </p:spPr>
        <p:txBody>
          <a:bodyPr wrap="square" lIns="0" tIns="0" rIns="0" bIns="0" rtlCol="0" anchor="ctr"/>
          <a:lstStyle/>
          <a:p>
            <a:pPr algn="ctr" indent="0" marL="0">
              <a:buNone/>
            </a:pPr>
            <a:r>
              <a:rPr lang="en-US" sz="2700" b="1" dirty="0">
                <a:solidFill>
                  <a:srgbClr val="176493"/>
                </a:solidFill>
                <a:latin typeface="Aptos" pitchFamily="34" charset="0"/>
                <a:ea typeface="Aptos" pitchFamily="34" charset="-122"/>
                <a:cs typeface="Aptos" pitchFamily="34" charset="-120"/>
              </a:rPr>
              <a:t>80</a:t>
            </a:r>
            <a:endParaRPr lang="en-US" sz="2700" dirty="0"/>
          </a:p>
        </p:txBody>
      </p:sp>
      <p:sp>
        <p:nvSpPr>
          <p:cNvPr id="123" name="Shape 121"/>
          <p:cNvSpPr/>
          <p:nvPr/>
        </p:nvSpPr>
        <p:spPr>
          <a:xfrm>
            <a:off x="8860536" y="2907792"/>
            <a:ext cx="2221992" cy="667512"/>
          </a:xfrm>
          <a:prstGeom prst="rect">
            <a:avLst>
              <a:gd name="adj" fmla="val 13699"/>
            </a:avLst>
          </a:prstGeom>
          <a:solidFill>
            <a:srgbClr val="E3EFF7"/>
          </a:solidFill>
          <a:ln w="10160">
            <a:solidFill>
              <a:srgbClr val="FFFFFF"/>
            </a:solidFill>
            <a:prstDash val="solid"/>
          </a:ln>
        </p:spPr>
      </p:sp>
      <p:sp>
        <p:nvSpPr>
          <p:cNvPr id="124" name="Text 122"/>
          <p:cNvSpPr/>
          <p:nvPr/>
        </p:nvSpPr>
        <p:spPr>
          <a:xfrm>
            <a:off x="8915400" y="2939796"/>
            <a:ext cx="2112264" cy="603504"/>
          </a:xfrm>
          <a:prstGeom prst="rect">
            <a:avLst/>
          </a:prstGeom>
          <a:noFill/>
          <a:ln/>
        </p:spPr>
        <p:txBody>
          <a:bodyPr wrap="square" lIns="0" tIns="0" rIns="0" bIns="0" rtlCol="0" anchor="ctr"/>
          <a:lstStyle/>
          <a:p>
            <a:pPr algn="ctr" indent="0" marL="0">
              <a:buNone/>
            </a:pPr>
            <a:r>
              <a:rPr lang="en-US" sz="2700" b="1" dirty="0">
                <a:solidFill>
                  <a:srgbClr val="176493"/>
                </a:solidFill>
                <a:latin typeface="Aptos" pitchFamily="34" charset="0"/>
                <a:ea typeface="Aptos" pitchFamily="34" charset="-122"/>
                <a:cs typeface="Aptos" pitchFamily="34" charset="-120"/>
              </a:rPr>
              <a:t>0</a:t>
            </a:r>
            <a:endParaRPr lang="en-US" sz="2700" dirty="0"/>
          </a:p>
        </p:txBody>
      </p:sp>
      <p:sp>
        <p:nvSpPr>
          <p:cNvPr id="125" name="Shape 123"/>
          <p:cNvSpPr/>
          <p:nvPr/>
        </p:nvSpPr>
        <p:spPr>
          <a:xfrm>
            <a:off x="6638544" y="3575304"/>
            <a:ext cx="2221992" cy="667512"/>
          </a:xfrm>
          <a:prstGeom prst="rect">
            <a:avLst>
              <a:gd name="adj" fmla="val 13699"/>
            </a:avLst>
          </a:prstGeom>
          <a:solidFill>
            <a:srgbClr val="FAE9EA"/>
          </a:solidFill>
          <a:ln w="10160">
            <a:solidFill>
              <a:srgbClr val="FFFFFF"/>
            </a:solidFill>
            <a:prstDash val="solid"/>
          </a:ln>
        </p:spPr>
      </p:sp>
      <p:sp>
        <p:nvSpPr>
          <p:cNvPr id="126" name="Text 124"/>
          <p:cNvSpPr/>
          <p:nvPr/>
        </p:nvSpPr>
        <p:spPr>
          <a:xfrm>
            <a:off x="6693408" y="3607308"/>
            <a:ext cx="2112264" cy="603504"/>
          </a:xfrm>
          <a:prstGeom prst="rect">
            <a:avLst/>
          </a:prstGeom>
          <a:noFill/>
          <a:ln/>
        </p:spPr>
        <p:txBody>
          <a:bodyPr wrap="square" lIns="0" tIns="0" rIns="0" bIns="0" rtlCol="0" anchor="ctr"/>
          <a:lstStyle/>
          <a:p>
            <a:pPr algn="ctr" indent="0" marL="0">
              <a:buNone/>
            </a:pPr>
            <a:r>
              <a:rPr lang="en-US" sz="2700" b="1" dirty="0">
                <a:solidFill>
                  <a:srgbClr val="B33B43"/>
                </a:solidFill>
                <a:latin typeface="Aptos" pitchFamily="34" charset="0"/>
                <a:ea typeface="Aptos" pitchFamily="34" charset="-122"/>
                <a:cs typeface="Aptos" pitchFamily="34" charset="-120"/>
              </a:rPr>
              <a:t>20</a:t>
            </a:r>
            <a:endParaRPr lang="en-US" sz="2700" dirty="0"/>
          </a:p>
        </p:txBody>
      </p:sp>
      <p:sp>
        <p:nvSpPr>
          <p:cNvPr id="127" name="Shape 125"/>
          <p:cNvSpPr/>
          <p:nvPr/>
        </p:nvSpPr>
        <p:spPr>
          <a:xfrm>
            <a:off x="8860536" y="3575304"/>
            <a:ext cx="2221992" cy="667512"/>
          </a:xfrm>
          <a:prstGeom prst="rect">
            <a:avLst>
              <a:gd name="adj" fmla="val 13699"/>
            </a:avLst>
          </a:prstGeom>
          <a:solidFill>
            <a:srgbClr val="FAE9EA"/>
          </a:solidFill>
          <a:ln w="10160">
            <a:solidFill>
              <a:srgbClr val="FFFFFF"/>
            </a:solidFill>
            <a:prstDash val="solid"/>
          </a:ln>
        </p:spPr>
      </p:sp>
      <p:sp>
        <p:nvSpPr>
          <p:cNvPr id="128" name="Text 126"/>
          <p:cNvSpPr/>
          <p:nvPr/>
        </p:nvSpPr>
        <p:spPr>
          <a:xfrm>
            <a:off x="8915400" y="3607308"/>
            <a:ext cx="2112264" cy="603504"/>
          </a:xfrm>
          <a:prstGeom prst="rect">
            <a:avLst/>
          </a:prstGeom>
          <a:noFill/>
          <a:ln/>
        </p:spPr>
        <p:txBody>
          <a:bodyPr wrap="square" lIns="0" tIns="0" rIns="0" bIns="0" rtlCol="0" anchor="ctr"/>
          <a:lstStyle/>
          <a:p>
            <a:pPr algn="ctr" indent="0" marL="0">
              <a:buNone/>
            </a:pPr>
            <a:r>
              <a:rPr lang="en-US" sz="2700" b="1" dirty="0">
                <a:solidFill>
                  <a:srgbClr val="B33B43"/>
                </a:solidFill>
                <a:latin typeface="Aptos" pitchFamily="34" charset="0"/>
                <a:ea typeface="Aptos" pitchFamily="34" charset="-122"/>
                <a:cs typeface="Aptos" pitchFamily="34" charset="-120"/>
              </a:rPr>
              <a:t>0</a:t>
            </a:r>
            <a:endParaRPr lang="en-US" sz="2700" dirty="0"/>
          </a:p>
        </p:txBody>
      </p:sp>
      <p:sp>
        <p:nvSpPr>
          <p:cNvPr id="129" name="Text 127"/>
          <p:cNvSpPr/>
          <p:nvPr/>
        </p:nvSpPr>
        <p:spPr>
          <a:xfrm>
            <a:off x="4937760" y="4581144"/>
            <a:ext cx="2194560" cy="274320"/>
          </a:xfrm>
          <a:prstGeom prst="rect">
            <a:avLst/>
          </a:prstGeom>
          <a:noFill/>
          <a:ln/>
        </p:spPr>
        <p:txBody>
          <a:bodyPr wrap="square" lIns="0" tIns="0" rIns="0" bIns="0" rtlCol="0" anchor="ctr"/>
          <a:lstStyle/>
          <a:p>
            <a:pPr indent="0" marL="0">
              <a:buNone/>
            </a:pPr>
            <a:r>
              <a:rPr lang="en-US" sz="1800" dirty="0">
                <a:solidFill>
                  <a:srgbClr val="53657A"/>
                </a:solidFill>
                <a:latin typeface="Aptos" pitchFamily="34" charset="0"/>
                <a:ea typeface="Aptos" pitchFamily="34" charset="-122"/>
                <a:cs typeface="Aptos" pitchFamily="34" charset="-120"/>
              </a:rPr>
              <a:t>Accuracy</a:t>
            </a:r>
            <a:endParaRPr lang="en-US" sz="1800" dirty="0"/>
          </a:p>
        </p:txBody>
      </p:sp>
      <p:sp>
        <p:nvSpPr>
          <p:cNvPr id="130" name="Text 128"/>
          <p:cNvSpPr/>
          <p:nvPr/>
        </p:nvSpPr>
        <p:spPr>
          <a:xfrm>
            <a:off x="4937760" y="5010912"/>
            <a:ext cx="2194560" cy="557784"/>
          </a:xfrm>
          <a:prstGeom prst="rect">
            <a:avLst/>
          </a:prstGeom>
          <a:noFill/>
          <a:ln/>
        </p:spPr>
        <p:txBody>
          <a:bodyPr wrap="square" lIns="0" tIns="0" rIns="0" bIns="0" rtlCol="0" anchor="ctr"/>
          <a:lstStyle/>
          <a:p>
            <a:pPr indent="0" marL="0">
              <a:buNone/>
            </a:pPr>
            <a:r>
              <a:rPr lang="en-US" sz="3500" b="1" dirty="0">
                <a:solidFill>
                  <a:srgbClr val="176493"/>
                </a:solidFill>
                <a:latin typeface="Aptos" pitchFamily="34" charset="0"/>
                <a:ea typeface="Aptos" pitchFamily="34" charset="-122"/>
                <a:cs typeface="Aptos" pitchFamily="34" charset="-120"/>
              </a:rPr>
              <a:t>80%</a:t>
            </a:r>
            <a:endParaRPr lang="en-US" sz="3500" dirty="0"/>
          </a:p>
        </p:txBody>
      </p:sp>
      <p:sp>
        <p:nvSpPr>
          <p:cNvPr id="131" name="Text 129"/>
          <p:cNvSpPr/>
          <p:nvPr/>
        </p:nvSpPr>
        <p:spPr>
          <a:xfrm>
            <a:off x="8202168" y="4581144"/>
            <a:ext cx="2944368" cy="274320"/>
          </a:xfrm>
          <a:prstGeom prst="rect">
            <a:avLst/>
          </a:prstGeom>
          <a:noFill/>
          <a:ln/>
        </p:spPr>
        <p:txBody>
          <a:bodyPr wrap="square" lIns="0" tIns="0" rIns="0" bIns="0" rtlCol="0" anchor="ctr"/>
          <a:lstStyle/>
          <a:p>
            <a:pPr indent="0" marL="0">
              <a:buNone/>
            </a:pPr>
            <a:r>
              <a:rPr lang="en-US" sz="1800" dirty="0">
                <a:solidFill>
                  <a:srgbClr val="53657A"/>
                </a:solidFill>
                <a:latin typeface="Aptos" pitchFamily="34" charset="0"/>
                <a:ea typeface="Aptos" pitchFamily="34" charset="-122"/>
                <a:cs typeface="Aptos" pitchFamily="34" charset="-120"/>
              </a:rPr>
              <a:t>Positive-class recall</a:t>
            </a:r>
            <a:endParaRPr lang="en-US" sz="1800" dirty="0"/>
          </a:p>
        </p:txBody>
      </p:sp>
      <p:sp>
        <p:nvSpPr>
          <p:cNvPr id="132" name="Text 130"/>
          <p:cNvSpPr/>
          <p:nvPr/>
        </p:nvSpPr>
        <p:spPr>
          <a:xfrm>
            <a:off x="8202168" y="5010912"/>
            <a:ext cx="2944368" cy="557784"/>
          </a:xfrm>
          <a:prstGeom prst="rect">
            <a:avLst/>
          </a:prstGeom>
          <a:noFill/>
          <a:ln/>
        </p:spPr>
        <p:txBody>
          <a:bodyPr wrap="square" lIns="0" tIns="0" rIns="0" bIns="0" rtlCol="0" anchor="ctr"/>
          <a:lstStyle/>
          <a:p>
            <a:pPr indent="0" marL="0">
              <a:buNone/>
            </a:pPr>
            <a:r>
              <a:rPr lang="en-US" sz="3500" b="1" dirty="0">
                <a:solidFill>
                  <a:srgbClr val="B33B43"/>
                </a:solidFill>
                <a:latin typeface="Aptos" pitchFamily="34" charset="0"/>
                <a:ea typeface="Aptos" pitchFamily="34" charset="-122"/>
                <a:cs typeface="Aptos" pitchFamily="34" charset="-120"/>
              </a:rPr>
              <a:t>0%</a:t>
            </a:r>
            <a:endParaRPr lang="en-US" sz="3500" dirty="0"/>
          </a:p>
        </p:txBody>
      </p:sp>
      <p:sp>
        <p:nvSpPr>
          <p:cNvPr id="133" name="Shape 131"/>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134" name="Text 132"/>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Which mistake matters more: a false alarm or a missed positive?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EXPLORATORY ANALYSIS</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A plot should answer a question</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14 / 24</a:t>
            </a:r>
            <a:endParaRPr lang="en-US" sz="1000" dirty="0"/>
          </a:p>
        </p:txBody>
      </p:sp>
      <p:sp>
        <p:nvSpPr>
          <p:cNvPr id="10" name="Shape 8"/>
          <p:cNvSpPr/>
          <p:nvPr/>
        </p:nvSpPr>
        <p:spPr>
          <a:xfrm>
            <a:off x="713232" y="1801368"/>
            <a:ext cx="7397496" cy="4535424"/>
          </a:xfrm>
          <a:prstGeom prst="roundRect">
            <a:avLst>
              <a:gd name="adj" fmla="val 2016"/>
            </a:avLst>
          </a:prstGeom>
          <a:solidFill>
            <a:srgbClr val="FFFFFF"/>
          </a:solidFill>
          <a:ln w="10160">
            <a:solidFill>
              <a:srgbClr val="C4D2E2"/>
            </a:solidFill>
            <a:prstDash val="solid"/>
          </a:ln>
        </p:spPr>
      </p:sp>
      <p:sp>
        <p:nvSpPr>
          <p:cNvPr id="11" name="Shape 9"/>
          <p:cNvSpPr/>
          <p:nvPr/>
        </p:nvSpPr>
        <p:spPr>
          <a:xfrm>
            <a:off x="1399032" y="4926506"/>
            <a:ext cx="6108192" cy="0"/>
          </a:xfrm>
          <a:prstGeom prst="line">
            <a:avLst/>
          </a:prstGeom>
          <a:noFill/>
          <a:ln w="7620">
            <a:solidFill>
              <a:srgbClr val="C4D2E2"/>
            </a:solidFill>
            <a:prstDash val="solid"/>
            <a:headEnd type="none"/>
            <a:tailEnd type="none"/>
          </a:ln>
        </p:spPr>
      </p:sp>
      <p:sp>
        <p:nvSpPr>
          <p:cNvPr id="12" name="Text 10"/>
          <p:cNvSpPr/>
          <p:nvPr/>
        </p:nvSpPr>
        <p:spPr>
          <a:xfrm>
            <a:off x="822960" y="4825922"/>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100</a:t>
            </a:r>
            <a:endParaRPr lang="en-US" sz="1300" dirty="0"/>
          </a:p>
        </p:txBody>
      </p:sp>
      <p:sp>
        <p:nvSpPr>
          <p:cNvPr id="13" name="Shape 11"/>
          <p:cNvSpPr/>
          <p:nvPr/>
        </p:nvSpPr>
        <p:spPr>
          <a:xfrm>
            <a:off x="1399032" y="4363798"/>
            <a:ext cx="6108192" cy="0"/>
          </a:xfrm>
          <a:prstGeom prst="line">
            <a:avLst/>
          </a:prstGeom>
          <a:noFill/>
          <a:ln w="7620">
            <a:solidFill>
              <a:srgbClr val="C4D2E2"/>
            </a:solidFill>
            <a:prstDash val="solid"/>
            <a:headEnd type="none"/>
            <a:tailEnd type="none"/>
          </a:ln>
        </p:spPr>
      </p:sp>
      <p:sp>
        <p:nvSpPr>
          <p:cNvPr id="14" name="Text 12"/>
          <p:cNvSpPr/>
          <p:nvPr/>
        </p:nvSpPr>
        <p:spPr>
          <a:xfrm>
            <a:off x="822960" y="4263214"/>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150</a:t>
            </a:r>
            <a:endParaRPr lang="en-US" sz="1300" dirty="0"/>
          </a:p>
        </p:txBody>
      </p:sp>
      <p:sp>
        <p:nvSpPr>
          <p:cNvPr id="15" name="Shape 13"/>
          <p:cNvSpPr/>
          <p:nvPr/>
        </p:nvSpPr>
        <p:spPr>
          <a:xfrm>
            <a:off x="1399032" y="3801090"/>
            <a:ext cx="6108192" cy="0"/>
          </a:xfrm>
          <a:prstGeom prst="line">
            <a:avLst/>
          </a:prstGeom>
          <a:noFill/>
          <a:ln w="7620">
            <a:solidFill>
              <a:srgbClr val="C4D2E2"/>
            </a:solidFill>
            <a:prstDash val="solid"/>
            <a:headEnd type="none"/>
            <a:tailEnd type="none"/>
          </a:ln>
        </p:spPr>
      </p:sp>
      <p:sp>
        <p:nvSpPr>
          <p:cNvPr id="16" name="Text 14"/>
          <p:cNvSpPr/>
          <p:nvPr/>
        </p:nvSpPr>
        <p:spPr>
          <a:xfrm>
            <a:off x="822960" y="3700506"/>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200</a:t>
            </a:r>
            <a:endParaRPr lang="en-US" sz="1300" dirty="0"/>
          </a:p>
        </p:txBody>
      </p:sp>
      <p:sp>
        <p:nvSpPr>
          <p:cNvPr id="17" name="Shape 15"/>
          <p:cNvSpPr/>
          <p:nvPr/>
        </p:nvSpPr>
        <p:spPr>
          <a:xfrm>
            <a:off x="1399032" y="3238383"/>
            <a:ext cx="6108192" cy="0"/>
          </a:xfrm>
          <a:prstGeom prst="line">
            <a:avLst/>
          </a:prstGeom>
          <a:noFill/>
          <a:ln w="7620">
            <a:solidFill>
              <a:srgbClr val="C4D2E2"/>
            </a:solidFill>
            <a:prstDash val="solid"/>
            <a:headEnd type="none"/>
            <a:tailEnd type="none"/>
          </a:ln>
        </p:spPr>
      </p:sp>
      <p:sp>
        <p:nvSpPr>
          <p:cNvPr id="18" name="Text 16"/>
          <p:cNvSpPr/>
          <p:nvPr/>
        </p:nvSpPr>
        <p:spPr>
          <a:xfrm>
            <a:off x="822960" y="3137799"/>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250</a:t>
            </a:r>
            <a:endParaRPr lang="en-US" sz="1300" dirty="0"/>
          </a:p>
        </p:txBody>
      </p:sp>
      <p:sp>
        <p:nvSpPr>
          <p:cNvPr id="19" name="Shape 17"/>
          <p:cNvSpPr/>
          <p:nvPr/>
        </p:nvSpPr>
        <p:spPr>
          <a:xfrm>
            <a:off x="1399032" y="2675675"/>
            <a:ext cx="6108192" cy="0"/>
          </a:xfrm>
          <a:prstGeom prst="line">
            <a:avLst/>
          </a:prstGeom>
          <a:noFill/>
          <a:ln w="7620">
            <a:solidFill>
              <a:srgbClr val="C4D2E2"/>
            </a:solidFill>
            <a:prstDash val="solid"/>
            <a:headEnd type="none"/>
            <a:tailEnd type="none"/>
          </a:ln>
        </p:spPr>
      </p:sp>
      <p:sp>
        <p:nvSpPr>
          <p:cNvPr id="20" name="Text 18"/>
          <p:cNvSpPr/>
          <p:nvPr/>
        </p:nvSpPr>
        <p:spPr>
          <a:xfrm>
            <a:off x="822960" y="2575091"/>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300</a:t>
            </a:r>
            <a:endParaRPr lang="en-US" sz="1300" dirty="0"/>
          </a:p>
        </p:txBody>
      </p:sp>
      <p:sp>
        <p:nvSpPr>
          <p:cNvPr id="21" name="Text 19"/>
          <p:cNvSpPr/>
          <p:nvPr/>
        </p:nvSpPr>
        <p:spPr>
          <a:xfrm>
            <a:off x="2188464"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40</a:t>
            </a:r>
            <a:endParaRPr lang="en-US" sz="1400" dirty="0"/>
          </a:p>
        </p:txBody>
      </p:sp>
      <p:sp>
        <p:nvSpPr>
          <p:cNvPr id="22" name="Text 20"/>
          <p:cNvSpPr/>
          <p:nvPr/>
        </p:nvSpPr>
        <p:spPr>
          <a:xfrm>
            <a:off x="3206496"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60</a:t>
            </a:r>
            <a:endParaRPr lang="en-US" sz="1400" dirty="0"/>
          </a:p>
        </p:txBody>
      </p:sp>
      <p:sp>
        <p:nvSpPr>
          <p:cNvPr id="23" name="Text 21"/>
          <p:cNvSpPr/>
          <p:nvPr/>
        </p:nvSpPr>
        <p:spPr>
          <a:xfrm>
            <a:off x="4224528"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80</a:t>
            </a:r>
            <a:endParaRPr lang="en-US" sz="1400" dirty="0"/>
          </a:p>
        </p:txBody>
      </p:sp>
      <p:sp>
        <p:nvSpPr>
          <p:cNvPr id="24" name="Text 22"/>
          <p:cNvSpPr/>
          <p:nvPr/>
        </p:nvSpPr>
        <p:spPr>
          <a:xfrm>
            <a:off x="5242560"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100</a:t>
            </a:r>
            <a:endParaRPr lang="en-US" sz="1400" dirty="0"/>
          </a:p>
        </p:txBody>
      </p:sp>
      <p:sp>
        <p:nvSpPr>
          <p:cNvPr id="25" name="Text 23"/>
          <p:cNvSpPr/>
          <p:nvPr/>
        </p:nvSpPr>
        <p:spPr>
          <a:xfrm>
            <a:off x="6260592"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120</a:t>
            </a:r>
            <a:endParaRPr lang="en-US" sz="1400" dirty="0"/>
          </a:p>
        </p:txBody>
      </p:sp>
      <p:sp>
        <p:nvSpPr>
          <p:cNvPr id="26" name="Shape 24"/>
          <p:cNvSpPr/>
          <p:nvPr/>
        </p:nvSpPr>
        <p:spPr>
          <a:xfrm>
            <a:off x="1399032" y="2450592"/>
            <a:ext cx="0" cy="2926080"/>
          </a:xfrm>
          <a:prstGeom prst="line">
            <a:avLst/>
          </a:prstGeom>
          <a:noFill/>
          <a:ln w="15240">
            <a:solidFill>
              <a:srgbClr val="53657A"/>
            </a:solidFill>
            <a:prstDash val="solid"/>
            <a:headEnd type="none"/>
            <a:tailEnd type="none"/>
          </a:ln>
        </p:spPr>
      </p:sp>
      <p:sp>
        <p:nvSpPr>
          <p:cNvPr id="27" name="Shape 25"/>
          <p:cNvSpPr/>
          <p:nvPr/>
        </p:nvSpPr>
        <p:spPr>
          <a:xfrm>
            <a:off x="1399032" y="5376672"/>
            <a:ext cx="6108192" cy="0"/>
          </a:xfrm>
          <a:prstGeom prst="line">
            <a:avLst/>
          </a:prstGeom>
          <a:noFill/>
          <a:ln w="15240">
            <a:solidFill>
              <a:srgbClr val="53657A"/>
            </a:solidFill>
            <a:prstDash val="solid"/>
            <a:headEnd type="none"/>
            <a:tailEnd type="none"/>
          </a:ln>
        </p:spPr>
      </p:sp>
      <p:sp>
        <p:nvSpPr>
          <p:cNvPr id="28" name="Text 26"/>
          <p:cNvSpPr/>
          <p:nvPr/>
        </p:nvSpPr>
        <p:spPr>
          <a:xfrm>
            <a:off x="1399032" y="2084832"/>
            <a:ext cx="6108192" cy="228600"/>
          </a:xfrm>
          <a:prstGeom prst="rect">
            <a:avLst/>
          </a:prstGeom>
          <a:noFill/>
          <a:ln/>
        </p:spPr>
        <p:txBody>
          <a:bodyPr wrap="square" lIns="0" tIns="0" rIns="0" bIns="0" rtlCol="0" anchor="ctr"/>
          <a:lstStyle/>
          <a:p>
            <a:pPr indent="0" marL="0">
              <a:buNone/>
            </a:pPr>
            <a:r>
              <a:rPr lang="en-US" sz="1500" dirty="0">
                <a:solidFill>
                  <a:srgbClr val="53657A"/>
                </a:solidFill>
                <a:latin typeface="Aptos" pitchFamily="34" charset="0"/>
                <a:ea typeface="Aptos" pitchFamily="34" charset="-122"/>
                <a:cs typeface="Aptos" pitchFamily="34" charset="-120"/>
              </a:rPr>
              <a:t>Price (EUR thousands)</a:t>
            </a:r>
            <a:endParaRPr lang="en-US" sz="1500" dirty="0"/>
          </a:p>
        </p:txBody>
      </p:sp>
      <p:sp>
        <p:nvSpPr>
          <p:cNvPr id="29" name="Text 27"/>
          <p:cNvSpPr/>
          <p:nvPr/>
        </p:nvSpPr>
        <p:spPr>
          <a:xfrm>
            <a:off x="2679192" y="5879592"/>
            <a:ext cx="3547872" cy="228600"/>
          </a:xfrm>
          <a:prstGeom prst="rect">
            <a:avLst/>
          </a:prstGeom>
          <a:noFill/>
          <a:ln/>
        </p:spPr>
        <p:txBody>
          <a:bodyPr wrap="square" lIns="0" tIns="0" rIns="0" bIns="0" rtlCol="0" anchor="ctr"/>
          <a:lstStyle/>
          <a:p>
            <a:pPr algn="ctr" indent="0" marL="0">
              <a:buNone/>
            </a:pPr>
            <a:r>
              <a:rPr lang="en-US" sz="1500" dirty="0">
                <a:solidFill>
                  <a:srgbClr val="53657A"/>
                </a:solidFill>
                <a:latin typeface="Aptos" pitchFamily="34" charset="0"/>
                <a:ea typeface="Aptos" pitchFamily="34" charset="-122"/>
                <a:cs typeface="Aptos" pitchFamily="34" charset="-120"/>
              </a:rPr>
              <a:t>Area (square metres)</a:t>
            </a:r>
            <a:endParaRPr lang="en-US" sz="1500" dirty="0"/>
          </a:p>
        </p:txBody>
      </p:sp>
      <p:sp>
        <p:nvSpPr>
          <p:cNvPr id="30" name="Shape 28"/>
          <p:cNvSpPr/>
          <p:nvPr/>
        </p:nvSpPr>
        <p:spPr>
          <a:xfrm>
            <a:off x="2364943" y="4761844"/>
            <a:ext cx="104242" cy="104242"/>
          </a:xfrm>
          <a:prstGeom prst="ellipse">
            <a:avLst/>
          </a:prstGeom>
          <a:solidFill>
            <a:srgbClr val="176493"/>
          </a:solidFill>
          <a:ln w="8890">
            <a:solidFill>
              <a:srgbClr val="176493"/>
            </a:solidFill>
            <a:prstDash val="solid"/>
          </a:ln>
        </p:spPr>
      </p:sp>
      <p:sp>
        <p:nvSpPr>
          <p:cNvPr id="31" name="Shape 29"/>
          <p:cNvSpPr/>
          <p:nvPr/>
        </p:nvSpPr>
        <p:spPr>
          <a:xfrm>
            <a:off x="3382975" y="4536760"/>
            <a:ext cx="104242" cy="104242"/>
          </a:xfrm>
          <a:prstGeom prst="ellipse">
            <a:avLst/>
          </a:prstGeom>
          <a:solidFill>
            <a:srgbClr val="176493"/>
          </a:solidFill>
          <a:ln w="8890">
            <a:solidFill>
              <a:srgbClr val="176493"/>
            </a:solidFill>
            <a:prstDash val="solid"/>
          </a:ln>
        </p:spPr>
      </p:sp>
      <p:sp>
        <p:nvSpPr>
          <p:cNvPr id="32" name="Shape 30"/>
          <p:cNvSpPr/>
          <p:nvPr/>
        </p:nvSpPr>
        <p:spPr>
          <a:xfrm>
            <a:off x="4401007" y="3861511"/>
            <a:ext cx="104242" cy="104242"/>
          </a:xfrm>
          <a:prstGeom prst="ellipse">
            <a:avLst/>
          </a:prstGeom>
          <a:solidFill>
            <a:srgbClr val="176493"/>
          </a:solidFill>
          <a:ln w="8890">
            <a:solidFill>
              <a:srgbClr val="176493"/>
            </a:solidFill>
            <a:prstDash val="solid"/>
          </a:ln>
        </p:spPr>
      </p:sp>
      <p:sp>
        <p:nvSpPr>
          <p:cNvPr id="33" name="Shape 31"/>
          <p:cNvSpPr/>
          <p:nvPr/>
        </p:nvSpPr>
        <p:spPr>
          <a:xfrm>
            <a:off x="5419039" y="3636428"/>
            <a:ext cx="104242" cy="104242"/>
          </a:xfrm>
          <a:prstGeom prst="ellipse">
            <a:avLst/>
          </a:prstGeom>
          <a:solidFill>
            <a:srgbClr val="176493"/>
          </a:solidFill>
          <a:ln w="8890">
            <a:solidFill>
              <a:srgbClr val="176493"/>
            </a:solidFill>
            <a:prstDash val="solid"/>
          </a:ln>
        </p:spPr>
      </p:sp>
      <p:sp>
        <p:nvSpPr>
          <p:cNvPr id="34" name="Shape 32"/>
          <p:cNvSpPr/>
          <p:nvPr/>
        </p:nvSpPr>
        <p:spPr>
          <a:xfrm>
            <a:off x="6437071" y="2848637"/>
            <a:ext cx="104242" cy="104242"/>
          </a:xfrm>
          <a:prstGeom prst="ellipse">
            <a:avLst/>
          </a:prstGeom>
          <a:solidFill>
            <a:srgbClr val="176493"/>
          </a:solidFill>
          <a:ln w="8890">
            <a:solidFill>
              <a:srgbClr val="176493"/>
            </a:solidFill>
            <a:prstDash val="solid"/>
          </a:ln>
        </p:spPr>
      </p:sp>
      <p:sp>
        <p:nvSpPr>
          <p:cNvPr id="35" name="Shape 33"/>
          <p:cNvSpPr/>
          <p:nvPr/>
        </p:nvSpPr>
        <p:spPr>
          <a:xfrm flipH="1" flipV="1">
            <a:off x="5216652" y="2619404"/>
            <a:ext cx="1199388" cy="253922"/>
          </a:xfrm>
          <a:prstGeom prst="line">
            <a:avLst/>
          </a:prstGeom>
          <a:noFill/>
          <a:ln w="13970">
            <a:solidFill>
              <a:srgbClr val="53657A"/>
            </a:solidFill>
            <a:prstDash val="solid"/>
            <a:headEnd type="none"/>
            <a:tailEnd type="none"/>
          </a:ln>
        </p:spPr>
      </p:sp>
      <p:sp>
        <p:nvSpPr>
          <p:cNvPr id="36" name="Text 34"/>
          <p:cNvSpPr/>
          <p:nvPr/>
        </p:nvSpPr>
        <p:spPr>
          <a:xfrm>
            <a:off x="3740506" y="2353525"/>
            <a:ext cx="2743200" cy="274320"/>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What explains this price?</a:t>
            </a:r>
            <a:endParaRPr lang="en-US" sz="1700" dirty="0"/>
          </a:p>
        </p:txBody>
      </p:sp>
      <p:sp>
        <p:nvSpPr>
          <p:cNvPr id="37" name="Text 35"/>
          <p:cNvSpPr/>
          <p:nvPr/>
        </p:nvSpPr>
        <p:spPr>
          <a:xfrm>
            <a:off x="8485632" y="2231136"/>
            <a:ext cx="274320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QUESTION</a:t>
            </a:r>
            <a:endParaRPr lang="en-US" sz="1100" dirty="0"/>
          </a:p>
        </p:txBody>
      </p:sp>
      <p:sp>
        <p:nvSpPr>
          <p:cNvPr id="38" name="Text 36"/>
          <p:cNvSpPr/>
          <p:nvPr/>
        </p:nvSpPr>
        <p:spPr>
          <a:xfrm>
            <a:off x="8485632" y="2697480"/>
            <a:ext cx="2779776" cy="1088136"/>
          </a:xfrm>
          <a:prstGeom prst="rect">
            <a:avLst/>
          </a:prstGeom>
          <a:noFill/>
          <a:ln/>
        </p:spPr>
        <p:txBody>
          <a:bodyPr wrap="square" lIns="0" tIns="0" rIns="0" bIns="0" rtlCol="0" anchor="ctr"/>
          <a:lstStyle/>
          <a:p>
            <a:pPr indent="0" marL="0">
              <a:buNone/>
            </a:pPr>
            <a:r>
              <a:rPr lang="en-US" sz="2700" b="1" dirty="0">
                <a:solidFill>
                  <a:srgbClr val="172233"/>
                </a:solidFill>
                <a:latin typeface="Aptos" pitchFamily="34" charset="0"/>
                <a:ea typeface="Aptos" pitchFamily="34" charset="-122"/>
                <a:cs typeface="Aptos" pitchFamily="34" charset="-120"/>
              </a:rPr>
              <a:t>How does price</a:t>
            </a:r>
            <a:endParaRPr lang="en-US" sz="2700" dirty="0"/>
          </a:p>
          <a:p>
            <a:pPr indent="0" marL="0">
              <a:buNone/>
            </a:pPr>
            <a:r>
              <a:rPr lang="en-US" sz="2700" b="1" dirty="0">
                <a:solidFill>
                  <a:srgbClr val="172233"/>
                </a:solidFill>
                <a:latin typeface="Aptos" pitchFamily="34" charset="0"/>
                <a:ea typeface="Aptos" pitchFamily="34" charset="-122"/>
                <a:cs typeface="Aptos" pitchFamily="34" charset="-120"/>
              </a:rPr>
              <a:t>relate to area?</a:t>
            </a:r>
            <a:endParaRPr lang="en-US" sz="2700" dirty="0"/>
          </a:p>
        </p:txBody>
      </p:sp>
      <p:sp>
        <p:nvSpPr>
          <p:cNvPr id="39" name="Text 37"/>
          <p:cNvSpPr/>
          <p:nvPr/>
        </p:nvSpPr>
        <p:spPr>
          <a:xfrm>
            <a:off x="8485632" y="4023360"/>
            <a:ext cx="2825496" cy="1261872"/>
          </a:xfrm>
          <a:prstGeom prst="rect">
            <a:avLst/>
          </a:prstGeom>
          <a:noFill/>
          <a:ln/>
        </p:spPr>
        <p:txBody>
          <a:bodyPr wrap="square" lIns="0" tIns="0" rIns="0" bIns="0" rtlCol="0" anchor="ctr"/>
          <a:lstStyle/>
          <a:p>
            <a:pPr indent="0" marL="0">
              <a:buNone/>
            </a:pPr>
            <a:r>
              <a:rPr lang="en-US" sz="1900" dirty="0">
                <a:solidFill>
                  <a:srgbClr val="53657A"/>
                </a:solidFill>
                <a:latin typeface="Aptos" pitchFamily="34" charset="0"/>
                <a:ea typeface="Aptos" pitchFamily="34" charset="-122"/>
                <a:cs typeface="Aptos" pitchFamily="34" charset="-120"/>
              </a:rPr>
              <a:t>Inspect the pattern.</a:t>
            </a:r>
            <a:endParaRPr lang="en-US" sz="1900" dirty="0"/>
          </a:p>
          <a:p>
            <a:pPr indent="0" marL="0">
              <a:buNone/>
            </a:pPr>
            <a:r>
              <a:rPr lang="en-US" sz="1900" dirty="0">
                <a:solidFill>
                  <a:srgbClr val="53657A"/>
                </a:solidFill>
                <a:latin typeface="Aptos" pitchFamily="34" charset="0"/>
                <a:ea typeface="Aptos" pitchFamily="34" charset="-122"/>
                <a:cs typeface="Aptos" pitchFamily="34" charset="-120"/>
              </a:rPr>
              <a:t>Check unusual records.</a:t>
            </a:r>
            <a:endParaRPr lang="en-US" sz="1900" dirty="0"/>
          </a:p>
          <a:p>
            <a:pPr indent="0" marL="0">
              <a:buNone/>
            </a:pPr>
            <a:r>
              <a:rPr lang="en-US" sz="1900" dirty="0">
                <a:solidFill>
                  <a:srgbClr val="53657A"/>
                </a:solidFill>
                <a:latin typeface="Aptos" pitchFamily="34" charset="0"/>
                <a:ea typeface="Aptos" pitchFamily="34" charset="-122"/>
                <a:cs typeface="Aptos" pitchFamily="34" charset="-120"/>
              </a:rPr>
              <a:t>Do not infer causation.</a:t>
            </a:r>
            <a:endParaRPr lang="en-US" sz="1900" dirty="0"/>
          </a:p>
        </p:txBody>
      </p:sp>
      <p:sp>
        <p:nvSpPr>
          <p:cNvPr id="40" name="Text 38"/>
          <p:cNvSpPr/>
          <p:nvPr/>
        </p:nvSpPr>
        <p:spPr>
          <a:xfrm>
            <a:off x="8485632" y="5504688"/>
            <a:ext cx="2761488" cy="566928"/>
          </a:xfrm>
          <a:prstGeom prst="rect">
            <a:avLst/>
          </a:prstGeom>
          <a:noFill/>
          <a:ln/>
        </p:spPr>
        <p:txBody>
          <a:bodyPr wrap="square" lIns="0" tIns="0" rIns="0" bIns="0" rtlCol="0" anchor="ctr"/>
          <a:lstStyle/>
          <a:p>
            <a:pPr indent="0" marL="0">
              <a:buNone/>
            </a:pPr>
            <a:r>
              <a:rPr lang="en-US" sz="1400" dirty="0">
                <a:solidFill>
                  <a:srgbClr val="53657A"/>
                </a:solidFill>
                <a:latin typeface="Aptos" pitchFamily="34" charset="0"/>
                <a:ea typeface="Aptos" pitchFamily="34" charset="-122"/>
                <a:cs typeface="Aptos" pitchFamily="34" charset="-120"/>
              </a:rPr>
              <a:t>Illustrative data,</a:t>
            </a:r>
            <a:endParaRPr lang="en-US" sz="1400" dirty="0"/>
          </a:p>
          <a:p>
            <a:pPr indent="0" marL="0">
              <a:buNone/>
            </a:pPr>
            <a:r>
              <a:rPr lang="en-US" sz="1400" dirty="0">
                <a:solidFill>
                  <a:srgbClr val="53657A"/>
                </a:solidFill>
                <a:latin typeface="Aptos" pitchFamily="34" charset="0"/>
                <a:ea typeface="Aptos" pitchFamily="34" charset="-122"/>
                <a:cs typeface="Aptos" pitchFamily="34" charset="-120"/>
              </a:rPr>
              <a:t>not a course result.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FROM MODEL TO USE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The model is not the whole product</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15 / 24</a:t>
            </a:r>
            <a:endParaRPr lang="en-US" sz="1000" dirty="0"/>
          </a:p>
        </p:txBody>
      </p:sp>
      <p:sp>
        <p:nvSpPr>
          <p:cNvPr id="10" name="Shape 8"/>
          <p:cNvSpPr/>
          <p:nvPr/>
        </p:nvSpPr>
        <p:spPr>
          <a:xfrm>
            <a:off x="722376" y="2148840"/>
            <a:ext cx="2139696" cy="2157984"/>
          </a:xfrm>
          <a:prstGeom prst="roundRect">
            <a:avLst>
              <a:gd name="adj" fmla="val 4274"/>
            </a:avLst>
          </a:prstGeom>
          <a:solidFill>
            <a:srgbClr val="FFFFFF"/>
          </a:solidFill>
          <a:ln w="10160">
            <a:solidFill>
              <a:srgbClr val="C4D2E2"/>
            </a:solidFill>
            <a:prstDash val="solid"/>
          </a:ln>
        </p:spPr>
      </p:sp>
      <p:sp>
        <p:nvSpPr>
          <p:cNvPr id="11" name="Shape 9"/>
          <p:cNvSpPr/>
          <p:nvPr/>
        </p:nvSpPr>
        <p:spPr>
          <a:xfrm flipV="1">
            <a:off x="1506565" y="2439253"/>
            <a:ext cx="276515" cy="223845"/>
          </a:xfrm>
          <a:prstGeom prst="line">
            <a:avLst/>
          </a:prstGeom>
          <a:noFill/>
          <a:ln w="26670">
            <a:solidFill>
              <a:srgbClr val="176493"/>
            </a:solidFill>
            <a:prstDash val="solid"/>
            <a:headEnd type="none"/>
            <a:tailEnd type="none"/>
          </a:ln>
        </p:spPr>
      </p:sp>
      <p:sp>
        <p:nvSpPr>
          <p:cNvPr id="12" name="Shape 10"/>
          <p:cNvSpPr/>
          <p:nvPr/>
        </p:nvSpPr>
        <p:spPr>
          <a:xfrm>
            <a:off x="1783080" y="2439253"/>
            <a:ext cx="276515" cy="223845"/>
          </a:xfrm>
          <a:prstGeom prst="line">
            <a:avLst/>
          </a:prstGeom>
          <a:noFill/>
          <a:ln w="26670">
            <a:solidFill>
              <a:srgbClr val="176493"/>
            </a:solidFill>
            <a:prstDash val="solid"/>
            <a:headEnd type="none"/>
            <a:tailEnd type="none"/>
          </a:ln>
        </p:spPr>
      </p:sp>
      <p:sp>
        <p:nvSpPr>
          <p:cNvPr id="13" name="Shape 11"/>
          <p:cNvSpPr/>
          <p:nvPr/>
        </p:nvSpPr>
        <p:spPr>
          <a:xfrm>
            <a:off x="1578986" y="2623596"/>
            <a:ext cx="0" cy="355519"/>
          </a:xfrm>
          <a:prstGeom prst="line">
            <a:avLst/>
          </a:prstGeom>
          <a:noFill/>
          <a:ln w="26670">
            <a:solidFill>
              <a:srgbClr val="176493"/>
            </a:solidFill>
            <a:prstDash val="solid"/>
            <a:headEnd type="none"/>
            <a:tailEnd type="none"/>
          </a:ln>
        </p:spPr>
      </p:sp>
      <p:sp>
        <p:nvSpPr>
          <p:cNvPr id="14" name="Shape 12"/>
          <p:cNvSpPr/>
          <p:nvPr/>
        </p:nvSpPr>
        <p:spPr>
          <a:xfrm>
            <a:off x="1987174" y="2623596"/>
            <a:ext cx="0" cy="355519"/>
          </a:xfrm>
          <a:prstGeom prst="line">
            <a:avLst/>
          </a:prstGeom>
          <a:noFill/>
          <a:ln w="26670">
            <a:solidFill>
              <a:srgbClr val="176493"/>
            </a:solidFill>
            <a:prstDash val="solid"/>
            <a:headEnd type="none"/>
            <a:tailEnd type="none"/>
          </a:ln>
        </p:spPr>
      </p:sp>
      <p:sp>
        <p:nvSpPr>
          <p:cNvPr id="15" name="Shape 13"/>
          <p:cNvSpPr/>
          <p:nvPr/>
        </p:nvSpPr>
        <p:spPr>
          <a:xfrm>
            <a:off x="1578986" y="2979115"/>
            <a:ext cx="408188" cy="0"/>
          </a:xfrm>
          <a:prstGeom prst="line">
            <a:avLst/>
          </a:prstGeom>
          <a:noFill/>
          <a:ln w="26670">
            <a:solidFill>
              <a:srgbClr val="176493"/>
            </a:solidFill>
            <a:prstDash val="solid"/>
            <a:headEnd type="none"/>
            <a:tailEnd type="none"/>
          </a:ln>
        </p:spPr>
      </p:sp>
      <p:sp>
        <p:nvSpPr>
          <p:cNvPr id="16" name="Shape 14"/>
          <p:cNvSpPr/>
          <p:nvPr/>
        </p:nvSpPr>
        <p:spPr>
          <a:xfrm>
            <a:off x="1736994" y="2781605"/>
            <a:ext cx="111923" cy="197510"/>
          </a:xfrm>
          <a:prstGeom prst="rect">
            <a:avLst>
              <a:gd name="adj" fmla="val 81699"/>
            </a:avLst>
          </a:prstGeom>
          <a:solidFill>
            <a:srgbClr val="E3EFF7"/>
          </a:solidFill>
          <a:ln w="10160">
            <a:solidFill>
              <a:srgbClr val="176493"/>
            </a:solidFill>
            <a:prstDash val="solid"/>
          </a:ln>
        </p:spPr>
      </p:sp>
      <p:sp>
        <p:nvSpPr>
          <p:cNvPr id="17" name="Text 15"/>
          <p:cNvSpPr/>
          <p:nvPr/>
        </p:nvSpPr>
        <p:spPr>
          <a:xfrm>
            <a:off x="868680" y="3291840"/>
            <a:ext cx="1847088" cy="365760"/>
          </a:xfrm>
          <a:prstGeom prst="rect">
            <a:avLst/>
          </a:prstGeom>
          <a:noFill/>
          <a:ln/>
        </p:spPr>
        <p:txBody>
          <a:bodyPr wrap="square" lIns="0" tIns="0" rIns="0" bIns="0" rtlCol="0" anchor="ctr"/>
          <a:lstStyle/>
          <a:p>
            <a:pPr algn="ctr" indent="0" marL="0">
              <a:buNone/>
            </a:pPr>
            <a:r>
              <a:rPr lang="en-US" sz="2400" b="1" dirty="0">
                <a:solidFill>
                  <a:srgbClr val="172233"/>
                </a:solidFill>
                <a:latin typeface="Aptos" pitchFamily="34" charset="0"/>
                <a:ea typeface="Aptos" pitchFamily="34" charset="-122"/>
                <a:cs typeface="Aptos" pitchFamily="34" charset="-120"/>
              </a:rPr>
              <a:t>Request</a:t>
            </a:r>
            <a:endParaRPr lang="en-US" sz="2400" dirty="0"/>
          </a:p>
        </p:txBody>
      </p:sp>
      <p:sp>
        <p:nvSpPr>
          <p:cNvPr id="18" name="Text 16"/>
          <p:cNvSpPr/>
          <p:nvPr/>
        </p:nvSpPr>
        <p:spPr>
          <a:xfrm>
            <a:off x="822960" y="3794760"/>
            <a:ext cx="1938528" cy="256032"/>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User inputs</a:t>
            </a:r>
            <a:endParaRPr lang="en-US" sz="1600" dirty="0"/>
          </a:p>
        </p:txBody>
      </p:sp>
      <p:sp>
        <p:nvSpPr>
          <p:cNvPr id="19" name="Shape 17"/>
          <p:cNvSpPr/>
          <p:nvPr/>
        </p:nvSpPr>
        <p:spPr>
          <a:xfrm>
            <a:off x="2980944" y="3236976"/>
            <a:ext cx="457200" cy="0"/>
          </a:xfrm>
          <a:prstGeom prst="line">
            <a:avLst/>
          </a:prstGeom>
          <a:noFill/>
          <a:ln w="24130">
            <a:solidFill>
              <a:srgbClr val="2684BF"/>
            </a:solidFill>
            <a:prstDash val="solid"/>
            <a:headEnd type="none"/>
            <a:tailEnd type="triangle"/>
          </a:ln>
        </p:spPr>
      </p:sp>
      <p:sp>
        <p:nvSpPr>
          <p:cNvPr id="20" name="Shape 18"/>
          <p:cNvSpPr/>
          <p:nvPr/>
        </p:nvSpPr>
        <p:spPr>
          <a:xfrm>
            <a:off x="3584448" y="2148840"/>
            <a:ext cx="2139696" cy="2157984"/>
          </a:xfrm>
          <a:prstGeom prst="roundRect">
            <a:avLst>
              <a:gd name="adj" fmla="val 4274"/>
            </a:avLst>
          </a:prstGeom>
          <a:solidFill>
            <a:srgbClr val="FFFFFF"/>
          </a:solidFill>
          <a:ln w="10160">
            <a:solidFill>
              <a:srgbClr val="C4D2E2"/>
            </a:solidFill>
            <a:prstDash val="solid"/>
          </a:ln>
        </p:spPr>
      </p:sp>
      <p:sp>
        <p:nvSpPr>
          <p:cNvPr id="21" name="Shape 19"/>
          <p:cNvSpPr/>
          <p:nvPr/>
        </p:nvSpPr>
        <p:spPr>
          <a:xfrm>
            <a:off x="4427891" y="2452421"/>
            <a:ext cx="447690" cy="526694"/>
          </a:xfrm>
          <a:prstGeom prst="rect">
            <a:avLst>
              <a:gd name="adj" fmla="val 20425"/>
            </a:avLst>
          </a:prstGeom>
          <a:solidFill>
            <a:srgbClr val="FFFFFF"/>
          </a:solidFill>
          <a:ln w="10160">
            <a:solidFill>
              <a:srgbClr val="176493"/>
            </a:solidFill>
            <a:prstDash val="solid"/>
          </a:ln>
        </p:spPr>
      </p:sp>
      <p:sp>
        <p:nvSpPr>
          <p:cNvPr id="22" name="Shape 20"/>
          <p:cNvSpPr/>
          <p:nvPr/>
        </p:nvSpPr>
        <p:spPr>
          <a:xfrm>
            <a:off x="4506895" y="2623596"/>
            <a:ext cx="85588" cy="85588"/>
          </a:xfrm>
          <a:prstGeom prst="line">
            <a:avLst/>
          </a:prstGeom>
          <a:noFill/>
          <a:ln w="31750">
            <a:solidFill>
              <a:srgbClr val="176493"/>
            </a:solidFill>
            <a:prstDash val="solid"/>
            <a:headEnd type="none"/>
            <a:tailEnd type="none"/>
          </a:ln>
        </p:spPr>
      </p:sp>
      <p:sp>
        <p:nvSpPr>
          <p:cNvPr id="23" name="Shape 21"/>
          <p:cNvSpPr/>
          <p:nvPr/>
        </p:nvSpPr>
        <p:spPr>
          <a:xfrm flipV="1">
            <a:off x="4592483" y="2538009"/>
            <a:ext cx="177759" cy="171176"/>
          </a:xfrm>
          <a:prstGeom prst="line">
            <a:avLst/>
          </a:prstGeom>
          <a:noFill/>
          <a:ln w="31750">
            <a:solidFill>
              <a:srgbClr val="176493"/>
            </a:solidFill>
            <a:prstDash val="solid"/>
            <a:headEnd type="none"/>
            <a:tailEnd type="none"/>
          </a:ln>
        </p:spPr>
      </p:sp>
      <p:sp>
        <p:nvSpPr>
          <p:cNvPr id="24" name="Shape 22"/>
          <p:cNvSpPr/>
          <p:nvPr/>
        </p:nvSpPr>
        <p:spPr>
          <a:xfrm>
            <a:off x="4513478" y="2834274"/>
            <a:ext cx="263347" cy="0"/>
          </a:xfrm>
          <a:prstGeom prst="line">
            <a:avLst/>
          </a:prstGeom>
          <a:noFill/>
          <a:ln w="19050">
            <a:solidFill>
              <a:srgbClr val="176493"/>
            </a:solidFill>
            <a:prstDash val="solid"/>
            <a:headEnd type="none"/>
            <a:tailEnd type="none"/>
          </a:ln>
        </p:spPr>
      </p:sp>
      <p:sp>
        <p:nvSpPr>
          <p:cNvPr id="25" name="Shape 23"/>
          <p:cNvSpPr/>
          <p:nvPr/>
        </p:nvSpPr>
        <p:spPr>
          <a:xfrm>
            <a:off x="4513478" y="2900111"/>
            <a:ext cx="210678" cy="0"/>
          </a:xfrm>
          <a:prstGeom prst="line">
            <a:avLst/>
          </a:prstGeom>
          <a:noFill/>
          <a:ln w="19050">
            <a:solidFill>
              <a:srgbClr val="176493"/>
            </a:solidFill>
            <a:prstDash val="solid"/>
            <a:headEnd type="none"/>
            <a:tailEnd type="none"/>
          </a:ln>
        </p:spPr>
      </p:sp>
      <p:sp>
        <p:nvSpPr>
          <p:cNvPr id="26" name="Text 24"/>
          <p:cNvSpPr/>
          <p:nvPr/>
        </p:nvSpPr>
        <p:spPr>
          <a:xfrm>
            <a:off x="3730752" y="3291840"/>
            <a:ext cx="1847088" cy="365760"/>
          </a:xfrm>
          <a:prstGeom prst="rect">
            <a:avLst/>
          </a:prstGeom>
          <a:noFill/>
          <a:ln/>
        </p:spPr>
        <p:txBody>
          <a:bodyPr wrap="square" lIns="0" tIns="0" rIns="0" bIns="0" rtlCol="0" anchor="ctr"/>
          <a:lstStyle/>
          <a:p>
            <a:pPr algn="ctr" indent="0" marL="0">
              <a:buNone/>
            </a:pPr>
            <a:r>
              <a:rPr lang="en-US" sz="2400" b="1" dirty="0">
                <a:solidFill>
                  <a:srgbClr val="172233"/>
                </a:solidFill>
                <a:latin typeface="Aptos" pitchFamily="34" charset="0"/>
                <a:ea typeface="Aptos" pitchFamily="34" charset="-122"/>
                <a:cs typeface="Aptos" pitchFamily="34" charset="-120"/>
              </a:rPr>
              <a:t>Validate</a:t>
            </a:r>
            <a:endParaRPr lang="en-US" sz="2400" dirty="0"/>
          </a:p>
        </p:txBody>
      </p:sp>
      <p:sp>
        <p:nvSpPr>
          <p:cNvPr id="27" name="Text 25"/>
          <p:cNvSpPr/>
          <p:nvPr/>
        </p:nvSpPr>
        <p:spPr>
          <a:xfrm>
            <a:off x="3685032" y="3794760"/>
            <a:ext cx="1938528" cy="256032"/>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Schema and units</a:t>
            </a:r>
            <a:endParaRPr lang="en-US" sz="1600" dirty="0"/>
          </a:p>
        </p:txBody>
      </p:sp>
      <p:sp>
        <p:nvSpPr>
          <p:cNvPr id="28" name="Shape 26"/>
          <p:cNvSpPr/>
          <p:nvPr/>
        </p:nvSpPr>
        <p:spPr>
          <a:xfrm>
            <a:off x="5843016" y="3236976"/>
            <a:ext cx="457200" cy="0"/>
          </a:xfrm>
          <a:prstGeom prst="line">
            <a:avLst/>
          </a:prstGeom>
          <a:noFill/>
          <a:ln w="24130">
            <a:solidFill>
              <a:srgbClr val="2684BF"/>
            </a:solidFill>
            <a:prstDash val="solid"/>
            <a:headEnd type="none"/>
            <a:tailEnd type="triangle"/>
          </a:ln>
        </p:spPr>
      </p:sp>
      <p:sp>
        <p:nvSpPr>
          <p:cNvPr id="29" name="Shape 27"/>
          <p:cNvSpPr/>
          <p:nvPr/>
        </p:nvSpPr>
        <p:spPr>
          <a:xfrm>
            <a:off x="6446520" y="2148840"/>
            <a:ext cx="2139696" cy="2157984"/>
          </a:xfrm>
          <a:prstGeom prst="roundRect">
            <a:avLst>
              <a:gd name="adj" fmla="val 4274"/>
            </a:avLst>
          </a:prstGeom>
          <a:solidFill>
            <a:srgbClr val="FFFFFF"/>
          </a:solidFill>
          <a:ln w="10160">
            <a:solidFill>
              <a:srgbClr val="C4D2E2"/>
            </a:solidFill>
            <a:prstDash val="solid"/>
          </a:ln>
        </p:spPr>
      </p:sp>
      <p:sp>
        <p:nvSpPr>
          <p:cNvPr id="30" name="Shape 28"/>
          <p:cNvSpPr/>
          <p:nvPr/>
        </p:nvSpPr>
        <p:spPr>
          <a:xfrm flipV="1">
            <a:off x="7296546" y="2485339"/>
            <a:ext cx="210678" cy="79004"/>
          </a:xfrm>
          <a:prstGeom prst="line">
            <a:avLst/>
          </a:prstGeom>
          <a:noFill/>
          <a:ln w="13970">
            <a:solidFill>
              <a:srgbClr val="176493"/>
            </a:solidFill>
            <a:prstDash val="solid"/>
            <a:headEnd type="none"/>
            <a:tailEnd type="none"/>
          </a:ln>
        </p:spPr>
      </p:sp>
      <p:sp>
        <p:nvSpPr>
          <p:cNvPr id="31" name="Shape 29"/>
          <p:cNvSpPr/>
          <p:nvPr/>
        </p:nvSpPr>
        <p:spPr>
          <a:xfrm>
            <a:off x="7296546" y="2564343"/>
            <a:ext cx="210678" cy="151425"/>
          </a:xfrm>
          <a:prstGeom prst="line">
            <a:avLst/>
          </a:prstGeom>
          <a:noFill/>
          <a:ln w="13970">
            <a:solidFill>
              <a:srgbClr val="176493"/>
            </a:solidFill>
            <a:prstDash val="solid"/>
            <a:headEnd type="none"/>
            <a:tailEnd type="none"/>
          </a:ln>
        </p:spPr>
      </p:sp>
      <p:sp>
        <p:nvSpPr>
          <p:cNvPr id="32" name="Shape 30"/>
          <p:cNvSpPr/>
          <p:nvPr/>
        </p:nvSpPr>
        <p:spPr>
          <a:xfrm>
            <a:off x="7296546" y="2564343"/>
            <a:ext cx="210678" cy="375270"/>
          </a:xfrm>
          <a:prstGeom prst="line">
            <a:avLst/>
          </a:prstGeom>
          <a:noFill/>
          <a:ln w="13970">
            <a:solidFill>
              <a:srgbClr val="176493"/>
            </a:solidFill>
            <a:prstDash val="solid"/>
            <a:headEnd type="none"/>
            <a:tailEnd type="none"/>
          </a:ln>
        </p:spPr>
      </p:sp>
      <p:sp>
        <p:nvSpPr>
          <p:cNvPr id="33" name="Shape 31"/>
          <p:cNvSpPr/>
          <p:nvPr/>
        </p:nvSpPr>
        <p:spPr>
          <a:xfrm flipV="1">
            <a:off x="7296546" y="2485339"/>
            <a:ext cx="210678" cy="381853"/>
          </a:xfrm>
          <a:prstGeom prst="line">
            <a:avLst/>
          </a:prstGeom>
          <a:noFill/>
          <a:ln w="13970">
            <a:solidFill>
              <a:srgbClr val="176493"/>
            </a:solidFill>
            <a:prstDash val="solid"/>
            <a:headEnd type="none"/>
            <a:tailEnd type="none"/>
          </a:ln>
        </p:spPr>
      </p:sp>
      <p:sp>
        <p:nvSpPr>
          <p:cNvPr id="34" name="Shape 32"/>
          <p:cNvSpPr/>
          <p:nvPr/>
        </p:nvSpPr>
        <p:spPr>
          <a:xfrm flipV="1">
            <a:off x="7296546" y="2715768"/>
            <a:ext cx="210678" cy="151425"/>
          </a:xfrm>
          <a:prstGeom prst="line">
            <a:avLst/>
          </a:prstGeom>
          <a:noFill/>
          <a:ln w="13970">
            <a:solidFill>
              <a:srgbClr val="176493"/>
            </a:solidFill>
            <a:prstDash val="solid"/>
            <a:headEnd type="none"/>
            <a:tailEnd type="none"/>
          </a:ln>
        </p:spPr>
      </p:sp>
      <p:sp>
        <p:nvSpPr>
          <p:cNvPr id="35" name="Shape 33"/>
          <p:cNvSpPr/>
          <p:nvPr/>
        </p:nvSpPr>
        <p:spPr>
          <a:xfrm>
            <a:off x="7296546" y="2867193"/>
            <a:ext cx="210678" cy="72420"/>
          </a:xfrm>
          <a:prstGeom prst="line">
            <a:avLst/>
          </a:prstGeom>
          <a:noFill/>
          <a:ln w="13970">
            <a:solidFill>
              <a:srgbClr val="176493"/>
            </a:solidFill>
            <a:prstDash val="solid"/>
            <a:headEnd type="none"/>
            <a:tailEnd type="none"/>
          </a:ln>
        </p:spPr>
      </p:sp>
      <p:sp>
        <p:nvSpPr>
          <p:cNvPr id="36" name="Shape 34"/>
          <p:cNvSpPr/>
          <p:nvPr/>
        </p:nvSpPr>
        <p:spPr>
          <a:xfrm>
            <a:off x="7507224" y="2485339"/>
            <a:ext cx="230429" cy="138257"/>
          </a:xfrm>
          <a:prstGeom prst="line">
            <a:avLst/>
          </a:prstGeom>
          <a:noFill/>
          <a:ln w="13970">
            <a:solidFill>
              <a:srgbClr val="176493"/>
            </a:solidFill>
            <a:prstDash val="solid"/>
            <a:headEnd type="none"/>
            <a:tailEnd type="none"/>
          </a:ln>
        </p:spPr>
      </p:sp>
      <p:sp>
        <p:nvSpPr>
          <p:cNvPr id="37" name="Shape 35"/>
          <p:cNvSpPr/>
          <p:nvPr/>
        </p:nvSpPr>
        <p:spPr>
          <a:xfrm>
            <a:off x="7507224" y="2485339"/>
            <a:ext cx="230429" cy="342351"/>
          </a:xfrm>
          <a:prstGeom prst="line">
            <a:avLst/>
          </a:prstGeom>
          <a:noFill/>
          <a:ln w="13970">
            <a:solidFill>
              <a:srgbClr val="176493"/>
            </a:solidFill>
            <a:prstDash val="solid"/>
            <a:headEnd type="none"/>
            <a:tailEnd type="none"/>
          </a:ln>
        </p:spPr>
      </p:sp>
      <p:sp>
        <p:nvSpPr>
          <p:cNvPr id="38" name="Shape 36"/>
          <p:cNvSpPr/>
          <p:nvPr/>
        </p:nvSpPr>
        <p:spPr>
          <a:xfrm flipV="1">
            <a:off x="7507224" y="2623596"/>
            <a:ext cx="230429" cy="92172"/>
          </a:xfrm>
          <a:prstGeom prst="line">
            <a:avLst/>
          </a:prstGeom>
          <a:noFill/>
          <a:ln w="13970">
            <a:solidFill>
              <a:srgbClr val="176493"/>
            </a:solidFill>
            <a:prstDash val="solid"/>
            <a:headEnd type="none"/>
            <a:tailEnd type="none"/>
          </a:ln>
        </p:spPr>
      </p:sp>
      <p:sp>
        <p:nvSpPr>
          <p:cNvPr id="39" name="Shape 37"/>
          <p:cNvSpPr/>
          <p:nvPr/>
        </p:nvSpPr>
        <p:spPr>
          <a:xfrm>
            <a:off x="7507224" y="2715768"/>
            <a:ext cx="230429" cy="111923"/>
          </a:xfrm>
          <a:prstGeom prst="line">
            <a:avLst/>
          </a:prstGeom>
          <a:noFill/>
          <a:ln w="13970">
            <a:solidFill>
              <a:srgbClr val="176493"/>
            </a:solidFill>
            <a:prstDash val="solid"/>
            <a:headEnd type="none"/>
            <a:tailEnd type="none"/>
          </a:ln>
        </p:spPr>
      </p:sp>
      <p:sp>
        <p:nvSpPr>
          <p:cNvPr id="40" name="Shape 38"/>
          <p:cNvSpPr/>
          <p:nvPr/>
        </p:nvSpPr>
        <p:spPr>
          <a:xfrm flipV="1">
            <a:off x="7507224" y="2623596"/>
            <a:ext cx="230429" cy="316017"/>
          </a:xfrm>
          <a:prstGeom prst="line">
            <a:avLst/>
          </a:prstGeom>
          <a:noFill/>
          <a:ln w="13970">
            <a:solidFill>
              <a:srgbClr val="176493"/>
            </a:solidFill>
            <a:prstDash val="solid"/>
            <a:headEnd type="none"/>
            <a:tailEnd type="none"/>
          </a:ln>
        </p:spPr>
      </p:sp>
      <p:sp>
        <p:nvSpPr>
          <p:cNvPr id="41" name="Shape 39"/>
          <p:cNvSpPr/>
          <p:nvPr/>
        </p:nvSpPr>
        <p:spPr>
          <a:xfrm flipV="1">
            <a:off x="7507224" y="2827691"/>
            <a:ext cx="230429" cy="111923"/>
          </a:xfrm>
          <a:prstGeom prst="line">
            <a:avLst/>
          </a:prstGeom>
          <a:noFill/>
          <a:ln w="13970">
            <a:solidFill>
              <a:srgbClr val="176493"/>
            </a:solidFill>
            <a:prstDash val="solid"/>
            <a:headEnd type="none"/>
            <a:tailEnd type="none"/>
          </a:ln>
        </p:spPr>
      </p:sp>
      <p:sp>
        <p:nvSpPr>
          <p:cNvPr id="42" name="Shape 40"/>
          <p:cNvSpPr/>
          <p:nvPr/>
        </p:nvSpPr>
        <p:spPr>
          <a:xfrm>
            <a:off x="7257044" y="2524841"/>
            <a:ext cx="85588" cy="85588"/>
          </a:xfrm>
          <a:prstGeom prst="ellipse">
            <a:avLst/>
          </a:prstGeom>
          <a:solidFill>
            <a:srgbClr val="E3EFF7"/>
          </a:solidFill>
          <a:ln w="8890">
            <a:solidFill>
              <a:srgbClr val="176493"/>
            </a:solidFill>
            <a:prstDash val="solid"/>
          </a:ln>
        </p:spPr>
      </p:sp>
      <p:sp>
        <p:nvSpPr>
          <p:cNvPr id="43" name="Shape 41"/>
          <p:cNvSpPr/>
          <p:nvPr/>
        </p:nvSpPr>
        <p:spPr>
          <a:xfrm>
            <a:off x="7257044" y="2827691"/>
            <a:ext cx="85588" cy="85588"/>
          </a:xfrm>
          <a:prstGeom prst="ellipse">
            <a:avLst/>
          </a:prstGeom>
          <a:solidFill>
            <a:srgbClr val="E3EFF7"/>
          </a:solidFill>
          <a:ln w="8890">
            <a:solidFill>
              <a:srgbClr val="176493"/>
            </a:solidFill>
            <a:prstDash val="solid"/>
          </a:ln>
        </p:spPr>
      </p:sp>
      <p:sp>
        <p:nvSpPr>
          <p:cNvPr id="44" name="Shape 42"/>
          <p:cNvSpPr/>
          <p:nvPr/>
        </p:nvSpPr>
        <p:spPr>
          <a:xfrm>
            <a:off x="7467722" y="2445837"/>
            <a:ext cx="85588" cy="85588"/>
          </a:xfrm>
          <a:prstGeom prst="ellipse">
            <a:avLst/>
          </a:prstGeom>
          <a:solidFill>
            <a:srgbClr val="E3EFF7"/>
          </a:solidFill>
          <a:ln w="8890">
            <a:solidFill>
              <a:srgbClr val="176493"/>
            </a:solidFill>
            <a:prstDash val="solid"/>
          </a:ln>
        </p:spPr>
      </p:sp>
      <p:sp>
        <p:nvSpPr>
          <p:cNvPr id="45" name="Shape 43"/>
          <p:cNvSpPr/>
          <p:nvPr/>
        </p:nvSpPr>
        <p:spPr>
          <a:xfrm>
            <a:off x="7467722" y="2676266"/>
            <a:ext cx="85588" cy="85588"/>
          </a:xfrm>
          <a:prstGeom prst="ellipse">
            <a:avLst/>
          </a:prstGeom>
          <a:solidFill>
            <a:srgbClr val="E3EFF7"/>
          </a:solidFill>
          <a:ln w="8890">
            <a:solidFill>
              <a:srgbClr val="176493"/>
            </a:solidFill>
            <a:prstDash val="solid"/>
          </a:ln>
        </p:spPr>
      </p:sp>
      <p:sp>
        <p:nvSpPr>
          <p:cNvPr id="46" name="Shape 44"/>
          <p:cNvSpPr/>
          <p:nvPr/>
        </p:nvSpPr>
        <p:spPr>
          <a:xfrm>
            <a:off x="7467722" y="2900111"/>
            <a:ext cx="85588" cy="85588"/>
          </a:xfrm>
          <a:prstGeom prst="ellipse">
            <a:avLst/>
          </a:prstGeom>
          <a:solidFill>
            <a:srgbClr val="E3EFF7"/>
          </a:solidFill>
          <a:ln w="8890">
            <a:solidFill>
              <a:srgbClr val="176493"/>
            </a:solidFill>
            <a:prstDash val="solid"/>
          </a:ln>
        </p:spPr>
      </p:sp>
      <p:sp>
        <p:nvSpPr>
          <p:cNvPr id="47" name="Shape 45"/>
          <p:cNvSpPr/>
          <p:nvPr/>
        </p:nvSpPr>
        <p:spPr>
          <a:xfrm>
            <a:off x="7698151" y="2584094"/>
            <a:ext cx="85588" cy="85588"/>
          </a:xfrm>
          <a:prstGeom prst="ellipse">
            <a:avLst/>
          </a:prstGeom>
          <a:solidFill>
            <a:srgbClr val="E3EFF7"/>
          </a:solidFill>
          <a:ln w="8890">
            <a:solidFill>
              <a:srgbClr val="176493"/>
            </a:solidFill>
            <a:prstDash val="solid"/>
          </a:ln>
        </p:spPr>
      </p:sp>
      <p:sp>
        <p:nvSpPr>
          <p:cNvPr id="48" name="Shape 46"/>
          <p:cNvSpPr/>
          <p:nvPr/>
        </p:nvSpPr>
        <p:spPr>
          <a:xfrm>
            <a:off x="7698151" y="2788188"/>
            <a:ext cx="85588" cy="85588"/>
          </a:xfrm>
          <a:prstGeom prst="ellipse">
            <a:avLst/>
          </a:prstGeom>
          <a:solidFill>
            <a:srgbClr val="E3EFF7"/>
          </a:solidFill>
          <a:ln w="8890">
            <a:solidFill>
              <a:srgbClr val="176493"/>
            </a:solidFill>
            <a:prstDash val="solid"/>
          </a:ln>
        </p:spPr>
      </p:sp>
      <p:sp>
        <p:nvSpPr>
          <p:cNvPr id="49" name="Text 47"/>
          <p:cNvSpPr/>
          <p:nvPr/>
        </p:nvSpPr>
        <p:spPr>
          <a:xfrm>
            <a:off x="6592824" y="3291840"/>
            <a:ext cx="1847088" cy="365760"/>
          </a:xfrm>
          <a:prstGeom prst="rect">
            <a:avLst/>
          </a:prstGeom>
          <a:noFill/>
          <a:ln/>
        </p:spPr>
        <p:txBody>
          <a:bodyPr wrap="square" lIns="0" tIns="0" rIns="0" bIns="0" rtlCol="0" anchor="ctr"/>
          <a:lstStyle/>
          <a:p>
            <a:pPr algn="ctr" indent="0" marL="0">
              <a:buNone/>
            </a:pPr>
            <a:r>
              <a:rPr lang="en-US" sz="2400" b="1" dirty="0">
                <a:solidFill>
                  <a:srgbClr val="172233"/>
                </a:solidFill>
                <a:latin typeface="Aptos" pitchFamily="34" charset="0"/>
                <a:ea typeface="Aptos" pitchFamily="34" charset="-122"/>
                <a:cs typeface="Aptos" pitchFamily="34" charset="-120"/>
              </a:rPr>
              <a:t>Predict</a:t>
            </a:r>
            <a:endParaRPr lang="en-US" sz="2400" dirty="0"/>
          </a:p>
        </p:txBody>
      </p:sp>
      <p:sp>
        <p:nvSpPr>
          <p:cNvPr id="50" name="Text 48"/>
          <p:cNvSpPr/>
          <p:nvPr/>
        </p:nvSpPr>
        <p:spPr>
          <a:xfrm>
            <a:off x="6547104" y="3794760"/>
            <a:ext cx="1938528" cy="256032"/>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Versioned model</a:t>
            </a:r>
            <a:endParaRPr lang="en-US" sz="1600" dirty="0"/>
          </a:p>
        </p:txBody>
      </p:sp>
      <p:sp>
        <p:nvSpPr>
          <p:cNvPr id="51" name="Shape 49"/>
          <p:cNvSpPr/>
          <p:nvPr/>
        </p:nvSpPr>
        <p:spPr>
          <a:xfrm>
            <a:off x="8705088" y="3236976"/>
            <a:ext cx="457200" cy="0"/>
          </a:xfrm>
          <a:prstGeom prst="line">
            <a:avLst/>
          </a:prstGeom>
          <a:noFill/>
          <a:ln w="24130">
            <a:solidFill>
              <a:srgbClr val="2684BF"/>
            </a:solidFill>
            <a:prstDash val="solid"/>
            <a:headEnd type="none"/>
            <a:tailEnd type="triangle"/>
          </a:ln>
        </p:spPr>
      </p:sp>
      <p:sp>
        <p:nvSpPr>
          <p:cNvPr id="52" name="Shape 50"/>
          <p:cNvSpPr/>
          <p:nvPr/>
        </p:nvSpPr>
        <p:spPr>
          <a:xfrm>
            <a:off x="9308592" y="2148840"/>
            <a:ext cx="2139696" cy="2157984"/>
          </a:xfrm>
          <a:prstGeom prst="roundRect">
            <a:avLst>
              <a:gd name="adj" fmla="val 4274"/>
            </a:avLst>
          </a:prstGeom>
          <a:solidFill>
            <a:srgbClr val="FFFFFF"/>
          </a:solidFill>
          <a:ln w="10160">
            <a:solidFill>
              <a:srgbClr val="C4D2E2"/>
            </a:solidFill>
            <a:prstDash val="solid"/>
          </a:ln>
        </p:spPr>
      </p:sp>
      <p:sp>
        <p:nvSpPr>
          <p:cNvPr id="53" name="Shape 51"/>
          <p:cNvSpPr/>
          <p:nvPr/>
        </p:nvSpPr>
        <p:spPr>
          <a:xfrm>
            <a:off x="10263957" y="2452421"/>
            <a:ext cx="204094" cy="204094"/>
          </a:xfrm>
          <a:prstGeom prst="ellipse">
            <a:avLst/>
          </a:prstGeom>
          <a:solidFill>
            <a:srgbClr val="E3EFF7"/>
          </a:solidFill>
          <a:ln w="8890">
            <a:solidFill>
              <a:srgbClr val="176493"/>
            </a:solidFill>
            <a:prstDash val="solid"/>
          </a:ln>
        </p:spPr>
      </p:sp>
      <p:sp>
        <p:nvSpPr>
          <p:cNvPr id="54" name="Shape 52"/>
          <p:cNvSpPr/>
          <p:nvPr/>
        </p:nvSpPr>
        <p:spPr>
          <a:xfrm>
            <a:off x="10369296" y="2663099"/>
            <a:ext cx="0" cy="223845"/>
          </a:xfrm>
          <a:prstGeom prst="line">
            <a:avLst/>
          </a:prstGeom>
          <a:noFill/>
          <a:ln w="26670">
            <a:solidFill>
              <a:srgbClr val="176493"/>
            </a:solidFill>
            <a:prstDash val="solid"/>
            <a:headEnd type="none"/>
            <a:tailEnd type="none"/>
          </a:ln>
        </p:spPr>
      </p:sp>
      <p:sp>
        <p:nvSpPr>
          <p:cNvPr id="55" name="Shape 53"/>
          <p:cNvSpPr/>
          <p:nvPr/>
        </p:nvSpPr>
        <p:spPr>
          <a:xfrm flipV="1">
            <a:off x="10145451" y="2807940"/>
            <a:ext cx="59253" cy="158008"/>
          </a:xfrm>
          <a:prstGeom prst="line">
            <a:avLst/>
          </a:prstGeom>
          <a:noFill/>
          <a:ln w="26670">
            <a:solidFill>
              <a:srgbClr val="176493"/>
            </a:solidFill>
            <a:prstDash val="solid"/>
            <a:headEnd type="none"/>
            <a:tailEnd type="none"/>
          </a:ln>
        </p:spPr>
      </p:sp>
      <p:sp>
        <p:nvSpPr>
          <p:cNvPr id="56" name="Shape 54"/>
          <p:cNvSpPr/>
          <p:nvPr/>
        </p:nvSpPr>
        <p:spPr>
          <a:xfrm>
            <a:off x="10204704" y="2807940"/>
            <a:ext cx="322600" cy="0"/>
          </a:xfrm>
          <a:prstGeom prst="line">
            <a:avLst/>
          </a:prstGeom>
          <a:noFill/>
          <a:ln w="26670">
            <a:solidFill>
              <a:srgbClr val="176493"/>
            </a:solidFill>
            <a:prstDash val="solid"/>
            <a:headEnd type="none"/>
            <a:tailEnd type="none"/>
          </a:ln>
        </p:spPr>
      </p:sp>
      <p:sp>
        <p:nvSpPr>
          <p:cNvPr id="57" name="Shape 55"/>
          <p:cNvSpPr/>
          <p:nvPr/>
        </p:nvSpPr>
        <p:spPr>
          <a:xfrm>
            <a:off x="10527304" y="2807940"/>
            <a:ext cx="65837" cy="158008"/>
          </a:xfrm>
          <a:prstGeom prst="line">
            <a:avLst/>
          </a:prstGeom>
          <a:noFill/>
          <a:ln w="26670">
            <a:solidFill>
              <a:srgbClr val="176493"/>
            </a:solidFill>
            <a:prstDash val="solid"/>
            <a:headEnd type="none"/>
            <a:tailEnd type="none"/>
          </a:ln>
        </p:spPr>
      </p:sp>
      <p:sp>
        <p:nvSpPr>
          <p:cNvPr id="58" name="Text 56"/>
          <p:cNvSpPr/>
          <p:nvPr/>
        </p:nvSpPr>
        <p:spPr>
          <a:xfrm>
            <a:off x="9454896" y="3291840"/>
            <a:ext cx="1847088" cy="365760"/>
          </a:xfrm>
          <a:prstGeom prst="rect">
            <a:avLst/>
          </a:prstGeom>
          <a:noFill/>
          <a:ln/>
        </p:spPr>
        <p:txBody>
          <a:bodyPr wrap="square" lIns="0" tIns="0" rIns="0" bIns="0" rtlCol="0" anchor="ctr"/>
          <a:lstStyle/>
          <a:p>
            <a:pPr algn="ctr" indent="0" marL="0">
              <a:buNone/>
            </a:pPr>
            <a:r>
              <a:rPr lang="en-US" sz="2400" b="1" dirty="0">
                <a:solidFill>
                  <a:srgbClr val="172233"/>
                </a:solidFill>
                <a:latin typeface="Aptos" pitchFamily="34" charset="0"/>
                <a:ea typeface="Aptos" pitchFamily="34" charset="-122"/>
                <a:cs typeface="Aptos" pitchFamily="34" charset="-120"/>
              </a:rPr>
              <a:t>Respond</a:t>
            </a:r>
            <a:endParaRPr lang="en-US" sz="2400" dirty="0"/>
          </a:p>
        </p:txBody>
      </p:sp>
      <p:sp>
        <p:nvSpPr>
          <p:cNvPr id="59" name="Text 57"/>
          <p:cNvSpPr/>
          <p:nvPr/>
        </p:nvSpPr>
        <p:spPr>
          <a:xfrm>
            <a:off x="9409176" y="3794760"/>
            <a:ext cx="1938528" cy="256032"/>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Result and context</a:t>
            </a:r>
            <a:endParaRPr lang="en-US" sz="1600" dirty="0"/>
          </a:p>
        </p:txBody>
      </p:sp>
      <p:sp>
        <p:nvSpPr>
          <p:cNvPr id="60" name="Shape 58"/>
          <p:cNvSpPr/>
          <p:nvPr/>
        </p:nvSpPr>
        <p:spPr>
          <a:xfrm>
            <a:off x="4654296" y="4443984"/>
            <a:ext cx="0" cy="448056"/>
          </a:xfrm>
          <a:prstGeom prst="line">
            <a:avLst/>
          </a:prstGeom>
          <a:noFill/>
          <a:ln w="21590">
            <a:solidFill>
              <a:srgbClr val="B33B43"/>
            </a:solidFill>
            <a:prstDash val="solid"/>
            <a:headEnd type="none"/>
            <a:tailEnd type="triangle"/>
          </a:ln>
        </p:spPr>
      </p:sp>
      <p:sp>
        <p:nvSpPr>
          <p:cNvPr id="61" name="Shape 59"/>
          <p:cNvSpPr/>
          <p:nvPr/>
        </p:nvSpPr>
        <p:spPr>
          <a:xfrm>
            <a:off x="3273552" y="5010912"/>
            <a:ext cx="2761488" cy="530352"/>
          </a:xfrm>
          <a:prstGeom prst="roundRect">
            <a:avLst>
              <a:gd name="adj" fmla="val 17241"/>
            </a:avLst>
          </a:prstGeom>
          <a:solidFill>
            <a:srgbClr val="FAE9EA"/>
          </a:solidFill>
          <a:ln w="12700">
            <a:solidFill>
              <a:srgbClr val="FAE9EA"/>
            </a:solidFill>
            <a:prstDash val="solid"/>
          </a:ln>
        </p:spPr>
      </p:sp>
      <p:sp>
        <p:nvSpPr>
          <p:cNvPr id="62" name="Text 60"/>
          <p:cNvSpPr/>
          <p:nvPr/>
        </p:nvSpPr>
        <p:spPr>
          <a:xfrm>
            <a:off x="3465576" y="5129784"/>
            <a:ext cx="2377440" cy="274320"/>
          </a:xfrm>
          <a:prstGeom prst="rect">
            <a:avLst/>
          </a:prstGeom>
          <a:noFill/>
          <a:ln/>
        </p:spPr>
        <p:txBody>
          <a:bodyPr wrap="square" lIns="0" tIns="0" rIns="0" bIns="0" rtlCol="0" anchor="ctr"/>
          <a:lstStyle/>
          <a:p>
            <a:pPr algn="ctr" indent="0" marL="0">
              <a:buNone/>
            </a:pPr>
            <a:r>
              <a:rPr lang="en-US" sz="2000" b="1" dirty="0">
                <a:solidFill>
                  <a:srgbClr val="B33B43"/>
                </a:solidFill>
                <a:latin typeface="Aptos" pitchFamily="34" charset="0"/>
                <a:ea typeface="Aptos" pitchFamily="34" charset="-122"/>
                <a:cs typeface="Aptos" pitchFamily="34" charset="-120"/>
              </a:rPr>
              <a:t>Reject invalid input</a:t>
            </a:r>
            <a:endParaRPr lang="en-US" sz="2000" dirty="0"/>
          </a:p>
        </p:txBody>
      </p:sp>
      <p:sp>
        <p:nvSpPr>
          <p:cNvPr id="63" name="Text 61"/>
          <p:cNvSpPr/>
          <p:nvPr/>
        </p:nvSpPr>
        <p:spPr>
          <a:xfrm>
            <a:off x="786384" y="5907024"/>
            <a:ext cx="10643616" cy="356616"/>
          </a:xfrm>
          <a:prstGeom prst="rect">
            <a:avLst/>
          </a:prstGeom>
          <a:noFill/>
          <a:ln/>
        </p:spPr>
        <p:txBody>
          <a:bodyPr wrap="square" lIns="0" tIns="0" rIns="0" bIns="0" rtlCol="0" anchor="ctr"/>
          <a:lstStyle/>
          <a:p>
            <a:pPr indent="0" marL="0">
              <a:buNone/>
            </a:pPr>
            <a:r>
              <a:rPr lang="en-US" sz="2100" b="1" dirty="0">
                <a:solidFill>
                  <a:srgbClr val="176493"/>
                </a:solidFill>
                <a:latin typeface="Aptos" pitchFamily="34" charset="0"/>
                <a:ea typeface="Aptos" pitchFamily="34" charset="-122"/>
                <a:cs typeface="Aptos" pitchFamily="34" charset="-120"/>
              </a:rPr>
              <a:t>Observe failures. Keep the model identity. Plan recovery.</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FUNCTION APPROXIMATION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A model approximates a relationship</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16 / 24</a:t>
            </a:r>
            <a:endParaRPr lang="en-US" sz="1000" dirty="0"/>
          </a:p>
        </p:txBody>
      </p:sp>
      <p:sp>
        <p:nvSpPr>
          <p:cNvPr id="10" name="Shape 8"/>
          <p:cNvSpPr/>
          <p:nvPr/>
        </p:nvSpPr>
        <p:spPr>
          <a:xfrm>
            <a:off x="713232" y="1801368"/>
            <a:ext cx="7388352" cy="4535424"/>
          </a:xfrm>
          <a:prstGeom prst="roundRect">
            <a:avLst>
              <a:gd name="adj" fmla="val 2016"/>
            </a:avLst>
          </a:prstGeom>
          <a:solidFill>
            <a:srgbClr val="FFFFFF"/>
          </a:solidFill>
          <a:ln w="10160">
            <a:solidFill>
              <a:srgbClr val="C4D2E2"/>
            </a:solidFill>
            <a:prstDash val="solid"/>
          </a:ln>
        </p:spPr>
      </p:sp>
      <p:sp>
        <p:nvSpPr>
          <p:cNvPr id="11" name="Shape 9"/>
          <p:cNvSpPr/>
          <p:nvPr/>
        </p:nvSpPr>
        <p:spPr>
          <a:xfrm>
            <a:off x="1399032" y="4926506"/>
            <a:ext cx="6108192" cy="0"/>
          </a:xfrm>
          <a:prstGeom prst="line">
            <a:avLst/>
          </a:prstGeom>
          <a:noFill/>
          <a:ln w="7620">
            <a:solidFill>
              <a:srgbClr val="C4D2E2"/>
            </a:solidFill>
            <a:prstDash val="solid"/>
            <a:headEnd type="none"/>
            <a:tailEnd type="none"/>
          </a:ln>
        </p:spPr>
      </p:sp>
      <p:sp>
        <p:nvSpPr>
          <p:cNvPr id="12" name="Text 10"/>
          <p:cNvSpPr/>
          <p:nvPr/>
        </p:nvSpPr>
        <p:spPr>
          <a:xfrm>
            <a:off x="822960" y="4825922"/>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100</a:t>
            </a:r>
            <a:endParaRPr lang="en-US" sz="1300" dirty="0"/>
          </a:p>
        </p:txBody>
      </p:sp>
      <p:sp>
        <p:nvSpPr>
          <p:cNvPr id="13" name="Shape 11"/>
          <p:cNvSpPr/>
          <p:nvPr/>
        </p:nvSpPr>
        <p:spPr>
          <a:xfrm>
            <a:off x="1399032" y="4363798"/>
            <a:ext cx="6108192" cy="0"/>
          </a:xfrm>
          <a:prstGeom prst="line">
            <a:avLst/>
          </a:prstGeom>
          <a:noFill/>
          <a:ln w="7620">
            <a:solidFill>
              <a:srgbClr val="C4D2E2"/>
            </a:solidFill>
            <a:prstDash val="solid"/>
            <a:headEnd type="none"/>
            <a:tailEnd type="none"/>
          </a:ln>
        </p:spPr>
      </p:sp>
      <p:sp>
        <p:nvSpPr>
          <p:cNvPr id="14" name="Text 12"/>
          <p:cNvSpPr/>
          <p:nvPr/>
        </p:nvSpPr>
        <p:spPr>
          <a:xfrm>
            <a:off x="822960" y="4263214"/>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150</a:t>
            </a:r>
            <a:endParaRPr lang="en-US" sz="1300" dirty="0"/>
          </a:p>
        </p:txBody>
      </p:sp>
      <p:sp>
        <p:nvSpPr>
          <p:cNvPr id="15" name="Shape 13"/>
          <p:cNvSpPr/>
          <p:nvPr/>
        </p:nvSpPr>
        <p:spPr>
          <a:xfrm>
            <a:off x="1399032" y="3801090"/>
            <a:ext cx="6108192" cy="0"/>
          </a:xfrm>
          <a:prstGeom prst="line">
            <a:avLst/>
          </a:prstGeom>
          <a:noFill/>
          <a:ln w="7620">
            <a:solidFill>
              <a:srgbClr val="C4D2E2"/>
            </a:solidFill>
            <a:prstDash val="solid"/>
            <a:headEnd type="none"/>
            <a:tailEnd type="none"/>
          </a:ln>
        </p:spPr>
      </p:sp>
      <p:sp>
        <p:nvSpPr>
          <p:cNvPr id="16" name="Text 14"/>
          <p:cNvSpPr/>
          <p:nvPr/>
        </p:nvSpPr>
        <p:spPr>
          <a:xfrm>
            <a:off x="822960" y="3700506"/>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200</a:t>
            </a:r>
            <a:endParaRPr lang="en-US" sz="1300" dirty="0"/>
          </a:p>
        </p:txBody>
      </p:sp>
      <p:sp>
        <p:nvSpPr>
          <p:cNvPr id="17" name="Shape 15"/>
          <p:cNvSpPr/>
          <p:nvPr/>
        </p:nvSpPr>
        <p:spPr>
          <a:xfrm>
            <a:off x="1399032" y="3238383"/>
            <a:ext cx="6108192" cy="0"/>
          </a:xfrm>
          <a:prstGeom prst="line">
            <a:avLst/>
          </a:prstGeom>
          <a:noFill/>
          <a:ln w="7620">
            <a:solidFill>
              <a:srgbClr val="C4D2E2"/>
            </a:solidFill>
            <a:prstDash val="solid"/>
            <a:headEnd type="none"/>
            <a:tailEnd type="none"/>
          </a:ln>
        </p:spPr>
      </p:sp>
      <p:sp>
        <p:nvSpPr>
          <p:cNvPr id="18" name="Text 16"/>
          <p:cNvSpPr/>
          <p:nvPr/>
        </p:nvSpPr>
        <p:spPr>
          <a:xfrm>
            <a:off x="822960" y="3137799"/>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250</a:t>
            </a:r>
            <a:endParaRPr lang="en-US" sz="1300" dirty="0"/>
          </a:p>
        </p:txBody>
      </p:sp>
      <p:sp>
        <p:nvSpPr>
          <p:cNvPr id="19" name="Shape 17"/>
          <p:cNvSpPr/>
          <p:nvPr/>
        </p:nvSpPr>
        <p:spPr>
          <a:xfrm>
            <a:off x="1399032" y="2675675"/>
            <a:ext cx="6108192" cy="0"/>
          </a:xfrm>
          <a:prstGeom prst="line">
            <a:avLst/>
          </a:prstGeom>
          <a:noFill/>
          <a:ln w="7620">
            <a:solidFill>
              <a:srgbClr val="C4D2E2"/>
            </a:solidFill>
            <a:prstDash val="solid"/>
            <a:headEnd type="none"/>
            <a:tailEnd type="none"/>
          </a:ln>
        </p:spPr>
      </p:sp>
      <p:sp>
        <p:nvSpPr>
          <p:cNvPr id="20" name="Text 18"/>
          <p:cNvSpPr/>
          <p:nvPr/>
        </p:nvSpPr>
        <p:spPr>
          <a:xfrm>
            <a:off x="822960" y="2575091"/>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300</a:t>
            </a:r>
            <a:endParaRPr lang="en-US" sz="1300" dirty="0"/>
          </a:p>
        </p:txBody>
      </p:sp>
      <p:sp>
        <p:nvSpPr>
          <p:cNvPr id="21" name="Text 19"/>
          <p:cNvSpPr/>
          <p:nvPr/>
        </p:nvSpPr>
        <p:spPr>
          <a:xfrm>
            <a:off x="2188464"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40</a:t>
            </a:r>
            <a:endParaRPr lang="en-US" sz="1400" dirty="0"/>
          </a:p>
        </p:txBody>
      </p:sp>
      <p:sp>
        <p:nvSpPr>
          <p:cNvPr id="22" name="Text 20"/>
          <p:cNvSpPr/>
          <p:nvPr/>
        </p:nvSpPr>
        <p:spPr>
          <a:xfrm>
            <a:off x="3206496"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60</a:t>
            </a:r>
            <a:endParaRPr lang="en-US" sz="1400" dirty="0"/>
          </a:p>
        </p:txBody>
      </p:sp>
      <p:sp>
        <p:nvSpPr>
          <p:cNvPr id="23" name="Text 21"/>
          <p:cNvSpPr/>
          <p:nvPr/>
        </p:nvSpPr>
        <p:spPr>
          <a:xfrm>
            <a:off x="4224528"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80</a:t>
            </a:r>
            <a:endParaRPr lang="en-US" sz="1400" dirty="0"/>
          </a:p>
        </p:txBody>
      </p:sp>
      <p:sp>
        <p:nvSpPr>
          <p:cNvPr id="24" name="Text 22"/>
          <p:cNvSpPr/>
          <p:nvPr/>
        </p:nvSpPr>
        <p:spPr>
          <a:xfrm>
            <a:off x="5242560"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100</a:t>
            </a:r>
            <a:endParaRPr lang="en-US" sz="1400" dirty="0"/>
          </a:p>
        </p:txBody>
      </p:sp>
      <p:sp>
        <p:nvSpPr>
          <p:cNvPr id="25" name="Text 23"/>
          <p:cNvSpPr/>
          <p:nvPr/>
        </p:nvSpPr>
        <p:spPr>
          <a:xfrm>
            <a:off x="6260592"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120</a:t>
            </a:r>
            <a:endParaRPr lang="en-US" sz="1400" dirty="0"/>
          </a:p>
        </p:txBody>
      </p:sp>
      <p:sp>
        <p:nvSpPr>
          <p:cNvPr id="26" name="Shape 24"/>
          <p:cNvSpPr/>
          <p:nvPr/>
        </p:nvSpPr>
        <p:spPr>
          <a:xfrm>
            <a:off x="1399032" y="2450592"/>
            <a:ext cx="0" cy="2926080"/>
          </a:xfrm>
          <a:prstGeom prst="line">
            <a:avLst/>
          </a:prstGeom>
          <a:noFill/>
          <a:ln w="15240">
            <a:solidFill>
              <a:srgbClr val="53657A"/>
            </a:solidFill>
            <a:prstDash val="solid"/>
            <a:headEnd type="none"/>
            <a:tailEnd type="none"/>
          </a:ln>
        </p:spPr>
      </p:sp>
      <p:sp>
        <p:nvSpPr>
          <p:cNvPr id="27" name="Shape 25"/>
          <p:cNvSpPr/>
          <p:nvPr/>
        </p:nvSpPr>
        <p:spPr>
          <a:xfrm>
            <a:off x="1399032" y="5376672"/>
            <a:ext cx="6108192" cy="0"/>
          </a:xfrm>
          <a:prstGeom prst="line">
            <a:avLst/>
          </a:prstGeom>
          <a:noFill/>
          <a:ln w="15240">
            <a:solidFill>
              <a:srgbClr val="53657A"/>
            </a:solidFill>
            <a:prstDash val="solid"/>
            <a:headEnd type="none"/>
            <a:tailEnd type="none"/>
          </a:ln>
        </p:spPr>
      </p:sp>
      <p:sp>
        <p:nvSpPr>
          <p:cNvPr id="28" name="Text 26"/>
          <p:cNvSpPr/>
          <p:nvPr/>
        </p:nvSpPr>
        <p:spPr>
          <a:xfrm>
            <a:off x="1399032" y="2084832"/>
            <a:ext cx="6108192" cy="228600"/>
          </a:xfrm>
          <a:prstGeom prst="rect">
            <a:avLst/>
          </a:prstGeom>
          <a:noFill/>
          <a:ln/>
        </p:spPr>
        <p:txBody>
          <a:bodyPr wrap="square" lIns="0" tIns="0" rIns="0" bIns="0" rtlCol="0" anchor="ctr"/>
          <a:lstStyle/>
          <a:p>
            <a:pPr indent="0" marL="0">
              <a:buNone/>
            </a:pPr>
            <a:r>
              <a:rPr lang="en-US" sz="1500" dirty="0">
                <a:solidFill>
                  <a:srgbClr val="53657A"/>
                </a:solidFill>
                <a:latin typeface="Aptos" pitchFamily="34" charset="0"/>
                <a:ea typeface="Aptos" pitchFamily="34" charset="-122"/>
                <a:cs typeface="Aptos" pitchFamily="34" charset="-120"/>
              </a:rPr>
              <a:t>Price (EUR thousands)</a:t>
            </a:r>
            <a:endParaRPr lang="en-US" sz="1500" dirty="0"/>
          </a:p>
        </p:txBody>
      </p:sp>
      <p:sp>
        <p:nvSpPr>
          <p:cNvPr id="29" name="Text 27"/>
          <p:cNvSpPr/>
          <p:nvPr/>
        </p:nvSpPr>
        <p:spPr>
          <a:xfrm>
            <a:off x="2679192" y="5879592"/>
            <a:ext cx="3547872" cy="228600"/>
          </a:xfrm>
          <a:prstGeom prst="rect">
            <a:avLst/>
          </a:prstGeom>
          <a:noFill/>
          <a:ln/>
        </p:spPr>
        <p:txBody>
          <a:bodyPr wrap="square" lIns="0" tIns="0" rIns="0" bIns="0" rtlCol="0" anchor="ctr"/>
          <a:lstStyle/>
          <a:p>
            <a:pPr algn="ctr" indent="0" marL="0">
              <a:buNone/>
            </a:pPr>
            <a:r>
              <a:rPr lang="en-US" sz="1500" dirty="0">
                <a:solidFill>
                  <a:srgbClr val="53657A"/>
                </a:solidFill>
                <a:latin typeface="Aptos" pitchFamily="34" charset="0"/>
                <a:ea typeface="Aptos" pitchFamily="34" charset="-122"/>
                <a:cs typeface="Aptos" pitchFamily="34" charset="-120"/>
              </a:rPr>
              <a:t>Area (square metres)</a:t>
            </a:r>
            <a:endParaRPr lang="en-US" sz="1500" dirty="0"/>
          </a:p>
        </p:txBody>
      </p:sp>
      <p:sp>
        <p:nvSpPr>
          <p:cNvPr id="30" name="Shape 28"/>
          <p:cNvSpPr/>
          <p:nvPr/>
        </p:nvSpPr>
        <p:spPr>
          <a:xfrm flipV="1">
            <a:off x="1653540" y="2855742"/>
            <a:ext cx="5446471" cy="2408389"/>
          </a:xfrm>
          <a:prstGeom prst="line">
            <a:avLst/>
          </a:prstGeom>
          <a:noFill/>
          <a:ln w="29210">
            <a:solidFill>
              <a:srgbClr val="167C85"/>
            </a:solidFill>
            <a:prstDash val="solid"/>
            <a:headEnd type="none"/>
            <a:tailEnd type="none"/>
          </a:ln>
        </p:spPr>
      </p:sp>
      <p:sp>
        <p:nvSpPr>
          <p:cNvPr id="31" name="Shape 29"/>
          <p:cNvSpPr/>
          <p:nvPr/>
        </p:nvSpPr>
        <p:spPr>
          <a:xfrm>
            <a:off x="2364943" y="4761844"/>
            <a:ext cx="104242" cy="104242"/>
          </a:xfrm>
          <a:prstGeom prst="ellipse">
            <a:avLst/>
          </a:prstGeom>
          <a:solidFill>
            <a:srgbClr val="176493"/>
          </a:solidFill>
          <a:ln w="8890">
            <a:solidFill>
              <a:srgbClr val="176493"/>
            </a:solidFill>
            <a:prstDash val="solid"/>
          </a:ln>
        </p:spPr>
      </p:sp>
      <p:sp>
        <p:nvSpPr>
          <p:cNvPr id="32" name="Shape 30"/>
          <p:cNvSpPr/>
          <p:nvPr/>
        </p:nvSpPr>
        <p:spPr>
          <a:xfrm>
            <a:off x="3382975" y="4536760"/>
            <a:ext cx="104242" cy="104242"/>
          </a:xfrm>
          <a:prstGeom prst="ellipse">
            <a:avLst/>
          </a:prstGeom>
          <a:solidFill>
            <a:srgbClr val="176493"/>
          </a:solidFill>
          <a:ln w="8890">
            <a:solidFill>
              <a:srgbClr val="176493"/>
            </a:solidFill>
            <a:prstDash val="solid"/>
          </a:ln>
        </p:spPr>
      </p:sp>
      <p:sp>
        <p:nvSpPr>
          <p:cNvPr id="33" name="Shape 31"/>
          <p:cNvSpPr/>
          <p:nvPr/>
        </p:nvSpPr>
        <p:spPr>
          <a:xfrm>
            <a:off x="4401007" y="3861511"/>
            <a:ext cx="104242" cy="104242"/>
          </a:xfrm>
          <a:prstGeom prst="ellipse">
            <a:avLst/>
          </a:prstGeom>
          <a:solidFill>
            <a:srgbClr val="176493"/>
          </a:solidFill>
          <a:ln w="8890">
            <a:solidFill>
              <a:srgbClr val="176493"/>
            </a:solidFill>
            <a:prstDash val="solid"/>
          </a:ln>
        </p:spPr>
      </p:sp>
      <p:sp>
        <p:nvSpPr>
          <p:cNvPr id="34" name="Shape 32"/>
          <p:cNvSpPr/>
          <p:nvPr/>
        </p:nvSpPr>
        <p:spPr>
          <a:xfrm>
            <a:off x="5419039" y="3636428"/>
            <a:ext cx="104242" cy="104242"/>
          </a:xfrm>
          <a:prstGeom prst="ellipse">
            <a:avLst/>
          </a:prstGeom>
          <a:solidFill>
            <a:srgbClr val="176493"/>
          </a:solidFill>
          <a:ln w="8890">
            <a:solidFill>
              <a:srgbClr val="176493"/>
            </a:solidFill>
            <a:prstDash val="solid"/>
          </a:ln>
        </p:spPr>
      </p:sp>
      <p:sp>
        <p:nvSpPr>
          <p:cNvPr id="35" name="Shape 33"/>
          <p:cNvSpPr/>
          <p:nvPr/>
        </p:nvSpPr>
        <p:spPr>
          <a:xfrm>
            <a:off x="6437071" y="2848637"/>
            <a:ext cx="104242" cy="104242"/>
          </a:xfrm>
          <a:prstGeom prst="ellipse">
            <a:avLst/>
          </a:prstGeom>
          <a:solidFill>
            <a:srgbClr val="176493"/>
          </a:solidFill>
          <a:ln w="8890">
            <a:solidFill>
              <a:srgbClr val="176493"/>
            </a:solidFill>
            <a:prstDash val="solid"/>
          </a:ln>
        </p:spPr>
      </p:sp>
      <p:sp>
        <p:nvSpPr>
          <p:cNvPr id="36" name="Text 34"/>
          <p:cNvSpPr/>
          <p:nvPr/>
        </p:nvSpPr>
        <p:spPr>
          <a:xfrm>
            <a:off x="8394192" y="2194560"/>
            <a:ext cx="2926080" cy="228600"/>
          </a:xfrm>
          <a:prstGeom prst="rect">
            <a:avLst/>
          </a:prstGeom>
          <a:noFill/>
          <a:ln/>
        </p:spPr>
        <p:txBody>
          <a:bodyPr wrap="square" lIns="0" tIns="0" rIns="0" bIns="0" rtlCol="0" anchor="ctr"/>
          <a:lstStyle/>
          <a:p>
            <a:pPr indent="0" marL="0">
              <a:buNone/>
            </a:pPr>
            <a:r>
              <a:rPr lang="en-US" sz="1100" b="1" spc="110" kern="0" dirty="0">
                <a:solidFill>
                  <a:srgbClr val="167C85"/>
                </a:solidFill>
                <a:latin typeface="Aptos" pitchFamily="34" charset="0"/>
                <a:ea typeface="Aptos" pitchFamily="34" charset="-122"/>
                <a:cs typeface="Aptos" pitchFamily="34" charset="-120"/>
              </a:rPr>
              <a:t>ILLUSTRATIVE MODEL</a:t>
            </a:r>
            <a:endParaRPr lang="en-US" sz="1100" dirty="0"/>
          </a:p>
        </p:txBody>
      </p:sp>
      <p:pic>
        <p:nvPicPr>
          <p:cNvPr id="3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08492" y="2724912"/>
            <a:ext cx="2734056" cy="594360"/>
          </a:xfrm>
          <a:prstGeom prst="rect">
            <a:avLst/>
          </a:prstGeom>
        </p:spPr>
      </p:pic>
      <p:sp>
        <p:nvSpPr>
          <p:cNvPr id="38" name="Text 35"/>
          <p:cNvSpPr/>
          <p:nvPr/>
        </p:nvSpPr>
        <p:spPr>
          <a:xfrm>
            <a:off x="8412480" y="3685032"/>
            <a:ext cx="2962656" cy="1335024"/>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x: area</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y: price</a:t>
            </a:r>
            <a:endParaRPr lang="en-US" sz="2100" dirty="0"/>
          </a:p>
          <a:p>
            <a:pPr indent="0" marL="0">
              <a:buNone/>
            </a:pPr>
            <a:r>
              <a:rPr lang="en-US" sz="2100" dirty="0">
                <a:solidFill>
                  <a:srgbClr val="53657A"/>
                </a:solidFill>
                <a:latin typeface="Aptos" pitchFamily="34" charset="0"/>
                <a:ea typeface="Aptos" pitchFamily="34" charset="-122"/>
                <a:cs typeface="Aptos" pitchFamily="34" charset="-120"/>
              </a:rPr>
              <a:t>b, w: parameters</a:t>
            </a:r>
            <a:endParaRPr lang="en-US" sz="2100" dirty="0"/>
          </a:p>
        </p:txBody>
      </p:sp>
      <p:sp>
        <p:nvSpPr>
          <p:cNvPr id="39" name="Text 36"/>
          <p:cNvSpPr/>
          <p:nvPr/>
        </p:nvSpPr>
        <p:spPr>
          <a:xfrm>
            <a:off x="8412480" y="5276088"/>
            <a:ext cx="2962656" cy="667512"/>
          </a:xfrm>
          <a:prstGeom prst="rect">
            <a:avLst/>
          </a:prstGeom>
          <a:noFill/>
          <a:ln/>
        </p:spPr>
        <p:txBody>
          <a:bodyPr wrap="square" lIns="0" tIns="0" rIns="0" bIns="0" rtlCol="0" anchor="ctr"/>
          <a:lstStyle/>
          <a:p>
            <a:pPr indent="0" marL="0">
              <a:buNone/>
            </a:pPr>
            <a:r>
              <a:rPr lang="en-US" sz="2100" b="1" dirty="0">
                <a:solidFill>
                  <a:srgbClr val="176493"/>
                </a:solidFill>
                <a:latin typeface="Aptos" pitchFamily="34" charset="0"/>
                <a:ea typeface="Aptos" pitchFamily="34" charset="-122"/>
                <a:cs typeface="Aptos" pitchFamily="34" charset="-120"/>
              </a:rPr>
              <a:t>An estimate,</a:t>
            </a:r>
            <a:endParaRPr lang="en-US" sz="2100" dirty="0"/>
          </a:p>
          <a:p>
            <a:pPr indent="0" marL="0">
              <a:buNone/>
            </a:pPr>
            <a:r>
              <a:rPr lang="en-US" sz="2100" b="1" dirty="0">
                <a:solidFill>
                  <a:srgbClr val="176493"/>
                </a:solidFill>
                <a:latin typeface="Aptos" pitchFamily="34" charset="0"/>
                <a:ea typeface="Aptos" pitchFamily="34" charset="-122"/>
                <a:cs typeface="Aptos" pitchFamily="34" charset="-120"/>
              </a:rPr>
              <a:t>not a guarantee.</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OPTIMIZATION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Turn prediction errors into a loss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17 / 24</a:t>
            </a:r>
            <a:endParaRPr lang="en-US" sz="1000" dirty="0"/>
          </a:p>
        </p:txBody>
      </p:sp>
      <p:sp>
        <p:nvSpPr>
          <p:cNvPr id="10" name="Shape 8"/>
          <p:cNvSpPr/>
          <p:nvPr/>
        </p:nvSpPr>
        <p:spPr>
          <a:xfrm>
            <a:off x="713232" y="1801368"/>
            <a:ext cx="6729984" cy="4535424"/>
          </a:xfrm>
          <a:prstGeom prst="roundRect">
            <a:avLst>
              <a:gd name="adj" fmla="val 2016"/>
            </a:avLst>
          </a:prstGeom>
          <a:solidFill>
            <a:srgbClr val="FFFFFF"/>
          </a:solidFill>
          <a:ln w="10160">
            <a:solidFill>
              <a:srgbClr val="C4D2E2"/>
            </a:solidFill>
            <a:prstDash val="solid"/>
          </a:ln>
        </p:spPr>
      </p:sp>
      <p:sp>
        <p:nvSpPr>
          <p:cNvPr id="11" name="Shape 9"/>
          <p:cNvSpPr/>
          <p:nvPr/>
        </p:nvSpPr>
        <p:spPr>
          <a:xfrm>
            <a:off x="1371600" y="4926506"/>
            <a:ext cx="5367528" cy="0"/>
          </a:xfrm>
          <a:prstGeom prst="line">
            <a:avLst/>
          </a:prstGeom>
          <a:noFill/>
          <a:ln w="7620">
            <a:solidFill>
              <a:srgbClr val="C4D2E2"/>
            </a:solidFill>
            <a:prstDash val="solid"/>
            <a:headEnd type="none"/>
            <a:tailEnd type="none"/>
          </a:ln>
        </p:spPr>
      </p:sp>
      <p:sp>
        <p:nvSpPr>
          <p:cNvPr id="12" name="Text 10"/>
          <p:cNvSpPr/>
          <p:nvPr/>
        </p:nvSpPr>
        <p:spPr>
          <a:xfrm>
            <a:off x="795528" y="4825922"/>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100</a:t>
            </a:r>
            <a:endParaRPr lang="en-US" sz="1300" dirty="0"/>
          </a:p>
        </p:txBody>
      </p:sp>
      <p:sp>
        <p:nvSpPr>
          <p:cNvPr id="13" name="Shape 11"/>
          <p:cNvSpPr/>
          <p:nvPr/>
        </p:nvSpPr>
        <p:spPr>
          <a:xfrm>
            <a:off x="1371600" y="4363798"/>
            <a:ext cx="5367528" cy="0"/>
          </a:xfrm>
          <a:prstGeom prst="line">
            <a:avLst/>
          </a:prstGeom>
          <a:noFill/>
          <a:ln w="7620">
            <a:solidFill>
              <a:srgbClr val="C4D2E2"/>
            </a:solidFill>
            <a:prstDash val="solid"/>
            <a:headEnd type="none"/>
            <a:tailEnd type="none"/>
          </a:ln>
        </p:spPr>
      </p:sp>
      <p:sp>
        <p:nvSpPr>
          <p:cNvPr id="14" name="Text 12"/>
          <p:cNvSpPr/>
          <p:nvPr/>
        </p:nvSpPr>
        <p:spPr>
          <a:xfrm>
            <a:off x="795528" y="4263214"/>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150</a:t>
            </a:r>
            <a:endParaRPr lang="en-US" sz="1300" dirty="0"/>
          </a:p>
        </p:txBody>
      </p:sp>
      <p:sp>
        <p:nvSpPr>
          <p:cNvPr id="15" name="Shape 13"/>
          <p:cNvSpPr/>
          <p:nvPr/>
        </p:nvSpPr>
        <p:spPr>
          <a:xfrm>
            <a:off x="1371600" y="3801090"/>
            <a:ext cx="5367528" cy="0"/>
          </a:xfrm>
          <a:prstGeom prst="line">
            <a:avLst/>
          </a:prstGeom>
          <a:noFill/>
          <a:ln w="7620">
            <a:solidFill>
              <a:srgbClr val="C4D2E2"/>
            </a:solidFill>
            <a:prstDash val="solid"/>
            <a:headEnd type="none"/>
            <a:tailEnd type="none"/>
          </a:ln>
        </p:spPr>
      </p:sp>
      <p:sp>
        <p:nvSpPr>
          <p:cNvPr id="16" name="Text 14"/>
          <p:cNvSpPr/>
          <p:nvPr/>
        </p:nvSpPr>
        <p:spPr>
          <a:xfrm>
            <a:off x="795528" y="3700506"/>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200</a:t>
            </a:r>
            <a:endParaRPr lang="en-US" sz="1300" dirty="0"/>
          </a:p>
        </p:txBody>
      </p:sp>
      <p:sp>
        <p:nvSpPr>
          <p:cNvPr id="17" name="Shape 15"/>
          <p:cNvSpPr/>
          <p:nvPr/>
        </p:nvSpPr>
        <p:spPr>
          <a:xfrm>
            <a:off x="1371600" y="3238383"/>
            <a:ext cx="5367528" cy="0"/>
          </a:xfrm>
          <a:prstGeom prst="line">
            <a:avLst/>
          </a:prstGeom>
          <a:noFill/>
          <a:ln w="7620">
            <a:solidFill>
              <a:srgbClr val="C4D2E2"/>
            </a:solidFill>
            <a:prstDash val="solid"/>
            <a:headEnd type="none"/>
            <a:tailEnd type="none"/>
          </a:ln>
        </p:spPr>
      </p:sp>
      <p:sp>
        <p:nvSpPr>
          <p:cNvPr id="18" name="Text 16"/>
          <p:cNvSpPr/>
          <p:nvPr/>
        </p:nvSpPr>
        <p:spPr>
          <a:xfrm>
            <a:off x="795528" y="3137799"/>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250</a:t>
            </a:r>
            <a:endParaRPr lang="en-US" sz="1300" dirty="0"/>
          </a:p>
        </p:txBody>
      </p:sp>
      <p:sp>
        <p:nvSpPr>
          <p:cNvPr id="19" name="Shape 17"/>
          <p:cNvSpPr/>
          <p:nvPr/>
        </p:nvSpPr>
        <p:spPr>
          <a:xfrm>
            <a:off x="1371600" y="2675675"/>
            <a:ext cx="5367528" cy="0"/>
          </a:xfrm>
          <a:prstGeom prst="line">
            <a:avLst/>
          </a:prstGeom>
          <a:noFill/>
          <a:ln w="7620">
            <a:solidFill>
              <a:srgbClr val="C4D2E2"/>
            </a:solidFill>
            <a:prstDash val="solid"/>
            <a:headEnd type="none"/>
            <a:tailEnd type="none"/>
          </a:ln>
        </p:spPr>
      </p:sp>
      <p:sp>
        <p:nvSpPr>
          <p:cNvPr id="20" name="Text 18"/>
          <p:cNvSpPr/>
          <p:nvPr/>
        </p:nvSpPr>
        <p:spPr>
          <a:xfrm>
            <a:off x="795528" y="2575091"/>
            <a:ext cx="448056"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300</a:t>
            </a:r>
            <a:endParaRPr lang="en-US" sz="1300" dirty="0"/>
          </a:p>
        </p:txBody>
      </p:sp>
      <p:sp>
        <p:nvSpPr>
          <p:cNvPr id="21" name="Text 19"/>
          <p:cNvSpPr/>
          <p:nvPr/>
        </p:nvSpPr>
        <p:spPr>
          <a:xfrm>
            <a:off x="2037588"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40</a:t>
            </a:r>
            <a:endParaRPr lang="en-US" sz="1400" dirty="0"/>
          </a:p>
        </p:txBody>
      </p:sp>
      <p:sp>
        <p:nvSpPr>
          <p:cNvPr id="22" name="Text 20"/>
          <p:cNvSpPr/>
          <p:nvPr/>
        </p:nvSpPr>
        <p:spPr>
          <a:xfrm>
            <a:off x="2932176"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60</a:t>
            </a:r>
            <a:endParaRPr lang="en-US" sz="1400" dirty="0"/>
          </a:p>
        </p:txBody>
      </p:sp>
      <p:sp>
        <p:nvSpPr>
          <p:cNvPr id="23" name="Text 21"/>
          <p:cNvSpPr/>
          <p:nvPr/>
        </p:nvSpPr>
        <p:spPr>
          <a:xfrm>
            <a:off x="3826764"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80</a:t>
            </a:r>
            <a:endParaRPr lang="en-US" sz="1400" dirty="0"/>
          </a:p>
        </p:txBody>
      </p:sp>
      <p:sp>
        <p:nvSpPr>
          <p:cNvPr id="24" name="Text 22"/>
          <p:cNvSpPr/>
          <p:nvPr/>
        </p:nvSpPr>
        <p:spPr>
          <a:xfrm>
            <a:off x="4721352"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100</a:t>
            </a:r>
            <a:endParaRPr lang="en-US" sz="1400" dirty="0"/>
          </a:p>
        </p:txBody>
      </p:sp>
      <p:sp>
        <p:nvSpPr>
          <p:cNvPr id="25" name="Text 23"/>
          <p:cNvSpPr/>
          <p:nvPr/>
        </p:nvSpPr>
        <p:spPr>
          <a:xfrm>
            <a:off x="5615940" y="5486400"/>
            <a:ext cx="457200" cy="237744"/>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120</a:t>
            </a:r>
            <a:endParaRPr lang="en-US" sz="1400" dirty="0"/>
          </a:p>
        </p:txBody>
      </p:sp>
      <p:sp>
        <p:nvSpPr>
          <p:cNvPr id="26" name="Shape 24"/>
          <p:cNvSpPr/>
          <p:nvPr/>
        </p:nvSpPr>
        <p:spPr>
          <a:xfrm>
            <a:off x="1371600" y="2450592"/>
            <a:ext cx="0" cy="2926080"/>
          </a:xfrm>
          <a:prstGeom prst="line">
            <a:avLst/>
          </a:prstGeom>
          <a:noFill/>
          <a:ln w="15240">
            <a:solidFill>
              <a:srgbClr val="53657A"/>
            </a:solidFill>
            <a:prstDash val="solid"/>
            <a:headEnd type="none"/>
            <a:tailEnd type="none"/>
          </a:ln>
        </p:spPr>
      </p:sp>
      <p:sp>
        <p:nvSpPr>
          <p:cNvPr id="27" name="Shape 25"/>
          <p:cNvSpPr/>
          <p:nvPr/>
        </p:nvSpPr>
        <p:spPr>
          <a:xfrm>
            <a:off x="1371600" y="5376672"/>
            <a:ext cx="5367528" cy="0"/>
          </a:xfrm>
          <a:prstGeom prst="line">
            <a:avLst/>
          </a:prstGeom>
          <a:noFill/>
          <a:ln w="15240">
            <a:solidFill>
              <a:srgbClr val="53657A"/>
            </a:solidFill>
            <a:prstDash val="solid"/>
            <a:headEnd type="none"/>
            <a:tailEnd type="none"/>
          </a:ln>
        </p:spPr>
      </p:sp>
      <p:sp>
        <p:nvSpPr>
          <p:cNvPr id="28" name="Text 26"/>
          <p:cNvSpPr/>
          <p:nvPr/>
        </p:nvSpPr>
        <p:spPr>
          <a:xfrm>
            <a:off x="1371600" y="2084832"/>
            <a:ext cx="5367528" cy="228600"/>
          </a:xfrm>
          <a:prstGeom prst="rect">
            <a:avLst/>
          </a:prstGeom>
          <a:noFill/>
          <a:ln/>
        </p:spPr>
        <p:txBody>
          <a:bodyPr wrap="square" lIns="0" tIns="0" rIns="0" bIns="0" rtlCol="0" anchor="ctr"/>
          <a:lstStyle/>
          <a:p>
            <a:pPr indent="0" marL="0">
              <a:buNone/>
            </a:pPr>
            <a:r>
              <a:rPr lang="en-US" sz="1500" dirty="0">
                <a:solidFill>
                  <a:srgbClr val="53657A"/>
                </a:solidFill>
                <a:latin typeface="Aptos" pitchFamily="34" charset="0"/>
                <a:ea typeface="Aptos" pitchFamily="34" charset="-122"/>
                <a:cs typeface="Aptos" pitchFamily="34" charset="-120"/>
              </a:rPr>
              <a:t>Price (EUR thousands)</a:t>
            </a:r>
            <a:endParaRPr lang="en-US" sz="1500" dirty="0"/>
          </a:p>
        </p:txBody>
      </p:sp>
      <p:sp>
        <p:nvSpPr>
          <p:cNvPr id="29" name="Text 27"/>
          <p:cNvSpPr/>
          <p:nvPr/>
        </p:nvSpPr>
        <p:spPr>
          <a:xfrm>
            <a:off x="2651760" y="5879592"/>
            <a:ext cx="2807208" cy="228600"/>
          </a:xfrm>
          <a:prstGeom prst="rect">
            <a:avLst/>
          </a:prstGeom>
          <a:noFill/>
          <a:ln/>
        </p:spPr>
        <p:txBody>
          <a:bodyPr wrap="square" lIns="0" tIns="0" rIns="0" bIns="0" rtlCol="0" anchor="ctr"/>
          <a:lstStyle/>
          <a:p>
            <a:pPr algn="ctr" indent="0" marL="0">
              <a:buNone/>
            </a:pPr>
            <a:r>
              <a:rPr lang="en-US" sz="1500" dirty="0">
                <a:solidFill>
                  <a:srgbClr val="53657A"/>
                </a:solidFill>
                <a:latin typeface="Aptos" pitchFamily="34" charset="0"/>
                <a:ea typeface="Aptos" pitchFamily="34" charset="-122"/>
                <a:cs typeface="Aptos" pitchFamily="34" charset="-120"/>
              </a:rPr>
              <a:t>Area (square metres)</a:t>
            </a:r>
            <a:endParaRPr lang="en-US" sz="1500" dirty="0"/>
          </a:p>
        </p:txBody>
      </p:sp>
      <p:sp>
        <p:nvSpPr>
          <p:cNvPr id="30" name="Shape 28"/>
          <p:cNvSpPr/>
          <p:nvPr/>
        </p:nvSpPr>
        <p:spPr>
          <a:xfrm flipV="1">
            <a:off x="1595247" y="2855742"/>
            <a:ext cx="4786046" cy="2408389"/>
          </a:xfrm>
          <a:prstGeom prst="line">
            <a:avLst/>
          </a:prstGeom>
          <a:noFill/>
          <a:ln w="29210">
            <a:solidFill>
              <a:srgbClr val="167C85"/>
            </a:solidFill>
            <a:prstDash val="solid"/>
            <a:headEnd type="none"/>
            <a:tailEnd type="none"/>
          </a:ln>
        </p:spPr>
      </p:sp>
      <p:sp>
        <p:nvSpPr>
          <p:cNvPr id="31" name="Shape 29"/>
          <p:cNvSpPr/>
          <p:nvPr/>
        </p:nvSpPr>
        <p:spPr>
          <a:xfrm flipV="1">
            <a:off x="2266188" y="4813964"/>
            <a:ext cx="0" cy="112542"/>
          </a:xfrm>
          <a:prstGeom prst="line">
            <a:avLst/>
          </a:prstGeom>
          <a:noFill/>
          <a:ln w="27940">
            <a:solidFill>
              <a:srgbClr val="B33B43"/>
            </a:solidFill>
            <a:prstDash val="dash"/>
            <a:headEnd type="none"/>
            <a:tailEnd type="none"/>
          </a:ln>
        </p:spPr>
      </p:sp>
      <p:sp>
        <p:nvSpPr>
          <p:cNvPr id="32" name="Shape 30"/>
          <p:cNvSpPr/>
          <p:nvPr/>
        </p:nvSpPr>
        <p:spPr>
          <a:xfrm>
            <a:off x="3160776" y="4476340"/>
            <a:ext cx="0" cy="112542"/>
          </a:xfrm>
          <a:prstGeom prst="line">
            <a:avLst/>
          </a:prstGeom>
          <a:noFill/>
          <a:ln w="27940">
            <a:solidFill>
              <a:srgbClr val="B33B43"/>
            </a:solidFill>
            <a:prstDash val="dash"/>
            <a:headEnd type="none"/>
            <a:tailEnd type="none"/>
          </a:ln>
        </p:spPr>
      </p:sp>
      <p:sp>
        <p:nvSpPr>
          <p:cNvPr id="33" name="Shape 31"/>
          <p:cNvSpPr/>
          <p:nvPr/>
        </p:nvSpPr>
        <p:spPr>
          <a:xfrm flipV="1">
            <a:off x="4055364" y="3913632"/>
            <a:ext cx="0" cy="112542"/>
          </a:xfrm>
          <a:prstGeom prst="line">
            <a:avLst/>
          </a:prstGeom>
          <a:noFill/>
          <a:ln w="27940">
            <a:solidFill>
              <a:srgbClr val="B33B43"/>
            </a:solidFill>
            <a:prstDash val="dash"/>
            <a:headEnd type="none"/>
            <a:tailEnd type="none"/>
          </a:ln>
        </p:spPr>
      </p:sp>
      <p:sp>
        <p:nvSpPr>
          <p:cNvPr id="34" name="Shape 32"/>
          <p:cNvSpPr/>
          <p:nvPr/>
        </p:nvSpPr>
        <p:spPr>
          <a:xfrm>
            <a:off x="4949952" y="3576007"/>
            <a:ext cx="0" cy="112542"/>
          </a:xfrm>
          <a:prstGeom prst="line">
            <a:avLst/>
          </a:prstGeom>
          <a:noFill/>
          <a:ln w="27940">
            <a:solidFill>
              <a:srgbClr val="B33B43"/>
            </a:solidFill>
            <a:prstDash val="dash"/>
            <a:headEnd type="none"/>
            <a:tailEnd type="none"/>
          </a:ln>
        </p:spPr>
      </p:sp>
      <p:sp>
        <p:nvSpPr>
          <p:cNvPr id="35" name="Shape 33"/>
          <p:cNvSpPr/>
          <p:nvPr/>
        </p:nvSpPr>
        <p:spPr>
          <a:xfrm flipV="1">
            <a:off x="5844540" y="2900758"/>
            <a:ext cx="0" cy="225083"/>
          </a:xfrm>
          <a:prstGeom prst="line">
            <a:avLst/>
          </a:prstGeom>
          <a:noFill/>
          <a:ln w="27940">
            <a:solidFill>
              <a:srgbClr val="B33B43"/>
            </a:solidFill>
            <a:prstDash val="dash"/>
            <a:headEnd type="none"/>
            <a:tailEnd type="none"/>
          </a:ln>
        </p:spPr>
      </p:sp>
      <p:sp>
        <p:nvSpPr>
          <p:cNvPr id="36" name="Shape 34"/>
          <p:cNvSpPr/>
          <p:nvPr/>
        </p:nvSpPr>
        <p:spPr>
          <a:xfrm>
            <a:off x="2214067" y="4761844"/>
            <a:ext cx="104242" cy="104242"/>
          </a:xfrm>
          <a:prstGeom prst="ellipse">
            <a:avLst/>
          </a:prstGeom>
          <a:solidFill>
            <a:srgbClr val="176493"/>
          </a:solidFill>
          <a:ln w="8890">
            <a:solidFill>
              <a:srgbClr val="176493"/>
            </a:solidFill>
            <a:prstDash val="solid"/>
          </a:ln>
        </p:spPr>
      </p:sp>
      <p:sp>
        <p:nvSpPr>
          <p:cNvPr id="37" name="Shape 35"/>
          <p:cNvSpPr/>
          <p:nvPr/>
        </p:nvSpPr>
        <p:spPr>
          <a:xfrm>
            <a:off x="3108655" y="4536760"/>
            <a:ext cx="104242" cy="104242"/>
          </a:xfrm>
          <a:prstGeom prst="ellipse">
            <a:avLst/>
          </a:prstGeom>
          <a:solidFill>
            <a:srgbClr val="176493"/>
          </a:solidFill>
          <a:ln w="8890">
            <a:solidFill>
              <a:srgbClr val="176493"/>
            </a:solidFill>
            <a:prstDash val="solid"/>
          </a:ln>
        </p:spPr>
      </p:sp>
      <p:sp>
        <p:nvSpPr>
          <p:cNvPr id="38" name="Shape 36"/>
          <p:cNvSpPr/>
          <p:nvPr/>
        </p:nvSpPr>
        <p:spPr>
          <a:xfrm>
            <a:off x="4003243" y="3861511"/>
            <a:ext cx="104242" cy="104242"/>
          </a:xfrm>
          <a:prstGeom prst="ellipse">
            <a:avLst/>
          </a:prstGeom>
          <a:solidFill>
            <a:srgbClr val="176493"/>
          </a:solidFill>
          <a:ln w="8890">
            <a:solidFill>
              <a:srgbClr val="176493"/>
            </a:solidFill>
            <a:prstDash val="solid"/>
          </a:ln>
        </p:spPr>
      </p:sp>
      <p:sp>
        <p:nvSpPr>
          <p:cNvPr id="39" name="Shape 37"/>
          <p:cNvSpPr/>
          <p:nvPr/>
        </p:nvSpPr>
        <p:spPr>
          <a:xfrm>
            <a:off x="4897831" y="3636428"/>
            <a:ext cx="104242" cy="104242"/>
          </a:xfrm>
          <a:prstGeom prst="ellipse">
            <a:avLst/>
          </a:prstGeom>
          <a:solidFill>
            <a:srgbClr val="176493"/>
          </a:solidFill>
          <a:ln w="8890">
            <a:solidFill>
              <a:srgbClr val="176493"/>
            </a:solidFill>
            <a:prstDash val="solid"/>
          </a:ln>
        </p:spPr>
      </p:sp>
      <p:sp>
        <p:nvSpPr>
          <p:cNvPr id="40" name="Shape 38"/>
          <p:cNvSpPr/>
          <p:nvPr/>
        </p:nvSpPr>
        <p:spPr>
          <a:xfrm>
            <a:off x="5792419" y="2848637"/>
            <a:ext cx="104242" cy="104242"/>
          </a:xfrm>
          <a:prstGeom prst="ellipse">
            <a:avLst/>
          </a:prstGeom>
          <a:solidFill>
            <a:srgbClr val="176493"/>
          </a:solidFill>
          <a:ln w="8890">
            <a:solidFill>
              <a:srgbClr val="176493"/>
            </a:solidFill>
            <a:prstDash val="solid"/>
          </a:ln>
        </p:spPr>
      </p:sp>
      <p:sp>
        <p:nvSpPr>
          <p:cNvPr id="41" name="Text 39"/>
          <p:cNvSpPr/>
          <p:nvPr/>
        </p:nvSpPr>
        <p:spPr>
          <a:xfrm>
            <a:off x="7882128" y="2185416"/>
            <a:ext cx="3447288" cy="228600"/>
          </a:xfrm>
          <a:prstGeom prst="rect">
            <a:avLst/>
          </a:prstGeom>
          <a:noFill/>
          <a:ln/>
        </p:spPr>
        <p:txBody>
          <a:bodyPr wrap="square" lIns="0" tIns="0" rIns="0" bIns="0" rtlCol="0" anchor="ctr"/>
          <a:lstStyle/>
          <a:p>
            <a:pPr indent="0" marL="0">
              <a:buNone/>
            </a:pPr>
            <a:r>
              <a:rPr lang="en-US" sz="1100" b="1" spc="110" kern="0" dirty="0">
                <a:solidFill>
                  <a:srgbClr val="B33B43"/>
                </a:solidFill>
                <a:latin typeface="Aptos" pitchFamily="34" charset="0"/>
                <a:ea typeface="Aptos" pitchFamily="34" charset="-122"/>
                <a:cs typeface="Aptos" pitchFamily="34" charset="-120"/>
              </a:rPr>
              <a:t>MEAN SQUARED ERROR</a:t>
            </a:r>
            <a:endParaRPr lang="en-US" sz="1100" dirty="0"/>
          </a:p>
        </p:txBody>
      </p:sp>
      <p:pic>
        <p:nvPicPr>
          <p:cNvPr id="4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02752" y="2715768"/>
            <a:ext cx="2560320" cy="822960"/>
          </a:xfrm>
          <a:prstGeom prst="rect">
            <a:avLst/>
          </a:prstGeom>
        </p:spPr>
      </p:pic>
      <p:sp>
        <p:nvSpPr>
          <p:cNvPr id="43" name="Text 40"/>
          <p:cNvSpPr/>
          <p:nvPr/>
        </p:nvSpPr>
        <p:spPr>
          <a:xfrm>
            <a:off x="7900416" y="3886200"/>
            <a:ext cx="3401568" cy="786384"/>
          </a:xfrm>
          <a:prstGeom prst="rect">
            <a:avLst/>
          </a:prstGeom>
          <a:noFill/>
          <a:ln/>
        </p:spPr>
        <p:txBody>
          <a:bodyPr wrap="square" lIns="0" tIns="0" rIns="0" bIns="0" rtlCol="0" anchor="ctr"/>
          <a:lstStyle/>
          <a:p>
            <a:pPr indent="0" marL="0">
              <a:buNone/>
            </a:pPr>
            <a:r>
              <a:rPr lang="en-US" sz="2500" b="1" dirty="0">
                <a:solidFill>
                  <a:srgbClr val="172233"/>
                </a:solidFill>
                <a:latin typeface="Aptos" pitchFamily="34" charset="0"/>
                <a:ea typeface="Aptos" pitchFamily="34" charset="-122"/>
                <a:cs typeface="Aptos" pitchFamily="34" charset="-120"/>
              </a:rPr>
              <a:t>Large errors</a:t>
            </a:r>
            <a:endParaRPr lang="en-US" sz="2500" dirty="0"/>
          </a:p>
          <a:p>
            <a:pPr indent="0" marL="0">
              <a:buNone/>
            </a:pPr>
            <a:r>
              <a:rPr lang="en-US" sz="2500" b="1" dirty="0">
                <a:solidFill>
                  <a:srgbClr val="172233"/>
                </a:solidFill>
                <a:latin typeface="Aptos" pitchFamily="34" charset="0"/>
                <a:ea typeface="Aptos" pitchFamily="34" charset="-122"/>
                <a:cs typeface="Aptos" pitchFamily="34" charset="-120"/>
              </a:rPr>
              <a:t>count more.</a:t>
            </a:r>
            <a:endParaRPr lang="en-US" sz="2500" dirty="0"/>
          </a:p>
        </p:txBody>
      </p:sp>
      <p:sp>
        <p:nvSpPr>
          <p:cNvPr id="44" name="Text 41"/>
          <p:cNvSpPr/>
          <p:nvPr/>
        </p:nvSpPr>
        <p:spPr>
          <a:xfrm>
            <a:off x="7900416" y="5020056"/>
            <a:ext cx="3374136" cy="676656"/>
          </a:xfrm>
          <a:prstGeom prst="rect">
            <a:avLst/>
          </a:prstGeom>
          <a:noFill/>
          <a:ln/>
        </p:spPr>
        <p:txBody>
          <a:bodyPr wrap="square" lIns="0" tIns="0" rIns="0" bIns="0" rtlCol="0" anchor="ctr"/>
          <a:lstStyle/>
          <a:p>
            <a:pPr indent="0" marL="0">
              <a:buNone/>
            </a:pPr>
            <a:r>
              <a:rPr lang="en-US" sz="2200" dirty="0">
                <a:solidFill>
                  <a:srgbClr val="53657A"/>
                </a:solidFill>
                <a:latin typeface="Aptos" pitchFamily="34" charset="0"/>
                <a:ea typeface="Aptos" pitchFamily="34" charset="-122"/>
                <a:cs typeface="Aptos" pitchFamily="34" charset="-120"/>
              </a:rPr>
              <a:t>Same example:</a:t>
            </a:r>
            <a:endParaRPr lang="en-US" sz="2200" dirty="0"/>
          </a:p>
          <a:p>
            <a:pPr indent="0" marL="0">
              <a:buNone/>
            </a:pPr>
            <a:r>
              <a:rPr lang="en-US" sz="2200" dirty="0">
                <a:solidFill>
                  <a:srgbClr val="53657A"/>
                </a:solidFill>
                <a:latin typeface="Aptos" pitchFamily="34" charset="0"/>
                <a:ea typeface="Aptos" pitchFamily="34" charset="-122"/>
                <a:cs typeface="Aptos" pitchFamily="34" charset="-120"/>
              </a:rPr>
              <a:t>MAE = 12,000 EUR</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OPTIMIZATION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Least squares: a direct solution for a linear model</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18 / 24</a:t>
            </a:r>
            <a:endParaRPr lang="en-US" sz="1000" dirty="0"/>
          </a:p>
        </p:txBody>
      </p:sp>
      <p:sp>
        <p:nvSpPr>
          <p:cNvPr id="10" name="Shape 8"/>
          <p:cNvSpPr/>
          <p:nvPr/>
        </p:nvSpPr>
        <p:spPr>
          <a:xfrm>
            <a:off x="722376" y="1874520"/>
            <a:ext cx="6419088" cy="3694176"/>
          </a:xfrm>
          <a:prstGeom prst="roundRect">
            <a:avLst>
              <a:gd name="adj" fmla="val 2475"/>
            </a:avLst>
          </a:prstGeom>
          <a:solidFill>
            <a:srgbClr val="FFFFFF"/>
          </a:solidFill>
          <a:ln w="10160">
            <a:solidFill>
              <a:srgbClr val="C4D2E2"/>
            </a:solidFill>
            <a:prstDash val="solid"/>
          </a:ln>
        </p:spPr>
      </p:sp>
      <p:sp>
        <p:nvSpPr>
          <p:cNvPr id="11" name="Text 9"/>
          <p:cNvSpPr/>
          <p:nvPr/>
        </p:nvSpPr>
        <p:spPr>
          <a:xfrm>
            <a:off x="1005840" y="2139696"/>
            <a:ext cx="5843016"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MINIMIZE THE SUM OF SQUARED ERRORS</a:t>
            </a:r>
            <a:endParaRPr lang="en-US" sz="110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6424" y="2761488"/>
            <a:ext cx="5632704" cy="804672"/>
          </a:xfrm>
          <a:prstGeom prst="rect">
            <a:avLst/>
          </a:prstGeom>
        </p:spPr>
      </p:pic>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4959" y="4096512"/>
            <a:ext cx="5795633" cy="758952"/>
          </a:xfrm>
          <a:prstGeom prst="rect">
            <a:avLst/>
          </a:prstGeom>
        </p:spPr>
      </p:pic>
      <p:sp>
        <p:nvSpPr>
          <p:cNvPr id="14" name="Shape 10"/>
          <p:cNvSpPr/>
          <p:nvPr/>
        </p:nvSpPr>
        <p:spPr>
          <a:xfrm>
            <a:off x="7525512" y="1874520"/>
            <a:ext cx="3941064" cy="3694176"/>
          </a:xfrm>
          <a:prstGeom prst="roundRect">
            <a:avLst>
              <a:gd name="adj" fmla="val 2475"/>
            </a:avLst>
          </a:prstGeom>
          <a:solidFill>
            <a:srgbClr val="FFFFFF"/>
          </a:solidFill>
          <a:ln w="10160">
            <a:solidFill>
              <a:srgbClr val="C4D2E2"/>
            </a:solidFill>
            <a:prstDash val="solid"/>
          </a:ln>
        </p:spPr>
      </p:sp>
      <p:sp>
        <p:nvSpPr>
          <p:cNvPr id="15" name="Text 11"/>
          <p:cNvSpPr/>
          <p:nvPr/>
        </p:nvSpPr>
        <p:spPr>
          <a:xfrm>
            <a:off x="7808976" y="2139696"/>
            <a:ext cx="3355848" cy="228600"/>
          </a:xfrm>
          <a:prstGeom prst="rect">
            <a:avLst/>
          </a:prstGeom>
          <a:noFill/>
          <a:ln/>
        </p:spPr>
        <p:txBody>
          <a:bodyPr wrap="square" lIns="0" tIns="0" rIns="0" bIns="0" rtlCol="0" anchor="ctr"/>
          <a:lstStyle/>
          <a:p>
            <a:pPr indent="0" marL="0">
              <a:buNone/>
            </a:pPr>
            <a:r>
              <a:rPr lang="en-US" sz="1100" b="1" spc="110" kern="0" dirty="0">
                <a:solidFill>
                  <a:srgbClr val="167C85"/>
                </a:solidFill>
                <a:latin typeface="Aptos" pitchFamily="34" charset="0"/>
                <a:ea typeface="Aptos" pitchFamily="34" charset="-122"/>
                <a:cs typeface="Aptos" pitchFamily="34" charset="-120"/>
              </a:rPr>
              <a:t>WHAT TO REMEMBER</a:t>
            </a:r>
            <a:endParaRPr lang="en-US" sz="1100" dirty="0"/>
          </a:p>
        </p:txBody>
      </p:sp>
      <p:sp>
        <p:nvSpPr>
          <p:cNvPr id="16" name="Text 12"/>
          <p:cNvSpPr/>
          <p:nvPr/>
        </p:nvSpPr>
        <p:spPr>
          <a:xfrm>
            <a:off x="7818120" y="2843784"/>
            <a:ext cx="3291840" cy="822960"/>
          </a:xfrm>
          <a:prstGeom prst="rect">
            <a:avLst/>
          </a:prstGeom>
          <a:noFill/>
          <a:ln/>
        </p:spPr>
        <p:txBody>
          <a:bodyPr wrap="square" lIns="0" tIns="0" rIns="0" bIns="0" rtlCol="0" anchor="ctr"/>
          <a:lstStyle/>
          <a:p>
            <a:pPr indent="0" marL="0">
              <a:buNone/>
            </a:pPr>
            <a:r>
              <a:rPr lang="en-US" sz="2300" b="1" dirty="0">
                <a:solidFill>
                  <a:srgbClr val="172233"/>
                </a:solidFill>
                <a:latin typeface="Aptos" pitchFamily="34" charset="0"/>
                <a:ea typeface="Aptos" pitchFamily="34" charset="-122"/>
                <a:cs typeface="Aptos" pitchFamily="34" charset="-120"/>
              </a:rPr>
              <a:t>The inverse form requires</a:t>
            </a:r>
            <a:endParaRPr lang="en-US" sz="2300" dirty="0"/>
          </a:p>
          <a:p>
            <a:pPr indent="0" marL="0">
              <a:buNone/>
            </a:pPr>
            <a:r>
              <a:rPr lang="en-US" sz="2300" b="1" dirty="0">
                <a:solidFill>
                  <a:srgbClr val="172233"/>
                </a:solidFill>
                <a:latin typeface="Aptos" pitchFamily="34" charset="0"/>
                <a:ea typeface="Aptos" pitchFamily="34" charset="-122"/>
                <a:cs typeface="Aptos" pitchFamily="34" charset="-120"/>
              </a:rPr>
              <a:t>full column rank.</a:t>
            </a:r>
            <a:endParaRPr lang="en-US" sz="2300" dirty="0"/>
          </a:p>
        </p:txBody>
      </p:sp>
      <p:sp>
        <p:nvSpPr>
          <p:cNvPr id="17" name="Text 13"/>
          <p:cNvSpPr/>
          <p:nvPr/>
        </p:nvSpPr>
        <p:spPr>
          <a:xfrm>
            <a:off x="7818120" y="4160520"/>
            <a:ext cx="3291840" cy="804672"/>
          </a:xfrm>
          <a:prstGeom prst="rect">
            <a:avLst/>
          </a:prstGeom>
          <a:noFill/>
          <a:ln/>
        </p:spPr>
        <p:txBody>
          <a:bodyPr wrap="square" lIns="0" tIns="0" rIns="0" bIns="0" rtlCol="0" anchor="ctr"/>
          <a:lstStyle/>
          <a:p>
            <a:pPr indent="0" marL="0">
              <a:buNone/>
            </a:pPr>
            <a:r>
              <a:rPr lang="en-US" sz="2300" dirty="0">
                <a:solidFill>
                  <a:srgbClr val="53657A"/>
                </a:solidFill>
                <a:latin typeface="Aptos" pitchFamily="34" charset="0"/>
                <a:ea typeface="Aptos" pitchFamily="34" charset="-122"/>
                <a:cs typeface="Aptos" pitchFamily="34" charset="-120"/>
              </a:rPr>
              <a:t>In code, use a</a:t>
            </a:r>
            <a:endParaRPr lang="en-US" sz="2300" dirty="0"/>
          </a:p>
          <a:p>
            <a:pPr indent="0" marL="0">
              <a:buNone/>
            </a:pPr>
            <a:r>
              <a:rPr lang="en-US" sz="2300" dirty="0">
                <a:solidFill>
                  <a:srgbClr val="53657A"/>
                </a:solidFill>
                <a:latin typeface="Aptos" pitchFamily="34" charset="0"/>
                <a:ea typeface="Aptos" pitchFamily="34" charset="-122"/>
                <a:cs typeface="Aptos" pitchFamily="34" charset="-120"/>
              </a:rPr>
              <a:t>least-squares solver.</a:t>
            </a:r>
            <a:endParaRPr lang="en-US" sz="2300" dirty="0"/>
          </a:p>
        </p:txBody>
      </p:sp>
      <p:sp>
        <p:nvSpPr>
          <p:cNvPr id="18" name="Shape 14"/>
          <p:cNvSpPr/>
          <p:nvPr/>
        </p:nvSpPr>
        <p:spPr>
          <a:xfrm>
            <a:off x="758952" y="5833872"/>
            <a:ext cx="10680192" cy="420624"/>
          </a:xfrm>
          <a:prstGeom prst="roundRect">
            <a:avLst>
              <a:gd name="adj" fmla="val 21739"/>
            </a:avLst>
          </a:prstGeom>
          <a:solidFill>
            <a:srgbClr val="263142"/>
          </a:solidFill>
          <a:ln w="12700">
            <a:solidFill>
              <a:srgbClr val="263142"/>
            </a:solidFill>
            <a:prstDash val="solid"/>
          </a:ln>
        </p:spPr>
      </p:sp>
      <p:sp>
        <p:nvSpPr>
          <p:cNvPr id="19" name="Text 15"/>
          <p:cNvSpPr/>
          <p:nvPr/>
        </p:nvSpPr>
        <p:spPr>
          <a:xfrm>
            <a:off x="950976" y="5907024"/>
            <a:ext cx="10296144" cy="237744"/>
          </a:xfrm>
          <a:prstGeom prst="rect">
            <a:avLst/>
          </a:prstGeom>
          <a:noFill/>
          <a:ln/>
        </p:spPr>
        <p:txBody>
          <a:bodyPr wrap="square" lIns="0" tIns="0" rIns="0" bIns="0" rtlCol="0" anchor="ctr"/>
          <a:lstStyle/>
          <a:p>
            <a:pPr indent="0" marL="0">
              <a:buNone/>
            </a:pPr>
            <a:r>
              <a:rPr lang="en-US" sz="1900" dirty="0">
                <a:solidFill>
                  <a:srgbClr val="FFFFFF"/>
                </a:solidFill>
                <a:latin typeface="Consolas" pitchFamily="34" charset="0"/>
                <a:ea typeface="Consolas" pitchFamily="34" charset="-122"/>
                <a:cs typeface="Consolas" pitchFamily="34" charset="-120"/>
              </a:rPr>
              <a:t>w = np.linalg.lstsq(X, y, rcond=None)[0]</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OPTIMIZATION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Gradient descent: improve the parameters step by step</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19 / 24</a:t>
            </a:r>
            <a:endParaRPr lang="en-US" sz="1000" dirty="0"/>
          </a:p>
        </p:txBody>
      </p:sp>
      <p:sp>
        <p:nvSpPr>
          <p:cNvPr id="10" name="Shape 8"/>
          <p:cNvSpPr/>
          <p:nvPr/>
        </p:nvSpPr>
        <p:spPr>
          <a:xfrm>
            <a:off x="722376" y="1847088"/>
            <a:ext cx="6364224" cy="4471416"/>
          </a:xfrm>
          <a:prstGeom prst="roundRect">
            <a:avLst>
              <a:gd name="adj" fmla="val 2045"/>
            </a:avLst>
          </a:prstGeom>
          <a:solidFill>
            <a:srgbClr val="FFFFFF"/>
          </a:solidFill>
          <a:ln w="10160">
            <a:solidFill>
              <a:srgbClr val="C4D2E2"/>
            </a:solidFill>
            <a:prstDash val="solid"/>
          </a:ln>
        </p:spPr>
      </p:sp>
      <p:sp>
        <p:nvSpPr>
          <p:cNvPr id="11" name="Shape 9"/>
          <p:cNvSpPr/>
          <p:nvPr/>
        </p:nvSpPr>
        <p:spPr>
          <a:xfrm>
            <a:off x="1344168" y="5367528"/>
            <a:ext cx="5065776" cy="0"/>
          </a:xfrm>
          <a:prstGeom prst="line">
            <a:avLst/>
          </a:prstGeom>
          <a:noFill/>
          <a:ln w="7620">
            <a:solidFill>
              <a:srgbClr val="C4D2E2"/>
            </a:solidFill>
            <a:prstDash val="solid"/>
            <a:headEnd type="none"/>
            <a:tailEnd type="none"/>
          </a:ln>
        </p:spPr>
      </p:sp>
      <p:sp>
        <p:nvSpPr>
          <p:cNvPr id="12" name="Text 10"/>
          <p:cNvSpPr/>
          <p:nvPr/>
        </p:nvSpPr>
        <p:spPr>
          <a:xfrm>
            <a:off x="978408" y="5266944"/>
            <a:ext cx="256032"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0</a:t>
            </a:r>
            <a:endParaRPr lang="en-US" sz="1300" dirty="0"/>
          </a:p>
        </p:txBody>
      </p:sp>
      <p:sp>
        <p:nvSpPr>
          <p:cNvPr id="13" name="Shape 11"/>
          <p:cNvSpPr/>
          <p:nvPr/>
        </p:nvSpPr>
        <p:spPr>
          <a:xfrm>
            <a:off x="1344168" y="4640580"/>
            <a:ext cx="5065776" cy="0"/>
          </a:xfrm>
          <a:prstGeom prst="line">
            <a:avLst/>
          </a:prstGeom>
          <a:noFill/>
          <a:ln w="7620">
            <a:solidFill>
              <a:srgbClr val="C4D2E2"/>
            </a:solidFill>
            <a:prstDash val="solid"/>
            <a:headEnd type="none"/>
            <a:tailEnd type="none"/>
          </a:ln>
        </p:spPr>
      </p:sp>
      <p:sp>
        <p:nvSpPr>
          <p:cNvPr id="14" name="Text 12"/>
          <p:cNvSpPr/>
          <p:nvPr/>
        </p:nvSpPr>
        <p:spPr>
          <a:xfrm>
            <a:off x="978408" y="4539996"/>
            <a:ext cx="256032"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2</a:t>
            </a:r>
            <a:endParaRPr lang="en-US" sz="1300" dirty="0"/>
          </a:p>
        </p:txBody>
      </p:sp>
      <p:sp>
        <p:nvSpPr>
          <p:cNvPr id="15" name="Shape 13"/>
          <p:cNvSpPr/>
          <p:nvPr/>
        </p:nvSpPr>
        <p:spPr>
          <a:xfrm>
            <a:off x="1344168" y="3913632"/>
            <a:ext cx="5065776" cy="0"/>
          </a:xfrm>
          <a:prstGeom prst="line">
            <a:avLst/>
          </a:prstGeom>
          <a:noFill/>
          <a:ln w="7620">
            <a:solidFill>
              <a:srgbClr val="C4D2E2"/>
            </a:solidFill>
            <a:prstDash val="solid"/>
            <a:headEnd type="none"/>
            <a:tailEnd type="none"/>
          </a:ln>
        </p:spPr>
      </p:sp>
      <p:sp>
        <p:nvSpPr>
          <p:cNvPr id="16" name="Text 14"/>
          <p:cNvSpPr/>
          <p:nvPr/>
        </p:nvSpPr>
        <p:spPr>
          <a:xfrm>
            <a:off x="978408" y="3813048"/>
            <a:ext cx="256032"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4</a:t>
            </a:r>
            <a:endParaRPr lang="en-US" sz="1300" dirty="0"/>
          </a:p>
        </p:txBody>
      </p:sp>
      <p:sp>
        <p:nvSpPr>
          <p:cNvPr id="17" name="Shape 15"/>
          <p:cNvSpPr/>
          <p:nvPr/>
        </p:nvSpPr>
        <p:spPr>
          <a:xfrm>
            <a:off x="1344168" y="3186684"/>
            <a:ext cx="5065776" cy="0"/>
          </a:xfrm>
          <a:prstGeom prst="line">
            <a:avLst/>
          </a:prstGeom>
          <a:noFill/>
          <a:ln w="7620">
            <a:solidFill>
              <a:srgbClr val="C4D2E2"/>
            </a:solidFill>
            <a:prstDash val="solid"/>
            <a:headEnd type="none"/>
            <a:tailEnd type="none"/>
          </a:ln>
        </p:spPr>
      </p:sp>
      <p:sp>
        <p:nvSpPr>
          <p:cNvPr id="18" name="Text 16"/>
          <p:cNvSpPr/>
          <p:nvPr/>
        </p:nvSpPr>
        <p:spPr>
          <a:xfrm>
            <a:off x="978408" y="3086100"/>
            <a:ext cx="256032"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6</a:t>
            </a:r>
            <a:endParaRPr lang="en-US" sz="1300" dirty="0"/>
          </a:p>
        </p:txBody>
      </p:sp>
      <p:sp>
        <p:nvSpPr>
          <p:cNvPr id="19" name="Shape 17"/>
          <p:cNvSpPr/>
          <p:nvPr/>
        </p:nvSpPr>
        <p:spPr>
          <a:xfrm>
            <a:off x="1344168" y="2459736"/>
            <a:ext cx="5065776" cy="0"/>
          </a:xfrm>
          <a:prstGeom prst="line">
            <a:avLst/>
          </a:prstGeom>
          <a:noFill/>
          <a:ln w="7620">
            <a:solidFill>
              <a:srgbClr val="C4D2E2"/>
            </a:solidFill>
            <a:prstDash val="solid"/>
            <a:headEnd type="none"/>
            <a:tailEnd type="none"/>
          </a:ln>
        </p:spPr>
      </p:sp>
      <p:sp>
        <p:nvSpPr>
          <p:cNvPr id="20" name="Text 18"/>
          <p:cNvSpPr/>
          <p:nvPr/>
        </p:nvSpPr>
        <p:spPr>
          <a:xfrm>
            <a:off x="978408" y="2359152"/>
            <a:ext cx="256032" cy="210312"/>
          </a:xfrm>
          <a:prstGeom prst="rect">
            <a:avLst/>
          </a:prstGeom>
          <a:noFill/>
          <a:ln/>
        </p:spPr>
        <p:txBody>
          <a:bodyPr wrap="square" lIns="0" tIns="0" rIns="0" bIns="0" rtlCol="0" anchor="ctr"/>
          <a:lstStyle/>
          <a:p>
            <a:pPr algn="r" indent="0" marL="0">
              <a:buNone/>
            </a:pPr>
            <a:r>
              <a:rPr lang="en-US" sz="1300" dirty="0">
                <a:solidFill>
                  <a:srgbClr val="53657A"/>
                </a:solidFill>
                <a:latin typeface="Aptos" pitchFamily="34" charset="0"/>
                <a:ea typeface="Aptos" pitchFamily="34" charset="-122"/>
                <a:cs typeface="Aptos" pitchFamily="34" charset="-120"/>
              </a:rPr>
              <a:t>8</a:t>
            </a:r>
            <a:endParaRPr lang="en-US" sz="1300" dirty="0"/>
          </a:p>
        </p:txBody>
      </p:sp>
      <p:sp>
        <p:nvSpPr>
          <p:cNvPr id="21" name="Text 19"/>
          <p:cNvSpPr/>
          <p:nvPr/>
        </p:nvSpPr>
        <p:spPr>
          <a:xfrm>
            <a:off x="1161288" y="5468112"/>
            <a:ext cx="365760" cy="228600"/>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0</a:t>
            </a:r>
            <a:endParaRPr lang="en-US" sz="1400" dirty="0"/>
          </a:p>
        </p:txBody>
      </p:sp>
      <p:sp>
        <p:nvSpPr>
          <p:cNvPr id="22" name="Text 20"/>
          <p:cNvSpPr/>
          <p:nvPr/>
        </p:nvSpPr>
        <p:spPr>
          <a:xfrm>
            <a:off x="2608653" y="5468112"/>
            <a:ext cx="365760" cy="228600"/>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1</a:t>
            </a:r>
            <a:endParaRPr lang="en-US" sz="1400" dirty="0"/>
          </a:p>
        </p:txBody>
      </p:sp>
      <p:sp>
        <p:nvSpPr>
          <p:cNvPr id="23" name="Text 21"/>
          <p:cNvSpPr/>
          <p:nvPr/>
        </p:nvSpPr>
        <p:spPr>
          <a:xfrm>
            <a:off x="4056017" y="5468112"/>
            <a:ext cx="365760" cy="228600"/>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2</a:t>
            </a:r>
            <a:endParaRPr lang="en-US" sz="1400" dirty="0"/>
          </a:p>
        </p:txBody>
      </p:sp>
      <p:sp>
        <p:nvSpPr>
          <p:cNvPr id="24" name="Text 22"/>
          <p:cNvSpPr/>
          <p:nvPr/>
        </p:nvSpPr>
        <p:spPr>
          <a:xfrm>
            <a:off x="5503382" y="5468112"/>
            <a:ext cx="365760" cy="228600"/>
          </a:xfrm>
          <a:prstGeom prst="rect">
            <a:avLst/>
          </a:prstGeom>
          <a:noFill/>
          <a:ln/>
        </p:spPr>
        <p:txBody>
          <a:bodyPr wrap="square" lIns="0" tIns="0" rIns="0" bIns="0" rtlCol="0" anchor="ctr"/>
          <a:lstStyle/>
          <a:p>
            <a:pPr algn="ctr" indent="0" marL="0">
              <a:buNone/>
            </a:pPr>
            <a:r>
              <a:rPr lang="en-US" sz="1400" dirty="0">
                <a:solidFill>
                  <a:srgbClr val="53657A"/>
                </a:solidFill>
                <a:latin typeface="Aptos" pitchFamily="34" charset="0"/>
                <a:ea typeface="Aptos" pitchFamily="34" charset="-122"/>
                <a:cs typeface="Aptos" pitchFamily="34" charset="-120"/>
              </a:rPr>
              <a:t>3</a:t>
            </a:r>
            <a:endParaRPr lang="en-US" sz="1400" dirty="0"/>
          </a:p>
        </p:txBody>
      </p:sp>
      <p:sp>
        <p:nvSpPr>
          <p:cNvPr id="25" name="Shape 23"/>
          <p:cNvSpPr/>
          <p:nvPr/>
        </p:nvSpPr>
        <p:spPr>
          <a:xfrm>
            <a:off x="1344168" y="2459736"/>
            <a:ext cx="0" cy="2907792"/>
          </a:xfrm>
          <a:prstGeom prst="line">
            <a:avLst/>
          </a:prstGeom>
          <a:noFill/>
          <a:ln w="15240">
            <a:solidFill>
              <a:srgbClr val="53657A"/>
            </a:solidFill>
            <a:prstDash val="solid"/>
            <a:headEnd type="none"/>
            <a:tailEnd type="none"/>
          </a:ln>
        </p:spPr>
      </p:sp>
      <p:sp>
        <p:nvSpPr>
          <p:cNvPr id="26" name="Shape 24"/>
          <p:cNvSpPr/>
          <p:nvPr/>
        </p:nvSpPr>
        <p:spPr>
          <a:xfrm>
            <a:off x="1344168" y="5367528"/>
            <a:ext cx="5065776" cy="0"/>
          </a:xfrm>
          <a:prstGeom prst="line">
            <a:avLst/>
          </a:prstGeom>
          <a:noFill/>
          <a:ln w="15240">
            <a:solidFill>
              <a:srgbClr val="53657A"/>
            </a:solidFill>
            <a:prstDash val="solid"/>
            <a:headEnd type="none"/>
            <a:tailEnd type="none"/>
          </a:ln>
        </p:spPr>
      </p:sp>
      <p:sp>
        <p:nvSpPr>
          <p:cNvPr id="27" name="Shape 25"/>
          <p:cNvSpPr/>
          <p:nvPr/>
        </p:nvSpPr>
        <p:spPr>
          <a:xfrm>
            <a:off x="1344168" y="2459736"/>
            <a:ext cx="72368" cy="143572"/>
          </a:xfrm>
          <a:prstGeom prst="line">
            <a:avLst/>
          </a:prstGeom>
          <a:noFill/>
          <a:ln w="27940">
            <a:solidFill>
              <a:srgbClr val="167C85"/>
            </a:solidFill>
            <a:prstDash val="solid"/>
            <a:headEnd type="none"/>
            <a:tailEnd type="none"/>
          </a:ln>
        </p:spPr>
      </p:sp>
      <p:sp>
        <p:nvSpPr>
          <p:cNvPr id="28" name="Shape 26"/>
          <p:cNvSpPr/>
          <p:nvPr/>
        </p:nvSpPr>
        <p:spPr>
          <a:xfrm>
            <a:off x="1416536" y="2603308"/>
            <a:ext cx="72368" cy="139937"/>
          </a:xfrm>
          <a:prstGeom prst="line">
            <a:avLst/>
          </a:prstGeom>
          <a:noFill/>
          <a:ln w="27940">
            <a:solidFill>
              <a:srgbClr val="167C85"/>
            </a:solidFill>
            <a:prstDash val="solid"/>
            <a:headEnd type="none"/>
            <a:tailEnd type="none"/>
          </a:ln>
        </p:spPr>
      </p:sp>
      <p:sp>
        <p:nvSpPr>
          <p:cNvPr id="29" name="Shape 27"/>
          <p:cNvSpPr/>
          <p:nvPr/>
        </p:nvSpPr>
        <p:spPr>
          <a:xfrm>
            <a:off x="1488904" y="2743246"/>
            <a:ext cx="72368" cy="136303"/>
          </a:xfrm>
          <a:prstGeom prst="line">
            <a:avLst/>
          </a:prstGeom>
          <a:noFill/>
          <a:ln w="27940">
            <a:solidFill>
              <a:srgbClr val="167C85"/>
            </a:solidFill>
            <a:prstDash val="solid"/>
            <a:headEnd type="none"/>
            <a:tailEnd type="none"/>
          </a:ln>
        </p:spPr>
      </p:sp>
      <p:sp>
        <p:nvSpPr>
          <p:cNvPr id="30" name="Shape 28"/>
          <p:cNvSpPr/>
          <p:nvPr/>
        </p:nvSpPr>
        <p:spPr>
          <a:xfrm>
            <a:off x="1561273" y="2879548"/>
            <a:ext cx="72368" cy="132668"/>
          </a:xfrm>
          <a:prstGeom prst="line">
            <a:avLst/>
          </a:prstGeom>
          <a:noFill/>
          <a:ln w="27940">
            <a:solidFill>
              <a:srgbClr val="167C85"/>
            </a:solidFill>
            <a:prstDash val="solid"/>
            <a:headEnd type="none"/>
            <a:tailEnd type="none"/>
          </a:ln>
        </p:spPr>
      </p:sp>
      <p:sp>
        <p:nvSpPr>
          <p:cNvPr id="31" name="Shape 29"/>
          <p:cNvSpPr/>
          <p:nvPr/>
        </p:nvSpPr>
        <p:spPr>
          <a:xfrm>
            <a:off x="1633641" y="3012216"/>
            <a:ext cx="72368" cy="129033"/>
          </a:xfrm>
          <a:prstGeom prst="line">
            <a:avLst/>
          </a:prstGeom>
          <a:noFill/>
          <a:ln w="27940">
            <a:solidFill>
              <a:srgbClr val="167C85"/>
            </a:solidFill>
            <a:prstDash val="solid"/>
            <a:headEnd type="none"/>
            <a:tailEnd type="none"/>
          </a:ln>
        </p:spPr>
      </p:sp>
      <p:sp>
        <p:nvSpPr>
          <p:cNvPr id="32" name="Shape 30"/>
          <p:cNvSpPr/>
          <p:nvPr/>
        </p:nvSpPr>
        <p:spPr>
          <a:xfrm>
            <a:off x="1706009" y="3141250"/>
            <a:ext cx="72368" cy="125399"/>
          </a:xfrm>
          <a:prstGeom prst="line">
            <a:avLst/>
          </a:prstGeom>
          <a:noFill/>
          <a:ln w="27940">
            <a:solidFill>
              <a:srgbClr val="167C85"/>
            </a:solidFill>
            <a:prstDash val="solid"/>
            <a:headEnd type="none"/>
            <a:tailEnd type="none"/>
          </a:ln>
        </p:spPr>
      </p:sp>
      <p:sp>
        <p:nvSpPr>
          <p:cNvPr id="33" name="Shape 31"/>
          <p:cNvSpPr/>
          <p:nvPr/>
        </p:nvSpPr>
        <p:spPr>
          <a:xfrm>
            <a:off x="1778377" y="3266648"/>
            <a:ext cx="72368" cy="121764"/>
          </a:xfrm>
          <a:prstGeom prst="line">
            <a:avLst/>
          </a:prstGeom>
          <a:noFill/>
          <a:ln w="27940">
            <a:solidFill>
              <a:srgbClr val="167C85"/>
            </a:solidFill>
            <a:prstDash val="solid"/>
            <a:headEnd type="none"/>
            <a:tailEnd type="none"/>
          </a:ln>
        </p:spPr>
      </p:sp>
      <p:sp>
        <p:nvSpPr>
          <p:cNvPr id="34" name="Shape 32"/>
          <p:cNvSpPr/>
          <p:nvPr/>
        </p:nvSpPr>
        <p:spPr>
          <a:xfrm>
            <a:off x="1850746" y="3388412"/>
            <a:ext cx="72368" cy="118129"/>
          </a:xfrm>
          <a:prstGeom prst="line">
            <a:avLst/>
          </a:prstGeom>
          <a:noFill/>
          <a:ln w="27940">
            <a:solidFill>
              <a:srgbClr val="167C85"/>
            </a:solidFill>
            <a:prstDash val="solid"/>
            <a:headEnd type="none"/>
            <a:tailEnd type="none"/>
          </a:ln>
        </p:spPr>
      </p:sp>
      <p:sp>
        <p:nvSpPr>
          <p:cNvPr id="35" name="Shape 33"/>
          <p:cNvSpPr/>
          <p:nvPr/>
        </p:nvSpPr>
        <p:spPr>
          <a:xfrm>
            <a:off x="1923114" y="3506541"/>
            <a:ext cx="72368" cy="114494"/>
          </a:xfrm>
          <a:prstGeom prst="line">
            <a:avLst/>
          </a:prstGeom>
          <a:noFill/>
          <a:ln w="27940">
            <a:solidFill>
              <a:srgbClr val="167C85"/>
            </a:solidFill>
            <a:prstDash val="solid"/>
            <a:headEnd type="none"/>
            <a:tailEnd type="none"/>
          </a:ln>
        </p:spPr>
      </p:sp>
      <p:sp>
        <p:nvSpPr>
          <p:cNvPr id="36" name="Shape 34"/>
          <p:cNvSpPr/>
          <p:nvPr/>
        </p:nvSpPr>
        <p:spPr>
          <a:xfrm>
            <a:off x="1995482" y="3621035"/>
            <a:ext cx="72368" cy="110860"/>
          </a:xfrm>
          <a:prstGeom prst="line">
            <a:avLst/>
          </a:prstGeom>
          <a:noFill/>
          <a:ln w="27940">
            <a:solidFill>
              <a:srgbClr val="167C85"/>
            </a:solidFill>
            <a:prstDash val="solid"/>
            <a:headEnd type="none"/>
            <a:tailEnd type="none"/>
          </a:ln>
        </p:spPr>
      </p:sp>
      <p:sp>
        <p:nvSpPr>
          <p:cNvPr id="37" name="Shape 35"/>
          <p:cNvSpPr/>
          <p:nvPr/>
        </p:nvSpPr>
        <p:spPr>
          <a:xfrm>
            <a:off x="2067850" y="3731895"/>
            <a:ext cx="72368" cy="107225"/>
          </a:xfrm>
          <a:prstGeom prst="line">
            <a:avLst/>
          </a:prstGeom>
          <a:noFill/>
          <a:ln w="27940">
            <a:solidFill>
              <a:srgbClr val="167C85"/>
            </a:solidFill>
            <a:prstDash val="solid"/>
            <a:headEnd type="none"/>
            <a:tailEnd type="none"/>
          </a:ln>
        </p:spPr>
      </p:sp>
      <p:sp>
        <p:nvSpPr>
          <p:cNvPr id="38" name="Shape 36"/>
          <p:cNvSpPr/>
          <p:nvPr/>
        </p:nvSpPr>
        <p:spPr>
          <a:xfrm>
            <a:off x="2140219" y="3839120"/>
            <a:ext cx="72368" cy="103590"/>
          </a:xfrm>
          <a:prstGeom prst="line">
            <a:avLst/>
          </a:prstGeom>
          <a:noFill/>
          <a:ln w="27940">
            <a:solidFill>
              <a:srgbClr val="167C85"/>
            </a:solidFill>
            <a:prstDash val="solid"/>
            <a:headEnd type="none"/>
            <a:tailEnd type="none"/>
          </a:ln>
        </p:spPr>
      </p:sp>
      <p:sp>
        <p:nvSpPr>
          <p:cNvPr id="39" name="Shape 37"/>
          <p:cNvSpPr/>
          <p:nvPr/>
        </p:nvSpPr>
        <p:spPr>
          <a:xfrm>
            <a:off x="2212587" y="3942710"/>
            <a:ext cx="72368" cy="99955"/>
          </a:xfrm>
          <a:prstGeom prst="line">
            <a:avLst/>
          </a:prstGeom>
          <a:noFill/>
          <a:ln w="27940">
            <a:solidFill>
              <a:srgbClr val="167C85"/>
            </a:solidFill>
            <a:prstDash val="solid"/>
            <a:headEnd type="none"/>
            <a:tailEnd type="none"/>
          </a:ln>
        </p:spPr>
      </p:sp>
      <p:sp>
        <p:nvSpPr>
          <p:cNvPr id="40" name="Shape 38"/>
          <p:cNvSpPr/>
          <p:nvPr/>
        </p:nvSpPr>
        <p:spPr>
          <a:xfrm>
            <a:off x="2284955" y="4042665"/>
            <a:ext cx="72368" cy="96321"/>
          </a:xfrm>
          <a:prstGeom prst="line">
            <a:avLst/>
          </a:prstGeom>
          <a:noFill/>
          <a:ln w="27940">
            <a:solidFill>
              <a:srgbClr val="167C85"/>
            </a:solidFill>
            <a:prstDash val="solid"/>
            <a:headEnd type="none"/>
            <a:tailEnd type="none"/>
          </a:ln>
        </p:spPr>
      </p:sp>
      <p:sp>
        <p:nvSpPr>
          <p:cNvPr id="41" name="Shape 39"/>
          <p:cNvSpPr/>
          <p:nvPr/>
        </p:nvSpPr>
        <p:spPr>
          <a:xfrm>
            <a:off x="2357323" y="4138986"/>
            <a:ext cx="72368" cy="92686"/>
          </a:xfrm>
          <a:prstGeom prst="line">
            <a:avLst/>
          </a:prstGeom>
          <a:noFill/>
          <a:ln w="27940">
            <a:solidFill>
              <a:srgbClr val="167C85"/>
            </a:solidFill>
            <a:prstDash val="solid"/>
            <a:headEnd type="none"/>
            <a:tailEnd type="none"/>
          </a:ln>
        </p:spPr>
      </p:sp>
      <p:sp>
        <p:nvSpPr>
          <p:cNvPr id="42" name="Shape 40"/>
          <p:cNvSpPr/>
          <p:nvPr/>
        </p:nvSpPr>
        <p:spPr>
          <a:xfrm>
            <a:off x="2429691" y="4231672"/>
            <a:ext cx="72368" cy="89051"/>
          </a:xfrm>
          <a:prstGeom prst="line">
            <a:avLst/>
          </a:prstGeom>
          <a:noFill/>
          <a:ln w="27940">
            <a:solidFill>
              <a:srgbClr val="167C85"/>
            </a:solidFill>
            <a:prstDash val="solid"/>
            <a:headEnd type="none"/>
            <a:tailEnd type="none"/>
          </a:ln>
        </p:spPr>
      </p:sp>
      <p:sp>
        <p:nvSpPr>
          <p:cNvPr id="43" name="Shape 41"/>
          <p:cNvSpPr/>
          <p:nvPr/>
        </p:nvSpPr>
        <p:spPr>
          <a:xfrm>
            <a:off x="2502060" y="4320723"/>
            <a:ext cx="72368" cy="85416"/>
          </a:xfrm>
          <a:prstGeom prst="line">
            <a:avLst/>
          </a:prstGeom>
          <a:noFill/>
          <a:ln w="27940">
            <a:solidFill>
              <a:srgbClr val="167C85"/>
            </a:solidFill>
            <a:prstDash val="solid"/>
            <a:headEnd type="none"/>
            <a:tailEnd type="none"/>
          </a:ln>
        </p:spPr>
      </p:sp>
      <p:sp>
        <p:nvSpPr>
          <p:cNvPr id="44" name="Shape 42"/>
          <p:cNvSpPr/>
          <p:nvPr/>
        </p:nvSpPr>
        <p:spPr>
          <a:xfrm>
            <a:off x="2574428" y="4406139"/>
            <a:ext cx="72368" cy="81782"/>
          </a:xfrm>
          <a:prstGeom prst="line">
            <a:avLst/>
          </a:prstGeom>
          <a:noFill/>
          <a:ln w="27940">
            <a:solidFill>
              <a:srgbClr val="167C85"/>
            </a:solidFill>
            <a:prstDash val="solid"/>
            <a:headEnd type="none"/>
            <a:tailEnd type="none"/>
          </a:ln>
        </p:spPr>
      </p:sp>
      <p:sp>
        <p:nvSpPr>
          <p:cNvPr id="45" name="Shape 43"/>
          <p:cNvSpPr/>
          <p:nvPr/>
        </p:nvSpPr>
        <p:spPr>
          <a:xfrm>
            <a:off x="2646796" y="4487921"/>
            <a:ext cx="72368" cy="78147"/>
          </a:xfrm>
          <a:prstGeom prst="line">
            <a:avLst/>
          </a:prstGeom>
          <a:noFill/>
          <a:ln w="27940">
            <a:solidFill>
              <a:srgbClr val="167C85"/>
            </a:solidFill>
            <a:prstDash val="solid"/>
            <a:headEnd type="none"/>
            <a:tailEnd type="none"/>
          </a:ln>
        </p:spPr>
      </p:sp>
      <p:sp>
        <p:nvSpPr>
          <p:cNvPr id="46" name="Shape 44"/>
          <p:cNvSpPr/>
          <p:nvPr/>
        </p:nvSpPr>
        <p:spPr>
          <a:xfrm>
            <a:off x="2719164" y="4566068"/>
            <a:ext cx="72368" cy="74512"/>
          </a:xfrm>
          <a:prstGeom prst="line">
            <a:avLst/>
          </a:prstGeom>
          <a:noFill/>
          <a:ln w="27940">
            <a:solidFill>
              <a:srgbClr val="167C85"/>
            </a:solidFill>
            <a:prstDash val="solid"/>
            <a:headEnd type="none"/>
            <a:tailEnd type="none"/>
          </a:ln>
        </p:spPr>
      </p:sp>
      <p:sp>
        <p:nvSpPr>
          <p:cNvPr id="47" name="Shape 45"/>
          <p:cNvSpPr/>
          <p:nvPr/>
        </p:nvSpPr>
        <p:spPr>
          <a:xfrm>
            <a:off x="2791533" y="4640580"/>
            <a:ext cx="72368" cy="70877"/>
          </a:xfrm>
          <a:prstGeom prst="line">
            <a:avLst/>
          </a:prstGeom>
          <a:noFill/>
          <a:ln w="27940">
            <a:solidFill>
              <a:srgbClr val="167C85"/>
            </a:solidFill>
            <a:prstDash val="solid"/>
            <a:headEnd type="none"/>
            <a:tailEnd type="none"/>
          </a:ln>
        </p:spPr>
      </p:sp>
      <p:sp>
        <p:nvSpPr>
          <p:cNvPr id="48" name="Shape 46"/>
          <p:cNvSpPr/>
          <p:nvPr/>
        </p:nvSpPr>
        <p:spPr>
          <a:xfrm>
            <a:off x="2863901" y="4711457"/>
            <a:ext cx="72368" cy="67243"/>
          </a:xfrm>
          <a:prstGeom prst="line">
            <a:avLst/>
          </a:prstGeom>
          <a:noFill/>
          <a:ln w="27940">
            <a:solidFill>
              <a:srgbClr val="167C85"/>
            </a:solidFill>
            <a:prstDash val="solid"/>
            <a:headEnd type="none"/>
            <a:tailEnd type="none"/>
          </a:ln>
        </p:spPr>
      </p:sp>
      <p:sp>
        <p:nvSpPr>
          <p:cNvPr id="49" name="Shape 47"/>
          <p:cNvSpPr/>
          <p:nvPr/>
        </p:nvSpPr>
        <p:spPr>
          <a:xfrm>
            <a:off x="2936269" y="4778700"/>
            <a:ext cx="72368" cy="63608"/>
          </a:xfrm>
          <a:prstGeom prst="line">
            <a:avLst/>
          </a:prstGeom>
          <a:noFill/>
          <a:ln w="27940">
            <a:solidFill>
              <a:srgbClr val="167C85"/>
            </a:solidFill>
            <a:prstDash val="solid"/>
            <a:headEnd type="none"/>
            <a:tailEnd type="none"/>
          </a:ln>
        </p:spPr>
      </p:sp>
      <p:sp>
        <p:nvSpPr>
          <p:cNvPr id="50" name="Shape 48"/>
          <p:cNvSpPr/>
          <p:nvPr/>
        </p:nvSpPr>
        <p:spPr>
          <a:xfrm>
            <a:off x="3008637" y="4842308"/>
            <a:ext cx="72368" cy="59973"/>
          </a:xfrm>
          <a:prstGeom prst="line">
            <a:avLst/>
          </a:prstGeom>
          <a:noFill/>
          <a:ln w="27940">
            <a:solidFill>
              <a:srgbClr val="167C85"/>
            </a:solidFill>
            <a:prstDash val="solid"/>
            <a:headEnd type="none"/>
            <a:tailEnd type="none"/>
          </a:ln>
        </p:spPr>
      </p:sp>
      <p:sp>
        <p:nvSpPr>
          <p:cNvPr id="51" name="Shape 49"/>
          <p:cNvSpPr/>
          <p:nvPr/>
        </p:nvSpPr>
        <p:spPr>
          <a:xfrm>
            <a:off x="3081005" y="4902281"/>
            <a:ext cx="72368" cy="56338"/>
          </a:xfrm>
          <a:prstGeom prst="line">
            <a:avLst/>
          </a:prstGeom>
          <a:noFill/>
          <a:ln w="27940">
            <a:solidFill>
              <a:srgbClr val="167C85"/>
            </a:solidFill>
            <a:prstDash val="solid"/>
            <a:headEnd type="none"/>
            <a:tailEnd type="none"/>
          </a:ln>
        </p:spPr>
      </p:sp>
      <p:sp>
        <p:nvSpPr>
          <p:cNvPr id="52" name="Shape 50"/>
          <p:cNvSpPr/>
          <p:nvPr/>
        </p:nvSpPr>
        <p:spPr>
          <a:xfrm>
            <a:off x="3153374" y="4958620"/>
            <a:ext cx="72368" cy="52704"/>
          </a:xfrm>
          <a:prstGeom prst="line">
            <a:avLst/>
          </a:prstGeom>
          <a:noFill/>
          <a:ln w="27940">
            <a:solidFill>
              <a:srgbClr val="167C85"/>
            </a:solidFill>
            <a:prstDash val="solid"/>
            <a:headEnd type="none"/>
            <a:tailEnd type="none"/>
          </a:ln>
        </p:spPr>
      </p:sp>
      <p:sp>
        <p:nvSpPr>
          <p:cNvPr id="53" name="Shape 51"/>
          <p:cNvSpPr/>
          <p:nvPr/>
        </p:nvSpPr>
        <p:spPr>
          <a:xfrm>
            <a:off x="3225742" y="5011323"/>
            <a:ext cx="72368" cy="49069"/>
          </a:xfrm>
          <a:prstGeom prst="line">
            <a:avLst/>
          </a:prstGeom>
          <a:noFill/>
          <a:ln w="27940">
            <a:solidFill>
              <a:srgbClr val="167C85"/>
            </a:solidFill>
            <a:prstDash val="solid"/>
            <a:headEnd type="none"/>
            <a:tailEnd type="none"/>
          </a:ln>
        </p:spPr>
      </p:sp>
      <p:sp>
        <p:nvSpPr>
          <p:cNvPr id="54" name="Shape 52"/>
          <p:cNvSpPr/>
          <p:nvPr/>
        </p:nvSpPr>
        <p:spPr>
          <a:xfrm>
            <a:off x="3298110" y="5060392"/>
            <a:ext cx="72368" cy="45434"/>
          </a:xfrm>
          <a:prstGeom prst="line">
            <a:avLst/>
          </a:prstGeom>
          <a:noFill/>
          <a:ln w="27940">
            <a:solidFill>
              <a:srgbClr val="167C85"/>
            </a:solidFill>
            <a:prstDash val="solid"/>
            <a:headEnd type="none"/>
            <a:tailEnd type="none"/>
          </a:ln>
        </p:spPr>
      </p:sp>
      <p:sp>
        <p:nvSpPr>
          <p:cNvPr id="55" name="Shape 53"/>
          <p:cNvSpPr/>
          <p:nvPr/>
        </p:nvSpPr>
        <p:spPr>
          <a:xfrm>
            <a:off x="3370478" y="5105827"/>
            <a:ext cx="72368" cy="41800"/>
          </a:xfrm>
          <a:prstGeom prst="line">
            <a:avLst/>
          </a:prstGeom>
          <a:noFill/>
          <a:ln w="27940">
            <a:solidFill>
              <a:srgbClr val="167C85"/>
            </a:solidFill>
            <a:prstDash val="solid"/>
            <a:headEnd type="none"/>
            <a:tailEnd type="none"/>
          </a:ln>
        </p:spPr>
      </p:sp>
      <p:sp>
        <p:nvSpPr>
          <p:cNvPr id="56" name="Shape 54"/>
          <p:cNvSpPr/>
          <p:nvPr/>
        </p:nvSpPr>
        <p:spPr>
          <a:xfrm>
            <a:off x="3442847" y="5147626"/>
            <a:ext cx="72368" cy="38165"/>
          </a:xfrm>
          <a:prstGeom prst="line">
            <a:avLst/>
          </a:prstGeom>
          <a:noFill/>
          <a:ln w="27940">
            <a:solidFill>
              <a:srgbClr val="167C85"/>
            </a:solidFill>
            <a:prstDash val="solid"/>
            <a:headEnd type="none"/>
            <a:tailEnd type="none"/>
          </a:ln>
        </p:spPr>
      </p:sp>
      <p:sp>
        <p:nvSpPr>
          <p:cNvPr id="57" name="Shape 55"/>
          <p:cNvSpPr/>
          <p:nvPr/>
        </p:nvSpPr>
        <p:spPr>
          <a:xfrm>
            <a:off x="3515215" y="5185791"/>
            <a:ext cx="72368" cy="34530"/>
          </a:xfrm>
          <a:prstGeom prst="line">
            <a:avLst/>
          </a:prstGeom>
          <a:noFill/>
          <a:ln w="27940">
            <a:solidFill>
              <a:srgbClr val="167C85"/>
            </a:solidFill>
            <a:prstDash val="solid"/>
            <a:headEnd type="none"/>
            <a:tailEnd type="none"/>
          </a:ln>
        </p:spPr>
      </p:sp>
      <p:sp>
        <p:nvSpPr>
          <p:cNvPr id="58" name="Shape 56"/>
          <p:cNvSpPr/>
          <p:nvPr/>
        </p:nvSpPr>
        <p:spPr>
          <a:xfrm>
            <a:off x="3587583" y="5220321"/>
            <a:ext cx="72368" cy="30895"/>
          </a:xfrm>
          <a:prstGeom prst="line">
            <a:avLst/>
          </a:prstGeom>
          <a:noFill/>
          <a:ln w="27940">
            <a:solidFill>
              <a:srgbClr val="167C85"/>
            </a:solidFill>
            <a:prstDash val="solid"/>
            <a:headEnd type="none"/>
            <a:tailEnd type="none"/>
          </a:ln>
        </p:spPr>
      </p:sp>
      <p:sp>
        <p:nvSpPr>
          <p:cNvPr id="59" name="Shape 57"/>
          <p:cNvSpPr/>
          <p:nvPr/>
        </p:nvSpPr>
        <p:spPr>
          <a:xfrm>
            <a:off x="3659951" y="5251216"/>
            <a:ext cx="72368" cy="27261"/>
          </a:xfrm>
          <a:prstGeom prst="line">
            <a:avLst/>
          </a:prstGeom>
          <a:noFill/>
          <a:ln w="27940">
            <a:solidFill>
              <a:srgbClr val="167C85"/>
            </a:solidFill>
            <a:prstDash val="solid"/>
            <a:headEnd type="none"/>
            <a:tailEnd type="none"/>
          </a:ln>
        </p:spPr>
      </p:sp>
      <p:sp>
        <p:nvSpPr>
          <p:cNvPr id="60" name="Shape 58"/>
          <p:cNvSpPr/>
          <p:nvPr/>
        </p:nvSpPr>
        <p:spPr>
          <a:xfrm>
            <a:off x="3732320" y="5278477"/>
            <a:ext cx="72368" cy="23626"/>
          </a:xfrm>
          <a:prstGeom prst="line">
            <a:avLst/>
          </a:prstGeom>
          <a:noFill/>
          <a:ln w="27940">
            <a:solidFill>
              <a:srgbClr val="167C85"/>
            </a:solidFill>
            <a:prstDash val="solid"/>
            <a:headEnd type="none"/>
            <a:tailEnd type="none"/>
          </a:ln>
        </p:spPr>
      </p:sp>
      <p:sp>
        <p:nvSpPr>
          <p:cNvPr id="61" name="Shape 59"/>
          <p:cNvSpPr/>
          <p:nvPr/>
        </p:nvSpPr>
        <p:spPr>
          <a:xfrm>
            <a:off x="3804688" y="5302103"/>
            <a:ext cx="72368" cy="19991"/>
          </a:xfrm>
          <a:prstGeom prst="line">
            <a:avLst/>
          </a:prstGeom>
          <a:noFill/>
          <a:ln w="27940">
            <a:solidFill>
              <a:srgbClr val="167C85"/>
            </a:solidFill>
            <a:prstDash val="solid"/>
            <a:headEnd type="none"/>
            <a:tailEnd type="none"/>
          </a:ln>
        </p:spPr>
      </p:sp>
      <p:sp>
        <p:nvSpPr>
          <p:cNvPr id="62" name="Shape 60"/>
          <p:cNvSpPr/>
          <p:nvPr/>
        </p:nvSpPr>
        <p:spPr>
          <a:xfrm>
            <a:off x="3877056" y="5322094"/>
            <a:ext cx="72368" cy="16356"/>
          </a:xfrm>
          <a:prstGeom prst="line">
            <a:avLst/>
          </a:prstGeom>
          <a:noFill/>
          <a:ln w="27940">
            <a:solidFill>
              <a:srgbClr val="167C85"/>
            </a:solidFill>
            <a:prstDash val="solid"/>
            <a:headEnd type="none"/>
            <a:tailEnd type="none"/>
          </a:ln>
        </p:spPr>
      </p:sp>
      <p:sp>
        <p:nvSpPr>
          <p:cNvPr id="63" name="Shape 61"/>
          <p:cNvSpPr/>
          <p:nvPr/>
        </p:nvSpPr>
        <p:spPr>
          <a:xfrm>
            <a:off x="3949424" y="5338450"/>
            <a:ext cx="72368" cy="12722"/>
          </a:xfrm>
          <a:prstGeom prst="line">
            <a:avLst/>
          </a:prstGeom>
          <a:noFill/>
          <a:ln w="27940">
            <a:solidFill>
              <a:srgbClr val="167C85"/>
            </a:solidFill>
            <a:prstDash val="solid"/>
            <a:headEnd type="none"/>
            <a:tailEnd type="none"/>
          </a:ln>
        </p:spPr>
      </p:sp>
      <p:sp>
        <p:nvSpPr>
          <p:cNvPr id="64" name="Shape 62"/>
          <p:cNvSpPr/>
          <p:nvPr/>
        </p:nvSpPr>
        <p:spPr>
          <a:xfrm>
            <a:off x="4021792" y="5351172"/>
            <a:ext cx="72368" cy="9087"/>
          </a:xfrm>
          <a:prstGeom prst="line">
            <a:avLst/>
          </a:prstGeom>
          <a:noFill/>
          <a:ln w="27940">
            <a:solidFill>
              <a:srgbClr val="167C85"/>
            </a:solidFill>
            <a:prstDash val="solid"/>
            <a:headEnd type="none"/>
            <a:tailEnd type="none"/>
          </a:ln>
        </p:spPr>
      </p:sp>
      <p:sp>
        <p:nvSpPr>
          <p:cNvPr id="65" name="Shape 63"/>
          <p:cNvSpPr/>
          <p:nvPr/>
        </p:nvSpPr>
        <p:spPr>
          <a:xfrm>
            <a:off x="4094161" y="5360259"/>
            <a:ext cx="72368" cy="5452"/>
          </a:xfrm>
          <a:prstGeom prst="line">
            <a:avLst/>
          </a:prstGeom>
          <a:noFill/>
          <a:ln w="27940">
            <a:solidFill>
              <a:srgbClr val="167C85"/>
            </a:solidFill>
            <a:prstDash val="solid"/>
            <a:headEnd type="none"/>
            <a:tailEnd type="none"/>
          </a:ln>
        </p:spPr>
      </p:sp>
      <p:sp>
        <p:nvSpPr>
          <p:cNvPr id="66" name="Shape 64"/>
          <p:cNvSpPr/>
          <p:nvPr/>
        </p:nvSpPr>
        <p:spPr>
          <a:xfrm>
            <a:off x="4166529" y="5365711"/>
            <a:ext cx="72368" cy="1817"/>
          </a:xfrm>
          <a:prstGeom prst="line">
            <a:avLst/>
          </a:prstGeom>
          <a:noFill/>
          <a:ln w="27940">
            <a:solidFill>
              <a:srgbClr val="167C85"/>
            </a:solidFill>
            <a:prstDash val="solid"/>
            <a:headEnd type="none"/>
            <a:tailEnd type="none"/>
          </a:ln>
        </p:spPr>
      </p:sp>
      <p:sp>
        <p:nvSpPr>
          <p:cNvPr id="67" name="Shape 65"/>
          <p:cNvSpPr/>
          <p:nvPr/>
        </p:nvSpPr>
        <p:spPr>
          <a:xfrm flipV="1">
            <a:off x="4238897" y="5365711"/>
            <a:ext cx="72368" cy="1817"/>
          </a:xfrm>
          <a:prstGeom prst="line">
            <a:avLst/>
          </a:prstGeom>
          <a:noFill/>
          <a:ln w="27940">
            <a:solidFill>
              <a:srgbClr val="167C85"/>
            </a:solidFill>
            <a:prstDash val="solid"/>
            <a:headEnd type="none"/>
            <a:tailEnd type="none"/>
          </a:ln>
        </p:spPr>
      </p:sp>
      <p:sp>
        <p:nvSpPr>
          <p:cNvPr id="68" name="Shape 66"/>
          <p:cNvSpPr/>
          <p:nvPr/>
        </p:nvSpPr>
        <p:spPr>
          <a:xfrm flipV="1">
            <a:off x="4311265" y="5360259"/>
            <a:ext cx="72368" cy="5452"/>
          </a:xfrm>
          <a:prstGeom prst="line">
            <a:avLst/>
          </a:prstGeom>
          <a:noFill/>
          <a:ln w="27940">
            <a:solidFill>
              <a:srgbClr val="167C85"/>
            </a:solidFill>
            <a:prstDash val="solid"/>
            <a:headEnd type="none"/>
            <a:tailEnd type="none"/>
          </a:ln>
        </p:spPr>
      </p:sp>
      <p:sp>
        <p:nvSpPr>
          <p:cNvPr id="69" name="Shape 67"/>
          <p:cNvSpPr/>
          <p:nvPr/>
        </p:nvSpPr>
        <p:spPr>
          <a:xfrm flipV="1">
            <a:off x="4383634" y="5351172"/>
            <a:ext cx="72368" cy="9087"/>
          </a:xfrm>
          <a:prstGeom prst="line">
            <a:avLst/>
          </a:prstGeom>
          <a:noFill/>
          <a:ln w="27940">
            <a:solidFill>
              <a:srgbClr val="167C85"/>
            </a:solidFill>
            <a:prstDash val="solid"/>
            <a:headEnd type="none"/>
            <a:tailEnd type="none"/>
          </a:ln>
        </p:spPr>
      </p:sp>
      <p:sp>
        <p:nvSpPr>
          <p:cNvPr id="70" name="Shape 68"/>
          <p:cNvSpPr/>
          <p:nvPr/>
        </p:nvSpPr>
        <p:spPr>
          <a:xfrm flipV="1">
            <a:off x="4456002" y="5338450"/>
            <a:ext cx="72368" cy="12722"/>
          </a:xfrm>
          <a:prstGeom prst="line">
            <a:avLst/>
          </a:prstGeom>
          <a:noFill/>
          <a:ln w="27940">
            <a:solidFill>
              <a:srgbClr val="167C85"/>
            </a:solidFill>
            <a:prstDash val="solid"/>
            <a:headEnd type="none"/>
            <a:tailEnd type="none"/>
          </a:ln>
        </p:spPr>
      </p:sp>
      <p:sp>
        <p:nvSpPr>
          <p:cNvPr id="71" name="Shape 69"/>
          <p:cNvSpPr/>
          <p:nvPr/>
        </p:nvSpPr>
        <p:spPr>
          <a:xfrm flipV="1">
            <a:off x="4528370" y="5322094"/>
            <a:ext cx="72368" cy="16356"/>
          </a:xfrm>
          <a:prstGeom prst="line">
            <a:avLst/>
          </a:prstGeom>
          <a:noFill/>
          <a:ln w="27940">
            <a:solidFill>
              <a:srgbClr val="167C85"/>
            </a:solidFill>
            <a:prstDash val="solid"/>
            <a:headEnd type="none"/>
            <a:tailEnd type="none"/>
          </a:ln>
        </p:spPr>
      </p:sp>
      <p:sp>
        <p:nvSpPr>
          <p:cNvPr id="72" name="Shape 70"/>
          <p:cNvSpPr/>
          <p:nvPr/>
        </p:nvSpPr>
        <p:spPr>
          <a:xfrm flipV="1">
            <a:off x="4600738" y="5302103"/>
            <a:ext cx="72368" cy="19991"/>
          </a:xfrm>
          <a:prstGeom prst="line">
            <a:avLst/>
          </a:prstGeom>
          <a:noFill/>
          <a:ln w="27940">
            <a:solidFill>
              <a:srgbClr val="167C85"/>
            </a:solidFill>
            <a:prstDash val="solid"/>
            <a:headEnd type="none"/>
            <a:tailEnd type="none"/>
          </a:ln>
        </p:spPr>
      </p:sp>
      <p:sp>
        <p:nvSpPr>
          <p:cNvPr id="73" name="Shape 71"/>
          <p:cNvSpPr/>
          <p:nvPr/>
        </p:nvSpPr>
        <p:spPr>
          <a:xfrm flipV="1">
            <a:off x="4673107" y="5278477"/>
            <a:ext cx="72368" cy="23626"/>
          </a:xfrm>
          <a:prstGeom prst="line">
            <a:avLst/>
          </a:prstGeom>
          <a:noFill/>
          <a:ln w="27940">
            <a:solidFill>
              <a:srgbClr val="167C85"/>
            </a:solidFill>
            <a:prstDash val="solid"/>
            <a:headEnd type="none"/>
            <a:tailEnd type="none"/>
          </a:ln>
        </p:spPr>
      </p:sp>
      <p:sp>
        <p:nvSpPr>
          <p:cNvPr id="74" name="Shape 72"/>
          <p:cNvSpPr/>
          <p:nvPr/>
        </p:nvSpPr>
        <p:spPr>
          <a:xfrm flipV="1">
            <a:off x="4745475" y="5251216"/>
            <a:ext cx="72368" cy="27261"/>
          </a:xfrm>
          <a:prstGeom prst="line">
            <a:avLst/>
          </a:prstGeom>
          <a:noFill/>
          <a:ln w="27940">
            <a:solidFill>
              <a:srgbClr val="167C85"/>
            </a:solidFill>
            <a:prstDash val="solid"/>
            <a:headEnd type="none"/>
            <a:tailEnd type="none"/>
          </a:ln>
        </p:spPr>
      </p:sp>
      <p:sp>
        <p:nvSpPr>
          <p:cNvPr id="75" name="Shape 73"/>
          <p:cNvSpPr/>
          <p:nvPr/>
        </p:nvSpPr>
        <p:spPr>
          <a:xfrm flipV="1">
            <a:off x="4817843" y="5220321"/>
            <a:ext cx="72368" cy="30895"/>
          </a:xfrm>
          <a:prstGeom prst="line">
            <a:avLst/>
          </a:prstGeom>
          <a:noFill/>
          <a:ln w="27940">
            <a:solidFill>
              <a:srgbClr val="167C85"/>
            </a:solidFill>
            <a:prstDash val="solid"/>
            <a:headEnd type="none"/>
            <a:tailEnd type="none"/>
          </a:ln>
        </p:spPr>
      </p:sp>
      <p:sp>
        <p:nvSpPr>
          <p:cNvPr id="76" name="Shape 74"/>
          <p:cNvSpPr/>
          <p:nvPr/>
        </p:nvSpPr>
        <p:spPr>
          <a:xfrm flipV="1">
            <a:off x="4890211" y="5185791"/>
            <a:ext cx="72368" cy="34530"/>
          </a:xfrm>
          <a:prstGeom prst="line">
            <a:avLst/>
          </a:prstGeom>
          <a:noFill/>
          <a:ln w="27940">
            <a:solidFill>
              <a:srgbClr val="167C85"/>
            </a:solidFill>
            <a:prstDash val="solid"/>
            <a:headEnd type="none"/>
            <a:tailEnd type="none"/>
          </a:ln>
        </p:spPr>
      </p:sp>
      <p:sp>
        <p:nvSpPr>
          <p:cNvPr id="77" name="Shape 75"/>
          <p:cNvSpPr/>
          <p:nvPr/>
        </p:nvSpPr>
        <p:spPr>
          <a:xfrm flipV="1">
            <a:off x="4962579" y="5147626"/>
            <a:ext cx="72368" cy="38165"/>
          </a:xfrm>
          <a:prstGeom prst="line">
            <a:avLst/>
          </a:prstGeom>
          <a:noFill/>
          <a:ln w="27940">
            <a:solidFill>
              <a:srgbClr val="167C85"/>
            </a:solidFill>
            <a:prstDash val="solid"/>
            <a:headEnd type="none"/>
            <a:tailEnd type="none"/>
          </a:ln>
        </p:spPr>
      </p:sp>
      <p:sp>
        <p:nvSpPr>
          <p:cNvPr id="78" name="Shape 76"/>
          <p:cNvSpPr/>
          <p:nvPr/>
        </p:nvSpPr>
        <p:spPr>
          <a:xfrm flipV="1">
            <a:off x="5034948" y="5105827"/>
            <a:ext cx="72368" cy="41800"/>
          </a:xfrm>
          <a:prstGeom prst="line">
            <a:avLst/>
          </a:prstGeom>
          <a:noFill/>
          <a:ln w="27940">
            <a:solidFill>
              <a:srgbClr val="167C85"/>
            </a:solidFill>
            <a:prstDash val="solid"/>
            <a:headEnd type="none"/>
            <a:tailEnd type="none"/>
          </a:ln>
        </p:spPr>
      </p:sp>
      <p:sp>
        <p:nvSpPr>
          <p:cNvPr id="79" name="Shape 77"/>
          <p:cNvSpPr/>
          <p:nvPr/>
        </p:nvSpPr>
        <p:spPr>
          <a:xfrm flipV="1">
            <a:off x="5107316" y="5060392"/>
            <a:ext cx="72368" cy="45434"/>
          </a:xfrm>
          <a:prstGeom prst="line">
            <a:avLst/>
          </a:prstGeom>
          <a:noFill/>
          <a:ln w="27940">
            <a:solidFill>
              <a:srgbClr val="167C85"/>
            </a:solidFill>
            <a:prstDash val="solid"/>
            <a:headEnd type="none"/>
            <a:tailEnd type="none"/>
          </a:ln>
        </p:spPr>
      </p:sp>
      <p:sp>
        <p:nvSpPr>
          <p:cNvPr id="80" name="Shape 78"/>
          <p:cNvSpPr/>
          <p:nvPr/>
        </p:nvSpPr>
        <p:spPr>
          <a:xfrm flipV="1">
            <a:off x="5179684" y="5011323"/>
            <a:ext cx="72368" cy="49069"/>
          </a:xfrm>
          <a:prstGeom prst="line">
            <a:avLst/>
          </a:prstGeom>
          <a:noFill/>
          <a:ln w="27940">
            <a:solidFill>
              <a:srgbClr val="167C85"/>
            </a:solidFill>
            <a:prstDash val="solid"/>
            <a:headEnd type="none"/>
            <a:tailEnd type="none"/>
          </a:ln>
        </p:spPr>
      </p:sp>
      <p:sp>
        <p:nvSpPr>
          <p:cNvPr id="81" name="Shape 79"/>
          <p:cNvSpPr/>
          <p:nvPr/>
        </p:nvSpPr>
        <p:spPr>
          <a:xfrm flipV="1">
            <a:off x="5252052" y="4958620"/>
            <a:ext cx="72368" cy="52704"/>
          </a:xfrm>
          <a:prstGeom prst="line">
            <a:avLst/>
          </a:prstGeom>
          <a:noFill/>
          <a:ln w="27940">
            <a:solidFill>
              <a:srgbClr val="167C85"/>
            </a:solidFill>
            <a:prstDash val="solid"/>
            <a:headEnd type="none"/>
            <a:tailEnd type="none"/>
          </a:ln>
        </p:spPr>
      </p:sp>
      <p:sp>
        <p:nvSpPr>
          <p:cNvPr id="82" name="Shape 80"/>
          <p:cNvSpPr/>
          <p:nvPr/>
        </p:nvSpPr>
        <p:spPr>
          <a:xfrm flipV="1">
            <a:off x="5324421" y="4902281"/>
            <a:ext cx="72368" cy="56338"/>
          </a:xfrm>
          <a:prstGeom prst="line">
            <a:avLst/>
          </a:prstGeom>
          <a:noFill/>
          <a:ln w="27940">
            <a:solidFill>
              <a:srgbClr val="167C85"/>
            </a:solidFill>
            <a:prstDash val="solid"/>
            <a:headEnd type="none"/>
            <a:tailEnd type="none"/>
          </a:ln>
        </p:spPr>
      </p:sp>
      <p:sp>
        <p:nvSpPr>
          <p:cNvPr id="83" name="Shape 81"/>
          <p:cNvSpPr/>
          <p:nvPr/>
        </p:nvSpPr>
        <p:spPr>
          <a:xfrm flipV="1">
            <a:off x="5396789" y="4842308"/>
            <a:ext cx="72368" cy="59973"/>
          </a:xfrm>
          <a:prstGeom prst="line">
            <a:avLst/>
          </a:prstGeom>
          <a:noFill/>
          <a:ln w="27940">
            <a:solidFill>
              <a:srgbClr val="167C85"/>
            </a:solidFill>
            <a:prstDash val="solid"/>
            <a:headEnd type="none"/>
            <a:tailEnd type="none"/>
          </a:ln>
        </p:spPr>
      </p:sp>
      <p:sp>
        <p:nvSpPr>
          <p:cNvPr id="84" name="Shape 82"/>
          <p:cNvSpPr/>
          <p:nvPr/>
        </p:nvSpPr>
        <p:spPr>
          <a:xfrm flipV="1">
            <a:off x="5469157" y="4778700"/>
            <a:ext cx="72368" cy="63608"/>
          </a:xfrm>
          <a:prstGeom prst="line">
            <a:avLst/>
          </a:prstGeom>
          <a:noFill/>
          <a:ln w="27940">
            <a:solidFill>
              <a:srgbClr val="167C85"/>
            </a:solidFill>
            <a:prstDash val="solid"/>
            <a:headEnd type="none"/>
            <a:tailEnd type="none"/>
          </a:ln>
        </p:spPr>
      </p:sp>
      <p:sp>
        <p:nvSpPr>
          <p:cNvPr id="85" name="Shape 83"/>
          <p:cNvSpPr/>
          <p:nvPr/>
        </p:nvSpPr>
        <p:spPr>
          <a:xfrm flipV="1">
            <a:off x="5541525" y="4711457"/>
            <a:ext cx="72368" cy="67243"/>
          </a:xfrm>
          <a:prstGeom prst="line">
            <a:avLst/>
          </a:prstGeom>
          <a:noFill/>
          <a:ln w="27940">
            <a:solidFill>
              <a:srgbClr val="167C85"/>
            </a:solidFill>
            <a:prstDash val="solid"/>
            <a:headEnd type="none"/>
            <a:tailEnd type="none"/>
          </a:ln>
        </p:spPr>
      </p:sp>
      <p:sp>
        <p:nvSpPr>
          <p:cNvPr id="86" name="Shape 84"/>
          <p:cNvSpPr/>
          <p:nvPr/>
        </p:nvSpPr>
        <p:spPr>
          <a:xfrm flipV="1">
            <a:off x="5613893" y="4640580"/>
            <a:ext cx="72368" cy="70877"/>
          </a:xfrm>
          <a:prstGeom prst="line">
            <a:avLst/>
          </a:prstGeom>
          <a:noFill/>
          <a:ln w="27940">
            <a:solidFill>
              <a:srgbClr val="167C85"/>
            </a:solidFill>
            <a:prstDash val="solid"/>
            <a:headEnd type="none"/>
            <a:tailEnd type="none"/>
          </a:ln>
        </p:spPr>
      </p:sp>
      <p:sp>
        <p:nvSpPr>
          <p:cNvPr id="87" name="Shape 85"/>
          <p:cNvSpPr/>
          <p:nvPr/>
        </p:nvSpPr>
        <p:spPr>
          <a:xfrm flipV="1">
            <a:off x="5686262" y="4566068"/>
            <a:ext cx="72368" cy="74512"/>
          </a:xfrm>
          <a:prstGeom prst="line">
            <a:avLst/>
          </a:prstGeom>
          <a:noFill/>
          <a:ln w="27940">
            <a:solidFill>
              <a:srgbClr val="167C85"/>
            </a:solidFill>
            <a:prstDash val="solid"/>
            <a:headEnd type="none"/>
            <a:tailEnd type="none"/>
          </a:ln>
        </p:spPr>
      </p:sp>
      <p:sp>
        <p:nvSpPr>
          <p:cNvPr id="88" name="Shape 86"/>
          <p:cNvSpPr/>
          <p:nvPr/>
        </p:nvSpPr>
        <p:spPr>
          <a:xfrm flipV="1">
            <a:off x="5758630" y="4487921"/>
            <a:ext cx="72368" cy="78147"/>
          </a:xfrm>
          <a:prstGeom prst="line">
            <a:avLst/>
          </a:prstGeom>
          <a:noFill/>
          <a:ln w="27940">
            <a:solidFill>
              <a:srgbClr val="167C85"/>
            </a:solidFill>
            <a:prstDash val="solid"/>
            <a:headEnd type="none"/>
            <a:tailEnd type="none"/>
          </a:ln>
        </p:spPr>
      </p:sp>
      <p:sp>
        <p:nvSpPr>
          <p:cNvPr id="89" name="Shape 87"/>
          <p:cNvSpPr/>
          <p:nvPr/>
        </p:nvSpPr>
        <p:spPr>
          <a:xfrm flipV="1">
            <a:off x="5830998" y="4406139"/>
            <a:ext cx="72368" cy="81782"/>
          </a:xfrm>
          <a:prstGeom prst="line">
            <a:avLst/>
          </a:prstGeom>
          <a:noFill/>
          <a:ln w="27940">
            <a:solidFill>
              <a:srgbClr val="167C85"/>
            </a:solidFill>
            <a:prstDash val="solid"/>
            <a:headEnd type="none"/>
            <a:tailEnd type="none"/>
          </a:ln>
        </p:spPr>
      </p:sp>
      <p:sp>
        <p:nvSpPr>
          <p:cNvPr id="90" name="Shape 88"/>
          <p:cNvSpPr/>
          <p:nvPr/>
        </p:nvSpPr>
        <p:spPr>
          <a:xfrm flipV="1">
            <a:off x="5903366" y="4320723"/>
            <a:ext cx="72368" cy="85416"/>
          </a:xfrm>
          <a:prstGeom prst="line">
            <a:avLst/>
          </a:prstGeom>
          <a:noFill/>
          <a:ln w="27940">
            <a:solidFill>
              <a:srgbClr val="167C85"/>
            </a:solidFill>
            <a:prstDash val="solid"/>
            <a:headEnd type="none"/>
            <a:tailEnd type="none"/>
          </a:ln>
        </p:spPr>
      </p:sp>
      <p:sp>
        <p:nvSpPr>
          <p:cNvPr id="91" name="Shape 89"/>
          <p:cNvSpPr/>
          <p:nvPr/>
        </p:nvSpPr>
        <p:spPr>
          <a:xfrm flipV="1">
            <a:off x="5975735" y="4231672"/>
            <a:ext cx="72368" cy="89051"/>
          </a:xfrm>
          <a:prstGeom prst="line">
            <a:avLst/>
          </a:prstGeom>
          <a:noFill/>
          <a:ln w="27940">
            <a:solidFill>
              <a:srgbClr val="167C85"/>
            </a:solidFill>
            <a:prstDash val="solid"/>
            <a:headEnd type="none"/>
            <a:tailEnd type="none"/>
          </a:ln>
        </p:spPr>
      </p:sp>
      <p:sp>
        <p:nvSpPr>
          <p:cNvPr id="92" name="Shape 90"/>
          <p:cNvSpPr/>
          <p:nvPr/>
        </p:nvSpPr>
        <p:spPr>
          <a:xfrm flipV="1">
            <a:off x="6048103" y="4138986"/>
            <a:ext cx="72368" cy="92686"/>
          </a:xfrm>
          <a:prstGeom prst="line">
            <a:avLst/>
          </a:prstGeom>
          <a:noFill/>
          <a:ln w="27940">
            <a:solidFill>
              <a:srgbClr val="167C85"/>
            </a:solidFill>
            <a:prstDash val="solid"/>
            <a:headEnd type="none"/>
            <a:tailEnd type="none"/>
          </a:ln>
        </p:spPr>
      </p:sp>
      <p:sp>
        <p:nvSpPr>
          <p:cNvPr id="93" name="Shape 91"/>
          <p:cNvSpPr/>
          <p:nvPr/>
        </p:nvSpPr>
        <p:spPr>
          <a:xfrm flipV="1">
            <a:off x="6120471" y="4042665"/>
            <a:ext cx="72368" cy="96321"/>
          </a:xfrm>
          <a:prstGeom prst="line">
            <a:avLst/>
          </a:prstGeom>
          <a:noFill/>
          <a:ln w="27940">
            <a:solidFill>
              <a:srgbClr val="167C85"/>
            </a:solidFill>
            <a:prstDash val="solid"/>
            <a:headEnd type="none"/>
            <a:tailEnd type="none"/>
          </a:ln>
        </p:spPr>
      </p:sp>
      <p:sp>
        <p:nvSpPr>
          <p:cNvPr id="94" name="Shape 92"/>
          <p:cNvSpPr/>
          <p:nvPr/>
        </p:nvSpPr>
        <p:spPr>
          <a:xfrm flipV="1">
            <a:off x="6192839" y="3942710"/>
            <a:ext cx="72368" cy="99955"/>
          </a:xfrm>
          <a:prstGeom prst="line">
            <a:avLst/>
          </a:prstGeom>
          <a:noFill/>
          <a:ln w="27940">
            <a:solidFill>
              <a:srgbClr val="167C85"/>
            </a:solidFill>
            <a:prstDash val="solid"/>
            <a:headEnd type="none"/>
            <a:tailEnd type="none"/>
          </a:ln>
        </p:spPr>
      </p:sp>
      <p:sp>
        <p:nvSpPr>
          <p:cNvPr id="95" name="Shape 93"/>
          <p:cNvSpPr/>
          <p:nvPr/>
        </p:nvSpPr>
        <p:spPr>
          <a:xfrm flipV="1">
            <a:off x="6265208" y="3839120"/>
            <a:ext cx="72368" cy="103590"/>
          </a:xfrm>
          <a:prstGeom prst="line">
            <a:avLst/>
          </a:prstGeom>
          <a:noFill/>
          <a:ln w="27940">
            <a:solidFill>
              <a:srgbClr val="167C85"/>
            </a:solidFill>
            <a:prstDash val="solid"/>
            <a:headEnd type="none"/>
            <a:tailEnd type="none"/>
          </a:ln>
        </p:spPr>
      </p:sp>
      <p:sp>
        <p:nvSpPr>
          <p:cNvPr id="96" name="Shape 94"/>
          <p:cNvSpPr/>
          <p:nvPr/>
        </p:nvSpPr>
        <p:spPr>
          <a:xfrm flipV="1">
            <a:off x="6337576" y="3731895"/>
            <a:ext cx="72368" cy="107225"/>
          </a:xfrm>
          <a:prstGeom prst="line">
            <a:avLst/>
          </a:prstGeom>
          <a:noFill/>
          <a:ln w="27940">
            <a:solidFill>
              <a:srgbClr val="167C85"/>
            </a:solidFill>
            <a:prstDash val="solid"/>
            <a:headEnd type="none"/>
            <a:tailEnd type="none"/>
          </a:ln>
        </p:spPr>
      </p:sp>
      <p:sp>
        <p:nvSpPr>
          <p:cNvPr id="97" name="Shape 95"/>
          <p:cNvSpPr/>
          <p:nvPr/>
        </p:nvSpPr>
        <p:spPr>
          <a:xfrm>
            <a:off x="2727525" y="4576572"/>
            <a:ext cx="128016" cy="128016"/>
          </a:xfrm>
          <a:prstGeom prst="ellipse">
            <a:avLst/>
          </a:prstGeom>
          <a:solidFill>
            <a:srgbClr val="B33B43"/>
          </a:solidFill>
          <a:ln w="8890">
            <a:solidFill>
              <a:srgbClr val="B33B43"/>
            </a:solidFill>
            <a:prstDash val="solid"/>
          </a:ln>
        </p:spPr>
      </p:sp>
      <p:sp>
        <p:nvSpPr>
          <p:cNvPr id="98" name="Shape 96"/>
          <p:cNvSpPr/>
          <p:nvPr/>
        </p:nvSpPr>
        <p:spPr>
          <a:xfrm>
            <a:off x="3306470" y="5041819"/>
            <a:ext cx="128016" cy="128016"/>
          </a:xfrm>
          <a:prstGeom prst="ellipse">
            <a:avLst/>
          </a:prstGeom>
          <a:solidFill>
            <a:srgbClr val="176493"/>
          </a:solidFill>
          <a:ln w="8890">
            <a:solidFill>
              <a:srgbClr val="176493"/>
            </a:solidFill>
            <a:prstDash val="solid"/>
          </a:ln>
        </p:spPr>
      </p:sp>
      <p:sp>
        <p:nvSpPr>
          <p:cNvPr id="99" name="Shape 97"/>
          <p:cNvSpPr/>
          <p:nvPr/>
        </p:nvSpPr>
        <p:spPr>
          <a:xfrm>
            <a:off x="4184033" y="5312664"/>
            <a:ext cx="109728" cy="109728"/>
          </a:xfrm>
          <a:prstGeom prst="ellipse">
            <a:avLst/>
          </a:prstGeom>
          <a:solidFill>
            <a:srgbClr val="167C85"/>
          </a:solidFill>
          <a:ln w="8890">
            <a:solidFill>
              <a:srgbClr val="167C85"/>
            </a:solidFill>
            <a:prstDash val="solid"/>
          </a:ln>
        </p:spPr>
      </p:sp>
      <p:sp>
        <p:nvSpPr>
          <p:cNvPr id="100" name="Shape 98"/>
          <p:cNvSpPr/>
          <p:nvPr/>
        </p:nvSpPr>
        <p:spPr>
          <a:xfrm>
            <a:off x="2855541" y="4668012"/>
            <a:ext cx="423498" cy="410383"/>
          </a:xfrm>
          <a:prstGeom prst="line">
            <a:avLst/>
          </a:prstGeom>
          <a:noFill/>
          <a:ln w="25400">
            <a:solidFill>
              <a:srgbClr val="B33B43"/>
            </a:solidFill>
            <a:prstDash val="solid"/>
            <a:headEnd type="none"/>
            <a:tailEnd type="triangle"/>
          </a:ln>
        </p:spPr>
      </p:sp>
      <p:sp>
        <p:nvSpPr>
          <p:cNvPr id="101" name="Text 99"/>
          <p:cNvSpPr/>
          <p:nvPr/>
        </p:nvSpPr>
        <p:spPr>
          <a:xfrm>
            <a:off x="2316045" y="4201668"/>
            <a:ext cx="1005840" cy="256032"/>
          </a:xfrm>
          <a:prstGeom prst="rect">
            <a:avLst/>
          </a:prstGeom>
          <a:noFill/>
          <a:ln/>
        </p:spPr>
        <p:txBody>
          <a:bodyPr wrap="square" lIns="0" tIns="0" rIns="0" bIns="0" rtlCol="0" anchor="ctr"/>
          <a:lstStyle/>
          <a:p>
            <a:pPr indent="0" marL="0">
              <a:buNone/>
            </a:pPr>
            <a:r>
              <a:rPr lang="en-US" sz="1800" b="1" dirty="0">
                <a:solidFill>
                  <a:srgbClr val="B33B43"/>
                </a:solidFill>
                <a:latin typeface="Aptos" pitchFamily="34" charset="0"/>
                <a:ea typeface="Aptos" pitchFamily="34" charset="-122"/>
                <a:cs typeface="Aptos" pitchFamily="34" charset="-120"/>
              </a:rPr>
              <a:t>w = 1</a:t>
            </a:r>
            <a:endParaRPr lang="en-US" sz="1800" dirty="0"/>
          </a:p>
        </p:txBody>
      </p:sp>
      <p:sp>
        <p:nvSpPr>
          <p:cNvPr id="102" name="Text 100"/>
          <p:cNvSpPr/>
          <p:nvPr/>
        </p:nvSpPr>
        <p:spPr>
          <a:xfrm>
            <a:off x="3535070" y="4694347"/>
            <a:ext cx="1152144" cy="283464"/>
          </a:xfrm>
          <a:prstGeom prst="rect">
            <a:avLst/>
          </a:prstGeom>
          <a:noFill/>
          <a:ln/>
        </p:spPr>
        <p:txBody>
          <a:bodyPr wrap="square" lIns="0" tIns="0" rIns="0" bIns="0" rtlCol="0" anchor="ctr"/>
          <a:lstStyle/>
          <a:p>
            <a:pPr indent="0" marL="0">
              <a:buNone/>
            </a:pPr>
            <a:r>
              <a:rPr lang="en-US" sz="1600" b="1" dirty="0">
                <a:solidFill>
                  <a:srgbClr val="176493"/>
                </a:solidFill>
                <a:latin typeface="Aptos" pitchFamily="34" charset="0"/>
                <a:ea typeface="Aptos" pitchFamily="34" charset="-122"/>
                <a:cs typeface="Aptos" pitchFamily="34" charset="-120"/>
              </a:rPr>
              <a:t>w = 1.4</a:t>
            </a:r>
            <a:endParaRPr lang="en-US" sz="1600" dirty="0"/>
          </a:p>
        </p:txBody>
      </p:sp>
      <p:sp>
        <p:nvSpPr>
          <p:cNvPr id="103" name="Text 101"/>
          <p:cNvSpPr/>
          <p:nvPr/>
        </p:nvSpPr>
        <p:spPr>
          <a:xfrm>
            <a:off x="1344168" y="2075688"/>
            <a:ext cx="5065776" cy="237744"/>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Loss L(w)</a:t>
            </a:r>
            <a:endParaRPr lang="en-US" sz="1600" dirty="0"/>
          </a:p>
        </p:txBody>
      </p:sp>
      <p:sp>
        <p:nvSpPr>
          <p:cNvPr id="104" name="Text 102"/>
          <p:cNvSpPr/>
          <p:nvPr/>
        </p:nvSpPr>
        <p:spPr>
          <a:xfrm>
            <a:off x="3172968" y="5888736"/>
            <a:ext cx="2194560" cy="256032"/>
          </a:xfrm>
          <a:prstGeom prst="rect">
            <a:avLst/>
          </a:prstGeom>
          <a:noFill/>
          <a:ln/>
        </p:spPr>
        <p:txBody>
          <a:bodyPr wrap="square" lIns="0" tIns="0" rIns="0" bIns="0" rtlCol="0" anchor="ctr"/>
          <a:lstStyle/>
          <a:p>
            <a:pPr indent="0" marL="0">
              <a:buNone/>
            </a:pPr>
            <a:r>
              <a:rPr lang="en-US" sz="1600" dirty="0">
                <a:solidFill>
                  <a:srgbClr val="53657A"/>
                </a:solidFill>
                <a:latin typeface="Aptos" pitchFamily="34" charset="0"/>
                <a:ea typeface="Aptos" pitchFamily="34" charset="-122"/>
                <a:cs typeface="Aptos" pitchFamily="34" charset="-120"/>
              </a:rPr>
              <a:t>Parameter w</a:t>
            </a:r>
            <a:endParaRPr lang="en-US" sz="1600" dirty="0"/>
          </a:p>
        </p:txBody>
      </p:sp>
      <p:sp>
        <p:nvSpPr>
          <p:cNvPr id="105" name="Text 103"/>
          <p:cNvSpPr/>
          <p:nvPr/>
        </p:nvSpPr>
        <p:spPr>
          <a:xfrm>
            <a:off x="7543800" y="2176272"/>
            <a:ext cx="356616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UPDATE RULE</a:t>
            </a:r>
            <a:endParaRPr lang="en-US" sz="1100" dirty="0"/>
          </a:p>
        </p:txBody>
      </p:sp>
      <p:pic>
        <p:nvPicPr>
          <p:cNvPr id="10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55534" y="2660904"/>
            <a:ext cx="2397557" cy="630936"/>
          </a:xfrm>
          <a:prstGeom prst="rect">
            <a:avLst/>
          </a:prstGeom>
        </p:spPr>
      </p:pic>
      <p:sp>
        <p:nvSpPr>
          <p:cNvPr id="107" name="Text 104"/>
          <p:cNvSpPr/>
          <p:nvPr/>
        </p:nvSpPr>
        <p:spPr>
          <a:xfrm>
            <a:off x="7552944" y="3566160"/>
            <a:ext cx="3657600" cy="310896"/>
          </a:xfrm>
          <a:prstGeom prst="rect">
            <a:avLst/>
          </a:prstGeom>
          <a:noFill/>
          <a:ln/>
        </p:spPr>
        <p:txBody>
          <a:bodyPr wrap="square" lIns="0" tIns="0" rIns="0" bIns="0" rtlCol="0" anchor="ctr"/>
          <a:lstStyle/>
          <a:p>
            <a:pPr indent="0" marL="0">
              <a:buNone/>
            </a:pPr>
            <a:r>
              <a:rPr lang="en-US" sz="1900" dirty="0">
                <a:solidFill>
                  <a:srgbClr val="53657A"/>
                </a:solidFill>
                <a:latin typeface="Aptos" pitchFamily="34" charset="0"/>
                <a:ea typeface="Aptos" pitchFamily="34" charset="-122"/>
                <a:cs typeface="Aptos" pitchFamily="34" charset="-120"/>
              </a:rPr>
              <a:t>Toy example: x = 2, y = 4</a:t>
            </a:r>
            <a:endParaRPr lang="en-US" sz="1900" dirty="0"/>
          </a:p>
        </p:txBody>
      </p:sp>
      <p:pic>
        <p:nvPicPr>
          <p:cNvPr id="10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60171" y="4069080"/>
            <a:ext cx="3788283" cy="557784"/>
          </a:xfrm>
          <a:prstGeom prst="rect">
            <a:avLst/>
          </a:prstGeom>
        </p:spPr>
      </p:pic>
      <p:sp>
        <p:nvSpPr>
          <p:cNvPr id="109" name="Text 105"/>
          <p:cNvSpPr/>
          <p:nvPr/>
        </p:nvSpPr>
        <p:spPr>
          <a:xfrm>
            <a:off x="7562088" y="4974336"/>
            <a:ext cx="3639312" cy="420624"/>
          </a:xfrm>
          <a:prstGeom prst="rect">
            <a:avLst/>
          </a:prstGeom>
          <a:noFill/>
          <a:ln/>
        </p:spPr>
        <p:txBody>
          <a:bodyPr wrap="square" lIns="0" tIns="0" rIns="0" bIns="0" rtlCol="0" anchor="ctr"/>
          <a:lstStyle/>
          <a:p>
            <a:pPr indent="0" marL="0">
              <a:buNone/>
            </a:pPr>
            <a:r>
              <a:rPr lang="en-US" sz="2500" b="1" dirty="0">
                <a:solidFill>
                  <a:srgbClr val="176493"/>
                </a:solidFill>
                <a:latin typeface="Aptos" pitchFamily="34" charset="0"/>
                <a:ea typeface="Aptos" pitchFamily="34" charset="-122"/>
                <a:cs typeface="Aptos" pitchFamily="34" charset="-120"/>
              </a:rPr>
              <a:t>1 - 0.1 x (-4) = 1.4</a:t>
            </a:r>
            <a:endParaRPr lang="en-US" sz="2500" dirty="0"/>
          </a:p>
        </p:txBody>
      </p:sp>
      <p:sp>
        <p:nvSpPr>
          <p:cNvPr id="110" name="Text 106"/>
          <p:cNvSpPr/>
          <p:nvPr/>
        </p:nvSpPr>
        <p:spPr>
          <a:xfrm>
            <a:off x="7562088" y="5650992"/>
            <a:ext cx="3639312" cy="320040"/>
          </a:xfrm>
          <a:prstGeom prst="rect">
            <a:avLst/>
          </a:prstGeom>
          <a:noFill/>
          <a:ln/>
        </p:spPr>
        <p:txBody>
          <a:bodyPr wrap="square" lIns="0" tIns="0" rIns="0" bIns="0" rtlCol="0" anchor="ctr"/>
          <a:lstStyle/>
          <a:p>
            <a:pPr indent="0" marL="0">
              <a:buNone/>
            </a:pPr>
            <a:r>
              <a:rPr lang="en-US" sz="2100" b="1" dirty="0">
                <a:solidFill>
                  <a:srgbClr val="167C85"/>
                </a:solidFill>
                <a:latin typeface="Aptos" pitchFamily="34" charset="0"/>
                <a:ea typeface="Aptos" pitchFamily="34" charset="-122"/>
                <a:cs typeface="Aptos" pitchFamily="34" charset="-120"/>
              </a:rPr>
              <a:t>Loss: 2.00 -&gt; 0.72</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COURSE ARCHITECTURE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New capabilities rest on the fundamentals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20 / 24</a:t>
            </a:r>
            <a:endParaRPr lang="en-US" sz="1000" dirty="0"/>
          </a:p>
        </p:txBody>
      </p:sp>
      <p:sp>
        <p:nvSpPr>
          <p:cNvPr id="10" name="Shape 8"/>
          <p:cNvSpPr/>
          <p:nvPr/>
        </p:nvSpPr>
        <p:spPr>
          <a:xfrm>
            <a:off x="987552" y="1920240"/>
            <a:ext cx="4882896" cy="2395728"/>
          </a:xfrm>
          <a:prstGeom prst="roundRect">
            <a:avLst>
              <a:gd name="adj" fmla="val 3817"/>
            </a:avLst>
          </a:prstGeom>
          <a:solidFill>
            <a:srgbClr val="FFFFFF"/>
          </a:solidFill>
          <a:ln w="10160">
            <a:solidFill>
              <a:srgbClr val="C4D2E2"/>
            </a:solidFill>
            <a:prstDash val="solid"/>
          </a:ln>
        </p:spPr>
      </p:sp>
      <p:sp>
        <p:nvSpPr>
          <p:cNvPr id="11" name="Shape 9"/>
          <p:cNvSpPr/>
          <p:nvPr/>
        </p:nvSpPr>
        <p:spPr>
          <a:xfrm>
            <a:off x="6309360" y="1920240"/>
            <a:ext cx="4882896" cy="2395728"/>
          </a:xfrm>
          <a:prstGeom prst="roundRect">
            <a:avLst>
              <a:gd name="adj" fmla="val 3817"/>
            </a:avLst>
          </a:prstGeom>
          <a:solidFill>
            <a:srgbClr val="FFFFFF"/>
          </a:solidFill>
          <a:ln w="10160">
            <a:solidFill>
              <a:srgbClr val="C4D2E2"/>
            </a:solidFill>
            <a:prstDash val="solid"/>
          </a:ln>
        </p:spPr>
      </p:sp>
      <p:sp>
        <p:nvSpPr>
          <p:cNvPr id="12" name="Shape 10"/>
          <p:cNvSpPr/>
          <p:nvPr/>
        </p:nvSpPr>
        <p:spPr>
          <a:xfrm>
            <a:off x="1415034" y="2439162"/>
            <a:ext cx="466344" cy="363474"/>
          </a:xfrm>
          <a:prstGeom prst="rect">
            <a:avLst>
              <a:gd name="adj" fmla="val 25157"/>
            </a:avLst>
          </a:prstGeom>
          <a:solidFill>
            <a:srgbClr val="E3EFF7"/>
          </a:solidFill>
          <a:ln w="10160">
            <a:solidFill>
              <a:srgbClr val="176493"/>
            </a:solidFill>
            <a:prstDash val="solid"/>
          </a:ln>
        </p:spPr>
      </p:sp>
      <p:sp>
        <p:nvSpPr>
          <p:cNvPr id="13" name="Shape 11"/>
          <p:cNvSpPr/>
          <p:nvPr/>
        </p:nvSpPr>
        <p:spPr>
          <a:xfrm>
            <a:off x="1504188" y="2562606"/>
            <a:ext cx="68580" cy="68580"/>
          </a:xfrm>
          <a:prstGeom prst="ellipse">
            <a:avLst/>
          </a:prstGeom>
          <a:solidFill>
            <a:srgbClr val="FFFFFF"/>
          </a:solidFill>
          <a:ln w="8890">
            <a:solidFill>
              <a:srgbClr val="176493"/>
            </a:solidFill>
            <a:prstDash val="solid"/>
          </a:ln>
        </p:spPr>
      </p:sp>
      <p:sp>
        <p:nvSpPr>
          <p:cNvPr id="14" name="Shape 12"/>
          <p:cNvSpPr/>
          <p:nvPr/>
        </p:nvSpPr>
        <p:spPr>
          <a:xfrm>
            <a:off x="1730502" y="2562606"/>
            <a:ext cx="68580" cy="68580"/>
          </a:xfrm>
          <a:prstGeom prst="ellipse">
            <a:avLst/>
          </a:prstGeom>
          <a:solidFill>
            <a:srgbClr val="FFFFFF"/>
          </a:solidFill>
          <a:ln w="8890">
            <a:solidFill>
              <a:srgbClr val="176493"/>
            </a:solidFill>
            <a:prstDash val="solid"/>
          </a:ln>
        </p:spPr>
      </p:sp>
      <p:sp>
        <p:nvSpPr>
          <p:cNvPr id="15" name="Shape 13"/>
          <p:cNvSpPr/>
          <p:nvPr/>
        </p:nvSpPr>
        <p:spPr>
          <a:xfrm>
            <a:off x="1559052" y="2706624"/>
            <a:ext cx="185166" cy="0"/>
          </a:xfrm>
          <a:prstGeom prst="line">
            <a:avLst/>
          </a:prstGeom>
          <a:noFill/>
          <a:ln w="26670">
            <a:solidFill>
              <a:srgbClr val="176493"/>
            </a:solidFill>
            <a:prstDash val="solid"/>
            <a:headEnd type="none"/>
            <a:tailEnd type="none"/>
          </a:ln>
        </p:spPr>
      </p:sp>
      <p:sp>
        <p:nvSpPr>
          <p:cNvPr id="16" name="Shape 14"/>
          <p:cNvSpPr/>
          <p:nvPr/>
        </p:nvSpPr>
        <p:spPr>
          <a:xfrm>
            <a:off x="1648206" y="2322576"/>
            <a:ext cx="0" cy="116586"/>
          </a:xfrm>
          <a:prstGeom prst="line">
            <a:avLst/>
          </a:prstGeom>
          <a:noFill/>
          <a:ln w="26670">
            <a:solidFill>
              <a:srgbClr val="176493"/>
            </a:solidFill>
            <a:prstDash val="solid"/>
            <a:headEnd type="none"/>
            <a:tailEnd type="none"/>
          </a:ln>
        </p:spPr>
      </p:sp>
      <p:sp>
        <p:nvSpPr>
          <p:cNvPr id="17" name="Shape 15"/>
          <p:cNvSpPr/>
          <p:nvPr/>
        </p:nvSpPr>
        <p:spPr>
          <a:xfrm>
            <a:off x="1613916" y="2288286"/>
            <a:ext cx="68580" cy="68580"/>
          </a:xfrm>
          <a:prstGeom prst="ellipse">
            <a:avLst/>
          </a:prstGeom>
          <a:solidFill>
            <a:srgbClr val="E3EFF7"/>
          </a:solidFill>
          <a:ln w="8890">
            <a:solidFill>
              <a:srgbClr val="176493"/>
            </a:solidFill>
            <a:prstDash val="solid"/>
          </a:ln>
        </p:spPr>
      </p:sp>
      <p:sp>
        <p:nvSpPr>
          <p:cNvPr id="18" name="Shape 16"/>
          <p:cNvSpPr/>
          <p:nvPr/>
        </p:nvSpPr>
        <p:spPr>
          <a:xfrm>
            <a:off x="1312164" y="2555748"/>
            <a:ext cx="102870" cy="0"/>
          </a:xfrm>
          <a:prstGeom prst="line">
            <a:avLst/>
          </a:prstGeom>
          <a:noFill/>
          <a:ln w="26670">
            <a:solidFill>
              <a:srgbClr val="176493"/>
            </a:solidFill>
            <a:prstDash val="solid"/>
            <a:headEnd type="none"/>
            <a:tailEnd type="none"/>
          </a:ln>
        </p:spPr>
      </p:sp>
      <p:sp>
        <p:nvSpPr>
          <p:cNvPr id="19" name="Shape 17"/>
          <p:cNvSpPr/>
          <p:nvPr/>
        </p:nvSpPr>
        <p:spPr>
          <a:xfrm>
            <a:off x="1881378" y="2555748"/>
            <a:ext cx="96012" cy="0"/>
          </a:xfrm>
          <a:prstGeom prst="line">
            <a:avLst/>
          </a:prstGeom>
          <a:noFill/>
          <a:ln w="26670">
            <a:solidFill>
              <a:srgbClr val="176493"/>
            </a:solidFill>
            <a:prstDash val="solid"/>
            <a:headEnd type="none"/>
            <a:tailEnd type="none"/>
          </a:ln>
        </p:spPr>
      </p:sp>
      <p:sp>
        <p:nvSpPr>
          <p:cNvPr id="20" name="Text 18"/>
          <p:cNvSpPr/>
          <p:nvPr/>
        </p:nvSpPr>
        <p:spPr>
          <a:xfrm>
            <a:off x="2203704" y="2322576"/>
            <a:ext cx="3383280" cy="448056"/>
          </a:xfrm>
          <a:prstGeom prst="rect">
            <a:avLst/>
          </a:prstGeom>
          <a:noFill/>
          <a:ln/>
        </p:spPr>
        <p:txBody>
          <a:bodyPr wrap="square" lIns="0" tIns="0" rIns="0" bIns="0" rtlCol="0" anchor="ctr"/>
          <a:lstStyle/>
          <a:p>
            <a:pPr indent="0" marL="0">
              <a:buNone/>
            </a:pPr>
            <a:r>
              <a:rPr lang="en-US" sz="2800" b="1" dirty="0">
                <a:solidFill>
                  <a:srgbClr val="176493"/>
                </a:solidFill>
                <a:latin typeface="Aptos" pitchFamily="34" charset="0"/>
                <a:ea typeface="Aptos" pitchFamily="34" charset="-122"/>
                <a:cs typeface="Aptos" pitchFamily="34" charset="-120"/>
              </a:rPr>
              <a:t>NextGenDS</a:t>
            </a:r>
            <a:endParaRPr lang="en-US" sz="2800" dirty="0"/>
          </a:p>
        </p:txBody>
      </p:sp>
      <p:sp>
        <p:nvSpPr>
          <p:cNvPr id="21" name="Text 19"/>
          <p:cNvSpPr/>
          <p:nvPr/>
        </p:nvSpPr>
        <p:spPr>
          <a:xfrm>
            <a:off x="1307592" y="3191256"/>
            <a:ext cx="4224528" cy="786384"/>
          </a:xfrm>
          <a:prstGeom prst="rect">
            <a:avLst/>
          </a:prstGeom>
          <a:noFill/>
          <a:ln/>
        </p:spPr>
        <p:txBody>
          <a:bodyPr wrap="square" lIns="0" tIns="0" rIns="0" bIns="0" rtlCol="0" anchor="ctr"/>
          <a:lstStyle/>
          <a:p>
            <a:pPr indent="0" marL="0">
              <a:buNone/>
            </a:pPr>
            <a:r>
              <a:rPr lang="en-US" sz="2200" dirty="0">
                <a:solidFill>
                  <a:srgbClr val="53657A"/>
                </a:solidFill>
                <a:latin typeface="Aptos" pitchFamily="34" charset="0"/>
                <a:ea typeface="Aptos" pitchFamily="34" charset="-122"/>
                <a:cs typeface="Aptos" pitchFamily="34" charset="-120"/>
              </a:rPr>
              <a:t>Bounded agentic work</a:t>
            </a:r>
            <a:endParaRPr lang="en-US" sz="2200" dirty="0"/>
          </a:p>
          <a:p>
            <a:pPr indent="0" marL="0">
              <a:buNone/>
            </a:pPr>
            <a:r>
              <a:rPr lang="en-US" sz="2200" dirty="0">
                <a:solidFill>
                  <a:srgbClr val="53657A"/>
                </a:solidFill>
                <a:latin typeface="Aptos" pitchFamily="34" charset="0"/>
                <a:ea typeface="Aptos" pitchFamily="34" charset="-122"/>
                <a:cs typeface="Aptos" pitchFamily="34" charset="-120"/>
              </a:rPr>
              <a:t>Tools, checks, and human decisions</a:t>
            </a:r>
            <a:endParaRPr lang="en-US" sz="2200" dirty="0"/>
          </a:p>
        </p:txBody>
      </p:sp>
      <p:sp>
        <p:nvSpPr>
          <p:cNvPr id="22" name="Shape 20"/>
          <p:cNvSpPr/>
          <p:nvPr/>
        </p:nvSpPr>
        <p:spPr>
          <a:xfrm>
            <a:off x="6727698" y="2336292"/>
            <a:ext cx="466344" cy="548640"/>
          </a:xfrm>
          <a:prstGeom prst="rect">
            <a:avLst>
              <a:gd name="adj" fmla="val 19608"/>
            </a:avLst>
          </a:prstGeom>
          <a:solidFill>
            <a:srgbClr val="FFFFFF"/>
          </a:solidFill>
          <a:ln w="10160">
            <a:solidFill>
              <a:srgbClr val="176493"/>
            </a:solidFill>
            <a:prstDash val="solid"/>
          </a:ln>
        </p:spPr>
      </p:sp>
      <p:sp>
        <p:nvSpPr>
          <p:cNvPr id="23" name="Shape 21"/>
          <p:cNvSpPr/>
          <p:nvPr/>
        </p:nvSpPr>
        <p:spPr>
          <a:xfrm>
            <a:off x="6809994" y="2514600"/>
            <a:ext cx="89154" cy="89154"/>
          </a:xfrm>
          <a:prstGeom prst="line">
            <a:avLst/>
          </a:prstGeom>
          <a:noFill/>
          <a:ln w="31750">
            <a:solidFill>
              <a:srgbClr val="176493"/>
            </a:solidFill>
            <a:prstDash val="solid"/>
            <a:headEnd type="none"/>
            <a:tailEnd type="none"/>
          </a:ln>
        </p:spPr>
      </p:sp>
      <p:sp>
        <p:nvSpPr>
          <p:cNvPr id="24" name="Shape 22"/>
          <p:cNvSpPr/>
          <p:nvPr/>
        </p:nvSpPr>
        <p:spPr>
          <a:xfrm flipV="1">
            <a:off x="6899148" y="2425446"/>
            <a:ext cx="185166" cy="178308"/>
          </a:xfrm>
          <a:prstGeom prst="line">
            <a:avLst/>
          </a:prstGeom>
          <a:noFill/>
          <a:ln w="31750">
            <a:solidFill>
              <a:srgbClr val="176493"/>
            </a:solidFill>
            <a:prstDash val="solid"/>
            <a:headEnd type="none"/>
            <a:tailEnd type="none"/>
          </a:ln>
        </p:spPr>
      </p:sp>
      <p:sp>
        <p:nvSpPr>
          <p:cNvPr id="25" name="Shape 23"/>
          <p:cNvSpPr/>
          <p:nvPr/>
        </p:nvSpPr>
        <p:spPr>
          <a:xfrm>
            <a:off x="6816852" y="2734056"/>
            <a:ext cx="274320" cy="0"/>
          </a:xfrm>
          <a:prstGeom prst="line">
            <a:avLst/>
          </a:prstGeom>
          <a:noFill/>
          <a:ln w="19050">
            <a:solidFill>
              <a:srgbClr val="176493"/>
            </a:solidFill>
            <a:prstDash val="solid"/>
            <a:headEnd type="none"/>
            <a:tailEnd type="none"/>
          </a:ln>
        </p:spPr>
      </p:sp>
      <p:sp>
        <p:nvSpPr>
          <p:cNvPr id="26" name="Shape 24"/>
          <p:cNvSpPr/>
          <p:nvPr/>
        </p:nvSpPr>
        <p:spPr>
          <a:xfrm>
            <a:off x="6816852" y="2802636"/>
            <a:ext cx="219456" cy="0"/>
          </a:xfrm>
          <a:prstGeom prst="line">
            <a:avLst/>
          </a:prstGeom>
          <a:noFill/>
          <a:ln w="19050">
            <a:solidFill>
              <a:srgbClr val="176493"/>
            </a:solidFill>
            <a:prstDash val="solid"/>
            <a:headEnd type="none"/>
            <a:tailEnd type="none"/>
          </a:ln>
        </p:spPr>
      </p:sp>
      <p:sp>
        <p:nvSpPr>
          <p:cNvPr id="27" name="Text 25"/>
          <p:cNvSpPr/>
          <p:nvPr/>
        </p:nvSpPr>
        <p:spPr>
          <a:xfrm>
            <a:off x="7507224" y="2322576"/>
            <a:ext cx="3383280" cy="448056"/>
          </a:xfrm>
          <a:prstGeom prst="rect">
            <a:avLst/>
          </a:prstGeom>
          <a:noFill/>
          <a:ln/>
        </p:spPr>
        <p:txBody>
          <a:bodyPr wrap="square" lIns="0" tIns="0" rIns="0" bIns="0" rtlCol="0" anchor="ctr"/>
          <a:lstStyle/>
          <a:p>
            <a:pPr indent="0" marL="0">
              <a:buNone/>
            </a:pPr>
            <a:r>
              <a:rPr lang="en-US" sz="2600" b="1" dirty="0">
                <a:solidFill>
                  <a:srgbClr val="167C85"/>
                </a:solidFill>
                <a:latin typeface="Aptos" pitchFamily="34" charset="0"/>
                <a:ea typeface="Aptos" pitchFamily="34" charset="-122"/>
                <a:cs typeface="Aptos" pitchFamily="34" charset="-120"/>
              </a:rPr>
              <a:t>YourAIYourData</a:t>
            </a:r>
            <a:endParaRPr lang="en-US" sz="2600" dirty="0"/>
          </a:p>
        </p:txBody>
      </p:sp>
      <p:sp>
        <p:nvSpPr>
          <p:cNvPr id="28" name="Text 26"/>
          <p:cNvSpPr/>
          <p:nvPr/>
        </p:nvSpPr>
        <p:spPr>
          <a:xfrm>
            <a:off x="6611112" y="3191256"/>
            <a:ext cx="4224528" cy="786384"/>
          </a:xfrm>
          <a:prstGeom prst="rect">
            <a:avLst/>
          </a:prstGeom>
          <a:noFill/>
          <a:ln/>
        </p:spPr>
        <p:txBody>
          <a:bodyPr wrap="square" lIns="0" tIns="0" rIns="0" bIns="0" rtlCol="0" anchor="ctr"/>
          <a:lstStyle/>
          <a:p>
            <a:pPr indent="0" marL="0">
              <a:buNone/>
            </a:pPr>
            <a:r>
              <a:rPr lang="en-US" sz="2200" dirty="0">
                <a:solidFill>
                  <a:srgbClr val="53657A"/>
                </a:solidFill>
                <a:latin typeface="Aptos" pitchFamily="34" charset="0"/>
                <a:ea typeface="Aptos" pitchFamily="34" charset="-122"/>
                <a:cs typeface="Aptos" pitchFamily="34" charset="-120"/>
              </a:rPr>
              <a:t>Ownership and control</a:t>
            </a:r>
            <a:endParaRPr lang="en-US" sz="2200" dirty="0"/>
          </a:p>
          <a:p>
            <a:pPr indent="0" marL="0">
              <a:buNone/>
            </a:pPr>
            <a:r>
              <a:rPr lang="en-US" sz="2200" dirty="0">
                <a:solidFill>
                  <a:srgbClr val="53657A"/>
                </a:solidFill>
                <a:latin typeface="Aptos" pitchFamily="34" charset="0"/>
                <a:ea typeface="Aptos" pitchFamily="34" charset="-122"/>
                <a:cs typeface="Aptos" pitchFamily="34" charset="-120"/>
              </a:rPr>
              <a:t>Privacy, locality, and operation</a:t>
            </a:r>
            <a:endParaRPr lang="en-US" sz="2200" dirty="0"/>
          </a:p>
        </p:txBody>
      </p:sp>
      <p:sp>
        <p:nvSpPr>
          <p:cNvPr id="29" name="Shape 27"/>
          <p:cNvSpPr/>
          <p:nvPr/>
        </p:nvSpPr>
        <p:spPr>
          <a:xfrm flipV="1">
            <a:off x="3429000" y="4453128"/>
            <a:ext cx="0" cy="283464"/>
          </a:xfrm>
          <a:prstGeom prst="line">
            <a:avLst/>
          </a:prstGeom>
          <a:noFill/>
          <a:ln w="25400">
            <a:solidFill>
              <a:srgbClr val="2684BF"/>
            </a:solidFill>
            <a:prstDash val="solid"/>
            <a:headEnd type="none"/>
            <a:tailEnd type="triangle"/>
          </a:ln>
        </p:spPr>
      </p:sp>
      <p:sp>
        <p:nvSpPr>
          <p:cNvPr id="30" name="Shape 28"/>
          <p:cNvSpPr/>
          <p:nvPr/>
        </p:nvSpPr>
        <p:spPr>
          <a:xfrm flipV="1">
            <a:off x="8750808" y="4453128"/>
            <a:ext cx="0" cy="283464"/>
          </a:xfrm>
          <a:prstGeom prst="line">
            <a:avLst/>
          </a:prstGeom>
          <a:noFill/>
          <a:ln w="25400">
            <a:solidFill>
              <a:srgbClr val="167C85"/>
            </a:solidFill>
            <a:prstDash val="solid"/>
            <a:headEnd type="none"/>
            <a:tailEnd type="triangle"/>
          </a:ln>
        </p:spPr>
      </p:sp>
      <p:sp>
        <p:nvSpPr>
          <p:cNvPr id="31" name="Shape 29"/>
          <p:cNvSpPr/>
          <p:nvPr/>
        </p:nvSpPr>
        <p:spPr>
          <a:xfrm>
            <a:off x="987552" y="4864608"/>
            <a:ext cx="10204704" cy="1024128"/>
          </a:xfrm>
          <a:prstGeom prst="roundRect">
            <a:avLst>
              <a:gd name="adj" fmla="val 8929"/>
            </a:avLst>
          </a:prstGeom>
          <a:solidFill>
            <a:srgbClr val="263142"/>
          </a:solidFill>
          <a:ln w="12700">
            <a:solidFill>
              <a:srgbClr val="263142"/>
            </a:solidFill>
            <a:prstDash val="solid"/>
          </a:ln>
        </p:spPr>
      </p:sp>
      <p:sp>
        <p:nvSpPr>
          <p:cNvPr id="32" name="Text 30"/>
          <p:cNvSpPr/>
          <p:nvPr/>
        </p:nvSpPr>
        <p:spPr>
          <a:xfrm>
            <a:off x="1280160" y="5038344"/>
            <a:ext cx="2862072" cy="320040"/>
          </a:xfrm>
          <a:prstGeom prst="rect">
            <a:avLst/>
          </a:prstGeom>
          <a:noFill/>
          <a:ln/>
        </p:spPr>
        <p:txBody>
          <a:bodyPr wrap="square" lIns="0" tIns="0" rIns="0" bIns="0" rtlCol="0" anchor="ctr"/>
          <a:lstStyle/>
          <a:p>
            <a:pPr indent="0" marL="0">
              <a:buNone/>
            </a:pPr>
            <a:r>
              <a:rPr lang="en-US" sz="2200" b="1" dirty="0">
                <a:solidFill>
                  <a:srgbClr val="FFFFFF"/>
                </a:solidFill>
                <a:latin typeface="Aptos" pitchFamily="34" charset="0"/>
                <a:ea typeface="Aptos" pitchFamily="34" charset="-122"/>
                <a:cs typeface="Aptos" pitchFamily="34" charset="-120"/>
              </a:rPr>
              <a:t>FUNDAMENTALS</a:t>
            </a:r>
            <a:endParaRPr lang="en-US" sz="2200" dirty="0"/>
          </a:p>
        </p:txBody>
      </p:sp>
      <p:sp>
        <p:nvSpPr>
          <p:cNvPr id="33" name="Text 31"/>
          <p:cNvSpPr/>
          <p:nvPr/>
        </p:nvSpPr>
        <p:spPr>
          <a:xfrm>
            <a:off x="4261104" y="5056632"/>
            <a:ext cx="6592824" cy="292608"/>
          </a:xfrm>
          <a:prstGeom prst="rect">
            <a:avLst/>
          </a:prstGeom>
          <a:noFill/>
          <a:ln/>
        </p:spPr>
        <p:txBody>
          <a:bodyPr wrap="square" lIns="0" tIns="0" rIns="0" bIns="0" rtlCol="0" anchor="ctr"/>
          <a:lstStyle/>
          <a:p>
            <a:pPr algn="ctr" indent="0" marL="0">
              <a:buNone/>
            </a:pPr>
            <a:r>
              <a:rPr lang="en-US" sz="2100" dirty="0">
                <a:solidFill>
                  <a:srgbClr val="FFFFFF"/>
                </a:solidFill>
                <a:latin typeface="Aptos" pitchFamily="34" charset="0"/>
                <a:ea typeface="Aptos" pitchFamily="34" charset="-122"/>
                <a:cs typeface="Aptos" pitchFamily="34" charset="-120"/>
              </a:rPr>
              <a:t>Data  |  Mathematics  |  Models  |  Evaluation</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PROJECT EXPECTATIONS</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Your project must work end to end</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21 / 24</a:t>
            </a:r>
            <a:endParaRPr lang="en-US" sz="1000" dirty="0"/>
          </a:p>
        </p:txBody>
      </p:sp>
      <p:sp>
        <p:nvSpPr>
          <p:cNvPr id="10" name="Shape 8"/>
          <p:cNvSpPr/>
          <p:nvPr/>
        </p:nvSpPr>
        <p:spPr>
          <a:xfrm>
            <a:off x="713232" y="1938528"/>
            <a:ext cx="3511296" cy="3538728"/>
          </a:xfrm>
          <a:prstGeom prst="roundRect">
            <a:avLst>
              <a:gd name="adj" fmla="val 2604"/>
            </a:avLst>
          </a:prstGeom>
          <a:solidFill>
            <a:srgbClr val="FFFFFF"/>
          </a:solidFill>
          <a:ln w="10160">
            <a:solidFill>
              <a:srgbClr val="C4D2E2"/>
            </a:solidFill>
            <a:prstDash val="solid"/>
          </a:ln>
        </p:spPr>
      </p:sp>
      <p:sp>
        <p:nvSpPr>
          <p:cNvPr id="11" name="Shape 9"/>
          <p:cNvSpPr/>
          <p:nvPr/>
        </p:nvSpPr>
        <p:spPr>
          <a:xfrm>
            <a:off x="2079711" y="2271735"/>
            <a:ext cx="723473" cy="723473"/>
          </a:xfrm>
          <a:prstGeom prst="ellipse">
            <a:avLst/>
          </a:prstGeom>
          <a:solidFill>
            <a:srgbClr val="FFFFFF"/>
          </a:solidFill>
          <a:ln w="8890">
            <a:solidFill>
              <a:srgbClr val="176493"/>
            </a:solidFill>
            <a:prstDash val="solid"/>
          </a:ln>
        </p:spPr>
      </p:sp>
      <p:sp>
        <p:nvSpPr>
          <p:cNvPr id="12" name="Shape 10"/>
          <p:cNvSpPr/>
          <p:nvPr/>
        </p:nvSpPr>
        <p:spPr>
          <a:xfrm>
            <a:off x="2222724" y="2414748"/>
            <a:ext cx="437449" cy="437449"/>
          </a:xfrm>
          <a:prstGeom prst="ellipse">
            <a:avLst/>
          </a:prstGeom>
          <a:solidFill>
            <a:srgbClr val="FFFFFF"/>
          </a:solidFill>
          <a:ln w="8890">
            <a:solidFill>
              <a:srgbClr val="176493"/>
            </a:solidFill>
            <a:prstDash val="solid"/>
          </a:ln>
        </p:spPr>
      </p:sp>
      <p:sp>
        <p:nvSpPr>
          <p:cNvPr id="13" name="Shape 11"/>
          <p:cNvSpPr/>
          <p:nvPr/>
        </p:nvSpPr>
        <p:spPr>
          <a:xfrm>
            <a:off x="2365736" y="2557760"/>
            <a:ext cx="151425" cy="151425"/>
          </a:xfrm>
          <a:prstGeom prst="ellipse">
            <a:avLst/>
          </a:prstGeom>
          <a:solidFill>
            <a:srgbClr val="E3EFF7"/>
          </a:solidFill>
          <a:ln w="8890">
            <a:solidFill>
              <a:srgbClr val="176493"/>
            </a:solidFill>
            <a:prstDash val="solid"/>
          </a:ln>
        </p:spPr>
      </p:sp>
      <p:sp>
        <p:nvSpPr>
          <p:cNvPr id="14" name="Shape 12"/>
          <p:cNvSpPr/>
          <p:nvPr/>
        </p:nvSpPr>
        <p:spPr>
          <a:xfrm flipV="1">
            <a:off x="2483510" y="2313798"/>
            <a:ext cx="286024" cy="294437"/>
          </a:xfrm>
          <a:prstGeom prst="line">
            <a:avLst/>
          </a:prstGeom>
          <a:noFill/>
          <a:ln w="31750">
            <a:solidFill>
              <a:srgbClr val="176493"/>
            </a:solidFill>
            <a:prstDash val="solid"/>
            <a:headEnd type="none"/>
            <a:tailEnd type="none"/>
          </a:ln>
        </p:spPr>
      </p:sp>
      <p:sp>
        <p:nvSpPr>
          <p:cNvPr id="15" name="Text 13"/>
          <p:cNvSpPr/>
          <p:nvPr/>
        </p:nvSpPr>
        <p:spPr>
          <a:xfrm>
            <a:off x="941832" y="3282696"/>
            <a:ext cx="3054096" cy="841248"/>
          </a:xfrm>
          <a:prstGeom prst="rect">
            <a:avLst/>
          </a:prstGeom>
          <a:noFill/>
          <a:ln/>
        </p:spPr>
        <p:txBody>
          <a:bodyPr wrap="square" lIns="0" tIns="0" rIns="0" bIns="0" rtlCol="0" anchor="ctr"/>
          <a:lstStyle/>
          <a:p>
            <a:pPr algn="ctr" indent="0" marL="0">
              <a:buNone/>
            </a:pPr>
            <a:r>
              <a:rPr lang="en-US" sz="2300" b="1" dirty="0">
                <a:solidFill>
                  <a:srgbClr val="172233"/>
                </a:solidFill>
                <a:latin typeface="Aptos" pitchFamily="34" charset="0"/>
                <a:ea typeface="Aptos" pitchFamily="34" charset="-122"/>
                <a:cs typeface="Aptos" pitchFamily="34" charset="-120"/>
              </a:rPr>
              <a:t>A real problem</a:t>
            </a:r>
            <a:endParaRPr lang="en-US" sz="2300" dirty="0"/>
          </a:p>
        </p:txBody>
      </p:sp>
      <p:sp>
        <p:nvSpPr>
          <p:cNvPr id="16" name="Text 14"/>
          <p:cNvSpPr/>
          <p:nvPr/>
        </p:nvSpPr>
        <p:spPr>
          <a:xfrm>
            <a:off x="950976" y="4261104"/>
            <a:ext cx="3035808" cy="950976"/>
          </a:xfrm>
          <a:prstGeom prst="rect">
            <a:avLst/>
          </a:prstGeom>
          <a:noFill/>
          <a:ln/>
        </p:spPr>
        <p:txBody>
          <a:bodyPr wrap="square" lIns="0" tIns="0" rIns="0" bIns="0" rtlCol="0" anchor="ctr"/>
          <a:lstStyle/>
          <a:p>
            <a:pPr algn="ctr" indent="0" marL="0">
              <a:buNone/>
            </a:pPr>
            <a:r>
              <a:rPr lang="en-US" sz="1900" dirty="0">
                <a:solidFill>
                  <a:srgbClr val="53657A"/>
                </a:solidFill>
                <a:latin typeface="Aptos" pitchFamily="34" charset="0"/>
                <a:ea typeface="Aptos" pitchFamily="34" charset="-122"/>
                <a:cs typeface="Aptos" pitchFamily="34" charset="-120"/>
              </a:rPr>
              <a:t>Authorized data</a:t>
            </a:r>
            <a:endParaRPr lang="en-US" sz="1900" dirty="0"/>
          </a:p>
          <a:p>
            <a:pPr algn="ctr" indent="0" marL="0">
              <a:buNone/>
            </a:pPr>
            <a:r>
              <a:rPr lang="en-US" sz="1900" dirty="0">
                <a:solidFill>
                  <a:srgbClr val="53657A"/>
                </a:solidFill>
                <a:latin typeface="Aptos" pitchFamily="34" charset="0"/>
                <a:ea typeface="Aptos" pitchFamily="34" charset="-122"/>
                <a:cs typeface="Aptos" pitchFamily="34" charset="-120"/>
              </a:rPr>
              <a:t>Clear user and target</a:t>
            </a:r>
            <a:endParaRPr lang="en-US" sz="1900" dirty="0"/>
          </a:p>
        </p:txBody>
      </p:sp>
      <p:sp>
        <p:nvSpPr>
          <p:cNvPr id="17" name="Shape 15"/>
          <p:cNvSpPr/>
          <p:nvPr/>
        </p:nvSpPr>
        <p:spPr>
          <a:xfrm>
            <a:off x="4462272" y="1938528"/>
            <a:ext cx="3511296" cy="3538728"/>
          </a:xfrm>
          <a:prstGeom prst="roundRect">
            <a:avLst>
              <a:gd name="adj" fmla="val 2604"/>
            </a:avLst>
          </a:prstGeom>
          <a:solidFill>
            <a:srgbClr val="FFFFFF"/>
          </a:solidFill>
          <a:ln w="10160">
            <a:solidFill>
              <a:srgbClr val="C4D2E2"/>
            </a:solidFill>
            <a:prstDash val="solid"/>
          </a:ln>
        </p:spPr>
      </p:sp>
      <p:sp>
        <p:nvSpPr>
          <p:cNvPr id="18" name="Shape 16"/>
          <p:cNvSpPr/>
          <p:nvPr/>
        </p:nvSpPr>
        <p:spPr>
          <a:xfrm flipV="1">
            <a:off x="5921289" y="2339035"/>
            <a:ext cx="269199" cy="100950"/>
          </a:xfrm>
          <a:prstGeom prst="line">
            <a:avLst/>
          </a:prstGeom>
          <a:noFill/>
          <a:ln w="13970">
            <a:solidFill>
              <a:srgbClr val="176493"/>
            </a:solidFill>
            <a:prstDash val="solid"/>
            <a:headEnd type="none"/>
            <a:tailEnd type="none"/>
          </a:ln>
        </p:spPr>
      </p:sp>
      <p:sp>
        <p:nvSpPr>
          <p:cNvPr id="19" name="Shape 17"/>
          <p:cNvSpPr/>
          <p:nvPr/>
        </p:nvSpPr>
        <p:spPr>
          <a:xfrm>
            <a:off x="5921289" y="2439985"/>
            <a:ext cx="269199" cy="193487"/>
          </a:xfrm>
          <a:prstGeom prst="line">
            <a:avLst/>
          </a:prstGeom>
          <a:noFill/>
          <a:ln w="13970">
            <a:solidFill>
              <a:srgbClr val="176493"/>
            </a:solidFill>
            <a:prstDash val="solid"/>
            <a:headEnd type="none"/>
            <a:tailEnd type="none"/>
          </a:ln>
        </p:spPr>
      </p:sp>
      <p:sp>
        <p:nvSpPr>
          <p:cNvPr id="20" name="Shape 18"/>
          <p:cNvSpPr/>
          <p:nvPr/>
        </p:nvSpPr>
        <p:spPr>
          <a:xfrm>
            <a:off x="5921289" y="2439985"/>
            <a:ext cx="269199" cy="479511"/>
          </a:xfrm>
          <a:prstGeom prst="line">
            <a:avLst/>
          </a:prstGeom>
          <a:noFill/>
          <a:ln w="13970">
            <a:solidFill>
              <a:srgbClr val="176493"/>
            </a:solidFill>
            <a:prstDash val="solid"/>
            <a:headEnd type="none"/>
            <a:tailEnd type="none"/>
          </a:ln>
        </p:spPr>
      </p:sp>
      <p:sp>
        <p:nvSpPr>
          <p:cNvPr id="21" name="Shape 19"/>
          <p:cNvSpPr/>
          <p:nvPr/>
        </p:nvSpPr>
        <p:spPr>
          <a:xfrm flipV="1">
            <a:off x="5921289" y="2339035"/>
            <a:ext cx="269199" cy="487924"/>
          </a:xfrm>
          <a:prstGeom prst="line">
            <a:avLst/>
          </a:prstGeom>
          <a:noFill/>
          <a:ln w="13970">
            <a:solidFill>
              <a:srgbClr val="176493"/>
            </a:solidFill>
            <a:prstDash val="solid"/>
            <a:headEnd type="none"/>
            <a:tailEnd type="none"/>
          </a:ln>
        </p:spPr>
      </p:sp>
      <p:sp>
        <p:nvSpPr>
          <p:cNvPr id="22" name="Shape 20"/>
          <p:cNvSpPr/>
          <p:nvPr/>
        </p:nvSpPr>
        <p:spPr>
          <a:xfrm flipV="1">
            <a:off x="5921289" y="2633472"/>
            <a:ext cx="269199" cy="193487"/>
          </a:xfrm>
          <a:prstGeom prst="line">
            <a:avLst/>
          </a:prstGeom>
          <a:noFill/>
          <a:ln w="13970">
            <a:solidFill>
              <a:srgbClr val="176493"/>
            </a:solidFill>
            <a:prstDash val="solid"/>
            <a:headEnd type="none"/>
            <a:tailEnd type="none"/>
          </a:ln>
        </p:spPr>
      </p:sp>
      <p:sp>
        <p:nvSpPr>
          <p:cNvPr id="23" name="Shape 21"/>
          <p:cNvSpPr/>
          <p:nvPr/>
        </p:nvSpPr>
        <p:spPr>
          <a:xfrm>
            <a:off x="5921289" y="2826959"/>
            <a:ext cx="269199" cy="92537"/>
          </a:xfrm>
          <a:prstGeom prst="line">
            <a:avLst/>
          </a:prstGeom>
          <a:noFill/>
          <a:ln w="13970">
            <a:solidFill>
              <a:srgbClr val="176493"/>
            </a:solidFill>
            <a:prstDash val="solid"/>
            <a:headEnd type="none"/>
            <a:tailEnd type="none"/>
          </a:ln>
        </p:spPr>
      </p:sp>
      <p:sp>
        <p:nvSpPr>
          <p:cNvPr id="24" name="Shape 22"/>
          <p:cNvSpPr/>
          <p:nvPr/>
        </p:nvSpPr>
        <p:spPr>
          <a:xfrm>
            <a:off x="6190488" y="2339035"/>
            <a:ext cx="294437" cy="176662"/>
          </a:xfrm>
          <a:prstGeom prst="line">
            <a:avLst/>
          </a:prstGeom>
          <a:noFill/>
          <a:ln w="13970">
            <a:solidFill>
              <a:srgbClr val="176493"/>
            </a:solidFill>
            <a:prstDash val="solid"/>
            <a:headEnd type="none"/>
            <a:tailEnd type="none"/>
          </a:ln>
        </p:spPr>
      </p:sp>
      <p:sp>
        <p:nvSpPr>
          <p:cNvPr id="25" name="Shape 23"/>
          <p:cNvSpPr/>
          <p:nvPr/>
        </p:nvSpPr>
        <p:spPr>
          <a:xfrm>
            <a:off x="6190488" y="2339035"/>
            <a:ext cx="294437" cy="437449"/>
          </a:xfrm>
          <a:prstGeom prst="line">
            <a:avLst/>
          </a:prstGeom>
          <a:noFill/>
          <a:ln w="13970">
            <a:solidFill>
              <a:srgbClr val="176493"/>
            </a:solidFill>
            <a:prstDash val="solid"/>
            <a:headEnd type="none"/>
            <a:tailEnd type="none"/>
          </a:ln>
        </p:spPr>
      </p:sp>
      <p:sp>
        <p:nvSpPr>
          <p:cNvPr id="26" name="Shape 24"/>
          <p:cNvSpPr/>
          <p:nvPr/>
        </p:nvSpPr>
        <p:spPr>
          <a:xfrm flipV="1">
            <a:off x="6190488" y="2515697"/>
            <a:ext cx="294437" cy="117775"/>
          </a:xfrm>
          <a:prstGeom prst="line">
            <a:avLst/>
          </a:prstGeom>
          <a:noFill/>
          <a:ln w="13970">
            <a:solidFill>
              <a:srgbClr val="176493"/>
            </a:solidFill>
            <a:prstDash val="solid"/>
            <a:headEnd type="none"/>
            <a:tailEnd type="none"/>
          </a:ln>
        </p:spPr>
      </p:sp>
      <p:sp>
        <p:nvSpPr>
          <p:cNvPr id="27" name="Shape 25"/>
          <p:cNvSpPr/>
          <p:nvPr/>
        </p:nvSpPr>
        <p:spPr>
          <a:xfrm>
            <a:off x="6190488" y="2633472"/>
            <a:ext cx="294437" cy="143012"/>
          </a:xfrm>
          <a:prstGeom prst="line">
            <a:avLst/>
          </a:prstGeom>
          <a:noFill/>
          <a:ln w="13970">
            <a:solidFill>
              <a:srgbClr val="176493"/>
            </a:solidFill>
            <a:prstDash val="solid"/>
            <a:headEnd type="none"/>
            <a:tailEnd type="none"/>
          </a:ln>
        </p:spPr>
      </p:sp>
      <p:sp>
        <p:nvSpPr>
          <p:cNvPr id="28" name="Shape 26"/>
          <p:cNvSpPr/>
          <p:nvPr/>
        </p:nvSpPr>
        <p:spPr>
          <a:xfrm flipV="1">
            <a:off x="6190488" y="2515697"/>
            <a:ext cx="294437" cy="403799"/>
          </a:xfrm>
          <a:prstGeom prst="line">
            <a:avLst/>
          </a:prstGeom>
          <a:noFill/>
          <a:ln w="13970">
            <a:solidFill>
              <a:srgbClr val="176493"/>
            </a:solidFill>
            <a:prstDash val="solid"/>
            <a:headEnd type="none"/>
            <a:tailEnd type="none"/>
          </a:ln>
        </p:spPr>
      </p:sp>
      <p:sp>
        <p:nvSpPr>
          <p:cNvPr id="29" name="Shape 27"/>
          <p:cNvSpPr/>
          <p:nvPr/>
        </p:nvSpPr>
        <p:spPr>
          <a:xfrm flipV="1">
            <a:off x="6190488" y="2776484"/>
            <a:ext cx="294437" cy="143012"/>
          </a:xfrm>
          <a:prstGeom prst="line">
            <a:avLst/>
          </a:prstGeom>
          <a:noFill/>
          <a:ln w="13970">
            <a:solidFill>
              <a:srgbClr val="176493"/>
            </a:solidFill>
            <a:prstDash val="solid"/>
            <a:headEnd type="none"/>
            <a:tailEnd type="none"/>
          </a:ln>
        </p:spPr>
      </p:sp>
      <p:sp>
        <p:nvSpPr>
          <p:cNvPr id="30" name="Shape 28"/>
          <p:cNvSpPr/>
          <p:nvPr/>
        </p:nvSpPr>
        <p:spPr>
          <a:xfrm>
            <a:off x="5870814" y="2389510"/>
            <a:ext cx="109362" cy="109362"/>
          </a:xfrm>
          <a:prstGeom prst="ellipse">
            <a:avLst/>
          </a:prstGeom>
          <a:solidFill>
            <a:srgbClr val="E3EFF7"/>
          </a:solidFill>
          <a:ln w="8890">
            <a:solidFill>
              <a:srgbClr val="176493"/>
            </a:solidFill>
            <a:prstDash val="solid"/>
          </a:ln>
        </p:spPr>
      </p:sp>
      <p:sp>
        <p:nvSpPr>
          <p:cNvPr id="31" name="Shape 29"/>
          <p:cNvSpPr/>
          <p:nvPr/>
        </p:nvSpPr>
        <p:spPr>
          <a:xfrm>
            <a:off x="5870814" y="2776484"/>
            <a:ext cx="109362" cy="109362"/>
          </a:xfrm>
          <a:prstGeom prst="ellipse">
            <a:avLst/>
          </a:prstGeom>
          <a:solidFill>
            <a:srgbClr val="E3EFF7"/>
          </a:solidFill>
          <a:ln w="8890">
            <a:solidFill>
              <a:srgbClr val="176493"/>
            </a:solidFill>
            <a:prstDash val="solid"/>
          </a:ln>
        </p:spPr>
      </p:sp>
      <p:sp>
        <p:nvSpPr>
          <p:cNvPr id="32" name="Shape 30"/>
          <p:cNvSpPr/>
          <p:nvPr/>
        </p:nvSpPr>
        <p:spPr>
          <a:xfrm>
            <a:off x="6140013" y="2288560"/>
            <a:ext cx="109362" cy="109362"/>
          </a:xfrm>
          <a:prstGeom prst="ellipse">
            <a:avLst/>
          </a:prstGeom>
          <a:solidFill>
            <a:srgbClr val="E3EFF7"/>
          </a:solidFill>
          <a:ln w="8890">
            <a:solidFill>
              <a:srgbClr val="176493"/>
            </a:solidFill>
            <a:prstDash val="solid"/>
          </a:ln>
        </p:spPr>
      </p:sp>
      <p:sp>
        <p:nvSpPr>
          <p:cNvPr id="33" name="Shape 31"/>
          <p:cNvSpPr/>
          <p:nvPr/>
        </p:nvSpPr>
        <p:spPr>
          <a:xfrm>
            <a:off x="6140013" y="2582997"/>
            <a:ext cx="109362" cy="109362"/>
          </a:xfrm>
          <a:prstGeom prst="ellipse">
            <a:avLst/>
          </a:prstGeom>
          <a:solidFill>
            <a:srgbClr val="E3EFF7"/>
          </a:solidFill>
          <a:ln w="8890">
            <a:solidFill>
              <a:srgbClr val="176493"/>
            </a:solidFill>
            <a:prstDash val="solid"/>
          </a:ln>
        </p:spPr>
      </p:sp>
      <p:sp>
        <p:nvSpPr>
          <p:cNvPr id="34" name="Shape 32"/>
          <p:cNvSpPr/>
          <p:nvPr/>
        </p:nvSpPr>
        <p:spPr>
          <a:xfrm>
            <a:off x="6140013" y="2869021"/>
            <a:ext cx="109362" cy="109362"/>
          </a:xfrm>
          <a:prstGeom prst="ellipse">
            <a:avLst/>
          </a:prstGeom>
          <a:solidFill>
            <a:srgbClr val="E3EFF7"/>
          </a:solidFill>
          <a:ln w="8890">
            <a:solidFill>
              <a:srgbClr val="176493"/>
            </a:solidFill>
            <a:prstDash val="solid"/>
          </a:ln>
        </p:spPr>
      </p:sp>
      <p:sp>
        <p:nvSpPr>
          <p:cNvPr id="35" name="Shape 33"/>
          <p:cNvSpPr/>
          <p:nvPr/>
        </p:nvSpPr>
        <p:spPr>
          <a:xfrm>
            <a:off x="6434450" y="2465222"/>
            <a:ext cx="109362" cy="109362"/>
          </a:xfrm>
          <a:prstGeom prst="ellipse">
            <a:avLst/>
          </a:prstGeom>
          <a:solidFill>
            <a:srgbClr val="E3EFF7"/>
          </a:solidFill>
          <a:ln w="8890">
            <a:solidFill>
              <a:srgbClr val="176493"/>
            </a:solidFill>
            <a:prstDash val="solid"/>
          </a:ln>
        </p:spPr>
      </p:sp>
      <p:sp>
        <p:nvSpPr>
          <p:cNvPr id="36" name="Shape 34"/>
          <p:cNvSpPr/>
          <p:nvPr/>
        </p:nvSpPr>
        <p:spPr>
          <a:xfrm>
            <a:off x="6434450" y="2726009"/>
            <a:ext cx="109362" cy="109362"/>
          </a:xfrm>
          <a:prstGeom prst="ellipse">
            <a:avLst/>
          </a:prstGeom>
          <a:solidFill>
            <a:srgbClr val="E3EFF7"/>
          </a:solidFill>
          <a:ln w="8890">
            <a:solidFill>
              <a:srgbClr val="176493"/>
            </a:solidFill>
            <a:prstDash val="solid"/>
          </a:ln>
        </p:spPr>
      </p:sp>
      <p:sp>
        <p:nvSpPr>
          <p:cNvPr id="37" name="Text 35"/>
          <p:cNvSpPr/>
          <p:nvPr/>
        </p:nvSpPr>
        <p:spPr>
          <a:xfrm>
            <a:off x="4690872" y="3282696"/>
            <a:ext cx="3054096" cy="841248"/>
          </a:xfrm>
          <a:prstGeom prst="rect">
            <a:avLst/>
          </a:prstGeom>
          <a:noFill/>
          <a:ln/>
        </p:spPr>
        <p:txBody>
          <a:bodyPr wrap="square" lIns="0" tIns="0" rIns="0" bIns="0" rtlCol="0" anchor="ctr"/>
          <a:lstStyle/>
          <a:p>
            <a:pPr algn="ctr" indent="0" marL="0">
              <a:buNone/>
            </a:pPr>
            <a:r>
              <a:rPr lang="en-US" sz="2300" b="1" dirty="0">
                <a:solidFill>
                  <a:srgbClr val="172233"/>
                </a:solidFill>
                <a:latin typeface="Aptos" pitchFamily="34" charset="0"/>
                <a:ea typeface="Aptos" pitchFamily="34" charset="-122"/>
                <a:cs typeface="Aptos" pitchFamily="34" charset="-120"/>
              </a:rPr>
              <a:t>A complete workflow</a:t>
            </a:r>
            <a:endParaRPr lang="en-US" sz="2300" dirty="0"/>
          </a:p>
        </p:txBody>
      </p:sp>
      <p:sp>
        <p:nvSpPr>
          <p:cNvPr id="38" name="Text 36"/>
          <p:cNvSpPr/>
          <p:nvPr/>
        </p:nvSpPr>
        <p:spPr>
          <a:xfrm>
            <a:off x="4700016" y="4261104"/>
            <a:ext cx="3035808" cy="950976"/>
          </a:xfrm>
          <a:prstGeom prst="rect">
            <a:avLst/>
          </a:prstGeom>
          <a:noFill/>
          <a:ln/>
        </p:spPr>
        <p:txBody>
          <a:bodyPr wrap="square" lIns="0" tIns="0" rIns="0" bIns="0" rtlCol="0" anchor="ctr"/>
          <a:lstStyle/>
          <a:p>
            <a:pPr algn="ctr" indent="0" marL="0">
              <a:buNone/>
            </a:pPr>
            <a:r>
              <a:rPr lang="en-US" sz="1900" dirty="0">
                <a:solidFill>
                  <a:srgbClr val="53657A"/>
                </a:solidFill>
                <a:latin typeface="Aptos" pitchFamily="34" charset="0"/>
                <a:ea typeface="Aptos" pitchFamily="34" charset="-122"/>
                <a:cs typeface="Aptos" pitchFamily="34" charset="-120"/>
              </a:rPr>
              <a:t>Prepare, model, evaluate</a:t>
            </a:r>
            <a:endParaRPr lang="en-US" sz="1900" dirty="0"/>
          </a:p>
          <a:p>
            <a:pPr algn="ctr" indent="0" marL="0">
              <a:buNone/>
            </a:pPr>
            <a:r>
              <a:rPr lang="en-US" sz="1900" dirty="0">
                <a:solidFill>
                  <a:srgbClr val="53657A"/>
                </a:solidFill>
                <a:latin typeface="Aptos" pitchFamily="34" charset="0"/>
                <a:ea typeface="Aptos" pitchFamily="34" charset="-122"/>
                <a:cs typeface="Aptos" pitchFamily="34" charset="-120"/>
              </a:rPr>
              <a:t>Serve a usable result</a:t>
            </a:r>
            <a:endParaRPr lang="en-US" sz="1900" dirty="0"/>
          </a:p>
        </p:txBody>
      </p:sp>
      <p:sp>
        <p:nvSpPr>
          <p:cNvPr id="39" name="Shape 37"/>
          <p:cNvSpPr/>
          <p:nvPr/>
        </p:nvSpPr>
        <p:spPr>
          <a:xfrm>
            <a:off x="8211312" y="1938528"/>
            <a:ext cx="3511296" cy="3538728"/>
          </a:xfrm>
          <a:prstGeom prst="roundRect">
            <a:avLst>
              <a:gd name="adj" fmla="val 2604"/>
            </a:avLst>
          </a:prstGeom>
          <a:solidFill>
            <a:srgbClr val="FFFFFF"/>
          </a:solidFill>
          <a:ln w="10160">
            <a:solidFill>
              <a:srgbClr val="C4D2E2"/>
            </a:solidFill>
            <a:prstDash val="solid"/>
          </a:ln>
        </p:spPr>
      </p:sp>
      <p:sp>
        <p:nvSpPr>
          <p:cNvPr id="40" name="Shape 38"/>
          <p:cNvSpPr/>
          <p:nvPr/>
        </p:nvSpPr>
        <p:spPr>
          <a:xfrm>
            <a:off x="9661916" y="2296973"/>
            <a:ext cx="572049" cy="672998"/>
          </a:xfrm>
          <a:prstGeom prst="rect">
            <a:avLst>
              <a:gd name="adj" fmla="val 15985"/>
            </a:avLst>
          </a:prstGeom>
          <a:solidFill>
            <a:srgbClr val="FFFFFF"/>
          </a:solidFill>
          <a:ln w="10160">
            <a:solidFill>
              <a:srgbClr val="176493"/>
            </a:solidFill>
            <a:prstDash val="solid"/>
          </a:ln>
        </p:spPr>
      </p:sp>
      <p:sp>
        <p:nvSpPr>
          <p:cNvPr id="41" name="Shape 39"/>
          <p:cNvSpPr/>
          <p:nvPr/>
        </p:nvSpPr>
        <p:spPr>
          <a:xfrm>
            <a:off x="9762866" y="2515697"/>
            <a:ext cx="109362" cy="109362"/>
          </a:xfrm>
          <a:prstGeom prst="line">
            <a:avLst/>
          </a:prstGeom>
          <a:noFill/>
          <a:ln w="31750">
            <a:solidFill>
              <a:srgbClr val="176493"/>
            </a:solidFill>
            <a:prstDash val="solid"/>
            <a:headEnd type="none"/>
            <a:tailEnd type="none"/>
          </a:ln>
        </p:spPr>
      </p:sp>
      <p:sp>
        <p:nvSpPr>
          <p:cNvPr id="42" name="Shape 40"/>
          <p:cNvSpPr/>
          <p:nvPr/>
        </p:nvSpPr>
        <p:spPr>
          <a:xfrm flipV="1">
            <a:off x="9872228" y="2406335"/>
            <a:ext cx="227137" cy="218724"/>
          </a:xfrm>
          <a:prstGeom prst="line">
            <a:avLst/>
          </a:prstGeom>
          <a:noFill/>
          <a:ln w="31750">
            <a:solidFill>
              <a:srgbClr val="176493"/>
            </a:solidFill>
            <a:prstDash val="solid"/>
            <a:headEnd type="none"/>
            <a:tailEnd type="none"/>
          </a:ln>
        </p:spPr>
      </p:sp>
      <p:sp>
        <p:nvSpPr>
          <p:cNvPr id="43" name="Shape 41"/>
          <p:cNvSpPr/>
          <p:nvPr/>
        </p:nvSpPr>
        <p:spPr>
          <a:xfrm>
            <a:off x="9771278" y="2784897"/>
            <a:ext cx="336499" cy="0"/>
          </a:xfrm>
          <a:prstGeom prst="line">
            <a:avLst/>
          </a:prstGeom>
          <a:noFill/>
          <a:ln w="19050">
            <a:solidFill>
              <a:srgbClr val="176493"/>
            </a:solidFill>
            <a:prstDash val="solid"/>
            <a:headEnd type="none"/>
            <a:tailEnd type="none"/>
          </a:ln>
        </p:spPr>
      </p:sp>
      <p:sp>
        <p:nvSpPr>
          <p:cNvPr id="44" name="Shape 42"/>
          <p:cNvSpPr/>
          <p:nvPr/>
        </p:nvSpPr>
        <p:spPr>
          <a:xfrm>
            <a:off x="9771278" y="2869021"/>
            <a:ext cx="269199" cy="0"/>
          </a:xfrm>
          <a:prstGeom prst="line">
            <a:avLst/>
          </a:prstGeom>
          <a:noFill/>
          <a:ln w="19050">
            <a:solidFill>
              <a:srgbClr val="176493"/>
            </a:solidFill>
            <a:prstDash val="solid"/>
            <a:headEnd type="none"/>
            <a:tailEnd type="none"/>
          </a:ln>
        </p:spPr>
      </p:sp>
      <p:sp>
        <p:nvSpPr>
          <p:cNvPr id="45" name="Text 43"/>
          <p:cNvSpPr/>
          <p:nvPr/>
        </p:nvSpPr>
        <p:spPr>
          <a:xfrm>
            <a:off x="8439912" y="3282696"/>
            <a:ext cx="3054096" cy="841248"/>
          </a:xfrm>
          <a:prstGeom prst="rect">
            <a:avLst/>
          </a:prstGeom>
          <a:noFill/>
          <a:ln/>
        </p:spPr>
        <p:txBody>
          <a:bodyPr wrap="square" lIns="0" tIns="0" rIns="0" bIns="0" rtlCol="0" anchor="ctr"/>
          <a:lstStyle/>
          <a:p>
            <a:pPr algn="ctr" indent="0" marL="0">
              <a:buNone/>
            </a:pPr>
            <a:r>
              <a:rPr lang="en-US" sz="2300" b="1" dirty="0">
                <a:solidFill>
                  <a:srgbClr val="172233"/>
                </a:solidFill>
                <a:latin typeface="Aptos" pitchFamily="34" charset="0"/>
                <a:ea typeface="Aptos" pitchFamily="34" charset="-122"/>
                <a:cs typeface="Aptos" pitchFamily="34" charset="-120"/>
              </a:rPr>
              <a:t>A defensible result</a:t>
            </a:r>
            <a:endParaRPr lang="en-US" sz="2300" dirty="0"/>
          </a:p>
        </p:txBody>
      </p:sp>
      <p:sp>
        <p:nvSpPr>
          <p:cNvPr id="46" name="Text 44"/>
          <p:cNvSpPr/>
          <p:nvPr/>
        </p:nvSpPr>
        <p:spPr>
          <a:xfrm>
            <a:off x="8449056" y="4261104"/>
            <a:ext cx="3035808" cy="950976"/>
          </a:xfrm>
          <a:prstGeom prst="rect">
            <a:avLst/>
          </a:prstGeom>
          <a:noFill/>
          <a:ln/>
        </p:spPr>
        <p:txBody>
          <a:bodyPr wrap="square" lIns="0" tIns="0" rIns="0" bIns="0" rtlCol="0" anchor="ctr"/>
          <a:lstStyle/>
          <a:p>
            <a:pPr algn="ctr" indent="0" marL="0">
              <a:buNone/>
            </a:pPr>
            <a:r>
              <a:rPr lang="en-US" sz="1900" dirty="0">
                <a:solidFill>
                  <a:srgbClr val="53657A"/>
                </a:solidFill>
                <a:latin typeface="Aptos" pitchFamily="34" charset="0"/>
                <a:ea typeface="Aptos" pitchFamily="34" charset="-122"/>
                <a:cs typeface="Aptos" pitchFamily="34" charset="-120"/>
              </a:rPr>
              <a:t>Repository and report</a:t>
            </a:r>
            <a:endParaRPr lang="en-US" sz="1900" dirty="0"/>
          </a:p>
          <a:p>
            <a:pPr algn="ctr" indent="0" marL="0">
              <a:buNone/>
            </a:pPr>
            <a:r>
              <a:rPr lang="en-US" sz="1900" dirty="0">
                <a:solidFill>
                  <a:srgbClr val="53657A"/>
                </a:solidFill>
                <a:latin typeface="Aptos" pitchFamily="34" charset="0"/>
                <a:ea typeface="Aptos" pitchFamily="34" charset="-122"/>
                <a:cs typeface="Aptos" pitchFamily="34" charset="-120"/>
              </a:rPr>
              <a:t>Demonstration and explanation</a:t>
            </a:r>
            <a:endParaRPr lang="en-US" sz="1900" dirty="0"/>
          </a:p>
        </p:txBody>
      </p:sp>
      <p:sp>
        <p:nvSpPr>
          <p:cNvPr id="47" name="Shape 45"/>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48" name="Text 46"/>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Explain your choices, including limitations and generated contributions.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PROBLEM-FRAMING GUIDE</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Frame the problem before choosing an algorithm</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22 / 24</a:t>
            </a:r>
            <a:endParaRPr lang="en-US" sz="1000" dirty="0"/>
          </a:p>
        </p:txBody>
      </p:sp>
      <p:sp>
        <p:nvSpPr>
          <p:cNvPr id="10" name="Shape 8"/>
          <p:cNvSpPr/>
          <p:nvPr/>
        </p:nvSpPr>
        <p:spPr>
          <a:xfrm>
            <a:off x="3346704" y="1810512"/>
            <a:ext cx="5486400" cy="594360"/>
          </a:xfrm>
          <a:prstGeom prst="roundRect">
            <a:avLst>
              <a:gd name="adj" fmla="val 15385"/>
            </a:avLst>
          </a:prstGeom>
          <a:solidFill>
            <a:srgbClr val="263142"/>
          </a:solidFill>
          <a:ln w="12700">
            <a:solidFill>
              <a:srgbClr val="263142"/>
            </a:solidFill>
            <a:prstDash val="solid"/>
          </a:ln>
        </p:spPr>
      </p:sp>
      <p:sp>
        <p:nvSpPr>
          <p:cNvPr id="11" name="Text 9"/>
          <p:cNvSpPr/>
          <p:nvPr/>
        </p:nvSpPr>
        <p:spPr>
          <a:xfrm>
            <a:off x="3547872" y="1956816"/>
            <a:ext cx="5084064" cy="292608"/>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What decision needs support?</a:t>
            </a:r>
            <a:endParaRPr lang="en-US" sz="2200" dirty="0"/>
          </a:p>
        </p:txBody>
      </p:sp>
      <p:sp>
        <p:nvSpPr>
          <p:cNvPr id="12" name="Shape 10"/>
          <p:cNvSpPr/>
          <p:nvPr/>
        </p:nvSpPr>
        <p:spPr>
          <a:xfrm>
            <a:off x="6089904" y="2432304"/>
            <a:ext cx="0" cy="320040"/>
          </a:xfrm>
          <a:prstGeom prst="line">
            <a:avLst/>
          </a:prstGeom>
          <a:noFill/>
          <a:ln w="20320">
            <a:solidFill>
              <a:srgbClr val="2684BF"/>
            </a:solidFill>
            <a:prstDash val="solid"/>
            <a:headEnd type="none"/>
            <a:tailEnd type="triangle"/>
          </a:ln>
        </p:spPr>
      </p:sp>
      <p:sp>
        <p:nvSpPr>
          <p:cNvPr id="13" name="Shape 11"/>
          <p:cNvSpPr/>
          <p:nvPr/>
        </p:nvSpPr>
        <p:spPr>
          <a:xfrm>
            <a:off x="3895344" y="2788920"/>
            <a:ext cx="4389120" cy="576072"/>
          </a:xfrm>
          <a:prstGeom prst="roundRect">
            <a:avLst>
              <a:gd name="adj" fmla="val 15873"/>
            </a:avLst>
          </a:prstGeom>
          <a:solidFill>
            <a:srgbClr val="E3EFF7"/>
          </a:solidFill>
          <a:ln w="10160">
            <a:solidFill>
              <a:srgbClr val="C4D2E2"/>
            </a:solidFill>
            <a:prstDash val="solid"/>
          </a:ln>
        </p:spPr>
      </p:sp>
      <p:sp>
        <p:nvSpPr>
          <p:cNvPr id="14" name="Text 12"/>
          <p:cNvSpPr/>
          <p:nvPr/>
        </p:nvSpPr>
        <p:spPr>
          <a:xfrm>
            <a:off x="4041648" y="2926080"/>
            <a:ext cx="4096512" cy="292608"/>
          </a:xfrm>
          <a:prstGeom prst="rect">
            <a:avLst/>
          </a:prstGeom>
          <a:noFill/>
          <a:ln/>
        </p:spPr>
        <p:txBody>
          <a:bodyPr wrap="square" lIns="0" tIns="0" rIns="0" bIns="0" rtlCol="0" anchor="ctr"/>
          <a:lstStyle/>
          <a:p>
            <a:pPr algn="ctr" indent="0" marL="0">
              <a:buNone/>
            </a:pPr>
            <a:r>
              <a:rPr lang="en-US" sz="2100" b="1" dirty="0">
                <a:solidFill>
                  <a:srgbClr val="172233"/>
                </a:solidFill>
                <a:latin typeface="Aptos" pitchFamily="34" charset="0"/>
                <a:ea typeface="Aptos" pitchFamily="34" charset="-122"/>
                <a:cs typeface="Aptos" pitchFamily="34" charset="-120"/>
              </a:rPr>
              <a:t>Are useful targets available?</a:t>
            </a:r>
            <a:endParaRPr lang="en-US" sz="2100" dirty="0"/>
          </a:p>
        </p:txBody>
      </p:sp>
      <p:sp>
        <p:nvSpPr>
          <p:cNvPr id="15" name="Shape 13"/>
          <p:cNvSpPr/>
          <p:nvPr/>
        </p:nvSpPr>
        <p:spPr>
          <a:xfrm flipH="1">
            <a:off x="2459736" y="3072384"/>
            <a:ext cx="1335024" cy="0"/>
          </a:xfrm>
          <a:prstGeom prst="line">
            <a:avLst/>
          </a:prstGeom>
          <a:noFill/>
          <a:ln w="19050">
            <a:solidFill>
              <a:srgbClr val="2684BF"/>
            </a:solidFill>
            <a:prstDash val="solid"/>
            <a:headEnd type="none"/>
            <a:tailEnd type="none"/>
          </a:ln>
        </p:spPr>
      </p:sp>
      <p:sp>
        <p:nvSpPr>
          <p:cNvPr id="16" name="Shape 14"/>
          <p:cNvSpPr/>
          <p:nvPr/>
        </p:nvSpPr>
        <p:spPr>
          <a:xfrm>
            <a:off x="2459736" y="3072384"/>
            <a:ext cx="0" cy="950976"/>
          </a:xfrm>
          <a:prstGeom prst="line">
            <a:avLst/>
          </a:prstGeom>
          <a:noFill/>
          <a:ln w="19050">
            <a:solidFill>
              <a:srgbClr val="2684BF"/>
            </a:solidFill>
            <a:prstDash val="solid"/>
            <a:headEnd type="none"/>
            <a:tailEnd type="triangle"/>
          </a:ln>
        </p:spPr>
      </p:sp>
      <p:sp>
        <p:nvSpPr>
          <p:cNvPr id="17" name="Text 15"/>
          <p:cNvSpPr/>
          <p:nvPr/>
        </p:nvSpPr>
        <p:spPr>
          <a:xfrm>
            <a:off x="3017520" y="2752344"/>
            <a:ext cx="685800"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YES</a:t>
            </a:r>
            <a:endParaRPr lang="en-US" sz="1100" dirty="0"/>
          </a:p>
        </p:txBody>
      </p:sp>
      <p:sp>
        <p:nvSpPr>
          <p:cNvPr id="18" name="Shape 16"/>
          <p:cNvSpPr/>
          <p:nvPr/>
        </p:nvSpPr>
        <p:spPr>
          <a:xfrm>
            <a:off x="8385048" y="3072384"/>
            <a:ext cx="1490472" cy="0"/>
          </a:xfrm>
          <a:prstGeom prst="line">
            <a:avLst/>
          </a:prstGeom>
          <a:noFill/>
          <a:ln w="19050">
            <a:solidFill>
              <a:srgbClr val="167C85"/>
            </a:solidFill>
            <a:prstDash val="solid"/>
            <a:headEnd type="none"/>
            <a:tailEnd type="none"/>
          </a:ln>
        </p:spPr>
      </p:sp>
      <p:sp>
        <p:nvSpPr>
          <p:cNvPr id="19" name="Shape 17"/>
          <p:cNvSpPr/>
          <p:nvPr/>
        </p:nvSpPr>
        <p:spPr>
          <a:xfrm>
            <a:off x="9875520" y="3072384"/>
            <a:ext cx="0" cy="950976"/>
          </a:xfrm>
          <a:prstGeom prst="line">
            <a:avLst/>
          </a:prstGeom>
          <a:noFill/>
          <a:ln w="19050">
            <a:solidFill>
              <a:srgbClr val="167C85"/>
            </a:solidFill>
            <a:prstDash val="solid"/>
            <a:headEnd type="none"/>
            <a:tailEnd type="triangle"/>
          </a:ln>
        </p:spPr>
      </p:sp>
      <p:sp>
        <p:nvSpPr>
          <p:cNvPr id="20" name="Text 18"/>
          <p:cNvSpPr/>
          <p:nvPr/>
        </p:nvSpPr>
        <p:spPr>
          <a:xfrm>
            <a:off x="8513064" y="2752344"/>
            <a:ext cx="1828800" cy="228600"/>
          </a:xfrm>
          <a:prstGeom prst="rect">
            <a:avLst/>
          </a:prstGeom>
          <a:noFill/>
          <a:ln/>
        </p:spPr>
        <p:txBody>
          <a:bodyPr wrap="square" lIns="0" tIns="0" rIns="0" bIns="0" rtlCol="0" anchor="ctr"/>
          <a:lstStyle/>
          <a:p>
            <a:pPr indent="0" marL="0">
              <a:buNone/>
            </a:pPr>
            <a:r>
              <a:rPr lang="en-US" sz="1100" b="1" spc="110" kern="0" dirty="0">
                <a:solidFill>
                  <a:srgbClr val="167C85"/>
                </a:solidFill>
                <a:latin typeface="Aptos" pitchFamily="34" charset="0"/>
                <a:ea typeface="Aptos" pitchFamily="34" charset="-122"/>
                <a:cs typeface="Aptos" pitchFamily="34" charset="-120"/>
              </a:rPr>
              <a:t>NO / NOT YET</a:t>
            </a:r>
            <a:endParaRPr lang="en-US" sz="1100" dirty="0"/>
          </a:p>
        </p:txBody>
      </p:sp>
      <p:sp>
        <p:nvSpPr>
          <p:cNvPr id="21" name="Shape 19"/>
          <p:cNvSpPr/>
          <p:nvPr/>
        </p:nvSpPr>
        <p:spPr>
          <a:xfrm>
            <a:off x="804672" y="4169664"/>
            <a:ext cx="4581144" cy="1243584"/>
          </a:xfrm>
          <a:prstGeom prst="roundRect">
            <a:avLst>
              <a:gd name="adj" fmla="val 7353"/>
            </a:avLst>
          </a:prstGeom>
          <a:solidFill>
            <a:srgbClr val="FFFFFF"/>
          </a:solidFill>
          <a:ln w="10160">
            <a:solidFill>
              <a:srgbClr val="C4D2E2"/>
            </a:solidFill>
            <a:prstDash val="solid"/>
          </a:ln>
        </p:spPr>
      </p:sp>
      <p:sp>
        <p:nvSpPr>
          <p:cNvPr id="22" name="Text 20"/>
          <p:cNvSpPr/>
          <p:nvPr/>
        </p:nvSpPr>
        <p:spPr>
          <a:xfrm>
            <a:off x="996696" y="4288536"/>
            <a:ext cx="4197096" cy="539496"/>
          </a:xfrm>
          <a:prstGeom prst="rect">
            <a:avLst/>
          </a:prstGeom>
          <a:noFill/>
          <a:ln/>
        </p:spPr>
        <p:txBody>
          <a:bodyPr wrap="square" lIns="0" tIns="0" rIns="0" bIns="0" rtlCol="0" anchor="ctr"/>
          <a:lstStyle/>
          <a:p>
            <a:pPr indent="0" marL="0">
              <a:buNone/>
            </a:pPr>
            <a:r>
              <a:rPr lang="en-US" sz="2100" b="1" dirty="0">
                <a:solidFill>
                  <a:srgbClr val="176493"/>
                </a:solidFill>
                <a:latin typeface="Aptos" pitchFamily="34" charset="0"/>
                <a:ea typeface="Aptos" pitchFamily="34" charset="-122"/>
                <a:cs typeface="Aptos" pitchFamily="34" charset="-120"/>
              </a:rPr>
              <a:t>Predict a value or category</a:t>
            </a:r>
            <a:endParaRPr lang="en-US" sz="2100" dirty="0"/>
          </a:p>
        </p:txBody>
      </p:sp>
      <p:sp>
        <p:nvSpPr>
          <p:cNvPr id="23" name="Text 21"/>
          <p:cNvSpPr/>
          <p:nvPr/>
        </p:nvSpPr>
        <p:spPr>
          <a:xfrm>
            <a:off x="996696" y="4892040"/>
            <a:ext cx="4197096" cy="292608"/>
          </a:xfrm>
          <a:prstGeom prst="rect">
            <a:avLst/>
          </a:prstGeom>
          <a:noFill/>
          <a:ln/>
        </p:spPr>
        <p:txBody>
          <a:bodyPr wrap="square" lIns="0" tIns="0" rIns="0" bIns="0" rtlCol="0" anchor="ctr"/>
          <a:lstStyle/>
          <a:p>
            <a:pPr indent="0" marL="0">
              <a:buNone/>
            </a:pPr>
            <a:r>
              <a:rPr lang="en-US" sz="1900" dirty="0">
                <a:solidFill>
                  <a:srgbClr val="53657A"/>
                </a:solidFill>
                <a:latin typeface="Aptos" pitchFamily="34" charset="0"/>
                <a:ea typeface="Aptos" pitchFamily="34" charset="-122"/>
                <a:cs typeface="Aptos" pitchFamily="34" charset="-120"/>
              </a:rPr>
              <a:t>Define the horizon, errors, and split.</a:t>
            </a:r>
            <a:endParaRPr lang="en-US" sz="1900" dirty="0"/>
          </a:p>
        </p:txBody>
      </p:sp>
      <p:sp>
        <p:nvSpPr>
          <p:cNvPr id="24" name="Shape 22"/>
          <p:cNvSpPr/>
          <p:nvPr/>
        </p:nvSpPr>
        <p:spPr>
          <a:xfrm>
            <a:off x="6428232" y="4169664"/>
            <a:ext cx="4974336" cy="1243584"/>
          </a:xfrm>
          <a:prstGeom prst="roundRect">
            <a:avLst>
              <a:gd name="adj" fmla="val 7353"/>
            </a:avLst>
          </a:prstGeom>
          <a:solidFill>
            <a:srgbClr val="FFFFFF"/>
          </a:solidFill>
          <a:ln w="10160">
            <a:solidFill>
              <a:srgbClr val="C4D2E2"/>
            </a:solidFill>
            <a:prstDash val="solid"/>
          </a:ln>
        </p:spPr>
      </p:sp>
      <p:sp>
        <p:nvSpPr>
          <p:cNvPr id="25" name="Text 23"/>
          <p:cNvSpPr/>
          <p:nvPr/>
        </p:nvSpPr>
        <p:spPr>
          <a:xfrm>
            <a:off x="6629400" y="4288536"/>
            <a:ext cx="4572000" cy="566928"/>
          </a:xfrm>
          <a:prstGeom prst="rect">
            <a:avLst/>
          </a:prstGeom>
          <a:noFill/>
          <a:ln/>
        </p:spPr>
        <p:txBody>
          <a:bodyPr wrap="square" lIns="0" tIns="0" rIns="0" bIns="0" rtlCol="0" anchor="ctr"/>
          <a:lstStyle/>
          <a:p>
            <a:pPr indent="0" marL="0">
              <a:buNone/>
            </a:pPr>
            <a:r>
              <a:rPr lang="en-US" sz="2000" b="1" dirty="0">
                <a:solidFill>
                  <a:srgbClr val="167C85"/>
                </a:solidFill>
                <a:latin typeface="Aptos" pitchFamily="34" charset="0"/>
                <a:ea typeface="Aptos" pitchFamily="34" charset="-122"/>
                <a:cs typeface="Aptos" pitchFamily="34" charset="-120"/>
              </a:rPr>
              <a:t>Explore structure or improve data</a:t>
            </a:r>
            <a:endParaRPr lang="en-US" sz="2000" dirty="0"/>
          </a:p>
        </p:txBody>
      </p:sp>
      <p:sp>
        <p:nvSpPr>
          <p:cNvPr id="26" name="Text 24"/>
          <p:cNvSpPr/>
          <p:nvPr/>
        </p:nvSpPr>
        <p:spPr>
          <a:xfrm>
            <a:off x="6629400" y="4910328"/>
            <a:ext cx="4572000" cy="393192"/>
          </a:xfrm>
          <a:prstGeom prst="rect">
            <a:avLst/>
          </a:prstGeom>
          <a:noFill/>
          <a:ln/>
        </p:spPr>
        <p:txBody>
          <a:bodyPr wrap="square" lIns="0" tIns="0" rIns="0" bIns="0" rtlCol="0" anchor="ctr"/>
          <a:lstStyle/>
          <a:p>
            <a:pPr indent="0" marL="0">
              <a:buNone/>
            </a:pPr>
            <a:r>
              <a:rPr lang="en-US" sz="1700" dirty="0">
                <a:solidFill>
                  <a:srgbClr val="53657A"/>
                </a:solidFill>
                <a:latin typeface="Aptos" pitchFamily="34" charset="0"/>
                <a:ea typeface="Aptos" pitchFamily="34" charset="-122"/>
                <a:cs typeface="Aptos" pitchFamily="34" charset="-120"/>
              </a:rPr>
              <a:t>Do not invent a target or overstate the claim.</a:t>
            </a:r>
            <a:endParaRPr lang="en-US" sz="1700" dirty="0"/>
          </a:p>
        </p:txBody>
      </p:sp>
      <p:sp>
        <p:nvSpPr>
          <p:cNvPr id="27" name="Shape 25"/>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28" name="Text 26"/>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Then ask: what simple baseline would make the task worth doing?</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WORKED DISCUSSION</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One example, three decisions</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23 / 24</a:t>
            </a:r>
            <a:endParaRPr lang="en-US" sz="1000" dirty="0"/>
          </a:p>
        </p:txBody>
      </p:sp>
      <p:sp>
        <p:nvSpPr>
          <p:cNvPr id="10" name="Shape 8"/>
          <p:cNvSpPr/>
          <p:nvPr/>
        </p:nvSpPr>
        <p:spPr>
          <a:xfrm>
            <a:off x="749808" y="1938528"/>
            <a:ext cx="3977640" cy="3566160"/>
          </a:xfrm>
          <a:prstGeom prst="roundRect">
            <a:avLst>
              <a:gd name="adj" fmla="val 2564"/>
            </a:avLst>
          </a:prstGeom>
          <a:solidFill>
            <a:srgbClr val="FFFFFF"/>
          </a:solidFill>
          <a:ln w="10160">
            <a:solidFill>
              <a:srgbClr val="C4D2E2"/>
            </a:solidFill>
            <a:prstDash val="solid"/>
          </a:ln>
        </p:spPr>
      </p:sp>
      <p:sp>
        <p:nvSpPr>
          <p:cNvPr id="11" name="Shape 9"/>
          <p:cNvSpPr/>
          <p:nvPr/>
        </p:nvSpPr>
        <p:spPr>
          <a:xfrm flipV="1">
            <a:off x="2156887" y="2394631"/>
            <a:ext cx="522305" cy="422819"/>
          </a:xfrm>
          <a:prstGeom prst="line">
            <a:avLst/>
          </a:prstGeom>
          <a:noFill/>
          <a:ln w="26670">
            <a:solidFill>
              <a:srgbClr val="176493"/>
            </a:solidFill>
            <a:prstDash val="solid"/>
            <a:headEnd type="none"/>
            <a:tailEnd type="none"/>
          </a:ln>
        </p:spPr>
      </p:sp>
      <p:sp>
        <p:nvSpPr>
          <p:cNvPr id="12" name="Shape 10"/>
          <p:cNvSpPr/>
          <p:nvPr/>
        </p:nvSpPr>
        <p:spPr>
          <a:xfrm>
            <a:off x="2679192" y="2394631"/>
            <a:ext cx="522305" cy="422819"/>
          </a:xfrm>
          <a:prstGeom prst="line">
            <a:avLst/>
          </a:prstGeom>
          <a:noFill/>
          <a:ln w="26670">
            <a:solidFill>
              <a:srgbClr val="176493"/>
            </a:solidFill>
            <a:prstDash val="solid"/>
            <a:headEnd type="none"/>
            <a:tailEnd type="none"/>
          </a:ln>
        </p:spPr>
      </p:sp>
      <p:sp>
        <p:nvSpPr>
          <p:cNvPr id="13" name="Shape 11"/>
          <p:cNvSpPr/>
          <p:nvPr/>
        </p:nvSpPr>
        <p:spPr>
          <a:xfrm>
            <a:off x="2293681" y="2742834"/>
            <a:ext cx="0" cy="671535"/>
          </a:xfrm>
          <a:prstGeom prst="line">
            <a:avLst/>
          </a:prstGeom>
          <a:noFill/>
          <a:ln w="26670">
            <a:solidFill>
              <a:srgbClr val="176493"/>
            </a:solidFill>
            <a:prstDash val="solid"/>
            <a:headEnd type="none"/>
            <a:tailEnd type="none"/>
          </a:ln>
        </p:spPr>
      </p:sp>
      <p:sp>
        <p:nvSpPr>
          <p:cNvPr id="14" name="Shape 12"/>
          <p:cNvSpPr/>
          <p:nvPr/>
        </p:nvSpPr>
        <p:spPr>
          <a:xfrm>
            <a:off x="3064703" y="2742834"/>
            <a:ext cx="0" cy="671535"/>
          </a:xfrm>
          <a:prstGeom prst="line">
            <a:avLst/>
          </a:prstGeom>
          <a:noFill/>
          <a:ln w="26670">
            <a:solidFill>
              <a:srgbClr val="176493"/>
            </a:solidFill>
            <a:prstDash val="solid"/>
            <a:headEnd type="none"/>
            <a:tailEnd type="none"/>
          </a:ln>
        </p:spPr>
      </p:sp>
      <p:sp>
        <p:nvSpPr>
          <p:cNvPr id="15" name="Shape 13"/>
          <p:cNvSpPr/>
          <p:nvPr/>
        </p:nvSpPr>
        <p:spPr>
          <a:xfrm>
            <a:off x="2293681" y="3414370"/>
            <a:ext cx="771022" cy="0"/>
          </a:xfrm>
          <a:prstGeom prst="line">
            <a:avLst/>
          </a:prstGeom>
          <a:noFill/>
          <a:ln w="26670">
            <a:solidFill>
              <a:srgbClr val="176493"/>
            </a:solidFill>
            <a:prstDash val="solid"/>
            <a:headEnd type="none"/>
            <a:tailEnd type="none"/>
          </a:ln>
        </p:spPr>
      </p:sp>
      <p:sp>
        <p:nvSpPr>
          <p:cNvPr id="16" name="Shape 14"/>
          <p:cNvSpPr/>
          <p:nvPr/>
        </p:nvSpPr>
        <p:spPr>
          <a:xfrm>
            <a:off x="2592141" y="3041294"/>
            <a:ext cx="211409" cy="373075"/>
          </a:xfrm>
          <a:prstGeom prst="rect">
            <a:avLst>
              <a:gd name="adj" fmla="val 43253"/>
            </a:avLst>
          </a:prstGeom>
          <a:solidFill>
            <a:srgbClr val="E3EFF7"/>
          </a:solidFill>
          <a:ln w="10160">
            <a:solidFill>
              <a:srgbClr val="176493"/>
            </a:solidFill>
            <a:prstDash val="solid"/>
          </a:ln>
        </p:spPr>
      </p:sp>
      <p:sp>
        <p:nvSpPr>
          <p:cNvPr id="17" name="Text 15"/>
          <p:cNvSpPr/>
          <p:nvPr/>
        </p:nvSpPr>
        <p:spPr>
          <a:xfrm>
            <a:off x="1051560" y="3794760"/>
            <a:ext cx="3383280" cy="694944"/>
          </a:xfrm>
          <a:prstGeom prst="rect">
            <a:avLst/>
          </a:prstGeom>
          <a:noFill/>
          <a:ln/>
        </p:spPr>
        <p:txBody>
          <a:bodyPr wrap="square" lIns="0" tIns="0" rIns="0" bIns="0" rtlCol="0" anchor="ctr"/>
          <a:lstStyle/>
          <a:p>
            <a:pPr algn="ctr" indent="0" marL="0">
              <a:buNone/>
            </a:pPr>
            <a:r>
              <a:rPr lang="en-US" sz="2600" b="1" dirty="0">
                <a:solidFill>
                  <a:srgbClr val="172233"/>
                </a:solidFill>
                <a:latin typeface="Aptos" pitchFamily="34" charset="0"/>
                <a:ea typeface="Aptos" pitchFamily="34" charset="-122"/>
                <a:cs typeface="Aptos" pitchFamily="34" charset="-120"/>
              </a:rPr>
              <a:t>An apartment-price estimate</a:t>
            </a:r>
            <a:endParaRPr lang="en-US" sz="2600" dirty="0"/>
          </a:p>
        </p:txBody>
      </p:sp>
      <p:sp>
        <p:nvSpPr>
          <p:cNvPr id="18" name="Text 16"/>
          <p:cNvSpPr/>
          <p:nvPr/>
        </p:nvSpPr>
        <p:spPr>
          <a:xfrm>
            <a:off x="1069848" y="4837176"/>
            <a:ext cx="3337560" cy="347472"/>
          </a:xfrm>
          <a:prstGeom prst="rect">
            <a:avLst/>
          </a:prstGeom>
          <a:noFill/>
          <a:ln/>
        </p:spPr>
        <p:txBody>
          <a:bodyPr wrap="square" lIns="0" tIns="0" rIns="0" bIns="0" rtlCol="0" anchor="ctr"/>
          <a:lstStyle/>
          <a:p>
            <a:pPr algn="ctr" indent="0" marL="0">
              <a:buNone/>
            </a:pPr>
            <a:r>
              <a:rPr lang="en-US" sz="1600" dirty="0">
                <a:solidFill>
                  <a:srgbClr val="53657A"/>
                </a:solidFill>
                <a:latin typeface="Aptos" pitchFamily="34" charset="0"/>
                <a:ea typeface="Aptos" pitchFamily="34" charset="-122"/>
                <a:cs typeface="Aptos" pitchFamily="34" charset="-120"/>
              </a:rPr>
              <a:t>Illustrative case, not a new assignment.</a:t>
            </a:r>
            <a:endParaRPr lang="en-US" sz="1600" dirty="0"/>
          </a:p>
        </p:txBody>
      </p:sp>
      <p:sp>
        <p:nvSpPr>
          <p:cNvPr id="19" name="Text 17"/>
          <p:cNvSpPr/>
          <p:nvPr/>
        </p:nvSpPr>
        <p:spPr>
          <a:xfrm>
            <a:off x="5340096" y="2048256"/>
            <a:ext cx="530352"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01</a:t>
            </a:r>
            <a:endParaRPr lang="en-US" sz="1100" dirty="0"/>
          </a:p>
        </p:txBody>
      </p:sp>
      <p:sp>
        <p:nvSpPr>
          <p:cNvPr id="20" name="Text 18"/>
          <p:cNvSpPr/>
          <p:nvPr/>
        </p:nvSpPr>
        <p:spPr>
          <a:xfrm>
            <a:off x="6071616" y="2029968"/>
            <a:ext cx="5093208" cy="320040"/>
          </a:xfrm>
          <a:prstGeom prst="rect">
            <a:avLst/>
          </a:prstGeom>
          <a:noFill/>
          <a:ln/>
        </p:spPr>
        <p:txBody>
          <a:bodyPr wrap="square" lIns="0" tIns="0" rIns="0" bIns="0" rtlCol="0" anchor="ctr"/>
          <a:lstStyle/>
          <a:p>
            <a:pPr indent="0" marL="0">
              <a:buNone/>
            </a:pPr>
            <a:r>
              <a:rPr lang="en-US" sz="2400" b="1" dirty="0">
                <a:solidFill>
                  <a:srgbClr val="172233"/>
                </a:solidFill>
                <a:latin typeface="Aptos" pitchFamily="34" charset="0"/>
                <a:ea typeface="Aptos" pitchFamily="34" charset="-122"/>
                <a:cs typeface="Aptos" pitchFamily="34" charset="-120"/>
              </a:rPr>
              <a:t>Target</a:t>
            </a:r>
            <a:endParaRPr lang="en-US" sz="2400" dirty="0"/>
          </a:p>
        </p:txBody>
      </p:sp>
      <p:sp>
        <p:nvSpPr>
          <p:cNvPr id="21" name="Text 19"/>
          <p:cNvSpPr/>
          <p:nvPr/>
        </p:nvSpPr>
        <p:spPr>
          <a:xfrm>
            <a:off x="6071616" y="2569464"/>
            <a:ext cx="5093208" cy="475488"/>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What does the recorded price represent?</a:t>
            </a:r>
            <a:endParaRPr lang="en-US" sz="2100" dirty="0"/>
          </a:p>
        </p:txBody>
      </p:sp>
      <p:sp>
        <p:nvSpPr>
          <p:cNvPr id="22" name="Text 20"/>
          <p:cNvSpPr/>
          <p:nvPr/>
        </p:nvSpPr>
        <p:spPr>
          <a:xfrm>
            <a:off x="5340096" y="3282696"/>
            <a:ext cx="530352"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02</a:t>
            </a:r>
            <a:endParaRPr lang="en-US" sz="1100" dirty="0"/>
          </a:p>
        </p:txBody>
      </p:sp>
      <p:sp>
        <p:nvSpPr>
          <p:cNvPr id="23" name="Text 21"/>
          <p:cNvSpPr/>
          <p:nvPr/>
        </p:nvSpPr>
        <p:spPr>
          <a:xfrm>
            <a:off x="6071616" y="3264408"/>
            <a:ext cx="5093208" cy="320040"/>
          </a:xfrm>
          <a:prstGeom prst="rect">
            <a:avLst/>
          </a:prstGeom>
          <a:noFill/>
          <a:ln/>
        </p:spPr>
        <p:txBody>
          <a:bodyPr wrap="square" lIns="0" tIns="0" rIns="0" bIns="0" rtlCol="0" anchor="ctr"/>
          <a:lstStyle/>
          <a:p>
            <a:pPr indent="0" marL="0">
              <a:buNone/>
            </a:pPr>
            <a:r>
              <a:rPr lang="en-US" sz="2400" b="1" dirty="0">
                <a:solidFill>
                  <a:srgbClr val="172233"/>
                </a:solidFill>
                <a:latin typeface="Aptos" pitchFamily="34" charset="0"/>
                <a:ea typeface="Aptos" pitchFamily="34" charset="-122"/>
                <a:cs typeface="Aptos" pitchFamily="34" charset="-120"/>
              </a:rPr>
              <a:t>Inputs</a:t>
            </a:r>
            <a:endParaRPr lang="en-US" sz="2400" dirty="0"/>
          </a:p>
        </p:txBody>
      </p:sp>
      <p:sp>
        <p:nvSpPr>
          <p:cNvPr id="24" name="Text 22"/>
          <p:cNvSpPr/>
          <p:nvPr/>
        </p:nvSpPr>
        <p:spPr>
          <a:xfrm>
            <a:off x="6071616" y="3803904"/>
            <a:ext cx="5093208" cy="475488"/>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Which fields exist at prediction time?</a:t>
            </a:r>
            <a:endParaRPr lang="en-US" sz="2100" dirty="0"/>
          </a:p>
        </p:txBody>
      </p:sp>
      <p:sp>
        <p:nvSpPr>
          <p:cNvPr id="25" name="Text 23"/>
          <p:cNvSpPr/>
          <p:nvPr/>
        </p:nvSpPr>
        <p:spPr>
          <a:xfrm>
            <a:off x="5340096" y="4517136"/>
            <a:ext cx="530352" cy="228600"/>
          </a:xfrm>
          <a:prstGeom prst="rect">
            <a:avLst/>
          </a:prstGeom>
          <a:noFill/>
          <a:ln/>
        </p:spPr>
        <p:txBody>
          <a:bodyPr wrap="square" lIns="0" tIns="0" rIns="0" bIns="0" rtlCol="0" anchor="ctr"/>
          <a:lstStyle/>
          <a:p>
            <a:pPr indent="0" marL="0">
              <a:buNone/>
            </a:pPr>
            <a:r>
              <a:rPr lang="en-US" sz="1100" b="1" spc="110" kern="0" dirty="0">
                <a:solidFill>
                  <a:srgbClr val="176493"/>
                </a:solidFill>
                <a:latin typeface="Aptos" pitchFamily="34" charset="0"/>
                <a:ea typeface="Aptos" pitchFamily="34" charset="-122"/>
                <a:cs typeface="Aptos" pitchFamily="34" charset="-120"/>
              </a:rPr>
              <a:t>03</a:t>
            </a:r>
            <a:endParaRPr lang="en-US" sz="1100" dirty="0"/>
          </a:p>
        </p:txBody>
      </p:sp>
      <p:sp>
        <p:nvSpPr>
          <p:cNvPr id="26" name="Text 24"/>
          <p:cNvSpPr/>
          <p:nvPr/>
        </p:nvSpPr>
        <p:spPr>
          <a:xfrm>
            <a:off x="6071616" y="4498848"/>
            <a:ext cx="5093208" cy="320040"/>
          </a:xfrm>
          <a:prstGeom prst="rect">
            <a:avLst/>
          </a:prstGeom>
          <a:noFill/>
          <a:ln/>
        </p:spPr>
        <p:txBody>
          <a:bodyPr wrap="square" lIns="0" tIns="0" rIns="0" bIns="0" rtlCol="0" anchor="ctr"/>
          <a:lstStyle/>
          <a:p>
            <a:pPr indent="0" marL="0">
              <a:buNone/>
            </a:pPr>
            <a:r>
              <a:rPr lang="en-US" sz="2400" b="1" dirty="0">
                <a:solidFill>
                  <a:srgbClr val="172233"/>
                </a:solidFill>
                <a:latin typeface="Aptos" pitchFamily="34" charset="0"/>
                <a:ea typeface="Aptos" pitchFamily="34" charset="-122"/>
                <a:cs typeface="Aptos" pitchFamily="34" charset="-120"/>
              </a:rPr>
              <a:t>Evaluation</a:t>
            </a:r>
            <a:endParaRPr lang="en-US" sz="2400" dirty="0"/>
          </a:p>
        </p:txBody>
      </p:sp>
      <p:sp>
        <p:nvSpPr>
          <p:cNvPr id="27" name="Text 25"/>
          <p:cNvSpPr/>
          <p:nvPr/>
        </p:nvSpPr>
        <p:spPr>
          <a:xfrm>
            <a:off x="6071616" y="5038344"/>
            <a:ext cx="5093208" cy="475488"/>
          </a:xfrm>
          <a:prstGeom prst="rect">
            <a:avLst/>
          </a:prstGeom>
          <a:noFill/>
          <a:ln/>
        </p:spPr>
        <p:txBody>
          <a:bodyPr wrap="square" lIns="0" tIns="0" rIns="0" bIns="0" rtlCol="0" anchor="ctr"/>
          <a:lstStyle/>
          <a:p>
            <a:pPr indent="0" marL="0">
              <a:buNone/>
            </a:pPr>
            <a:r>
              <a:rPr lang="en-US" sz="2100" dirty="0">
                <a:solidFill>
                  <a:srgbClr val="53657A"/>
                </a:solidFill>
                <a:latin typeface="Aptos" pitchFamily="34" charset="0"/>
                <a:ea typeface="Aptos" pitchFamily="34" charset="-122"/>
                <a:cs typeface="Aptos" pitchFamily="34" charset="-120"/>
              </a:rPr>
              <a:t>How will we test on unseen examples?</a:t>
            </a:r>
            <a:endParaRPr lang="en-US" sz="2100" dirty="0"/>
          </a:p>
        </p:txBody>
      </p:sp>
      <p:sp>
        <p:nvSpPr>
          <p:cNvPr id="28" name="Shape 26"/>
          <p:cNvSpPr/>
          <p:nvPr/>
        </p:nvSpPr>
        <p:spPr>
          <a:xfrm>
            <a:off x="594360" y="5897880"/>
            <a:ext cx="11000232" cy="384048"/>
          </a:xfrm>
          <a:prstGeom prst="roundRect">
            <a:avLst>
              <a:gd name="adj" fmla="val 23810"/>
            </a:avLst>
          </a:prstGeom>
          <a:solidFill>
            <a:srgbClr val="E3EFF7"/>
          </a:solidFill>
          <a:ln w="12700">
            <a:solidFill>
              <a:srgbClr val="E3EFF7"/>
            </a:solidFill>
            <a:prstDash val="solid"/>
          </a:ln>
        </p:spPr>
      </p:sp>
      <p:sp>
        <p:nvSpPr>
          <p:cNvPr id="29" name="Text 27"/>
          <p:cNvSpPr/>
          <p:nvPr/>
        </p:nvSpPr>
        <p:spPr>
          <a:xfrm>
            <a:off x="822960" y="5966460"/>
            <a:ext cx="10543032" cy="237744"/>
          </a:xfrm>
          <a:prstGeom prst="rect">
            <a:avLst/>
          </a:prstGeom>
          <a:noFill/>
          <a:ln/>
        </p:spPr>
        <p:txBody>
          <a:bodyPr wrap="square" lIns="0" tIns="0" rIns="0" bIns="0" rtlCol="0" anchor="ctr"/>
          <a:lstStyle/>
          <a:p>
            <a:pPr indent="0" marL="0">
              <a:buNone/>
            </a:pPr>
            <a:r>
              <a:rPr lang="en-US" sz="1700" b="1" dirty="0">
                <a:solidFill>
                  <a:srgbClr val="176493"/>
                </a:solidFill>
                <a:latin typeface="Aptos" pitchFamily="34" charset="0"/>
                <a:ea typeface="Aptos" pitchFamily="34" charset="-122"/>
                <a:cs typeface="Aptos" pitchFamily="34" charset="-120"/>
              </a:rPr>
              <a:t>Do not start training until these questions have clear answers.</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0" y="0"/>
            <a:ext cx="12192000" cy="438912"/>
          </a:xfrm>
          <a:prstGeom prst="rect">
            <a:avLst>
              <a:gd name="adj" fmla="val 20833"/>
            </a:avLst>
          </a:prstGeom>
          <a:solidFill>
            <a:srgbClr val="E7EEF7"/>
          </a:solidFill>
          <a:ln w="12700">
            <a:solidFill>
              <a:srgbClr val="E7EEF7"/>
            </a:solidFill>
            <a:prstDash val="solid"/>
          </a:ln>
        </p:spPr>
      </p:sp>
      <p:sp>
        <p:nvSpPr>
          <p:cNvPr id="3" name="Text 1"/>
          <p:cNvSpPr/>
          <p:nvPr/>
        </p:nvSpPr>
        <p:spPr>
          <a:xfrm>
            <a:off x="594360" y="100584"/>
            <a:ext cx="731520" cy="201168"/>
          </a:xfrm>
          <a:prstGeom prst="rect">
            <a:avLst/>
          </a:prstGeom>
          <a:noFill/>
          <a:ln/>
        </p:spPr>
        <p:txBody>
          <a:bodyPr wrap="square" lIns="0" tIns="0" rIns="0" bIns="0" rtlCol="0" anchor="ctr"/>
          <a:lstStyle/>
          <a:p>
            <a:pPr indent="0" marL="0">
              <a:buNone/>
            </a:pPr>
            <a:r>
              <a:rPr lang="en-US" sz="1100" b="1" dirty="0">
                <a:solidFill>
                  <a:srgbClr val="176493"/>
                </a:solidFill>
                <a:latin typeface="Aptos" pitchFamily="34" charset="0"/>
                <a:ea typeface="Aptos" pitchFamily="34" charset="-122"/>
                <a:cs typeface="Aptos" pitchFamily="34" charset="-120"/>
              </a:rPr>
              <a:t>DS101</a:t>
            </a:r>
            <a:endParaRPr lang="en-US" sz="1100" dirty="0"/>
          </a:p>
        </p:txBody>
      </p:sp>
      <p:sp>
        <p:nvSpPr>
          <p:cNvPr id="4" name="Text 2"/>
          <p:cNvSpPr/>
          <p:nvPr/>
        </p:nvSpPr>
        <p:spPr>
          <a:xfrm>
            <a:off x="1463040" y="100584"/>
            <a:ext cx="1828800" cy="201168"/>
          </a:xfrm>
          <a:prstGeom prst="rect">
            <a:avLst/>
          </a:prstGeom>
          <a:noFill/>
          <a:ln/>
        </p:spPr>
        <p:txBody>
          <a:bodyPr wrap="square" lIns="0" tIns="0" rIns="0" bIns="0" rtlCol="0" anchor="ctr"/>
          <a:lstStyle/>
          <a:p>
            <a:pPr indent="0" marL="0">
              <a:buNone/>
            </a:pPr>
            <a:r>
              <a:rPr lang="en-US" sz="1000" b="1" spc="110" kern="0" dirty="0">
                <a:solidFill>
                  <a:srgbClr val="53657A"/>
                </a:solidFill>
                <a:latin typeface="Aptos" pitchFamily="34" charset="0"/>
                <a:ea typeface="Aptos" pitchFamily="34" charset="-122"/>
                <a:cs typeface="Aptos" pitchFamily="34" charset="-120"/>
              </a:rPr>
              <a:t>LECTURE 01</a:t>
            </a:r>
            <a:endParaRPr lang="en-US" sz="1000" dirty="0"/>
          </a:p>
        </p:txBody>
      </p:sp>
      <p:sp>
        <p:nvSpPr>
          <p:cNvPr id="5" name="Text 3"/>
          <p:cNvSpPr/>
          <p:nvPr/>
        </p:nvSpPr>
        <p:spPr>
          <a:xfrm>
            <a:off x="8321040" y="100584"/>
            <a:ext cx="3264408" cy="201168"/>
          </a:xfrm>
          <a:prstGeom prst="rect">
            <a:avLst/>
          </a:prstGeom>
          <a:noFill/>
          <a:ln/>
        </p:spPr>
        <p:txBody>
          <a:bodyPr wrap="square" lIns="0" tIns="0" rIns="0" bIns="0" rtlCol="0" anchor="ctr"/>
          <a:lstStyle/>
          <a:p>
            <a:pPr algn="r" indent="0" marL="0">
              <a:buNone/>
            </a:pPr>
            <a:r>
              <a:rPr lang="en-US" sz="1000" spc="80" kern="0" dirty="0">
                <a:solidFill>
                  <a:srgbClr val="53657A"/>
                </a:solidFill>
                <a:latin typeface="Aptos" pitchFamily="34" charset="0"/>
                <a:ea typeface="Aptos" pitchFamily="34" charset="-122"/>
                <a:cs typeface="Aptos" pitchFamily="34" charset="-120"/>
              </a:rPr>
              <a:t>CLOSING</a:t>
            </a:r>
            <a:endParaRPr lang="en-US" sz="1000" dirty="0"/>
          </a:p>
        </p:txBody>
      </p:sp>
      <p:sp>
        <p:nvSpPr>
          <p:cNvPr id="6" name="Text 4"/>
          <p:cNvSpPr/>
          <p:nvPr/>
        </p:nvSpPr>
        <p:spPr>
          <a:xfrm>
            <a:off x="594360" y="758952"/>
            <a:ext cx="10972800" cy="658368"/>
          </a:xfrm>
          <a:prstGeom prst="rect">
            <a:avLst/>
          </a:prstGeom>
          <a:noFill/>
          <a:ln/>
        </p:spPr>
        <p:txBody>
          <a:bodyPr wrap="square" lIns="0" tIns="0" rIns="0" bIns="0" rtlCol="0" anchor="ctr">
            <a:normAutofit/>
          </a:bodyPr>
          <a:lstStyle/>
          <a:p>
            <a:pPr indent="0" marL="0">
              <a:buNone/>
            </a:pPr>
            <a:r>
              <a:rPr lang="en-US" sz="3000" b="1" dirty="0">
                <a:solidFill>
                  <a:srgbClr val="172233"/>
                </a:solidFill>
                <a:latin typeface="Aptos" pitchFamily="34" charset="0"/>
                <a:ea typeface="Aptos" pitchFamily="34" charset="-122"/>
                <a:cs typeface="Aptos" pitchFamily="34" charset="-120"/>
              </a:rPr>
              <a:t>What to take away from Lecture 01</a:t>
            </a:r>
            <a:endParaRPr lang="en-US" sz="3000" dirty="0"/>
          </a:p>
        </p:txBody>
      </p:sp>
      <p:sp>
        <p:nvSpPr>
          <p:cNvPr id="7" name="Shape 5"/>
          <p:cNvSpPr/>
          <p:nvPr/>
        </p:nvSpPr>
        <p:spPr>
          <a:xfrm>
            <a:off x="594360" y="6419088"/>
            <a:ext cx="11000232" cy="0"/>
          </a:xfrm>
          <a:prstGeom prst="line">
            <a:avLst/>
          </a:prstGeom>
          <a:noFill/>
          <a:ln w="8890">
            <a:solidFill>
              <a:srgbClr val="C4D2E2"/>
            </a:solidFill>
            <a:prstDash val="solid"/>
            <a:headEnd type="none"/>
            <a:tailEnd type="none"/>
          </a:ln>
        </p:spPr>
      </p:sp>
      <p:sp>
        <p:nvSpPr>
          <p:cNvPr id="8" name="Text 6"/>
          <p:cNvSpPr/>
          <p:nvPr/>
        </p:nvSpPr>
        <p:spPr>
          <a:xfrm>
            <a:off x="594360" y="6510528"/>
            <a:ext cx="3657600" cy="164592"/>
          </a:xfrm>
          <a:prstGeom prst="rect">
            <a:avLst/>
          </a:prstGeom>
          <a:noFill/>
          <a:ln/>
        </p:spPr>
        <p:txBody>
          <a:bodyPr wrap="square" lIns="0" tIns="0" rIns="0" bIns="0" rtlCol="0" anchor="ctr"/>
          <a:lstStyle/>
          <a:p>
            <a:pPr indent="0" marL="0">
              <a:buNone/>
            </a:pPr>
            <a:r>
              <a:rPr lang="en-US" sz="900" dirty="0">
                <a:solidFill>
                  <a:srgbClr val="53657A"/>
                </a:solidFill>
                <a:latin typeface="Aptos" pitchFamily="34" charset="0"/>
                <a:ea typeface="Aptos" pitchFamily="34" charset="-122"/>
                <a:cs typeface="Aptos" pitchFamily="34" charset="-120"/>
              </a:rPr>
              <a:t>DS101 | 2026-2027</a:t>
            </a:r>
            <a:endParaRPr lang="en-US" sz="900" dirty="0"/>
          </a:p>
        </p:txBody>
      </p:sp>
      <p:sp>
        <p:nvSpPr>
          <p:cNvPr id="9" name="Text 7"/>
          <p:cNvSpPr/>
          <p:nvPr/>
        </p:nvSpPr>
        <p:spPr>
          <a:xfrm>
            <a:off x="10680192" y="6492240"/>
            <a:ext cx="914400" cy="201168"/>
          </a:xfrm>
          <a:prstGeom prst="rect">
            <a:avLst/>
          </a:prstGeom>
          <a:noFill/>
          <a:ln/>
        </p:spPr>
        <p:txBody>
          <a:bodyPr wrap="square" lIns="0" tIns="0" rIns="0" bIns="0" rtlCol="0" anchor="ctr"/>
          <a:lstStyle/>
          <a:p>
            <a:pPr algn="r" indent="0" marL="0">
              <a:buNone/>
            </a:pPr>
            <a:r>
              <a:rPr lang="en-US" sz="1000" dirty="0">
                <a:solidFill>
                  <a:srgbClr val="53657A"/>
                </a:solidFill>
                <a:latin typeface="Aptos" pitchFamily="34" charset="0"/>
                <a:ea typeface="Aptos" pitchFamily="34" charset="-122"/>
                <a:cs typeface="Aptos" pitchFamily="34" charset="-120"/>
              </a:rPr>
              <a:t>24 / 24</a:t>
            </a:r>
            <a:endParaRPr lang="en-US" sz="1000" dirty="0"/>
          </a:p>
        </p:txBody>
      </p:sp>
      <p:sp>
        <p:nvSpPr>
          <p:cNvPr id="10" name="Shape 8"/>
          <p:cNvSpPr/>
          <p:nvPr/>
        </p:nvSpPr>
        <p:spPr>
          <a:xfrm>
            <a:off x="822960" y="2075688"/>
            <a:ext cx="256032" cy="256032"/>
          </a:xfrm>
          <a:prstGeom prst="ellipse">
            <a:avLst/>
          </a:prstGeom>
          <a:solidFill>
            <a:srgbClr val="176493"/>
          </a:solidFill>
          <a:ln w="8890">
            <a:solidFill>
              <a:srgbClr val="176493"/>
            </a:solidFill>
            <a:prstDash val="solid"/>
          </a:ln>
        </p:spPr>
      </p:sp>
      <p:sp>
        <p:nvSpPr>
          <p:cNvPr id="11" name="Text 9"/>
          <p:cNvSpPr/>
          <p:nvPr/>
        </p:nvSpPr>
        <p:spPr>
          <a:xfrm>
            <a:off x="1335024" y="1956816"/>
            <a:ext cx="9555480" cy="411480"/>
          </a:xfrm>
          <a:prstGeom prst="rect">
            <a:avLst/>
          </a:prstGeom>
          <a:noFill/>
          <a:ln/>
        </p:spPr>
        <p:txBody>
          <a:bodyPr wrap="square" lIns="0" tIns="0" rIns="0" bIns="0" rtlCol="0" anchor="ctr"/>
          <a:lstStyle/>
          <a:p>
            <a:pPr indent="0" marL="0">
              <a:buNone/>
            </a:pPr>
            <a:r>
              <a:rPr lang="en-US" sz="2800" b="1" dirty="0">
                <a:solidFill>
                  <a:srgbClr val="172233"/>
                </a:solidFill>
                <a:latin typeface="Aptos" pitchFamily="34" charset="0"/>
                <a:ea typeface="Aptos" pitchFamily="34" charset="-122"/>
                <a:cs typeface="Aptos" pitchFamily="34" charset="-120"/>
              </a:rPr>
              <a:t>Start with the decision.</a:t>
            </a:r>
            <a:endParaRPr lang="en-US" sz="2800" dirty="0"/>
          </a:p>
        </p:txBody>
      </p:sp>
      <p:sp>
        <p:nvSpPr>
          <p:cNvPr id="12" name="Text 10"/>
          <p:cNvSpPr/>
          <p:nvPr/>
        </p:nvSpPr>
        <p:spPr>
          <a:xfrm>
            <a:off x="1335024" y="2487168"/>
            <a:ext cx="9555480" cy="365760"/>
          </a:xfrm>
          <a:prstGeom prst="rect">
            <a:avLst/>
          </a:prstGeom>
          <a:noFill/>
          <a:ln/>
        </p:spPr>
        <p:txBody>
          <a:bodyPr wrap="square" lIns="0" tIns="0" rIns="0" bIns="0" rtlCol="0" anchor="ctr"/>
          <a:lstStyle/>
          <a:p>
            <a:pPr indent="0" marL="0">
              <a:buNone/>
            </a:pPr>
            <a:r>
              <a:rPr lang="en-US" sz="2200" dirty="0">
                <a:solidFill>
                  <a:srgbClr val="53657A"/>
                </a:solidFill>
                <a:latin typeface="Aptos" pitchFamily="34" charset="0"/>
                <a:ea typeface="Aptos" pitchFamily="34" charset="-122"/>
                <a:cs typeface="Aptos" pitchFamily="34" charset="-120"/>
              </a:rPr>
              <a:t>A model is a means, not the objective.</a:t>
            </a:r>
            <a:endParaRPr lang="en-US" sz="2200" dirty="0"/>
          </a:p>
        </p:txBody>
      </p:sp>
      <p:sp>
        <p:nvSpPr>
          <p:cNvPr id="13" name="Shape 11"/>
          <p:cNvSpPr/>
          <p:nvPr/>
        </p:nvSpPr>
        <p:spPr>
          <a:xfrm>
            <a:off x="822960" y="3218688"/>
            <a:ext cx="256032" cy="256032"/>
          </a:xfrm>
          <a:prstGeom prst="ellipse">
            <a:avLst/>
          </a:prstGeom>
          <a:solidFill>
            <a:srgbClr val="176493"/>
          </a:solidFill>
          <a:ln w="8890">
            <a:solidFill>
              <a:srgbClr val="176493"/>
            </a:solidFill>
            <a:prstDash val="solid"/>
          </a:ln>
        </p:spPr>
      </p:sp>
      <p:sp>
        <p:nvSpPr>
          <p:cNvPr id="14" name="Text 12"/>
          <p:cNvSpPr/>
          <p:nvPr/>
        </p:nvSpPr>
        <p:spPr>
          <a:xfrm>
            <a:off x="1335024" y="3099816"/>
            <a:ext cx="9555480" cy="411480"/>
          </a:xfrm>
          <a:prstGeom prst="rect">
            <a:avLst/>
          </a:prstGeom>
          <a:noFill/>
          <a:ln/>
        </p:spPr>
        <p:txBody>
          <a:bodyPr wrap="square" lIns="0" tIns="0" rIns="0" bIns="0" rtlCol="0" anchor="ctr"/>
          <a:lstStyle/>
          <a:p>
            <a:pPr indent="0" marL="0">
              <a:buNone/>
            </a:pPr>
            <a:r>
              <a:rPr lang="en-US" sz="2800" b="1" dirty="0">
                <a:solidFill>
                  <a:srgbClr val="172233"/>
                </a:solidFill>
                <a:latin typeface="Aptos" pitchFamily="34" charset="0"/>
                <a:ea typeface="Aptos" pitchFamily="34" charset="-122"/>
                <a:cs typeface="Aptos" pitchFamily="34" charset="-120"/>
              </a:rPr>
              <a:t>Trust the data and the test.</a:t>
            </a:r>
            <a:endParaRPr lang="en-US" sz="2800" dirty="0"/>
          </a:p>
        </p:txBody>
      </p:sp>
      <p:sp>
        <p:nvSpPr>
          <p:cNvPr id="15" name="Text 13"/>
          <p:cNvSpPr/>
          <p:nvPr/>
        </p:nvSpPr>
        <p:spPr>
          <a:xfrm>
            <a:off x="1335024" y="3630168"/>
            <a:ext cx="9555480" cy="365760"/>
          </a:xfrm>
          <a:prstGeom prst="rect">
            <a:avLst/>
          </a:prstGeom>
          <a:noFill/>
          <a:ln/>
        </p:spPr>
        <p:txBody>
          <a:bodyPr wrap="square" lIns="0" tIns="0" rIns="0" bIns="0" rtlCol="0" anchor="ctr"/>
          <a:lstStyle/>
          <a:p>
            <a:pPr indent="0" marL="0">
              <a:buNone/>
            </a:pPr>
            <a:r>
              <a:rPr lang="en-US" sz="2200" dirty="0">
                <a:solidFill>
                  <a:srgbClr val="53657A"/>
                </a:solidFill>
                <a:latin typeface="Aptos" pitchFamily="34" charset="0"/>
                <a:ea typeface="Aptos" pitchFamily="34" charset="-122"/>
                <a:cs typeface="Aptos" pitchFamily="34" charset="-120"/>
              </a:rPr>
              <a:t>A good score needs a credible evaluation.</a:t>
            </a:r>
            <a:endParaRPr lang="en-US" sz="2200" dirty="0"/>
          </a:p>
        </p:txBody>
      </p:sp>
      <p:sp>
        <p:nvSpPr>
          <p:cNvPr id="16" name="Shape 14"/>
          <p:cNvSpPr/>
          <p:nvPr/>
        </p:nvSpPr>
        <p:spPr>
          <a:xfrm>
            <a:off x="822960" y="4361688"/>
            <a:ext cx="256032" cy="256032"/>
          </a:xfrm>
          <a:prstGeom prst="ellipse">
            <a:avLst/>
          </a:prstGeom>
          <a:solidFill>
            <a:srgbClr val="167C85"/>
          </a:solidFill>
          <a:ln w="8890">
            <a:solidFill>
              <a:srgbClr val="167C85"/>
            </a:solidFill>
            <a:prstDash val="solid"/>
          </a:ln>
        </p:spPr>
      </p:sp>
      <p:sp>
        <p:nvSpPr>
          <p:cNvPr id="17" name="Text 15"/>
          <p:cNvSpPr/>
          <p:nvPr/>
        </p:nvSpPr>
        <p:spPr>
          <a:xfrm>
            <a:off x="1335024" y="4242816"/>
            <a:ext cx="9555480" cy="411480"/>
          </a:xfrm>
          <a:prstGeom prst="rect">
            <a:avLst/>
          </a:prstGeom>
          <a:noFill/>
          <a:ln/>
        </p:spPr>
        <p:txBody>
          <a:bodyPr wrap="square" lIns="0" tIns="0" rIns="0" bIns="0" rtlCol="0" anchor="ctr"/>
          <a:lstStyle/>
          <a:p>
            <a:pPr indent="0" marL="0">
              <a:buNone/>
            </a:pPr>
            <a:r>
              <a:rPr lang="en-US" sz="2800" b="1" dirty="0">
                <a:solidFill>
                  <a:srgbClr val="172233"/>
                </a:solidFill>
                <a:latin typeface="Aptos" pitchFamily="34" charset="0"/>
                <a:ea typeface="Aptos" pitchFamily="34" charset="-122"/>
                <a:cs typeface="Aptos" pitchFamily="34" charset="-120"/>
              </a:rPr>
              <a:t>Explain how learning works.</a:t>
            </a:r>
            <a:endParaRPr lang="en-US" sz="2800" dirty="0"/>
          </a:p>
        </p:txBody>
      </p:sp>
      <p:sp>
        <p:nvSpPr>
          <p:cNvPr id="18" name="Text 16"/>
          <p:cNvSpPr/>
          <p:nvPr/>
        </p:nvSpPr>
        <p:spPr>
          <a:xfrm>
            <a:off x="1335024" y="4773168"/>
            <a:ext cx="9555480" cy="365760"/>
          </a:xfrm>
          <a:prstGeom prst="rect">
            <a:avLst/>
          </a:prstGeom>
          <a:noFill/>
          <a:ln/>
        </p:spPr>
        <p:txBody>
          <a:bodyPr wrap="square" lIns="0" tIns="0" rIns="0" bIns="0" rtlCol="0" anchor="ctr"/>
          <a:lstStyle/>
          <a:p>
            <a:pPr indent="0" marL="0">
              <a:buNone/>
            </a:pPr>
            <a:r>
              <a:rPr lang="en-US" sz="2200" dirty="0">
                <a:solidFill>
                  <a:srgbClr val="53657A"/>
                </a:solidFill>
                <a:latin typeface="Aptos" pitchFamily="34" charset="0"/>
                <a:ea typeface="Aptos" pitchFamily="34" charset="-122"/>
                <a:cs typeface="Aptos" pitchFamily="34" charset="-120"/>
              </a:rPr>
              <a:t>Predictions, errors, loss, parameter updates.</a:t>
            </a:r>
            <a:endParaRPr lang="en-US" sz="2200" dirty="0"/>
          </a:p>
        </p:txBody>
      </p:sp>
      <p:sp>
        <p:nvSpPr>
          <p:cNvPr id="19" name="Shape 17"/>
          <p:cNvSpPr/>
          <p:nvPr/>
        </p:nvSpPr>
        <p:spPr>
          <a:xfrm>
            <a:off x="768096" y="5751576"/>
            <a:ext cx="10652760" cy="493776"/>
          </a:xfrm>
          <a:prstGeom prst="roundRect">
            <a:avLst>
              <a:gd name="adj" fmla="val 18519"/>
            </a:avLst>
          </a:prstGeom>
          <a:solidFill>
            <a:srgbClr val="E3EFF7"/>
          </a:solidFill>
          <a:ln w="12700">
            <a:solidFill>
              <a:srgbClr val="E3EFF7"/>
            </a:solidFill>
            <a:prstDash val="solid"/>
          </a:ln>
        </p:spPr>
      </p:sp>
      <p:sp>
        <p:nvSpPr>
          <p:cNvPr id="20" name="Text 18"/>
          <p:cNvSpPr/>
          <p:nvPr/>
        </p:nvSpPr>
        <p:spPr>
          <a:xfrm>
            <a:off x="1005840" y="5870448"/>
            <a:ext cx="10149840" cy="246888"/>
          </a:xfrm>
          <a:prstGeom prst="rect">
            <a:avLst/>
          </a:prstGeom>
          <a:noFill/>
          <a:ln/>
        </p:spPr>
        <p:txBody>
          <a:bodyPr wrap="square" lIns="0" tIns="0" rIns="0" bIns="0" rtlCol="0" anchor="ctr"/>
          <a:lstStyle/>
          <a:p>
            <a:pPr indent="0" marL="0">
              <a:buNone/>
            </a:pPr>
            <a:r>
              <a:rPr lang="en-US" sz="1900" b="1" dirty="0">
                <a:solidFill>
                  <a:srgbClr val="176493"/>
                </a:solidFill>
                <a:latin typeface="Aptos" pitchFamily="34" charset="0"/>
                <a:ea typeface="Aptos" pitchFamily="34" charset="-122"/>
                <a:cs typeface="Aptos" pitchFamily="34" charset="-120"/>
              </a:rPr>
              <a:t>NEXT: Data, exploratory analysis, and the Pharma case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DS101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DS101 Lecture 01 - Roadmap and Foundations</dc:title>
  <dc:subject>Lecture 01 revision for review</dc:subject>
  <dc:creator>DS101 course team</dc:creator>
  <cp:lastModifiedBy>DS101 course team</cp:lastModifiedBy>
  <cp:revision>1</cp:revision>
  <dcterms:created xsi:type="dcterms:W3CDTF">2026-09-28T16:35:51Z</dcterms:created>
  <dcterms:modified xsi:type="dcterms:W3CDTF">2026-09-28T16:35:51Z</dcterms:modified>
</cp:coreProperties>
</file>